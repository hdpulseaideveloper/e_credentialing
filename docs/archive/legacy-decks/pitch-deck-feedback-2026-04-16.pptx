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comments/modernComment_101_0.xml" ContentType="application/vnd.ms-powerpoint.comments+xml"/>
  <Override PartName="/ppt/comments/modernComment_103_0.xml" ContentType="application/vnd.ms-powerpoint.comments+xml"/>
  <Override PartName="/ppt/comments/modernComment_104_0.xml" ContentType="application/vnd.ms-powerpoint.comments+xml"/>
  <Override PartName="/ppt/comments/modernComment_105_0.xml" ContentType="application/vnd.ms-powerpoint.comments+xml"/>
  <Override PartName="/ppt/comments/modernComment_108_0.xml" ContentType="application/vnd.ms-powerpoint.comments+xml"/>
  <Override PartName="/ppt/comments/modernComment_109_0.xml" ContentType="application/vnd.ms-powerpoint.comments+xml"/>
  <Override PartName="/ppt/comments/modernComment_10A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45799A-B783-ED20-951F-6826A8F59C08}" name="Abubakar Khan" initials="AK" userId="S::abkhan@essenmed.com::4bc0fada-28d0-4f24-83f6-c2a5b352e6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AA0C8-DE8B-3401-AD31-9BAF06FB5950}" v="11" dt="2026-04-16T16:13:42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869642-EDB9-4A9B-B196-8789F851A173}" authorId="{1945799A-B783-ED20-951F-6826A8F59C08}" created="2026-04-16T16:13:42.377">
    <pc:sldMkLst xmlns:pc="http://schemas.microsoft.com/office/powerpoint/2013/main/command">
      <pc:docMk/>
      <pc:sldMk cId="0" sldId="266"/>
    </pc:sldMkLst>
    <p188:txBody>
      <a:bodyPr/>
      <a:lstStyle/>
      <a:p>
        <a:r>
          <a:rPr lang="en-US"/>
          <a:t>Operations team (specific permission levels)
RCM/Billing Teams (if necessary)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ADF290-C421-49E7-AB62-BCA032566B07}" authorId="{1945799A-B783-ED20-951F-6826A8F59C08}" created="2026-04-16T15:29:06.492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US"/>
          <a:t>AND includes adequate task tracking and management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ECD5AF-5846-47A3-BC53-CB02BE9E0C8B}" authorId="{1945799A-B783-ED20-951F-6826A8F59C08}" created="2026-04-16T15:46:49.740">
    <pc:sldMkLst xmlns:pc="http://schemas.microsoft.com/office/powerpoint/2013/main/command">
      <pc:docMk/>
      <pc:sldMk cId="0" sldId="257"/>
    </pc:sldMkLst>
    <p188:txBody>
      <a:bodyPr/>
      <a:lstStyle/>
      <a:p>
        <a:r>
          <a:rPr lang="en-US"/>
          <a:t>Manual Verification Bottleneck:
-Committee prep (incl. agenda, summary, provider packet creation) is all manual and spread across different spreadsheets and documents
Drive Chaos:
-Documents are stored across O drive and K drive. 
-PARCS has no standing integration with onedrive/sharepoint to pull verified documents for providers
Enrollment follow-up gaps:
-other vendors have implemented ai / bot crawls that go into payer portals and pull participation information for providers
-other vendors have automated direct enrollment application submissions  (crawl through application portal and automatically fill out all fields for direct application submissions)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F72795-DD85-40BF-BE51-000F472C0460}" authorId="{1945799A-B783-ED20-951F-6826A8F59C08}" created="2026-04-16T15:48:03.911">
    <pc:sldMkLst xmlns:pc="http://schemas.microsoft.com/office/powerpoint/2013/main/command">
      <pc:docMk/>
      <pc:sldMk cId="0" sldId="259"/>
    </pc:sldMkLst>
    <p188:txBody>
      <a:bodyPr/>
      <a:lstStyle/>
      <a:p>
        <a:r>
          <a:rPr lang="en-US"/>
          <a:t>Task Tracking / Management (for credentialing team to ensure they are keeping up with an open tasks and next steps for providers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DDB714-6805-4F75-B0E8-F1DD85BD6443}" authorId="{1945799A-B783-ED20-951F-6826A8F59C08}" created="2026-04-16T15:59:07.285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US"/>
          <a:t>OCR: 
-To tackle the 15% human component, the OCR should display a pop-up allowing the provider to confirm the field inputs (i.e., Name: Sumir Sahgal MD &gt; Name: Sumir Sahgal) on any items that may require confirmation.
Expirable Monitoring:
-Bot-assisted renewal confirmation, incl. outreach to providers to send us a copy of the updated document to store in our repository
Committee workflow:
-Each provider should also have a full verification packet that includes all documents that were verified and requested during credentialing
-This packet should also include a checklist for all verifications that were completed successfully (clean) with a checkmark, and any verifications that came back with findings (red flag). can talk further on this.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641EB0-92C2-419F-9D1F-B108BA74F89F}" authorId="{1945799A-B783-ED20-951F-6826A8F59C08}" created="2026-04-16T16:06:51.143">
    <pc:sldMkLst xmlns:pc="http://schemas.microsoft.com/office/powerpoint/2013/main/command">
      <pc:docMk/>
      <pc:sldMk cId="0" sldId="261"/>
    </pc:sldMkLst>
    <p188:txBody>
      <a:bodyPr/>
      <a:lstStyle/>
      <a:p>
        <a:r>
          <a:rPr lang="en-US"/>
          <a:t>Task Management
Roster Generation
Bulk Uploads for participation
Bulk uploads for ETINs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B73FF0-BCF0-4850-BB2E-B2D18540C2E8}" authorId="{1945799A-B783-ED20-951F-6826A8F59C08}" created="2026-04-16T16:08:36.659">
    <pc:sldMkLst xmlns:pc="http://schemas.microsoft.com/office/powerpoint/2013/main/command">
      <pc:docMk/>
      <pc:sldMk cId="0" sldId="264"/>
    </pc:sldMkLst>
    <p188:txBody>
      <a:bodyPr/>
      <a:lstStyle/>
      <a:p>
        <a:r>
          <a:rPr lang="en-US"/>
          <a:t>Enrollment portal:
PECOS - Medicare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4818FF-6082-4AB6-B82C-0C1909A904F1}" authorId="{1945799A-B783-ED20-951F-6826A8F59C08}" created="2026-04-16T16:09:19.331">
    <pc:sldMkLst xmlns:pc="http://schemas.microsoft.com/office/powerpoint/2013/main/command">
      <pc:docMk/>
      <pc:sldMk cId="0" sldId="265"/>
    </pc:sldMkLst>
    <p188:txBody>
      <a:bodyPr/>
      <a:lstStyle/>
      <a:p>
        <a:r>
          <a:rPr lang="en-US"/>
          <a:t>-Reduced TAT for receiving participation from health plans
-End to end integration from HRIS to RCM/EHR systems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0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0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ESSEN MEDICAL ASSOCIATES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ESSEN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A3E0"/>
                </a:solidFill>
                <a:latin typeface="Calibri"/>
              </a:defRPr>
            </a:pPr>
            <a:r>
              <a:t>Credentialing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Calibri"/>
              </a:defRPr>
            </a:pPr>
            <a:r>
              <a:t>Replacing PARCS with an intelligent, automated credentialing system that cuts onboarding time by 60%, eliminates manual verification bottlenecks, and ensures continuous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Prepared for: Essen Medical Leadership    |    Date: April 2026    |    Status: Production-Ready (v1.0)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PARCS Is Holding Essen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The current credentialing system creates delays, compliance risk, and staff burnout through manual processes that haven't changed in a decade.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4937760" cy="13716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Manual Verification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Staff manually navigate 12+ external websites to verify each provider's licenses, DEA, board certifications, and sanctions status. Each provider requires 2-4 hours of manual verification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194560"/>
            <a:ext cx="4937760" cy="13716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59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K: Drive Document Chaos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6974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Provider credential documents live on a shared K: drive requiring VPN. Files are unindexed, unsearchable, and inaccessible to remote staff. No version control or audit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4937760" cy="13716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Missed Expirations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No automated monitoring for credential expirations. Tracking happens in spreadsheets. Expired credentials are caught reactively - after they become compliance violations.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40480"/>
            <a:ext cx="4937760" cy="13716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Enrollment Follow-Up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3434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Payer enrollment follow-ups are tracked manually. Missed cadences delay provider activation by weeks. Revenue-generating providers sit idle waiting for payer enrollment.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5486400"/>
            <a:ext cx="54864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"We spend more time chasing paperwork and manually checking websites than we do actually credentialing providers."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DD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Cost of Doing 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Every day with PARCS costs Essen time, money, and compliance exposure.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63946"/>
                </a:solidFill>
                <a:latin typeface="Calibri"/>
              </a:defRPr>
            </a:pPr>
            <a:r>
              <a:t>45+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Days Average</a:t>
            </a:r>
            <a:br/>
            <a:r>
              <a:t>Onboarding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4688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3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External Websites</a:t>
            </a:r>
            <a:br/>
            <a:r>
              <a:t>Checked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4688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35"/>
                </a:solidFill>
                <a:latin typeface="Calibri"/>
              </a:defRPr>
            </a:pPr>
            <a:r>
              <a:t>3-4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Per Provider</a:t>
            </a:r>
            <a:br/>
            <a:r>
              <a:t>Manual PSV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4688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2286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63946"/>
                </a:solidFill>
                <a:latin typeface="Calibri"/>
              </a:defRPr>
            </a:pPr>
            <a:r>
              <a:t>$$$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Revenue Lost Per Day</a:t>
            </a:r>
            <a:br/>
            <a:r>
              <a:t>Provider Sits Idle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06984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394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Manual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394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Automated Verifications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394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Real-Time Expirable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An Intelligent Credentialing Platform Built for Essen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A unified, web-based platform that automates verification, tracks compliance in real time, and gives every team member the tools they need.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Provider</a:t>
            </a:r>
            <a:br/>
            <a:r>
              <a:t>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Onboarding</a:t>
            </a:r>
            <a:br/>
            <a: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Committee</a:t>
            </a:r>
            <a:br/>
            <a: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Enrollment</a:t>
            </a:r>
            <a:br/>
            <a:r>
              <a:t>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28600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Expirables</a:t>
            </a:r>
            <a:br/>
            <a:r>
              <a:t>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PSV Bots</a:t>
            </a:r>
            <a:br/>
            <a:r>
              <a:t>(Automation)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7180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Sanctions</a:t>
            </a:r>
            <a:br/>
            <a:r>
              <a:t>Checking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NY Medicaid</a:t>
            </a:r>
            <a:br/>
            <a:r>
              <a:t>&amp; ETIN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Hospital</a:t>
            </a:r>
            <a:br/>
            <a:r>
              <a:t>Privileges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474720"/>
            <a:ext cx="2011680" cy="8229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0" y="36118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D91"/>
                </a:solidFill>
                <a:latin typeface="Calibri"/>
              </a:defRPr>
            </a:pPr>
            <a:r>
              <a:t>NPDB</a:t>
            </a:r>
            <a:br/>
            <a:r>
              <a:t>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10698480" cy="640080"/>
          </a:xfrm>
          <a:prstGeom prst="round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937760"/>
            <a:ext cx="54864" cy="6400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10 integrated modules. One platform. Complete credentialing lifecycle from outreach to ongoing compliance.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What Makes This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Purpose-built for healthcare credentialing, not adapted from generic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7472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Automated PSV 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Playwright-powered bots verify licenses, DEA, board certs, sanctions (OIG &amp; SAM), and NPDB. 10+ bot types with retry logic, MFA support, and PDF capture.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920240"/>
            <a:ext cx="3474720" cy="54864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Intelligent Document 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Azure AI Document Intelligence extracts data from uploaded credentials and auto-fills the application. 85%+ confidence threshold with human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Expirable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20+ credential types tracked with automated 90/60/30/14/7-day alerts. Nightly scans detect expirations. Bot-assisted renewal confirmation.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Committee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Auto-generated summary sheets and agendas. One-click provider approval with full audit trail. Conditional approvals with item tracking.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59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Enrollment Cadence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Per-payer follow-up cadences with automated alerts. Portal-bot enrollment submissions. FTP roster generation. Gap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HIPAA-Compliant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AES-256-GCM encryption for all PHI. Azure AD SSO. Role-based access with 5 permission levels. Immutable audit logs for 10+ years.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PARCS vs. ESSEN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743200" cy="411480"/>
          </a:xfrm>
          <a:prstGeom prst="roundRect">
            <a:avLst/>
          </a:prstGeom>
          <a:solidFill>
            <a:srgbClr val="061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4114800" cy="411480"/>
          </a:xfrm>
          <a:prstGeom prst="roundRect">
            <a:avLst/>
          </a:prstGeom>
          <a:solidFill>
            <a:srgbClr val="061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0332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PARCS (Current)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11480"/>
          </a:xfrm>
          <a:prstGeom prst="roundRect">
            <a:avLst/>
          </a:prstGeom>
          <a:solidFill>
            <a:srgbClr val="061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ESSEN Platform (New)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7432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0" y="1828800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License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01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Manual: navigate to state board, search, screenshot, save to K: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901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Automated: bot verifies all 50 states, saves timestamped PDF, updates 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95728"/>
            <a:ext cx="2743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66160" y="2395728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0" y="2395728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DEA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Manual: log into DEA portal, handle MFA, screenshot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Automated: bot handles TOTP MFA, verifies, captures PDF in seconds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62656"/>
            <a:ext cx="27432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566160" y="2962656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0" y="2962656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035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Sanctions Checking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035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Manual: search OIG and SAM.gov separately per provider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035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Automated: initial + monthly rechecks for all providers. Hard-stop on exclusions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529584"/>
            <a:ext cx="2743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566160" y="3529584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72400" y="3529584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360273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Document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6027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K: drive folders, VPN required, no version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6027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Azure Blob Storage, web-accessible, versioned, SAS-secured, indexed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096512"/>
            <a:ext cx="27432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566160" y="4096512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772400" y="4096512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Expirable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1696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Spreadsheets, manual checks, reactive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41696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Nightly automated scans, 90-day advance alerts, bot-assisted renewal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663440"/>
            <a:ext cx="2743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566160" y="4663440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772400" y="4663440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4736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Committee Prep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7365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 summary sheets, hand-assembled packets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7365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Auto-generated summary sheets, one-click agenda creation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230368"/>
            <a:ext cx="27432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566160" y="5230368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72400" y="5230368"/>
            <a:ext cx="4114800" cy="53035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5303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Provider Application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Paper forms, emailed documents, manual data entry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Online portal with OCR auto-fill, CAQH/iCIMS data ingestion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797296"/>
            <a:ext cx="2743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566160" y="5797296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772400" y="5797296"/>
            <a:ext cx="41148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" y="5870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Enrollment Follow-Up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03320" y="58704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Manual tracking, missed cadences, no accountability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58704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Configurable cadences with automated alerts, follow-up log, audit trail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DD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Built on Enterprise-Grade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Modern, secure, scalable - aligned with Essen's existing Microsoft/Azure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Next.js 14+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tRPC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59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59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Prisma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6517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6883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089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145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1089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0" y="3145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BullMQ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31089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0" y="3145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59" y="31089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94959" y="3145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Auth.js v5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Azure AD SSO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86000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Azure Blob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0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Azure Key Vault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59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94959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Azure AI OCR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3566160"/>
            <a:ext cx="1417320" cy="347472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49440" y="36027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DD"/>
                </a:solidFill>
                <a:latin typeface="Calibri"/>
              </a:defRPr>
            </a:pPr>
            <a:r>
              <a:t>SendGrid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103120"/>
            <a:ext cx="5303520" cy="411480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7799"/>
                </a:solidFill>
                <a:latin typeface="Consolas"/>
              </a:defRPr>
            </a:pPr>
            <a:r>
              <a:t>// Two-container architecture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00A3E0"/>
                </a:solidFill>
                <a:latin typeface="Consolas"/>
              </a:defRPr>
            </a:pPr>
            <a:r>
              <a:t>Web Container (:6015)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UI (React + shadcn/ui)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API (tRPC + Prisma)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Auth (Azure AD SSO)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└── Real-time (Socket.io)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00B67A"/>
                </a:solidFill>
                <a:latin typeface="Consolas"/>
              </a:defRPr>
            </a:pPr>
            <a:r>
              <a:t>Worker Container (:6025)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PSV Bots (Playwright)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Enrollment Bots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├── Scheduled Jobs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onsolas"/>
              </a:defRPr>
            </a:pPr>
            <a:r>
              <a:t>  └── Bull Board (monitoring)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7799"/>
                </a:solidFill>
                <a:latin typeface="Consolas"/>
              </a:defRPr>
            </a:pPr>
            <a:r>
              <a:t>// Shared services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F4A261"/>
                </a:solidFill>
                <a:latin typeface="Consolas"/>
              </a:defRPr>
            </a:pPr>
            <a:r>
              <a:t>PostgreSQL + Redis + Azure Blob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HIPAA-Ready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Security isn't an afterthought - it's embedded in every layer of the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AES-256-GCM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SSN, DOB, and all PHI encrypted at application layer. Double protection with PostgreSQL at-rest encryption.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Azure AD Single Sign-On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All staff authenticate through Essen's Azure AD tenant with MFA enforcement. No separate passwords.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Role-Based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5 distinct roles with granular permissions. Each role sees only what they need.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71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Immutable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91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Every action logged with timestamp, actor, and before/after values. 10-year retention.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Azure Key Vault for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All API keys, portal credentials, TOTP secrets stored in Key Vault. Zero secrets in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Secure File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434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Azure Blob Storage with no public access. Time-limited SAS tokens. RBAC via Managed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PHI-Safe Bot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77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SSN decrypted only in-memory during bot operations. Never logged or stored in plaintext.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 NPDB Confidentiality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577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NPDB results restricted to Managers and Admins per 45 CFR Part 60.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Connected to Every System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21 external integrations pre-built, covering data ingestion, verification, enrollment, and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7472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3E0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iCIMS HRIS - auto-import provider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CAQH - pull credentials + push practice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381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Azure AI OCR - extract data from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9202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1920240"/>
            <a:ext cx="3474720" cy="54864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67A"/>
                </a:solidFill>
                <a:latin typeface="Calibri"/>
              </a:defRPr>
            </a:pPr>
            <a:r>
              <a:t>PSV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State License Boards - all 50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999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DEA - with automated TOTP MFA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4381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NCCPA, ABIM, ABFM - board certs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8770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OIG + SAM.gov - sanctions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NPDB - initial + continuous query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202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Enrollment Portals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My Practice Profile - UHC / UBH Optum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99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Availity - Anthem / Carelon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4381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Verity - Archcare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8770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EyeMed - EyeMed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eMedNY - NY Medicaid ETIN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7548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•  SFTP - roster uploads to payer FTP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The platform pays for itself through time savings, faster revenue activation, and compliance risk reduction.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2560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74720" cy="54864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67A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55577"/>
                </a:solidFill>
                <a:latin typeface="Calibri"/>
              </a:defRPr>
            </a:pPr>
            <a:r>
              <a:t>Reduction in</a:t>
            </a:r>
            <a:br/>
            <a:r>
              <a:t>Onboarding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From 45+ days to under 18 days through automation, OCR, and parallel bot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474720" cy="2560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920240"/>
            <a:ext cx="347472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A3E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834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55577"/>
                </a:solidFill>
                <a:latin typeface="Calibri"/>
              </a:defRPr>
            </a:pPr>
            <a:r>
              <a:t>Reduction in</a:t>
            </a:r>
            <a:br/>
            <a:r>
              <a:t>Manual PSV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383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3-4 hours per provider replaced by bots that run in minutes with zero human involvement.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3474720" cy="2560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34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55577"/>
                </a:solidFill>
                <a:latin typeface="Calibri"/>
              </a:defRPr>
            </a:pPr>
            <a:r>
              <a:t>Expirable Compliance</a:t>
            </a:r>
            <a:br/>
            <a:r>
              <a:t>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83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Automated monitoring of 20+ credential types. No more expired licenses discovered after the fact.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E8FBF2"/>
          </a:solidFill>
          <a:ln w="12700">
            <a:solidFill>
              <a:srgbClr val="B0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67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Additional License Costs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67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Team, One Language (TypeScript)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67A"/>
                </a:solidFill>
                <a:latin typeface="Calibri"/>
              </a:defRPr>
            </a:pPr>
            <a:r>
              <a:t>10yr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Audit Retention Built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DD"/>
                </a:solidFill>
                <a:latin typeface="Calibri"/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Designed for Every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Role-specific interfaces that surface exactly what each user needs - nothing more, nothing less.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93776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" cy="16459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Credentialing Specialists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Pipeline view of all assigned providers. One-click bot triggers. Task management. Communication log. Follow-up reminders. Real-time verification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11680"/>
            <a:ext cx="493776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2011680"/>
            <a:ext cx="54864" cy="1645920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Credentialing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6060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Full pipeline visibility. Committee session management. Auto-generated agendas. One-click approvals. Team oversight. Reporting and data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493776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4864" cy="1645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Committee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Read-only access to committee sessions. Provider summary sheets at a glance. Approval voting with comments. Clean, focused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023360"/>
            <a:ext cx="493776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4023360"/>
            <a:ext cx="54864" cy="16459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4206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Providers (External)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617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Self-service application portal. Drag-and-drop document upload with OCR auto-fill. Real-time checklist. Progress tracking. Electronic signature.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Ready Now, Growing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77"/>
                </a:solidFill>
                <a:latin typeface="Calibri"/>
              </a:defRPr>
            </a:pPr>
            <a:r>
              <a:t>The platform is deployed and production-ready. Here's the roadmap for full organizational rollout.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011680"/>
            <a:ext cx="182880" cy="182880"/>
          </a:xfrm>
          <a:prstGeom prst="ellipse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" y="2194560"/>
            <a:ext cx="18288" cy="9144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874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67A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Core Platform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All 10 modules implemented, tested (234 tests, 100% pass), deployed to production.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108960"/>
            <a:ext cx="182880" cy="18288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8136" y="3291839"/>
            <a:ext cx="18288" cy="9144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3E0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Integration 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Connect iCIMS, CAQH, Azure AD production tenant. Configure Key Vault. Activate PSV bots.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206240"/>
            <a:ext cx="182880" cy="18288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8136" y="4389120"/>
            <a:ext cx="18288" cy="9144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3E0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Staff Training &amp;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Train credentialing team. Pilot with 10-20 providers in parallel with PARCS.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5303519"/>
            <a:ext cx="182880" cy="18288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51663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3E0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Full Rollout &amp; PARCS Sunset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6692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Migrate all active providers. Decommission PARCS. Full production operations.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920240"/>
            <a:ext cx="5303520" cy="438912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67A"/>
                </a:solidFill>
                <a:latin typeface="Calibri"/>
              </a:defRPr>
            </a:pPr>
            <a:r>
              <a:t>What's Already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Provider onboarding portal with OCR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260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Staff onboarding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918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Committee review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Enrollment management + follow-up cadence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Expirables tracking with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PSV bot framework (10+ bot types)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Role-based access control (5 roles)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Azure Blob document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Immutable audit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Production deployment + SSL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0" y="914400"/>
            <a:ext cx="155448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Ready to Transform</a:t>
            </a:r>
            <a:br/>
            <a:r>
              <a:t>Credentialing at Essen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774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  <a:latin typeface="Calibri"/>
              </a:defRPr>
            </a:pPr>
            <a:r>
              <a:t>The platform is built, tested, and deployed. The next step is activating integrations, training the team, and beginning the pilot. Every day with PARCS is a day of lost efficiency and compliance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3474720"/>
            <a:ext cx="274320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3E0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Approve &amp; Fund</a:t>
            </a:r>
            <a:br/>
            <a:r>
              <a:t>Integration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3474720"/>
            <a:ext cx="274320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67A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Train Team</a:t>
            </a:r>
            <a:br/>
            <a:r>
              <a:t>&amp;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474720"/>
            <a:ext cx="274320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A261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Full Rollout</a:t>
            </a:r>
            <a:br/>
            <a:r>
              <a:t>&amp; PARCS Sunset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6688"/>
                </a:solidFill>
                <a:latin typeface="Calibri"/>
              </a:defRPr>
            </a:pPr>
            <a:r>
              <a:t>ESSEN Credentialing Platform  •  credentialing.hdpulseai.com  •  Essen Medical Associates  • 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</cp:revision>
  <dcterms:created xsi:type="dcterms:W3CDTF">2013-01-27T09:14:16Z</dcterms:created>
  <dcterms:modified xsi:type="dcterms:W3CDTF">2026-04-16T16:23:01Z</dcterms:modified>
  <cp:category/>
</cp:coreProperties>
</file>