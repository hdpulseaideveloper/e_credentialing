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E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3E0"/>
                </a:solidFill>
                <a:latin typeface="Calibri"/>
              </a:defRPr>
            </a:pPr>
            <a:r>
              <a:t>ESSEN CREDENTIALING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User Training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DD"/>
                </a:solidFill>
                <a:latin typeface="Calibri"/>
              </a:defRPr>
            </a:pPr>
            <a:r>
              <a:t>A comprehensive guide for Credentialing Specialists, Managers,</a:t>
            </a:r>
            <a:br/>
            <a:r>
              <a:t>Committee Members, and Administrators.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99"/>
                </a:solidFill>
                <a:latin typeface="Calibri"/>
              </a:defRPr>
            </a:pPr>
            <a:r>
              <a:t>Version 2.0  |  April 2026  |  credentialing.hdpulseai.com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2011680" cy="384048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8097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BBBDD"/>
                </a:solidFill>
                <a:latin typeface="Calibri"/>
              </a:defRPr>
            </a:pPr>
            <a:r>
              <a:t>Getting Started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4754880"/>
            <a:ext cx="2011680" cy="384048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48097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BBBDD"/>
                </a:solidFill>
                <a:latin typeface="Calibri"/>
              </a:defRPr>
            </a:pPr>
            <a:r>
              <a:t>Roles &amp; Permissions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4754880"/>
            <a:ext cx="2011680" cy="384048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48097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BBBDD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754880"/>
            <a:ext cx="2011680" cy="384048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48097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BBBDD"/>
                </a:solidFill>
                <a:latin typeface="Calibri"/>
              </a:defRPr>
            </a:pPr>
            <a:r>
              <a:t>Providers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4754880"/>
            <a:ext cx="2011680" cy="384048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48097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BBBDD"/>
                </a:solidFill>
                <a:latin typeface="Calibri"/>
              </a:defRPr>
            </a:pPr>
            <a:r>
              <a:t>Tasks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57800"/>
            <a:ext cx="2011680" cy="384048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3126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BBBDD"/>
                </a:solidFill>
                <a:latin typeface="Calibri"/>
              </a:defRPr>
            </a:pPr>
            <a:r>
              <a:t>Verification Bots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5257800"/>
            <a:ext cx="2011680" cy="384048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53126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BBBDD"/>
                </a:solidFill>
                <a:latin typeface="Calibri"/>
              </a:defRPr>
            </a:pPr>
            <a:r>
              <a:t>Enrollments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5257800"/>
            <a:ext cx="2011680" cy="384048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53126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BBBDD"/>
                </a:solidFill>
                <a:latin typeface="Calibri"/>
              </a:defRPr>
            </a:pPr>
            <a:r>
              <a:t>Expirables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5257800"/>
            <a:ext cx="2011680" cy="384048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53126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BBBDD"/>
                </a:solidFill>
                <a:latin typeface="Calibri"/>
              </a:defRPr>
            </a:pPr>
            <a:r>
              <a:t>Committee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5257800"/>
            <a:ext cx="2011680" cy="384048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53126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BBBDD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BBDD"/>
                </a:solidFill>
                <a:latin typeface="Calibr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1A2E"/>
                </a:solidFill>
                <a:latin typeface="Calibri"/>
              </a:defRPr>
            </a:pPr>
            <a:r>
              <a:t>Signing In &amp; System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25603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3D91"/>
                </a:solidFill>
                <a:latin typeface="Calibri"/>
              </a:defRPr>
            </a:pPr>
            <a:r>
              <a:t>System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77"/>
                </a:solidFill>
                <a:latin typeface="Calibri"/>
              </a:defRPr>
            </a:pPr>
            <a:r>
              <a:t>Chrome 90+, Edge 90+, Firefox 90+, Safari 15+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420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Internet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542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77"/>
                </a:solidFill>
                <a:latin typeface="Calibri"/>
              </a:defRPr>
            </a:pPr>
            <a:r>
              <a:t>Stable broadband connection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809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9809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77"/>
                </a:solidFill>
                <a:latin typeface="Calibri"/>
              </a:defRPr>
            </a:pPr>
            <a:r>
              <a:t>Essen Medical Azure AD (@essenmed.com)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198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MFA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4198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77"/>
                </a:solidFill>
                <a:latin typeface="Calibri"/>
              </a:defRPr>
            </a:pPr>
            <a:r>
              <a:t>Microsoft Authenticator or approved method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5303520" cy="25603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91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3D91"/>
                </a:solidFill>
                <a:latin typeface="Calibri"/>
              </a:defRPr>
            </a:pPr>
            <a:r>
              <a:t>How to Sign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48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1. Navigate to credentialing.hdpulseai.com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328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2. Click "Sign in with Microsoft"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1693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3. Enter your @essenmed.com email &amp; password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009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4. Complete MFA if prompted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850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5. You're on the Dashboard!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89120"/>
            <a:ext cx="10698480" cy="1645920"/>
          </a:xfrm>
          <a:prstGeom prst="roundRect">
            <a:avLst/>
          </a:prstGeom>
          <a:solidFill>
            <a:srgbClr val="FEF3E2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Calibri"/>
              </a:defRPr>
            </a:pPr>
            <a:r>
              <a:t>Important 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920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You must use your Essen Medical work account. Personal Microsoft accounts will not work.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166359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First-time login: The platform matches your Azure AD account to your user record created by an Admin.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440679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Session timeout: Warning at 25 min, auto-logout at 30 min. Unsaved drafts are preserved.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71500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Sign out: Click your name (top-right) then Sign Out.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UNDERSTANDING YOUR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1A2E"/>
                </a:solidFill>
                <a:latin typeface="Calibri"/>
              </a:defRPr>
            </a:pPr>
            <a:r>
              <a:t>Roles &amp;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77"/>
                </a:solidFill>
                <a:latin typeface="Calibri"/>
              </a:defRPr>
            </a:pPr>
            <a:r>
              <a:t>Your role determines what you can see and do. Roles are assigned by your System Admin.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21031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21031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3E0"/>
                </a:solidFill>
                <a:latin typeface="Calibri"/>
              </a:defRPr>
            </a:pPr>
            <a:r>
              <a:t>Credentialing Specialist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Manage provider records, run bots, send follow-ups, manage tasks, track enrollments and expirables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✗  Cannot approve providers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✗  Cannot manage committee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✗  Cannot configure system settings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303520" cy="21031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4864" cy="2103120"/>
          </a:xfrm>
          <a:prstGeom prst="rect">
            <a:avLst/>
          </a:prstGeom>
          <a:solidFill>
            <a:srgbClr val="00B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67A"/>
                </a:solidFill>
                <a:latin typeface="Calibri"/>
              </a:defRPr>
            </a:pPr>
            <a:r>
              <a:t>Credentialing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286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Everything a Specialist can do, plus manage committee sessions, approve/deny providers, send bulk reminders, override checklists, view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926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✗  Cannot manage user accounts or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004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✗  Cannot configure system-level settings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5303520" cy="21031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54864" cy="21031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343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A261"/>
                </a:solidFill>
                <a:latin typeface="Calibri"/>
              </a:defRPr>
            </a:pPr>
            <a:r>
              <a:t>Committee Member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634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View committee sessions and agendas, review provider summary sheets, submit approval votes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✗  Cannot see onboarding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778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✗  Cannot access enrollment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85215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✗  Cannot send communications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206240"/>
            <a:ext cx="5303520" cy="21031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206240"/>
            <a:ext cx="54864" cy="21031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343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3D91"/>
                </a:solidFill>
                <a:latin typeface="Calibri"/>
              </a:defRPr>
            </a:pPr>
            <a:r>
              <a:t>System Admin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6634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Everything above, plus manage staff users, configure provider types, set document requirements, manage system settings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3035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✗  Cannot approve providers (not a credentialing function)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5778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3946"/>
                </a:solidFill>
                <a:latin typeface="Calibri"/>
              </a:defRPr>
            </a:pPr>
            <a:r>
              <a:t>✗  Cannot view PHI beyond admin needs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E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BBDD"/>
                </a:solidFill>
                <a:latin typeface="Calibri"/>
              </a:defRPr>
            </a:pPr>
            <a:r>
              <a:t>THE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Your Daily Home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DD"/>
                </a:solidFill>
                <a:latin typeface="Calibri"/>
              </a:defRPr>
            </a:pPr>
            <a:r>
              <a:t>Start every workday here. The Dashboard shows everything that needs your attention.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128016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474720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Provider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Count of providers at each status 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788AA"/>
                </a:solidFill>
                <a:latin typeface="Calibri"/>
              </a:defRPr>
            </a:pPr>
            <a:r>
              <a:t>Specialists, Managers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011680"/>
            <a:ext cx="3474720" cy="128016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011680"/>
            <a:ext cx="3474720" cy="45720"/>
          </a:xfrm>
          <a:prstGeom prst="rect">
            <a:avLst/>
          </a:prstGeom>
          <a:solidFill>
            <a:srgbClr val="00B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2194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My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Open tasks assigned to you, sorted by due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9260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788AA"/>
                </a:solidFill>
                <a:latin typeface="Calibri"/>
              </a:defRPr>
            </a:pPr>
            <a:r>
              <a:t>Specialists, Managers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11680"/>
            <a:ext cx="3474720" cy="128016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011680"/>
            <a:ext cx="347472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194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Recent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Last 10 actions across the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9260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788AA"/>
                </a:solidFill>
                <a:latin typeface="Calibri"/>
              </a:defRPr>
            </a:pPr>
            <a:r>
              <a:t>Specialists, Managers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66160"/>
            <a:ext cx="3474720" cy="128016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566160"/>
            <a:ext cx="3474720" cy="457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749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Urgent Attention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Expirables within 30 days, overdue follow-ups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4805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788AA"/>
                </a:solidFill>
                <a:latin typeface="Calibri"/>
              </a:defRPr>
            </a:pPr>
            <a:r>
              <a:t>Specialists, Managers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3566160"/>
            <a:ext cx="3474720" cy="128016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59" y="3566160"/>
            <a:ext cx="3474720" cy="457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3749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Committee Queue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59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Providers waiting for committee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59" y="44805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788AA"/>
                </a:solidFill>
                <a:latin typeface="Calibri"/>
              </a:defRPr>
            </a:pPr>
            <a:r>
              <a:t>Managers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3E0"/>
                </a:solidFill>
                <a:latin typeface="Calibri"/>
              </a:defRPr>
            </a:pPr>
            <a:r>
              <a:t>Recommended Daily Workflow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57784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1. Review Urgent Attention for expirables and overdue items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80644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2. Check My Tasks for anything due today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603504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3. Scan Provider Pipeline for bottlenecks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626364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4. Process: expired credentials → overdue follow-ups → regular tasks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BBDD"/>
                </a:solidFill>
                <a:latin typeface="Calibr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1A2E"/>
                </a:solidFill>
                <a:latin typeface="Calibri"/>
              </a:defRPr>
            </a:pPr>
            <a:r>
              <a:t>Working with Providers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201168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3D91"/>
                </a:solidFill>
                <a:latin typeface="Calibri"/>
              </a:defRPr>
            </a:pPr>
            <a:r>
              <a:t>Finding a Provider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1. Click Providers in the left sidebar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951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2. Search by name or NPI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243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3. Filter by Status or Provider Type dropdown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535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4. Click Filter to apply, Clear to reset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201168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3D91"/>
                </a:solidFill>
                <a:latin typeface="Calibri"/>
              </a:defRPr>
            </a:pPr>
            <a:r>
              <a:t>Adding a New Provider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1. Click "+ New Provider" (top right)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9514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2. Fill in First Name, Last Name, Provider Type (required)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243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3. Optionally: NPI, Email, Phone, Assign Specialist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535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4. Click "Create Provider"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3D91"/>
                </a:solidFill>
                <a:latin typeface="Calibri"/>
              </a:defRPr>
            </a:pPr>
            <a:r>
              <a:t>Provider Detail Page — 8 Tabs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2651760" cy="64008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879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3E0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34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NPI, DEA, CAQH, timeline,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4114800"/>
            <a:ext cx="2651760" cy="64008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41879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3E0"/>
                </a:solidFill>
                <a:latin typeface="Calibri"/>
              </a:defRPr>
            </a:pPr>
            <a:r>
              <a:t>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434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Required docs, upload status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114800"/>
            <a:ext cx="2651760" cy="64008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1879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3E0"/>
                </a:solidFill>
                <a:latin typeface="Calibri"/>
              </a:defRPr>
            </a:pPr>
            <a:r>
              <a:t>Verifications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434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PSV bot results, dates, expiration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4114800"/>
            <a:ext cx="2651760" cy="64008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41879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3E0"/>
                </a:solidFill>
                <a:latin typeface="Calibri"/>
              </a:defRPr>
            </a:pPr>
            <a:r>
              <a:t>Tasks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4434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Open tasks for this provider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892040"/>
            <a:ext cx="2651760" cy="64008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96519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3E0"/>
                </a:solidFill>
                <a:latin typeface="Calibri"/>
              </a:defRPr>
            </a:pPr>
            <a:r>
              <a:t>Communications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212079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Calls, emails, SMS records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66160" y="4892040"/>
            <a:ext cx="2651760" cy="64008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496519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3E0"/>
                </a:solidFill>
                <a:latin typeface="Calibri"/>
              </a:defRPr>
            </a:pPr>
            <a:r>
              <a:t>Enrollments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5212079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Payer enrollment records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892040"/>
            <a:ext cx="2651760" cy="64008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96519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3E0"/>
                </a:solidFill>
                <a:latin typeface="Calibri"/>
              </a:defRPr>
            </a:pPr>
            <a:r>
              <a:t>Expirables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212079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Credentials with expiry dates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35440" y="4892040"/>
            <a:ext cx="2651760" cy="64008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72600" y="496519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3E0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5212079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Full change history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760720"/>
            <a:ext cx="10698480" cy="502920"/>
          </a:xfrm>
          <a:prstGeom prst="round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5760720"/>
            <a:ext cx="54864" cy="5029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58338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Tip: Search works with partial names. Typing "John" will find "Johnson", "Johnston", etc.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MODULE 1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1A2E"/>
                </a:solidFill>
                <a:latin typeface="Calibri"/>
              </a:defRPr>
            </a:pPr>
            <a:r>
              <a:t>Provider Status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77"/>
                </a:solidFill>
                <a:latin typeface="Calibri"/>
              </a:defRPr>
            </a:pPr>
            <a:r>
              <a:t>The provider status tells you exactly where they are in the credentialing lifecycle.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743200" cy="384048"/>
          </a:xfrm>
          <a:prstGeom prst="roundRect">
            <a:avLst/>
          </a:prstGeom>
          <a:solidFill>
            <a:srgbClr val="061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92224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737360"/>
            <a:ext cx="3657600" cy="384048"/>
          </a:xfrm>
          <a:prstGeom prst="roundRect">
            <a:avLst/>
          </a:prstGeom>
          <a:solidFill>
            <a:srgbClr val="061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5887" y="1792224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Meaning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737360"/>
            <a:ext cx="2743200" cy="384048"/>
          </a:xfrm>
          <a:prstGeom prst="roundRect">
            <a:avLst/>
          </a:prstGeom>
          <a:solidFill>
            <a:srgbClr val="061E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7" y="1792224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Next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48840"/>
            <a:ext cx="2743200" cy="39319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2148840"/>
            <a:ext cx="3657600" cy="39319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0" y="2148840"/>
            <a:ext cx="2743200" cy="39319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258568"/>
            <a:ext cx="164592" cy="164592"/>
          </a:xfrm>
          <a:prstGeom prst="ellipse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2037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INVITED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22037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Outreach sent, waiting for provider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7" y="22037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Provider clicks link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560320"/>
            <a:ext cx="2743200" cy="393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66160" y="2560320"/>
            <a:ext cx="3657600" cy="393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0" y="2560320"/>
            <a:ext cx="2743200" cy="393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2670048"/>
            <a:ext cx="164592" cy="164592"/>
          </a:xfrm>
          <a:prstGeom prst="ellipse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26151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ONBOARDING_IN_PROGRESS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5887" y="26151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Provider filling out application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7" y="26151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Complete all required fields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971800"/>
            <a:ext cx="2743200" cy="39319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66160" y="2971800"/>
            <a:ext cx="3657600" cy="39319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0" y="2971800"/>
            <a:ext cx="2743200" cy="39319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8680" y="3081528"/>
            <a:ext cx="164592" cy="16459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30266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DOCUMENTS_PENDING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75887" y="30266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App fields done, awaiting docs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4927" y="30266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Upload remaining documents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383280"/>
            <a:ext cx="2743200" cy="393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566160" y="3383280"/>
            <a:ext cx="3657600" cy="393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15200" y="3383280"/>
            <a:ext cx="2743200" cy="393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8680" y="3493008"/>
            <a:ext cx="164592" cy="16459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34381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VERIFICATION_IN_PROGRESS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7" y="34381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All docs received, bots running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4927" y="34381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Wait for bots, review flags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794760"/>
            <a:ext cx="2743200" cy="39319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66160" y="3794760"/>
            <a:ext cx="3657600" cy="39319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0" y="3794760"/>
            <a:ext cx="2743200" cy="39319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68680" y="3904488"/>
            <a:ext cx="164592" cy="164592"/>
          </a:xfrm>
          <a:prstGeom prst="ellipse">
            <a:avLst/>
          </a:prstGeom>
          <a:solidFill>
            <a:srgbClr val="00B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38496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COMMITTEE_READY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75887" y="38496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All verifications clear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4927" y="38496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Manager adds to session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4206240"/>
            <a:ext cx="2743200" cy="393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566160" y="4206240"/>
            <a:ext cx="3657600" cy="393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315200" y="4206240"/>
            <a:ext cx="2743200" cy="393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68680" y="4315968"/>
            <a:ext cx="164592" cy="164592"/>
          </a:xfrm>
          <a:prstGeom prst="ellipse">
            <a:avLst/>
          </a:prstGeom>
          <a:solidFill>
            <a:srgbClr val="00B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7280" y="426110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COMMITTEE_IN_REVIEW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75887" y="4261103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On active session agenda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24927" y="4261103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Committee reviews and votes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617720"/>
            <a:ext cx="2743200" cy="39319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566160" y="4617720"/>
            <a:ext cx="3657600" cy="39319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315200" y="4617720"/>
            <a:ext cx="2743200" cy="39319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68680" y="4727448"/>
            <a:ext cx="164592" cy="164592"/>
          </a:xfrm>
          <a:prstGeom prst="ellipse">
            <a:avLst/>
          </a:prstGeom>
          <a:solidFill>
            <a:srgbClr val="00B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7280" y="46725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APPROVED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75887" y="46725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Committee approved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24927" y="46725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Begin payer enrollments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5029200"/>
            <a:ext cx="2743200" cy="393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566160" y="5029200"/>
            <a:ext cx="3657600" cy="393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315200" y="5029200"/>
            <a:ext cx="2743200" cy="393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68680" y="5138928"/>
            <a:ext cx="164592" cy="164592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97280" y="50840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DENIED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75887" y="50840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Committee denied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24927" y="50840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Application closed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1520" y="5440680"/>
            <a:ext cx="2743200" cy="39319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566160" y="5440680"/>
            <a:ext cx="3657600" cy="39319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315200" y="5440680"/>
            <a:ext cx="2743200" cy="39319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68680" y="5550408"/>
            <a:ext cx="164592" cy="164592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97280" y="54955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DEFERRED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75887" y="54955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Needs more info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24927" y="54955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Returns to onboarding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5852160"/>
            <a:ext cx="2743200" cy="393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566160" y="5852160"/>
            <a:ext cx="3657600" cy="393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315200" y="5852160"/>
            <a:ext cx="2743200" cy="393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68680" y="5961888"/>
            <a:ext cx="164592" cy="164592"/>
          </a:xfrm>
          <a:prstGeom prst="ellipse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97280" y="59070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INACTIVE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75887" y="59070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Provider left or inactive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24927" y="59070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No action needed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3946"/>
                </a:solidFill>
                <a:latin typeface="Calibri"/>
              </a:defRPr>
            </a:pPr>
            <a:r>
              <a:t>Deny and Defer require a reason. All status changes are recorded in the audit trail.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1A2E"/>
                </a:solidFill>
                <a:latin typeface="Calibri"/>
              </a:defRPr>
            </a:pPr>
            <a:r>
              <a:t>Task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77"/>
                </a:solidFill>
                <a:latin typeface="Calibri"/>
              </a:defRPr>
            </a:pPr>
            <a:r>
              <a:t>Track action items for each provider. Every task is assigned to a team member and linked to a provider.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3D91"/>
                </a:solidFill>
                <a:latin typeface="Calibri"/>
              </a:defRPr>
            </a:pPr>
            <a:r>
              <a:t>Creating a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1. Go to provider detail → Tasks 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42615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2. Click "+ Add Task"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535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3. Fill in Title (required), 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644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4. Assign To (required), set Priority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753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5. Set Due Date (recommended)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6. Click "Create Task"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303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3D91"/>
                </a:solidFill>
                <a:latin typeface="Calibri"/>
              </a:defRPr>
            </a:pPr>
            <a:r>
              <a:t>Priority Guidelines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3946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377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Blocks credentialing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334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Example: "Missing medical license - cannot proceed"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08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108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Routine work with a deadline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649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Example: "Follow up for updated malpractice insurance"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40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67A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840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Informational or non-urgent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0965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Example: "Update provider's preferred name"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63440"/>
            <a:ext cx="50292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800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3D91"/>
                </a:solidFill>
                <a:latin typeface="Calibri"/>
              </a:defRPr>
            </a:pPr>
            <a:r>
              <a:t>Completing a 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120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77"/>
                </a:solidFill>
                <a:latin typeface="Calibri"/>
              </a:defRPr>
            </a:pPr>
            <a:r>
              <a:t>Click "Complete" on the task card. It disappears from the open list but remains in the audit trail for compliance.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663440"/>
            <a:ext cx="5303520" cy="164592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800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3946"/>
                </a:solidFill>
                <a:latin typeface="Calibri"/>
              </a:defRPr>
            </a:pPr>
            <a:r>
              <a:t>Automatic Escalation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1206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Tasks overdue by 24+ hours are automatically:</a:t>
            </a:r>
            <a:br/>
            <a:r>
              <a:t>•  Highlighted in red on the dashboard</a:t>
            </a:r>
            <a:br/>
            <a:r>
              <a:t>•  Escalated to the Credentialing Manager</a:t>
            </a:r>
            <a:br/>
            <a:r>
              <a:t>•  Notification sent to ensure nothing is missed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E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BBDD"/>
                </a:solidFill>
                <a:latin typeface="Calibri"/>
              </a:defRPr>
            </a:pPr>
            <a: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Running Verification Bots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DD"/>
                </a:solidFill>
                <a:latin typeface="Calibri"/>
              </a:defRPr>
            </a:pPr>
            <a:r>
              <a:t>Automated bots verify credentials from primary sources, replacing manual website navigation.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743200" cy="365760"/>
          </a:xfrm>
          <a:prstGeom prst="roundRect">
            <a:avLst/>
          </a:prstGeom>
          <a:solidFill>
            <a:srgbClr val="0A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2523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828800"/>
            <a:ext cx="4114800" cy="365760"/>
          </a:xfrm>
          <a:prstGeom prst="roundRect">
            <a:avLst/>
          </a:prstGeom>
          <a:solidFill>
            <a:srgbClr val="0A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5887" y="1874519"/>
            <a:ext cx="3895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What It Verifies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828800"/>
            <a:ext cx="3657600" cy="365760"/>
          </a:xfrm>
          <a:prstGeom prst="roundRect">
            <a:avLst/>
          </a:prstGeom>
          <a:solidFill>
            <a:srgbClr val="0A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82127" y="1874519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Requirements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40280"/>
            <a:ext cx="2743200" cy="36576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2240280"/>
            <a:ext cx="4114800" cy="36576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0" y="2240280"/>
            <a:ext cx="3657600" cy="36576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2951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License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2951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State medical license (all 50 states)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22951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License # + 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24328"/>
            <a:ext cx="2743200" cy="365760"/>
          </a:xfrm>
          <a:prstGeom prst="roundRect">
            <a:avLst/>
          </a:prstGeom>
          <a:solidFill>
            <a:srgbClr val="0A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66160" y="2624328"/>
            <a:ext cx="4114800" cy="365760"/>
          </a:xfrm>
          <a:prstGeom prst="roundRect">
            <a:avLst/>
          </a:prstGeom>
          <a:solidFill>
            <a:srgbClr val="0A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0" y="2624328"/>
            <a:ext cx="3657600" cy="365760"/>
          </a:xfrm>
          <a:prstGeom prst="roundRect">
            <a:avLst/>
          </a:prstGeom>
          <a:solidFill>
            <a:srgbClr val="0A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6791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DEA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7" y="267919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DEA registration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7" y="26791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DEA number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008376"/>
            <a:ext cx="2743200" cy="36576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008376"/>
            <a:ext cx="4114800" cy="36576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0" y="3008376"/>
            <a:ext cx="3657600" cy="36576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0632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NCCPA 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7" y="30632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PA board certification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7" y="30632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Provider type = PA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392424"/>
            <a:ext cx="2743200" cy="365760"/>
          </a:xfrm>
          <a:prstGeom prst="roundRect">
            <a:avLst/>
          </a:prstGeom>
          <a:solidFill>
            <a:srgbClr val="0A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566160" y="3392424"/>
            <a:ext cx="4114800" cy="365760"/>
          </a:xfrm>
          <a:prstGeom prst="roundRect">
            <a:avLst/>
          </a:prstGeom>
          <a:solidFill>
            <a:srgbClr val="0A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72400" y="3392424"/>
            <a:ext cx="3657600" cy="365760"/>
          </a:xfrm>
          <a:prstGeom prst="roundRect">
            <a:avLst/>
          </a:prstGeom>
          <a:solidFill>
            <a:srgbClr val="0A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34472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ABIM 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5887" y="344728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Internal medicine cert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7" y="34472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Provider NPI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776472"/>
            <a:ext cx="2743200" cy="36576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566160" y="3776472"/>
            <a:ext cx="4114800" cy="36576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72400" y="3776472"/>
            <a:ext cx="3657600" cy="36576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3831335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ABFM 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75887" y="3831335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Family medicine cert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82127" y="3831335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Name + SSN last 4 + DOB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160520"/>
            <a:ext cx="2743200" cy="365760"/>
          </a:xfrm>
          <a:prstGeom prst="roundRect">
            <a:avLst/>
          </a:prstGeom>
          <a:solidFill>
            <a:srgbClr val="0A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566160" y="4160520"/>
            <a:ext cx="4114800" cy="365760"/>
          </a:xfrm>
          <a:prstGeom prst="roundRect">
            <a:avLst/>
          </a:prstGeom>
          <a:solidFill>
            <a:srgbClr val="0A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772400" y="4160520"/>
            <a:ext cx="3657600" cy="365760"/>
          </a:xfrm>
          <a:prstGeom prst="roundRect">
            <a:avLst/>
          </a:prstGeom>
          <a:solidFill>
            <a:srgbClr val="0A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42153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OIG Sanctions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75887" y="421538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OIG exclusion list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421538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NPI + name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44568"/>
            <a:ext cx="2743200" cy="36576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566160" y="4544568"/>
            <a:ext cx="4114800" cy="36576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772400" y="4544568"/>
            <a:ext cx="3657600" cy="36576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45994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SAM.gov Sanctions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75887" y="459943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Federal exclusions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82127" y="45994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Provider NPI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928616"/>
            <a:ext cx="2743200" cy="365760"/>
          </a:xfrm>
          <a:prstGeom prst="roundRect">
            <a:avLst/>
          </a:prstGeom>
          <a:solidFill>
            <a:srgbClr val="0A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566160" y="4928616"/>
            <a:ext cx="4114800" cy="365760"/>
          </a:xfrm>
          <a:prstGeom prst="roundRect">
            <a:avLst/>
          </a:prstGeom>
          <a:solidFill>
            <a:srgbClr val="0A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772400" y="4928616"/>
            <a:ext cx="3657600" cy="365760"/>
          </a:xfrm>
          <a:prstGeom prst="roundRect">
            <a:avLst/>
          </a:prstGeom>
          <a:solidFill>
            <a:srgbClr val="0A3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" y="49834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NPDB Query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75887" y="498348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Malpractice &amp; adverse actions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82127" y="49834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Name + DOB + NPI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5394960"/>
            <a:ext cx="3474720" cy="82296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54864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67A"/>
                </a:solidFill>
                <a:latin typeface="Calibri"/>
              </a:defRPr>
            </a:pPr>
            <a:r>
              <a:t>✓ Verified (green)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760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Credential confirmed. Record auto-created.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480559" y="5394960"/>
            <a:ext cx="3474720" cy="82296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63440" y="54864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99AA"/>
                </a:solidFill>
                <a:latin typeface="Calibri"/>
              </a:defRPr>
            </a:pPr>
            <a:r>
              <a:t>✗ Failed (gray)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63440" y="5760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Bot couldn't complete. Check error, re-run.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29600" y="5394960"/>
            <a:ext cx="3474720" cy="82296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80" y="54864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3946"/>
                </a:solidFill>
                <a:latin typeface="Calibri"/>
              </a:defRPr>
            </a:pPr>
            <a:r>
              <a:t>⚠ Flagged (red)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5760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Issue found (expired, sanction). Investigate.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BBDD"/>
                </a:solidFill>
                <a:latin typeface="Calibr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1A2E"/>
                </a:solidFill>
                <a:latin typeface="Calibri"/>
              </a:defRPr>
            </a:pPr>
            <a:r>
              <a:t>Enrollment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77"/>
                </a:solidFill>
                <a:latin typeface="Calibri"/>
              </a:defRPr>
            </a:pPr>
            <a:r>
              <a:t>Track provider applications to payers after committee approval.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109728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474720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3E0"/>
                </a:solidFill>
                <a:latin typeface="Calibri"/>
              </a:defRPr>
            </a:pPr>
            <a:r>
              <a:t>Delegated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Essen submits on behalf of 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Payers: UHC, Anthem, MetroPlus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737360"/>
            <a:ext cx="3474720" cy="109728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737360"/>
            <a:ext cx="3474720" cy="45720"/>
          </a:xfrm>
          <a:prstGeom prst="rect">
            <a:avLst/>
          </a:prstGeom>
          <a:solidFill>
            <a:srgbClr val="00B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7451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67A"/>
                </a:solidFill>
                <a:latin typeface="Calibri"/>
              </a:defRPr>
            </a:pPr>
            <a:r>
              <a:t>Facility (BTC)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488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Behavioral Treatment Center enrollment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231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Payers: UBH Optum, VNS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737360"/>
            <a:ext cx="3474720" cy="109728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737360"/>
            <a:ext cx="347472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87451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Calibri"/>
              </a:defRPr>
            </a:pPr>
            <a:r>
              <a:t>Direct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488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Provider enrolled directly with payer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4231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Payers: Archcare, Carelon, EyeMed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3D91"/>
                </a:solidFill>
                <a:latin typeface="Calibri"/>
              </a:defRPr>
            </a:pPr>
            <a:r>
              <a:t>Enrollment Status 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474720"/>
            <a:ext cx="1920240" cy="457200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387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5387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3474720"/>
            <a:ext cx="1920240" cy="457200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35387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Submitted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5387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0" y="3474720"/>
            <a:ext cx="1920240" cy="457200"/>
          </a:xfrm>
          <a:prstGeom prst="round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35387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Pending Payer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5387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5557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3474720"/>
            <a:ext cx="1920240" cy="457200"/>
          </a:xfrm>
          <a:prstGeom prst="roundRect">
            <a:avLst/>
          </a:prstGeom>
          <a:solidFill>
            <a:srgbClr val="00B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35387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Enrolled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206240"/>
            <a:ext cx="5029200" cy="21031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3D91"/>
                </a:solidFill>
                <a:latin typeface="Calibri"/>
              </a:defRPr>
            </a:pPr>
            <a:r>
              <a:t>Logging a Follow-Up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1. Click "Log Follow-Up" on enrollment page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0383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2. Enter Outcome / Notes (required)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367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3. Set Next Follow-Up Date (critical!)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6967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4. Click "Log Follow-Up"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206240"/>
            <a:ext cx="5303520" cy="2103120"/>
          </a:xfrm>
          <a:prstGeom prst="roundRect">
            <a:avLst/>
          </a:prstGeom>
          <a:solidFill>
            <a:srgbClr val="FEF3E2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Calibri"/>
              </a:defRPr>
            </a:pPr>
            <a:r>
              <a:t>Follow-Up Cadence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7091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Each payer has a configured follow-up cadence. When a date arrives:</a:t>
            </a:r>
            <a:br/>
            <a:br/>
            <a:r>
              <a:t>•  You receive an in-app and email notification</a:t>
            </a:r>
            <a:br/>
            <a:r>
              <a:t>•  A follow-up task is auto-created</a:t>
            </a:r>
            <a:br/>
            <a:r>
              <a:t>•  Enrollment appears in "Urgent Attention"</a:t>
            </a:r>
            <a:br/>
            <a:br/>
            <a:r>
              <a:t>Always set a Next Follow-Up Date!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1A2E"/>
                </a:solidFill>
                <a:latin typeface="Calibri"/>
              </a:defRPr>
            </a:pPr>
            <a:r>
              <a:t>Expirables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77"/>
                </a:solidFill>
                <a:latin typeface="Calibri"/>
              </a:defRPr>
            </a:pPr>
            <a:r>
              <a:t>Monitor 20+ credential types with automated alerts. Never miss an expiration again.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3D91"/>
                </a:solidFill>
                <a:latin typeface="Calibri"/>
              </a:defRPr>
            </a:pPr>
            <a:r>
              <a:t>Color-Coded Urgency Badges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371600" cy="384048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579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EXPIRED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579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Already expired — immediate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39"/>
            <a:ext cx="1371600" cy="384048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6090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&lt; 14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660903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Expires within 14 days — urgent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371600" cy="38404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63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&lt; 30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1638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Expires within 30 days — high priority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11880"/>
            <a:ext cx="1371600" cy="384048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667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&lt; 60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6667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Expires within 60 days — monitor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1371600" cy="384048"/>
          </a:xfrm>
          <a:prstGeom prst="roundRect">
            <a:avLst/>
          </a:prstGeom>
          <a:solidFill>
            <a:srgbClr val="00B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6966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60+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169663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More than 60 days remaining — no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3D91"/>
                </a:solidFill>
                <a:latin typeface="Calibri"/>
              </a:defRPr>
            </a:pPr>
            <a:r>
              <a:t>Tracked Credential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103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State Medical License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03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A3E0"/>
                </a:solidFill>
                <a:latin typeface="Calibri"/>
              </a:defRPr>
            </a:pPr>
            <a:r>
              <a:t>1–3 yrs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103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DEA Certificate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2103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A3E0"/>
                </a:solidFill>
                <a:latin typeface="Calibri"/>
              </a:defRPr>
            </a:pPr>
            <a:r>
              <a:t>3 yrs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5420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Board Certification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5420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A3E0"/>
                </a:solidFill>
                <a:latin typeface="Calibri"/>
              </a:defRPr>
            </a:pPr>
            <a:r>
              <a:t>7–10 yrs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5420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Malpractice Insurance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25420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A3E0"/>
                </a:solidFill>
                <a:latin typeface="Calibri"/>
              </a:defRPr>
            </a:pPr>
            <a:r>
              <a:t>Annual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9809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BLS / ACLS / PALS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9809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A3E0"/>
                </a:solidFill>
                <a:latin typeface="Calibri"/>
              </a:defRPr>
            </a:pPr>
            <a:r>
              <a:t>2 yrs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9809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CAQH Attestation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29809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A3E0"/>
                </a:solidFill>
                <a:latin typeface="Calibri"/>
              </a:defRPr>
            </a:pPr>
            <a:r>
              <a:t>120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4198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Hospital Privileges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4198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A3E0"/>
                </a:solidFill>
                <a:latin typeface="Calibri"/>
              </a:defRPr>
            </a:pPr>
            <a:r>
              <a:t>2 yrs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4198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Flu Shot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34198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A3E0"/>
                </a:solidFill>
                <a:latin typeface="Calibri"/>
              </a:defRPr>
            </a:pPr>
            <a:r>
              <a:t>Annual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Infection Control Cert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8587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A3E0"/>
                </a:solidFill>
                <a:latin typeface="Calibri"/>
              </a:defRPr>
            </a:pPr>
            <a:r>
              <a:t>1–2 yrs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Government-Issued 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38587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A3E0"/>
                </a:solidFill>
                <a:latin typeface="Calibri"/>
              </a:defRPr>
            </a:pPr>
            <a:r>
              <a:t>Varies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29767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Medicaid Revalidation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29767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A3E0"/>
                </a:solidFill>
                <a:latin typeface="Calibri"/>
              </a:defRPr>
            </a:pPr>
            <a:r>
              <a:t>5 yrs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429767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Medicare Revalidation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429767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A3E0"/>
                </a:solidFill>
                <a:latin typeface="Calibri"/>
              </a:defRPr>
            </a:pPr>
            <a:r>
              <a:t>5 yrs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983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3D91"/>
                </a:solidFill>
                <a:latin typeface="Calibri"/>
              </a:defRPr>
            </a:pPr>
            <a:r>
              <a:t>Responding to Expirable Alerts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34924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1. Review the alert on Dashboard or Expirables page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556869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2. Check if a bot can confirm renewal online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" y="578815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3. If not, contact the provider for updated documentation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6007607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4. Upload renewed document and update expiration date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622706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5. Re-run PSV bot if needed to verify the renewal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E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BBDD"/>
                </a:solidFill>
                <a:latin typeface="Calibri"/>
              </a:defRPr>
            </a:pPr>
            <a:r>
              <a:t>MODULE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Committee Review &amp; Approvals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DD"/>
                </a:solidFill>
                <a:latin typeface="Calibri"/>
              </a:defRPr>
            </a:pPr>
            <a:r>
              <a:t>The final gate before a provider is approved to practice at Essen.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29200" cy="228600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A3E0"/>
                </a:solidFill>
                <a:latin typeface="Calibri"/>
              </a:defRPr>
            </a:pPr>
            <a:r>
              <a:t>Creating a Session (Managers)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DD"/>
                </a:solidFill>
                <a:latin typeface="Calibri"/>
              </a:defRPr>
            </a:pPr>
            <a:r>
              <a:t>1. Click "+ New Session" on Committee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79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DD"/>
                </a:solidFill>
                <a:latin typeface="Calibri"/>
              </a:defRPr>
            </a:pPr>
            <a:r>
              <a:t>2. Enter Session Date (required)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DD"/>
                </a:solidFill>
                <a:latin typeface="Calibri"/>
              </a:defRPr>
            </a:pPr>
            <a:r>
              <a:t>3. Select Type: Regular, Special, or 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DD"/>
                </a:solidFill>
                <a:latin typeface="Calibri"/>
              </a:defRPr>
            </a:pPr>
            <a:r>
              <a:t>4. Add optional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20439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DD"/>
                </a:solidFill>
                <a:latin typeface="Calibri"/>
              </a:defRPr>
            </a:pPr>
            <a:r>
              <a:t>5. Click "Create Session"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947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DD"/>
                </a:solidFill>
                <a:latin typeface="Calibri"/>
              </a:defRPr>
            </a:pPr>
            <a:r>
              <a:t>6. Add providers from the queue to the session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20240"/>
            <a:ext cx="5303520" cy="228600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A3E0"/>
                </a:solidFill>
                <a:latin typeface="Calibri"/>
              </a:defRPr>
            </a:pPr>
            <a:r>
              <a:t>Committee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67A"/>
                </a:solidFill>
                <a:latin typeface="Calibri"/>
              </a:defRPr>
            </a:pPr>
            <a:r>
              <a:t>APPROVE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4688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Provider moves to APPROVED. Approval date stamped.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3946"/>
                </a:solidFill>
                <a:latin typeface="Calibri"/>
              </a:defRPr>
            </a:pPr>
            <a:r>
              <a:t>DENY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1089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Provider moves to DENIED. Application closed.</a:t>
            </a:r>
            <a:br/>
            <a:r>
              <a:t>Must enter denial reason.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A261"/>
                </a:solidFill>
                <a:latin typeface="Calibri"/>
              </a:defRPr>
            </a:pPr>
            <a:r>
              <a:t>DEFER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74903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Calibri"/>
              </a:defRPr>
            </a:pPr>
            <a:r>
              <a:t>Returns to COMMITTEE_READY for next session.</a:t>
            </a:r>
            <a:br/>
            <a:r>
              <a:t>Must enter deferral reason.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80560"/>
            <a:ext cx="10698480" cy="1645920"/>
          </a:xfrm>
          <a:prstGeom prst="roundRect">
            <a:avLst/>
          </a:prstGeom>
          <a:solidFill>
            <a:srgbClr val="0D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617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A261"/>
                </a:solidFill>
                <a:latin typeface="Calibri"/>
              </a:defRPr>
            </a:pPr>
            <a:r>
              <a:t>For Committee Members (Read-Only Access)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83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67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9834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DD"/>
                </a:solidFill>
                <a:latin typeface="Calibri"/>
              </a:defRPr>
            </a:pPr>
            <a:r>
              <a:t>View committee session agendas assigned to 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578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67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2578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DD"/>
                </a:solidFill>
                <a:latin typeface="Calibri"/>
              </a:defRPr>
            </a:pPr>
            <a:r>
              <a:t>Read provider summary sheets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321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67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5321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DD"/>
                </a:solidFill>
                <a:latin typeface="Calibri"/>
              </a:defRPr>
            </a:pPr>
            <a:r>
              <a:t>Submit your vote (Approve / Deny / Defer) with comments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8064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394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8064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DD"/>
                </a:solidFill>
                <a:latin typeface="Calibri"/>
              </a:defRPr>
            </a:pPr>
            <a:r>
              <a:t>You cannot create sessions, add/remove providers, or access other modules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989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88AA"/>
                </a:solidFill>
                <a:latin typeface="Calibri"/>
              </a:defRPr>
            </a:pPr>
            <a:r>
              <a:t>All decisions are logged in the audit trail with username, timestamp, and reason.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BBBDD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MODULES 7-10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1A2E"/>
                </a:solidFill>
                <a:latin typeface="Calibri"/>
              </a:defRPr>
            </a:pPr>
            <a:r>
              <a:t>Additional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228600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4864" cy="2286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3E0"/>
                </a:solidFill>
                <a:latin typeface="Calibri"/>
              </a:defRPr>
            </a:pPr>
            <a:r>
              <a:t>NY Medicaid &amp; ETIN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Navigate to Medicaid in the sidebar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768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Click "+ New Enrollment" for a provider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877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Track: Pending → In Process → Enrolled → Revalidation Due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986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ETIN number recorded on provider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0954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Revalidation dates tracked as expirables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63040"/>
            <a:ext cx="5303520" cy="228600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463040"/>
            <a:ext cx="54864" cy="2286000"/>
          </a:xfrm>
          <a:prstGeom prst="rect">
            <a:avLst/>
          </a:prstGeom>
          <a:solidFill>
            <a:srgbClr val="00B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600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67A"/>
                </a:solidFill>
                <a:latin typeface="Calibri"/>
              </a:defRPr>
            </a:pPr>
            <a:r>
              <a:t>Hospital Privileges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Go to provider detail → Hospital Privileges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2768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Click "+ Add Privilege"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5877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Enter facility, privilege type, dates,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8986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Track: Applied → Pending Review → Approved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0954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Renewals tracked (typically every 2 years)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5303520" cy="228600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023360"/>
            <a:ext cx="54864" cy="2286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160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3946"/>
                </a:solidFill>
                <a:latin typeface="Calibri"/>
              </a:defRPr>
            </a:pPr>
            <a:r>
              <a:t>Sanctions &amp; NPDB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526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OIG: Checks List of Excluded Individuals/Entities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3717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SAM.gov: Checks federal debarment/suspension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1480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Auto-run on pipeline entry + monthly for all providers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4589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Sanction found = HARD STOP on 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76986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NPDB: Managers/Admins only per 45 CFR Part 60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023360"/>
            <a:ext cx="5303520" cy="228600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4023360"/>
            <a:ext cx="54864" cy="2286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160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3D91"/>
                </a:solidFill>
                <a:latin typeface="Calibri"/>
              </a:defRPr>
            </a:pPr>
            <a:r>
              <a:t>Admin Panel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526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Admin → Users: Create, edit, deactivate staff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83717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Admin → Provider Types: Configure doc requirements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1480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Set Required / Conditional / Not Applicable per type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4589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Admin → Settings: Notification thresholds, templates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76986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Admin → Workflows: View workflow diagrams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1A2E"/>
                </a:solidFill>
                <a:latin typeface="Calibri"/>
              </a:defRPr>
            </a:pPr>
            <a:r>
              <a:t>Tips for Daily Success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3E0"/>
                </a:solidFill>
                <a:latin typeface="Calibri"/>
              </a:defRPr>
            </a:pPr>
            <a:r>
              <a:t>Daily Routine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Check Dashboard first thing every morning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5000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Process high-priority items before routine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3405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Update provider statuses promptly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1810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Log every communication — calls, emails, everything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4630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463040"/>
            <a:ext cx="3474720" cy="45720"/>
          </a:xfrm>
          <a:prstGeom prst="rect">
            <a:avLst/>
          </a:prstGeom>
          <a:solidFill>
            <a:srgbClr val="00B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00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67A"/>
                </a:solidFill>
                <a:latin typeface="Calibri"/>
              </a:defRPr>
            </a:pPr>
            <a:r>
              <a:t>Provider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9659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Advance status as soon as criteria are met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35000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Use Internal Notes for context that doesn't fit fields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3405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Notes visible to staff, never to providers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11810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Don't let providers sit in the wrong stage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4630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47472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00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Calibri"/>
              </a:defRPr>
            </a:pPr>
            <a:r>
              <a:t>Follow-Up Discipline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659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ALWAYS set a Next Follow-Up 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35000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If payer says "2 weeks", set date for 2 weeks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73405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System reminds you automatically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11810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Missing this is the #1 cause of enrollment delays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02336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023360"/>
            <a:ext cx="3474720" cy="457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160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3D91"/>
                </a:solidFill>
                <a:latin typeface="Calibri"/>
              </a:defRPr>
            </a:pPr>
            <a:r>
              <a:t>Task Hygiene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5262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Close tasks promptly when done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1032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Create specific tasks, not vague ones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9437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Assign to the right person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784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High = blocks progress, Medium = routine, Low = info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59" y="402336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80559" y="4023360"/>
            <a:ext cx="3474720" cy="457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4160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3946"/>
                </a:solidFill>
                <a:latin typeface="Calibri"/>
              </a:defRPr>
            </a:pPr>
            <a:r>
              <a:t>Bot Runs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5262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Run ALL bots BEFORE marking Committee Ready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91032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If bot fails, check data issue first (wrong license #?)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529437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If flagged, investigate before acknowledging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56784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PDFs auto-saved — no need to re-upload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402336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4023360"/>
            <a:ext cx="3474720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4160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A261"/>
                </a:solidFill>
                <a:latin typeface="Calibri"/>
              </a:defRPr>
            </a:pPr>
            <a:r>
              <a:t>Committee Prep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5262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All PSV verifications complete before adding to session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91032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Review auto-generated summary sheet for accuracy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529437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Add context notes committee should know about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6784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Ensure no unacknowledged flags remain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1A2E"/>
                </a:solidFill>
                <a:latin typeface="Calibri"/>
              </a:defRPr>
            </a:pPr>
            <a:r>
              <a:t>Troubleshooting &amp; Glossary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486400" cy="34747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3946"/>
                </a:solidFill>
                <a:latin typeface="Calibri"/>
              </a:defRPr>
            </a:pPr>
            <a:r>
              <a:t>Troubleshooting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Can't log 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8541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Use @essenmed.com email. Complete MFA. Clear cache. Try different browser.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328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Can't see a module?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523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Your role may not have access. Check Role Guide or ask Admin.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99815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Bot failed?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192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Check error message. Common: wrong license #, site down, missing data. Re-run or manual fallback.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6674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Made a mistake?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Edit the record. Status changes are strict — may need Manager. Audit trail preserves originals.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3367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Page loading slowly?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531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77"/>
                </a:solidFill>
                <a:latin typeface="Calibri"/>
              </a:defRPr>
            </a:pPr>
            <a:r>
              <a:t>Check internet. Refresh page (Ctrl+R). Contact IT if persistent.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463040"/>
            <a:ext cx="5029200" cy="34747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600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3D91"/>
                </a:solidFill>
                <a:latin typeface="Calibri"/>
              </a:defRPr>
            </a:pPr>
            <a:r>
              <a:t>Glossary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965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CAQH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19659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Provider data 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27685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DEA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276856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Drug Enforcement Administration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5877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ETIN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58775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NY Medicaid enrollment tracking #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89864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NPI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89864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National Provider Identifier (10-digit)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20954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NPDB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20954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National Practitioner Data Bank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5204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OIG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5204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Office of Inspector General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831335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PSV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831335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Primary Source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14223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SAM.gov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1422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Federal exclusions 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4531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SSO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45312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Single Sign-On (Azure AD)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76402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3E0"/>
                </a:solidFill>
                <a:latin typeface="Calibri"/>
              </a:defRPr>
            </a:pPr>
            <a:r>
              <a:t>TOTP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476402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Time-based One-Time Password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212080"/>
            <a:ext cx="10698480" cy="1188720"/>
          </a:xfrm>
          <a:prstGeom prst="roundRect">
            <a:avLst/>
          </a:prstGeom>
          <a:solidFill>
            <a:srgbClr val="E8F4FB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349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3D91"/>
                </a:solidFill>
                <a:latin typeface="Calibri"/>
              </a:defRPr>
            </a:pPr>
            <a:r>
              <a:t>Getting Help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715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Workflow questions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943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Your Credentialing Manager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715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Technical issues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5943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IT Help Desk or development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5715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User account issues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943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System Admin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19" y="5715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Training requests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19" y="5943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77"/>
                </a:solidFill>
                <a:latin typeface="Calibri"/>
              </a:defRPr>
            </a:pPr>
            <a:r>
              <a:t>Training Lead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77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