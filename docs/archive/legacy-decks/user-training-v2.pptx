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 TITLE &amp; WELCOME</a:t>
            </a:r>
          </a:p>
          <a:p/>
          <a:p>
            <a:r>
              <a:t>Welcome everyone. Today we are going to walk through the ESSEN Credentialing Platform in detail. This platform replaces PARCS — the legacy system you have been using for credentialing — with a modern, web-based system that automates verification, tracks compliance in real time, and gives you better tools to manage every stage of the credentialing process.</a:t>
            </a:r>
          </a:p>
          <a:p/>
          <a:p>
            <a:r>
              <a:t>BEFORE YOU BEGIN:</a:t>
            </a:r>
          </a:p>
          <a:p>
            <a:r>
              <a:t>- Ensure all attendees have their Azure AD credentials ready (@essenmed.com email)</a:t>
            </a:r>
          </a:p>
          <a:p>
            <a:r>
              <a:t>- Confirm the training environment URL is accessible</a:t>
            </a:r>
          </a:p>
          <a:p>
            <a:r>
              <a:t>- Have the printed quick-reference cards available for distribution at the end</a:t>
            </a:r>
          </a:p>
          <a:p/>
          <a:p>
            <a:r>
              <a:t>SESSION OVERVIEW:</a:t>
            </a:r>
          </a:p>
          <a:p>
            <a:r>
              <a:t>This training is divided into modules. Depending on your audience:</a:t>
            </a:r>
          </a:p>
          <a:p>
            <a:r>
              <a:t>- Specialists: Focus on slides 1-14 (all operational modules)</a:t>
            </a:r>
          </a:p>
          <a:p>
            <a:r>
              <a:t>- Managers: Focus on slides 1-16 (all modules including committee)</a:t>
            </a:r>
          </a:p>
          <a:p>
            <a:r>
              <a:t>- Committee Members: Focus on slides 1-3, then skip to slide 15 (committee)</a:t>
            </a:r>
          </a:p>
          <a:p>
            <a:r>
              <a:t>- Admins: All slides, with extra focus on slides 21-22</a:t>
            </a:r>
          </a:p>
          <a:p/>
          <a:p>
            <a:r>
              <a:t>ICEBREAKER QUESTION: Ask the group — "What is the single biggest pain point you have with PARCS today?" Write answers on a whiteboard. Reference them throughout training to show how the new platform solves each one.</a:t>
            </a:r>
          </a:p>
          <a:p/>
          <a:p>
            <a:r>
              <a:t>TIMING: This full deck takes approximately 3 hours with hands-on exercises. For a condensed version (Specialists only), target 2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 AGENDA</a:t>
            </a:r>
          </a:p>
          <a:p/>
          <a:p>
            <a:r>
              <a:t>Walk through the agenda quickly so attendees know what to expect. Emphasize:</a:t>
            </a:r>
          </a:p>
          <a:p/>
          <a:p>
            <a:r>
              <a:t>1. This is INTERACTIVE training — not a lecture. Every module has a hands-on exercise.</a:t>
            </a:r>
          </a:p>
          <a:p>
            <a:r>
              <a:t>2. Questions are welcome at any time, but there's also dedicated Q&amp;A time at the end.</a:t>
            </a:r>
          </a:p>
          <a:p>
            <a:r>
              <a:t>3. The timing shown is approximate — we'll adjust based on the group's pace.</a:t>
            </a:r>
          </a:p>
          <a:p>
            <a:r>
              <a:t>4. If this is a role-specific session (e.g., Committee Members only), point out which sections are most relevant.</a:t>
            </a:r>
          </a:p>
          <a:p/>
          <a:p>
            <a:r>
              <a:t>LOGISTICS:</a:t>
            </a:r>
          </a:p>
          <a:p>
            <a:r>
              <a:t>- "We'll take a 10-minute break after Part 2 (about 65 minutes in)."</a:t>
            </a:r>
          </a:p>
          <a:p>
            <a:r>
              <a:t>- "Everyone should have the training environment open in their browser. Let me see a show of hands — who has logged in successfully?"</a:t>
            </a:r>
          </a:p>
          <a:p>
            <a:r>
              <a:t>- If anyone hasn't logged in, troubleshoot now before proceeding.</a:t>
            </a:r>
          </a:p>
          <a:p/>
          <a:p>
            <a:r>
              <a:t>HANDOUTS:</a:t>
            </a:r>
          </a:p>
          <a:p>
            <a:r>
              <a:t>- Quick Reference Card (one per role) — distribute at end of session</a:t>
            </a:r>
          </a:p>
          <a:p>
            <a:r>
              <a:t>- This training guide is also available as a PDF/Markdown at docs/user-training.md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3: SYSTEM REQUIREMENTS</a:t>
            </a:r>
          </a:p>
          <a:p/>
          <a:p>
            <a:r>
              <a:t>KEY POINTS TO EMPHASIZE:</a:t>
            </a:r>
          </a:p>
          <a:p>
            <a:r>
              <a:t>1. "One of the biggest improvements over PARCS is that you do NOT need VPN access anymore. The platform is a web application accessible from any browser. This means if you're working from home, a satellite office, or anywhere with internet, you have full access."</a:t>
            </a:r>
          </a:p>
          <a:p/>
          <a:p>
            <a:r>
              <a:t>2. "Your login credentials are the EXACT SAME ones you use for Outlook, Teams, and other Microsoft tools. There is no separate password to remember. If you can check your email, you can access the credentialing platform."</a:t>
            </a:r>
          </a:p>
          <a:p/>
          <a:p>
            <a:r>
              <a:t>3. Walk through the 'What Changed from PARCS' column — this is powerful because it connects to the pain points the group identified in the icebreaker.</a:t>
            </a:r>
          </a:p>
          <a:p/>
          <a:p>
            <a:r>
              <a:t>COMMON QUESTIONS:</a:t>
            </a:r>
          </a:p>
          <a:p>
            <a:r>
              <a:t>- "Can I use this on my phone?" — The platform works on mobile browsers but is designed for desktop use. We recommend desktop or laptop for daily work.</a:t>
            </a:r>
          </a:p>
          <a:p>
            <a:r>
              <a:t>- "What if I work from home?" — Perfect, no VPN needed. Just open your browser and go to the URL.</a:t>
            </a:r>
          </a:p>
          <a:p>
            <a:r>
              <a:t>- "Will PARCS still be available?" — During the pilot phase, yes. After full rollout, PARCS will be decommissioned.</a:t>
            </a:r>
          </a:p>
          <a:p/>
          <a:p>
            <a:r>
              <a:t>TROUBLESHOOTING:</a:t>
            </a:r>
          </a:p>
          <a:p>
            <a:r>
              <a:t>If anyone in the room has trouble logging in, troubleshoot NOW. Common issues:</a:t>
            </a:r>
          </a:p>
          <a:p>
            <a:r>
              <a:t>- Using personal Microsoft account instead of work account</a:t>
            </a:r>
          </a:p>
          <a:p>
            <a:r>
              <a:t>- MFA not set up on phone</a:t>
            </a:r>
          </a:p>
          <a:p>
            <a:r>
              <a:t>- User account not yet created by Admin (create it on the spot if you have Admin access)</a:t>
            </a:r>
          </a:p>
          <a:p/>
          <a:p>
            <a:r>
              <a:t>HANDS-ON: Ask everyone to open their browser and navigate to the training environment URL. Confirm everyone sees the login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4: SIGNING IN</a:t>
            </a:r>
          </a:p>
          <a:p/>
          <a:p>
            <a:r>
              <a:t>LIVE DEMO: This is the perfect time to do a live screen share and walk through the login process.</a:t>
            </a:r>
          </a:p>
          <a:p/>
          <a:p>
            <a:r>
              <a:t>STEP-BY-STEP WALKTHROUGH:</a:t>
            </a:r>
          </a:p>
          <a:p>
            <a:r>
              <a:t>1. Open Chrome/Edge browser</a:t>
            </a:r>
          </a:p>
          <a:p>
            <a:r>
              <a:t>2. Type the URL in the address bar — point out that it's HTTPS (secure)</a:t>
            </a:r>
          </a:p>
          <a:p>
            <a:r>
              <a:t>3. Click "Sign in with Microsoft" — explain this uses Azure AD Single Sign-On</a:t>
            </a:r>
          </a:p>
          <a:p>
            <a:r>
              <a:t>4. Show the Microsoft login screen — "This looks exactly like when you log into Outlook"</a:t>
            </a:r>
          </a:p>
          <a:p>
            <a:r>
              <a:t>5. Enter your email, then password</a:t>
            </a:r>
          </a:p>
          <a:p>
            <a:r>
              <a:t>6. Show MFA prompt if it appears — "Same MFA you use for everything else"</a:t>
            </a:r>
          </a:p>
          <a:p>
            <a:r>
              <a:t>7. Land on the Dashboard — "This is your home base. We'll explore this in detail on the next slides."</a:t>
            </a:r>
          </a:p>
          <a:p/>
          <a:p>
            <a:r>
              <a:t>IMPORTANT TALKING POINTS:</a:t>
            </a:r>
          </a:p>
          <a:p>
            <a:r>
              <a:t>- "Notice you did NOT create a new password. There is no 'forgot password' for this platform — it uses your existing Microsoft account."</a:t>
            </a:r>
          </a:p>
          <a:p>
            <a:r>
              <a:t>- "If you're already logged into Outlook or Teams in the same browser, you may be logged in automatically without entering credentials. This is SSO (Single Sign-On) working for you."</a:t>
            </a:r>
          </a:p>
          <a:p/>
          <a:p>
            <a:r>
              <a:t>SESSION TIMEOUT DISCUSSION:</a:t>
            </a:r>
          </a:p>
          <a:p>
            <a:r>
              <a:t>- "The system logs you out after 30 minutes of inactivity for security (HIPAA compliance). You'll see a warning at 25 minutes. If you're in the middle of editing a provider record, your draft work is saved."</a:t>
            </a:r>
          </a:p>
          <a:p>
            <a:r>
              <a:t>- "If you get logged out, just click Sign In again — you don't lose any completed work."</a:t>
            </a:r>
          </a:p>
          <a:p/>
          <a:p>
            <a:r>
              <a:t>FIRST-TIME LOGIN:</a:t>
            </a:r>
          </a:p>
          <a:p>
            <a:r>
              <a:t>- "Your Admin pre-creates your user account with your email and role before you ever log in. The first login simply connects your Microsoft identity to that account."</a:t>
            </a:r>
          </a:p>
          <a:p>
            <a:r>
              <a:t>- "If you see 'Contact your administrator,' it means the Admin hasn't created your account yet. This is easy to fix — the Admin can create it in 30 seconds."</a:t>
            </a:r>
          </a:p>
          <a:p/>
          <a:p>
            <a:r>
              <a:t>HANDS-ON EXERCISE:</a:t>
            </a:r>
          </a:p>
          <a:p>
            <a:r>
              <a:t>Ask everyone to sign in now. Walk around and help anyone who has trouble. Target: 100% of attendees signed in within 5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5: ROLES &amp; PERMISSIONS</a:t>
            </a:r>
          </a:p>
          <a:p/>
          <a:p>
            <a:r>
              <a:t>This slide is CRITICAL. Spend 5-7 minutes here. Many questions during the pilot will stem from people not understanding their access level.</a:t>
            </a:r>
          </a:p>
          <a:p/>
          <a:p>
            <a:r>
              <a:t>HOW TO PRESENT THIS:</a:t>
            </a:r>
          </a:p>
          <a:p>
            <a:r>
              <a:t>1. Start with the audience's role: "Most of you are Specialists, so let's start with what YOU can do."</a:t>
            </a:r>
          </a:p>
          <a:p>
            <a:r>
              <a:t>2. Walk through the green checkmarks — "These are your daily tools."</a:t>
            </a:r>
          </a:p>
          <a:p>
            <a:r>
              <a:t>3. Walk through the red X marks — "These are things you'll need your Manager to do."</a:t>
            </a:r>
          </a:p>
          <a:p>
            <a:r>
              <a:t>4. Then briefly cover the other roles so everyone understands the team structure.</a:t>
            </a:r>
          </a:p>
          <a:p/>
          <a:p>
            <a:r>
              <a:t>KEY POINTS:</a:t>
            </a:r>
          </a:p>
          <a:p>
            <a:r>
              <a:t>- "The platform AUTOMATICALLY enforces these permissions. You literally cannot see or click on things outside your role. This isn't a matter of honor — the buttons and pages simply don't appear."</a:t>
            </a:r>
          </a:p>
          <a:p>
            <a:r>
              <a:t>- "This is a HIPAA requirement. Minimum necessary access means each person sees only the data they need for their job."</a:t>
            </a:r>
          </a:p>
          <a:p>
            <a:r>
              <a:t>- "If you think your role is wrong — for example, you need Manager access but you're set as Specialist — talk to your Admin. Role changes take effect immediately."</a:t>
            </a:r>
          </a:p>
          <a:p/>
          <a:p>
            <a:r>
              <a:t>COMMON QUESTIONS:</a:t>
            </a:r>
          </a:p>
          <a:p>
            <a:r>
              <a:t>Q: "Can I have two roles?" — No, each user has exactly one role. But roles are hierarchical (Manager includes Specialist capabilities).</a:t>
            </a:r>
          </a:p>
          <a:p>
            <a:r>
              <a:t>Q: "Can I see providers assigned to other Specialists?" — By default yes, but Admin can configure queue-based scoping to limit visibility.</a:t>
            </a:r>
          </a:p>
          <a:p>
            <a:r>
              <a:t>Q: "Who can see NPDB results?" — Only Managers and Admins. This is a legal requirement under 45 CFR Part 60.</a:t>
            </a:r>
          </a:p>
          <a:p/>
          <a:p>
            <a:r>
              <a:t>EXERCISE: Ask each attendee to identify which role they have. Then quiz them: "As a [role], can you [action]?" Do 3-4 quick examples.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6: DASHBOARD</a:t>
            </a:r>
          </a:p>
          <a:p/>
          <a:p>
            <a:r>
              <a:t>LIVE DEMO: Switch to the training environment and show the actual Dashboard. Point to each section as you discuss it.</a:t>
            </a:r>
          </a:p>
          <a:p/>
          <a:p>
            <a:r>
              <a:t>TEACHING APPROACH:</a:t>
            </a:r>
          </a:p>
          <a:p>
            <a:r>
              <a:t>Walk through each section and explain WHY it matters, not just what it shows.</a:t>
            </a:r>
          </a:p>
          <a:p/>
          <a:p>
            <a:r>
              <a:t>1. PROVIDER PIPELINE:</a:t>
            </a:r>
          </a:p>
          <a:p>
            <a:r>
              <a:t>"Think of this as your bird's-eye view. Right now you can see we have [X] providers at Invited, [Y] at Onboarding, etc. If you see a big number stuck at Documents Pending, that tells you we need to follow up with providers about missing documents."</a:t>
            </a:r>
          </a:p>
          <a:p/>
          <a:p>
            <a:r>
              <a:t>2. MY TASKS:</a:t>
            </a:r>
          </a:p>
          <a:p>
            <a:r>
              <a:t>"This is your personal to-do list for the day. Everything assigned to you shows up here. I recommend starting every morning by reviewing this list. If a task is overdue, it turns red — and your Manager gets notified."</a:t>
            </a:r>
          </a:p>
          <a:p/>
          <a:p>
            <a:r>
              <a:t>3. URGENT ATTENTION:</a:t>
            </a:r>
          </a:p>
          <a:p>
            <a:r>
              <a:t>"This is your compliance alarm system. Anything here could become a regulatory issue if ignored. Expired licenses, overdue enrollment follow-ups, flagged sanctions results — they all surface here. RULE OF THUMB: If it's red, handle it first."</a:t>
            </a:r>
          </a:p>
          <a:p/>
          <a:p>
            <a:r>
              <a:t>4. RECENT ACTIVITY:</a:t>
            </a:r>
          </a:p>
          <a:p>
            <a:r>
              <a:t>"This is your team awareness feed. You can see that Sarah just updated Dr. Johnson's status, or that a bot completed a verification for Dr. Patel. This prevents duplicate work — if you see a colleague already handled something, you don't need to."</a:t>
            </a:r>
          </a:p>
          <a:p/>
          <a:p>
            <a:r>
              <a:t>5. COMMITTEE QUEUE (Managers):</a:t>
            </a:r>
          </a:p>
          <a:p>
            <a:r>
              <a:t>"Managers, this tells you when it's time to schedule another committee session. If the queue is growing, it's time to book a session."</a:t>
            </a:r>
          </a:p>
          <a:p/>
          <a:p>
            <a:r>
              <a:t>DAILY WORKFLOW:</a:t>
            </a:r>
          </a:p>
          <a:p>
            <a:r>
              <a:t>"Here's how I recommend you use the Dashboard every morning:"</a:t>
            </a:r>
          </a:p>
          <a:p>
            <a:r>
              <a:t>1. Check Urgent Attention first — handle anything red</a:t>
            </a:r>
          </a:p>
          <a:p>
            <a:r>
              <a:t>2. Review My Tasks — tackle what's due today</a:t>
            </a:r>
          </a:p>
          <a:p>
            <a:r>
              <a:t>3. Glance at Provider Pipeline — look for bottlenecks</a:t>
            </a:r>
          </a:p>
          <a:p>
            <a:r>
              <a:t>4. Check Recent Activity — see what's happening across the team</a:t>
            </a:r>
          </a:p>
          <a:p/>
          <a:p>
            <a:r>
              <a:t>HANDS-ON: "Everyone look at your Dashboard now. Tell me — how many providers are in the pipeline? What's in your Urgent Attention section?" (Wait for responses)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7: NAVIGATION</a:t>
            </a:r>
          </a:p>
          <a:p/>
          <a:p>
            <a:r>
              <a:t>LIVE DEMO: Navigate through the sidebar while screen-sharing. Click on each section briefly.</a:t>
            </a:r>
          </a:p>
          <a:p/>
          <a:p>
            <a:r>
              <a:t>KEY POINTS:</a:t>
            </a:r>
          </a:p>
          <a:p>
            <a:r>
              <a:t>1. "The sidebar is ALWAYS visible on the left side. No matter where you are in the platform, you can jump to any module with one click."</a:t>
            </a:r>
          </a:p>
          <a:p/>
          <a:p>
            <a:r>
              <a:t>2. "Notice the platform uses the same layout pattern everywhere. List pages have a search bar at the top, a data table in the middle, and action buttons. Detail pages have tabs. Once you learn the pattern, everything is intuitive."</a:t>
            </a:r>
          </a:p>
          <a:p/>
          <a:p>
            <a:r>
              <a:t>3. "The Provider Detail Page is where you'll spend most of your time. It has 8 tabs — each one is a different aspect of the provider's credentialing record."</a:t>
            </a:r>
          </a:p>
          <a:p/>
          <a:p>
            <a:r>
              <a:t>TEACHING MOMENT:</a:t>
            </a:r>
          </a:p>
          <a:p>
            <a:r>
              <a:t>"Let me show you the most common navigation path you'll use daily:"</a:t>
            </a:r>
          </a:p>
          <a:p>
            <a:r>
              <a:t>- Dashboard → click on a provider name → Provider Detail Page → Tabs</a:t>
            </a:r>
          </a:p>
          <a:p>
            <a:r>
              <a:t>- "From the detail page, you can go to any tab to manage documents, tasks, verifications, etc."</a:t>
            </a:r>
          </a:p>
          <a:p>
            <a:r>
              <a:t>- "The browser's Back button always works to go to the previous page."</a:t>
            </a:r>
          </a:p>
          <a:p/>
          <a:p>
            <a:r>
              <a:t>EXERCISE: "Everyone, click on Providers in the sidebar. Then click on any provider name. Now explore the 8 tabs. Take 2 minutes to look around, then tell me — which tab do you think you'll use the most?" (Wait for responses)</a:t>
            </a:r>
          </a:p>
          <a:p/>
          <a:p>
            <a:r>
              <a:t>ADMIN NOTE: Point out that the Admin section only appears for Admin-role users. If someone doesn't see it, that's by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8: FINDING AND ADDING PROVIDERS</a:t>
            </a:r>
          </a:p>
          <a:p/>
          <a:p>
            <a:r>
              <a:t>LIVE DEMO: This is a hands-on slide. You should be doing this on screen while the audience follows along.</a:t>
            </a:r>
          </a:p>
          <a:p/>
          <a:p>
            <a:r>
              <a:t>DEMO - FINDING A PROVIDER:</a:t>
            </a:r>
          </a:p>
          <a:p>
            <a:r>
              <a:t>1. Click Providers in the sidebar</a:t>
            </a:r>
          </a:p>
          <a:p>
            <a:r>
              <a:t>2. Show the full list — "This is every provider in the system"</a:t>
            </a:r>
          </a:p>
          <a:p>
            <a:r>
              <a:t>3. Type a partial name in the search box — "Watch how it filters in real time"</a:t>
            </a:r>
          </a:p>
          <a:p>
            <a:r>
              <a:t>4. Show the Status dropdown — "You can narrow down to just Committee Ready providers, or just those in Verification"</a:t>
            </a:r>
          </a:p>
          <a:p>
            <a:r>
              <a:t>5. Show the Provider Type dropdown — "If you only work with PAs, you can filter to just PAs"</a:t>
            </a:r>
          </a:p>
          <a:p>
            <a:r>
              <a:t>6. Click Clear to reset</a:t>
            </a:r>
          </a:p>
          <a:p/>
          <a:p>
            <a:r>
              <a:t>DEMO - ADDING A PROVIDER:</a:t>
            </a:r>
          </a:p>
          <a:p>
            <a:r>
              <a:t>1. Click "+ New Provider"</a:t>
            </a:r>
          </a:p>
          <a:p>
            <a:r>
              <a:t>2. Fill in: First Name = "Test", Last Name = "Provider", Type = "MD"</a:t>
            </a:r>
          </a:p>
          <a:p>
            <a:r>
              <a:t>3. Show the NPI validation — type "12345" and show the error ("must be 10 digits")</a:t>
            </a:r>
          </a:p>
          <a:p>
            <a:r>
              <a:t>4. Enter a valid NPI format</a:t>
            </a:r>
          </a:p>
          <a:p>
            <a:r>
              <a:t>5. Click Create Provider</a:t>
            </a:r>
          </a:p>
          <a:p>
            <a:r>
              <a:t>6. "Notice we're now on the provider's detail page. The status is INVITED and the document checklist was automatically generated."</a:t>
            </a:r>
          </a:p>
          <a:p/>
          <a:p>
            <a:r>
              <a:t>KEY TEACHING POINTS:</a:t>
            </a:r>
          </a:p>
          <a:p>
            <a:r>
              <a:t>- "Provider Type is critical because it determines which documents are required. An MD has different requirements than an LCSW."</a:t>
            </a:r>
          </a:p>
          <a:p>
            <a:r>
              <a:t>- "NPI is optional at creation but will be needed before bots can run. If you have it, enter it now."</a:t>
            </a:r>
          </a:p>
          <a:p>
            <a:r>
              <a:t>- "The Assigned Specialist field defaults to whoever creates the record. Change it if someone else will manage this provider."</a:t>
            </a:r>
          </a:p>
          <a:p/>
          <a:p>
            <a:r>
              <a:t>EXERCISE: "Everyone create a test provider now. Use your own name as the last name so you can find it easily. Set the type to MD. Don't worry — we'll use this test provider throughout the rest of training."</a:t>
            </a:r>
          </a:p>
          <a:p/>
          <a:p>
            <a:r>
              <a:t>Wait for everyone to complete this. Walk around and help anyone who gets stuck.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9: EDITING &amp; DOCUMENT CHECKLIST</a:t>
            </a:r>
          </a:p>
          <a:p/>
          <a:p>
            <a:r>
              <a:t>EDITING PROVIDERS:</a:t>
            </a:r>
          </a:p>
          <a:p>
            <a:r>
              <a:t>"Let's edit the test provider you just created."</a:t>
            </a:r>
          </a:p>
          <a:p>
            <a:r>
              <a:t>DEMO:</a:t>
            </a:r>
          </a:p>
          <a:p>
            <a:r>
              <a:t>1. Click "Edit Info" — show the edit form</a:t>
            </a:r>
          </a:p>
          <a:p>
            <a:r>
              <a:t>2. Enter a DEA number, CAQH ID</a:t>
            </a:r>
          </a:p>
          <a:p>
            <a:r>
              <a:t>3. Type an Internal Note: "This is a test note for training"</a:t>
            </a:r>
          </a:p>
          <a:p>
            <a:r>
              <a:t>4. Save — point out the success message</a:t>
            </a:r>
          </a:p>
          <a:p>
            <a:r>
              <a:t>5. Go to Audit Trail tab — "See? The system recorded exactly what changed, who changed it, and when."</a:t>
            </a:r>
          </a:p>
          <a:p/>
          <a:p>
            <a:r>
              <a:t>KEY POINT: "Internal Notes are your free-text scratchpad. Use them for anything that doesn't fit the structured fields — like 'provider is on vacation until June 15' or 'waiting for updated malpractice policy.' These notes are visible to ALL staff but NEVER to the provider."</a:t>
            </a:r>
          </a:p>
          <a:p/>
          <a:p>
            <a:r>
              <a:t>DOCUMENT CHECKLIST:</a:t>
            </a:r>
          </a:p>
          <a:p>
            <a:r>
              <a:t>"Now click on the Documents &amp; Checklist tab."</a:t>
            </a:r>
          </a:p>
          <a:p>
            <a:r>
              <a:t>DEMO:</a:t>
            </a:r>
          </a:p>
          <a:p>
            <a:r>
              <a:t>1. Show the auto-generated checklist — "The system created this list because we set the provider type to MD."</a:t>
            </a:r>
          </a:p>
          <a:p>
            <a:r>
              <a:t>2. Point out the statuses: green checkmarks, orange circles, red warnings</a:t>
            </a:r>
          </a:p>
          <a:p>
            <a:r>
              <a:t>3. "If this were an NP instead of an MD, the checklist would be different. For example, ECFMG Certificate would be N/A."</a:t>
            </a:r>
          </a:p>
          <a:p>
            <a:r>
              <a:t>4. Show how to upload a document — drag and drop or click to browse</a:t>
            </a:r>
          </a:p>
          <a:p>
            <a:r>
              <a:t>5. "When a document is uploaded, the checklist item automatically changes to Received."</a:t>
            </a:r>
          </a:p>
          <a:p/>
          <a:p>
            <a:r>
              <a:t>CONFIGURABLE REQUIREMENTS:</a:t>
            </a:r>
          </a:p>
          <a:p>
            <a:r>
              <a:t>"Admins can configure which documents are Required, Conditional, or Not Applicable for each provider type. This means when Essen starts credentialing a new type of provider, the Admin just configures the requirements and the checklist updates automatically — no code changes needed."</a:t>
            </a:r>
          </a:p>
          <a:p/>
          <a:p>
            <a:r>
              <a:t>The list of 20 common documents on screen is not exhaustive — it varies by provider type. Scroll through and point out a few conditional ones like ECFMG (only for international MDs).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10: STATUS LIFECYCLE</a:t>
            </a:r>
          </a:p>
          <a:p/>
          <a:p>
            <a:r>
              <a:t>This is one of the MOST IMPORTANT slides. Spend 8-10 minutes here.</a:t>
            </a:r>
          </a:p>
          <a:p/>
          <a:p>
            <a:r>
              <a:t>TEACHING APPROACH:</a:t>
            </a:r>
          </a:p>
          <a:p>
            <a:r>
              <a:t>Walk through each status like telling a story of a provider's journey:</a:t>
            </a:r>
          </a:p>
          <a:p/>
          <a:p>
            <a:r>
              <a:t>"Imagine Dr. Sarah Chen just signed her contract with Essen. Here's what happens:"</a:t>
            </a:r>
          </a:p>
          <a:p/>
          <a:p>
            <a:r>
              <a:t>1. INVITED: "A Specialist creates her record and sends the outreach email. She gets an email with a big blue 'BEGIN APPLICATION' button. Status: INVITED."</a:t>
            </a:r>
          </a:p>
          <a:p/>
          <a:p>
            <a:r>
              <a:t>2. ONBOARDING_IN_PROGRESS: "Dr. Chen clicks the link, creates her account, and starts filling out her application. The system may pre-fill some fields from CAQH or iCIMS. Status: ONBOARDING IN PROGRESS."</a:t>
            </a:r>
          </a:p>
          <a:p/>
          <a:p>
            <a:r>
              <a:t>3. DOCUMENTS_PENDING: "She's filled out all the form fields, but she still needs to upload her medical license, DEA certificate, malpractice insurance, etc. Status: DOCUMENTS PENDING."</a:t>
            </a:r>
          </a:p>
          <a:p/>
          <a:p>
            <a:r>
              <a:t>4. VERIFICATION_IN_PROGRESS: "All documents received! The Specialist clicks 'Start Verification.' Bots automatically start verifying her license, DEA, board certification, and running sanctions checks. Status: VERIFICATION IN PROGRESS."</a:t>
            </a:r>
          </a:p>
          <a:p/>
          <a:p>
            <a:r>
              <a:t>5. COMMITTEE_READY: "All bots come back clean. No flags. The system automatically moves her to the committee queue and generates a summary sheet. Status: COMMITTEE READY."</a:t>
            </a:r>
          </a:p>
          <a:p/>
          <a:p>
            <a:r>
              <a:t>6. COMMITTEE_IN_REVIEW: "A Manager creates a committee session for next Tuesday and adds Dr. Chen to the agenda. Status: COMMITTEE IN REVIEW."</a:t>
            </a:r>
          </a:p>
          <a:p/>
          <a:p>
            <a:r>
              <a:t>7. APPROVED: "At the committee meeting, the members review her summary sheet. The Manager clicks Approve. Status: APPROVED. Now enrollment begins."</a:t>
            </a:r>
          </a:p>
          <a:p/>
          <a:p>
            <a:r>
              <a:t>BRANCH SCENARIOS:</a:t>
            </a:r>
          </a:p>
          <a:p>
            <a:r>
              <a:t>- DENIED: "If the committee finds a disqualifying issue, the Manager clicks Deny, enters the reason, and the application is closed."</a:t>
            </a:r>
          </a:p>
          <a:p>
            <a:r>
              <a:t>- DEFERRED: "If they need more information, the Manager clicks Defer. Dr. Chen returns to onboarding to address the outstanding items."</a:t>
            </a:r>
          </a:p>
          <a:p>
            <a:r>
              <a:t>- INACTIVE: "If Dr. Chen leaves Essen or decides not to pursue credentialing, her record is marked Inactive."</a:t>
            </a:r>
          </a:p>
          <a:p/>
          <a:p>
            <a:r>
              <a:t>KEY RULES TO EMPHASIZE:</a:t>
            </a:r>
          </a:p>
          <a:p>
            <a:r>
              <a:t>- "You CANNOT skip stages. The system only shows valid next steps."</a:t>
            </a:r>
          </a:p>
          <a:p>
            <a:r>
              <a:t>- "Every status change requires you to click a button — it's intentional, not automatic, because YOU are accountable."</a:t>
            </a:r>
          </a:p>
          <a:p>
            <a:r>
              <a:t>- "Deny and Defer REQUIRE a written reason. This is for the audit trail."</a:t>
            </a:r>
          </a:p>
          <a:p/>
          <a:p>
            <a:r>
              <a:t>HANDS-ON: "Let's advance your test provider. Click 'Start Onboarding' on your test provider's page. Watch the status change. Now try the next step."</a:t>
            </a:r>
          </a:p>
          <a:p/>
          <a:p>
            <a:r>
              <a:t>Walk the group through advancing 2-3 stages.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11: TASK MANAGEMENT</a:t>
            </a:r>
          </a:p>
          <a:p/>
          <a:p>
            <a:r>
              <a:t>LIVE DEMO: Create a task on screen.</a:t>
            </a:r>
          </a:p>
          <a:p/>
          <a:p>
            <a:r>
              <a:t>"Tasks are how your team stays coordinated. Every action item related to a provider should be a task — not an email, not a sticky note, not a mental reminder. If it's in the system, it's tracked. If it's in your head, it's at risk."</a:t>
            </a:r>
          </a:p>
          <a:p/>
          <a:p>
            <a:r>
              <a:t>DEMO STEPS:</a:t>
            </a:r>
          </a:p>
          <a:p>
            <a:r>
              <a:t>1. Go to your test provider's Tasks tab</a:t>
            </a:r>
          </a:p>
          <a:p>
            <a:r>
              <a:t>2. Click "+ Add Task"</a:t>
            </a:r>
          </a:p>
          <a:p>
            <a:r>
              <a:t>3. Title: "Request updated medical license from provider"</a:t>
            </a:r>
          </a:p>
          <a:p>
            <a:r>
              <a:t>4. Description: "Current license on file expires in 30 days. Provider needs to submit renewed license before committee review."</a:t>
            </a:r>
          </a:p>
          <a:p>
            <a:r>
              <a:t>5. Assign to yourself</a:t>
            </a:r>
          </a:p>
          <a:p>
            <a:r>
              <a:t>6. Priority: HIGH</a:t>
            </a:r>
          </a:p>
          <a:p>
            <a:r>
              <a:t>7. Due date: 1 week from today</a:t>
            </a:r>
          </a:p>
          <a:p>
            <a:r>
              <a:t>8. Create — show the task appears in the list</a:t>
            </a:r>
          </a:p>
          <a:p/>
          <a:p>
            <a:r>
              <a:t>TEACHING POINTS:</a:t>
            </a:r>
          </a:p>
          <a:p>
            <a:r>
              <a:t>- "Notice the task is now visible on the Dashboard under 'My Tasks.' Everyone can see their tasks the moment they log in."</a:t>
            </a:r>
          </a:p>
          <a:p>
            <a:r>
              <a:t>- "When a task's due date passes, it turns red and your Manager is notified. This isn't punitive — it's a safety net."</a:t>
            </a:r>
          </a:p>
          <a:p>
            <a:r>
              <a:t>- "When you're done, click 'Complete.' The task disappears from the active list but stays in the audit trail forever."</a:t>
            </a:r>
          </a:p>
          <a:p/>
          <a:p>
            <a:r>
              <a:t>COMMON MISTAKES TO WARN ABOUT:</a:t>
            </a:r>
          </a:p>
          <a:p>
            <a:r>
              <a:t>1. Vague task titles — "Follow up" tells nobody anything. Be specific.</a:t>
            </a:r>
          </a:p>
          <a:p>
            <a:r>
              <a:t>2. Not setting due dates — tasks without dates are tasks that don't get done.</a:t>
            </a:r>
          </a:p>
          <a:p>
            <a:r>
              <a:t>3. Assigning everything to yourself — if someone else should handle it, assign it to them. That's what the system is for.</a:t>
            </a:r>
          </a:p>
          <a:p>
            <a:r>
              <a:t>4. Not closing tasks when done — this pollutes the active task list and creates confusion about what's actually outstanding.</a:t>
            </a:r>
          </a:p>
          <a:p/>
          <a:p>
            <a:r>
              <a:t>EXERCISE: "Create a task on your test provider. Title it '[Your Name] Training Test Task.' Set it to Medium priority with a due date of today. Then complete it."</a:t>
            </a:r>
          </a:p>
          <a:p/>
          <a:p>
            <a:r>
              <a:t>Walk around to verify everyone can create and complete a task.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12: VERIFICATION BOTS OVERVIEW</a:t>
            </a:r>
          </a:p>
          <a:p/>
          <a:p>
            <a:r>
              <a:t>This is the feature that will MOST EXCITE your audience. This is where the time savings happen.</a:t>
            </a:r>
          </a:p>
          <a:p/>
          <a:p>
            <a:r>
              <a:t>OPENING:</a:t>
            </a:r>
          </a:p>
          <a:p>
            <a:r>
              <a:t>"This is probably the single biggest improvement over PARCS. Right now, for every provider, someone on the team manually goes to 6-8 websites, types in information, waits for results, screenshots the page, saves it to the K: drive, and records the expiration date. How long does that take per provider? [Wait for answers — they'll say 2-4 hours.] With the new platform, you click ONE BUTTON and the bot does all of that in minutes."</a:t>
            </a:r>
          </a:p>
          <a:p/>
          <a:p>
            <a:r>
              <a:t>WALK THROUGH EACH BOT:</a:t>
            </a:r>
          </a:p>
          <a:p>
            <a:r>
              <a:t>1. License Verification: "The bot goes to healthguideusa.org, selects the state, enters the license number, clicks search, captures the verification page as a PDF with a timestamp, and saves it to the provider's document folder. All automatically."</a:t>
            </a:r>
          </a:p>
          <a:p/>
          <a:p>
            <a:r>
              <a:t>2. DEA: "This one is special because the DEA portal requires MFA — you know how you have to enter a code every time? The bot handles that automatically using TOTP. It logs in, enters the MFA code, verifies the DEA registration, and captures the result."</a:t>
            </a:r>
          </a:p>
          <a:p/>
          <a:p>
            <a:r>
              <a:t>3. Board Certifications: "Three separate bots for three boards: NCCPA for PAs, ABIM for Internal Medicine, ABFM for Family Medicine. Each navigates to the board's website and verifies the certification."</a:t>
            </a:r>
          </a:p>
          <a:p/>
          <a:p>
            <a:r>
              <a:t>4. Sanctions: "OIG and SAM.gov check whether a provider is excluded from federal healthcare programs. If an exclusion is found, it's a HARD STOP — the provider cannot be approved. These run automatically when a provider enters the pipeline AND monthly for all active providers."</a:t>
            </a:r>
          </a:p>
          <a:p/>
          <a:p>
            <a:r>
              <a:t>5. NPDB: "Checks for malpractice payments and adverse actions. Results are restricted to Managers and Admins only — this is a legal requirement."</a:t>
            </a:r>
          </a:p>
          <a:p/>
          <a:p>
            <a:r>
              <a:t>KEY POINT: "Every bot saves a timestamped PDF, creates a database record, updates the checklist, and logs to the audit trail. You don't need to do anything after the bot completes — it's all automated."</a:t>
            </a:r>
          </a:p>
          <a:p/>
          <a:p>
            <a:r>
              <a:t>SECURITY NOTE: "For the ABFM bot, the system needs SSN last 4 digits. This data is encrypted in the database and decrypted ONLY in memory during the bot run. It's never logged, never stored in plaintext."</a:t>
            </a:r>
          </a:p>
          <a:p/>
          <a:p>
            <a:r>
              <a:t>NEXT SLIDE: "Now let me show you how to actually trigger a bot and read the results."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13: TRIGGERING BOTS &amp; RESULTS</a:t>
            </a:r>
          </a:p>
          <a:p/>
          <a:p>
            <a:r>
              <a:t>LIVE DEMO: This is the highlight of the training. Trigger a bot on screen if the training environment has bot capability.</a:t>
            </a:r>
          </a:p>
          <a:p/>
          <a:p>
            <a:r>
              <a:t>DEMO:</a:t>
            </a:r>
          </a:p>
          <a:p>
            <a:r>
              <a:t>1. Go to your test provider</a:t>
            </a:r>
          </a:p>
          <a:p>
            <a:r>
              <a:t>2. Click the Bots link/button</a:t>
            </a:r>
          </a:p>
          <a:p>
            <a:r>
              <a:t>3. Show the bot panel — "Each card represents a different verification type"</a:t>
            </a:r>
          </a:p>
          <a:p>
            <a:r>
              <a:t>4. Click "Run Bot" on License Verification (or whichever is available in training env)</a:t>
            </a:r>
          </a:p>
          <a:p>
            <a:r>
              <a:t>5. "Watch the status — it changes to RUNNING in real time. No page refresh needed."</a:t>
            </a:r>
          </a:p>
          <a:p>
            <a:r>
              <a:t>6. Wait for it to complete</a:t>
            </a:r>
          </a:p>
          <a:p>
            <a:r>
              <a:t>7. Show the result — "See? It says Verified. A PDF was saved, the checklist was updated, and an audit trail entry was created. All from one click."</a:t>
            </a:r>
          </a:p>
          <a:p/>
          <a:p>
            <a:r>
              <a:t>IF BOTS ARE NOT AVAILABLE IN TRAINING ENV:</a:t>
            </a:r>
          </a:p>
          <a:p>
            <a:r>
              <a:t>Walk through screenshots or describe the process verbally. Emphasize the before/after comparison:</a:t>
            </a:r>
          </a:p>
          <a:p>
            <a:r>
              <a:t>- BEFORE: Navigate to website, search, screenshot, save to K: drive, record expiration, update spreadsheet = 15-20 minutes</a:t>
            </a:r>
          </a:p>
          <a:p>
            <a:r>
              <a:t>- AFTER: Click "Run Bot," wait 60 seconds, done = 1 minute</a:t>
            </a:r>
          </a:p>
          <a:p/>
          <a:p>
            <a:r>
              <a:t>HANDLING RESULTS:</a:t>
            </a:r>
          </a:p>
          <a:p>
            <a:r>
              <a:t>- VERIFIED: "Nothing to do. The system handled everything. Move on to the next bot."</a:t>
            </a:r>
          </a:p>
          <a:p>
            <a:r>
              <a:t>- FAILED: "Don't panic. Check the error message. Usually it's a data issue — wrong license number, missing state, etc. Fix the data on the provider's profile and re-run."</a:t>
            </a:r>
          </a:p>
          <a:p>
            <a:r>
              <a:t>- FLAGGED: "This needs your attention. Maybe the license is expired, or a sanction was found. You must investigate the issue, then either acknowledge the flag (if resolved) or escalate to your Manager."</a:t>
            </a:r>
          </a:p>
          <a:p/>
          <a:p>
            <a:r>
              <a:t>IMPORTANT: "For sanctions results — if OIG or SAM.gov finds an exclusion, the provider CANNOT be approved. This is a hard stop. The Credentialing Manager is immediately notified."</a:t>
            </a:r>
          </a:p>
          <a:p/>
          <a:p>
            <a:r>
              <a:t>MANUAL FALLBACK:</a:t>
            </a:r>
          </a:p>
          <a:p>
            <a:r>
              <a:t>"If a bot fails 3 times and you can't fix the issue, you can always do the verification manually — go to the website yourself, capture the result, and upload it to the platform. The system creates the verification record just like a bot would."</a:t>
            </a:r>
          </a:p>
          <a:p/>
          <a:p>
            <a:r>
              <a:t>EXERCISE: "Try triggering a bot on your test provider. If the training environment doesn't have live bots, I'll demonstrate one on screen and we'll discuss the results together."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14: ENROLLMENTS</a:t>
            </a:r>
          </a:p>
          <a:p/>
          <a:p>
            <a:r>
              <a:t>"Enrollments are where credentialing meets revenue. A provider can't see patients and generate revenue until they're enrolled with payers. The faster we enroll, the sooner the provider is productive."</a:t>
            </a:r>
          </a:p>
          <a:p/>
          <a:p>
            <a:r>
              <a:t>WALK THROUGH THE THREE TYPES:</a:t>
            </a:r>
          </a:p>
          <a:p>
            <a:r>
              <a:t>1. Delegated: "Essen has agreements with certain payers that let us enroll providers directly. We submit on their behalf."</a:t>
            </a:r>
          </a:p>
          <a:p>
            <a:r>
              <a:t>2. Facility (BTC): "These are facility-level enrollments for Behavioral Treatment Centers."</a:t>
            </a:r>
          </a:p>
          <a:p>
            <a:r>
              <a:t>3. Direct: "The provider is enrolled directly with the payer. We usually handle the submission."</a:t>
            </a:r>
          </a:p>
          <a:p/>
          <a:p>
            <a:r>
              <a:t>DEMO - CREATING AN ENROLLMENT:</a:t>
            </a:r>
          </a:p>
          <a:p>
            <a:r>
              <a:t>1. Go to a provider's Enrollments tab</a:t>
            </a:r>
          </a:p>
          <a:p>
            <a:r>
              <a:t>2. Click "+ Add Enrollment"</a:t>
            </a:r>
          </a:p>
          <a:p>
            <a:r>
              <a:t>3. Select Payer, Type, Submission Method</a:t>
            </a:r>
          </a:p>
          <a:p>
            <a:r>
              <a:t>4. Create — show the enrollment record</a:t>
            </a:r>
          </a:p>
          <a:p/>
          <a:p>
            <a:r>
              <a:t>DEMO - UPDATING STATUS:</a:t>
            </a:r>
          </a:p>
          <a:p>
            <a:r>
              <a:t>1. Click "Update Status"</a:t>
            </a:r>
          </a:p>
          <a:p>
            <a:r>
              <a:t>2. Change to "Submitted" — show how it asks for submission date</a:t>
            </a:r>
          </a:p>
          <a:p>
            <a:r>
              <a:t>3. Explain: "As you contact the payer and get updates, you change the status to reflect reality."</a:t>
            </a:r>
          </a:p>
          <a:p/>
          <a:p>
            <a:r>
              <a:t>DEMO - LOGGING FOLLOW-UP:</a:t>
            </a:r>
          </a:p>
          <a:p>
            <a:r>
              <a:t>1. Click "Log Follow-Up"</a:t>
            </a:r>
          </a:p>
          <a:p>
            <a:r>
              <a:t>2. Enter: "Called UHC. Confirmed receipt. Processing expected in 2 weeks."</a:t>
            </a:r>
          </a:p>
          <a:p>
            <a:r>
              <a:t>3. Set Next Follow-Up Date: 2 weeks from today</a:t>
            </a:r>
          </a:p>
          <a:p>
            <a:r>
              <a:t>4. "Now the system will remind me in 2 weeks to check again."</a:t>
            </a:r>
          </a:p>
          <a:p/>
          <a:p>
            <a:r>
              <a:t>THE #1 RULE:</a:t>
            </a:r>
          </a:p>
          <a:p>
            <a:r>
              <a:t>"I cannot stress this enough: ALWAYS set a Next Follow-Up Date. If you don't, the enrollment falls off the radar. The system can only remind you if you give it a date. This was the biggest problem with PARCS — enrollment follow-ups were tracked in spreadsheets and things fell through the cracks. The new system solves this, but only if you use it correctly."</a:t>
            </a:r>
          </a:p>
          <a:p/>
          <a:p>
            <a:r>
              <a:t>EXERCISE: Create an enrollment on your test provider and log a follow-up with a next follow-up date.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15: EXPIRABLES</a:t>
            </a:r>
          </a:p>
          <a:p/>
          <a:p>
            <a:r>
              <a:t>"This is your compliance safety net. In PARCS, tracking expirations was done in spreadsheets — and things slipped through. How many times has a license expired and we didn't know until a payer audit caught it? [Let them respond.] That ends now."</a:t>
            </a:r>
          </a:p>
          <a:p/>
          <a:p>
            <a:r>
              <a:t>COLOR CODES:</a:t>
            </a:r>
          </a:p>
          <a:p>
            <a:r>
              <a:t>"The color system is simple: RED = act now, ORANGE = act soon, YELLOW = plan ahead, GREEN = you're fine."</a:t>
            </a:r>
          </a:p>
          <a:p/>
          <a:p>
            <a:r>
              <a:t>Walk through each color with a real-world scenario:</a:t>
            </a:r>
          </a:p>
          <a:p>
            <a:r>
              <a:t>- RED/EXPIRED: "Dr. Smith's medical license expired yesterday. This is a compliance violation. We need to contact her immediately and potentially suspend her from seeing patients until the renewal is confirmed."</a:t>
            </a:r>
          </a:p>
          <a:p>
            <a:r>
              <a:t>- RED/14 DAYS: "Dr. Jones's DEA is expiring in 10 days. We need to send a renewal reminder TODAY."</a:t>
            </a:r>
          </a:p>
          <a:p>
            <a:r>
              <a:t>- ORANGE/30 DAYS: "Dr. Patel's malpractice insurance renews next month. Time to start the renewal process."</a:t>
            </a:r>
          </a:p>
          <a:p/>
          <a:p>
            <a:r>
              <a:t>THE NIGHTLY SCAN:</a:t>
            </a:r>
          </a:p>
          <a:p>
            <a:r>
              <a:t>"Every night at 2 AM, an automated job scans every expirable record in the system. It recalculates the urgency level and generates alerts. You don't need to check manually — the system finds problems before they become compliance issues."</a:t>
            </a:r>
          </a:p>
          <a:p/>
          <a:p>
            <a:r>
              <a:t>PROACTIVE ALERTS:</a:t>
            </a:r>
          </a:p>
          <a:p>
            <a:r>
              <a:t>"The system starts alerting at 90 days out. That gives you THREE MONTHS to resolve a renewal — plenty of time if you act on the alerts."</a:t>
            </a:r>
          </a:p>
          <a:p/>
          <a:p>
            <a:r>
              <a:t>RENEWAL WORKFLOW:</a:t>
            </a:r>
          </a:p>
          <a:p>
            <a:r>
              <a:t>Walk through the 5-step renewal process on screen. Emphasize that some renewals can be confirmed by bot (like a license renewal that shows up on the state board website), while others require the provider to submit updated documentation.</a:t>
            </a:r>
          </a:p>
          <a:p/>
          <a:p>
            <a:r>
              <a:t>EXERCISE: "Open the Expirables page from the sidebar. How many expirables are in the system? What's the most urgent one? What color is it?"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16: COMMITTEE REVIEW</a:t>
            </a:r>
          </a:p>
          <a:p/>
          <a:p>
            <a:r>
              <a:t>"The committee review is the most important step in the credentialing process. This is where the Medical Director and committee members formally review and approve (or deny or defer) a provider."</a:t>
            </a:r>
          </a:p>
          <a:p/>
          <a:p>
            <a:r>
              <a:t>FOR MANAGERS:</a:t>
            </a:r>
          </a:p>
          <a:p>
            <a:r>
              <a:t>"Creating a session is straightforward. You pick a date, add providers from the queue, and the system generates everything you need — summary sheets, agendas, the whole packet. No more spending hours manually assembling PDF packets."</a:t>
            </a:r>
          </a:p>
          <a:p/>
          <a:p>
            <a:r>
              <a:t>DEMO (if Manager role available):</a:t>
            </a:r>
          </a:p>
          <a:p>
            <a:r>
              <a:t>1. Click Committee in sidebar</a:t>
            </a:r>
          </a:p>
          <a:p>
            <a:r>
              <a:t>2. Show the queue — "These are all providers waiting for review"</a:t>
            </a:r>
          </a:p>
          <a:p>
            <a:r>
              <a:t>3. Click "+ New Session"</a:t>
            </a:r>
          </a:p>
          <a:p>
            <a:r>
              <a:t>4. Set a date, type = Regular</a:t>
            </a:r>
          </a:p>
          <a:p>
            <a:r>
              <a:t>5. Add 2-3 providers from the queue</a:t>
            </a:r>
          </a:p>
          <a:p>
            <a:r>
              <a:t>6. Show the auto-generated agenda</a:t>
            </a:r>
          </a:p>
          <a:p>
            <a:r>
              <a:t>7. Walk through the decision buttons: Approve, Deny, Defer</a:t>
            </a:r>
          </a:p>
          <a:p/>
          <a:p>
            <a:r>
              <a:t>FOR COMMITTEE MEMBERS:</a:t>
            </a:r>
          </a:p>
          <a:p>
            <a:r>
              <a:t>"Your view is intentionally simple. You see the sessions you're assigned to, the provider summary sheets, and voting buttons. You don't see the full onboarding dashboard or enrollment records — that's not your function."</a:t>
            </a:r>
          </a:p>
          <a:p/>
          <a:p>
            <a:r>
              <a:t>KEY COMPLIANCE POINTS:</a:t>
            </a:r>
          </a:p>
          <a:p>
            <a:r>
              <a:t>- "Every decision is permanently logged. If an auditor asks 'who approved Dr. Johnson and when?' — the answer is in the audit trail."</a:t>
            </a:r>
          </a:p>
          <a:p>
            <a:r>
              <a:t>- "Deny and Defer require written reasons. This is not optional. The system won't let you deny without entering a reason."</a:t>
            </a:r>
          </a:p>
          <a:p>
            <a:r>
              <a:t>- "The approval date on the provider profile is the committee session date, not the date you click the button (unless they differ, in which case you'll be asked to confirm)."</a:t>
            </a:r>
          </a:p>
          <a:p/>
          <a:p>
            <a:r>
              <a:t>AUTO-GENERATED MATERIALS:</a:t>
            </a:r>
          </a:p>
          <a:p>
            <a:r>
              <a:t>"Let me emphasize how much time this saves. Currently, someone manually creates a summary sheet for each provider, assembles the credential packet, formats an agenda, and emails it to everyone. The new system does ALL of this automatically. One click generates the agenda. One click sends it to all committee members."</a:t>
            </a:r>
          </a:p>
          <a:p/>
          <a:p>
            <a:r>
              <a:t>EXERCISE: "Managers — create a test committee session and add your test provider to it. Committee Members — find the session and review the provider summary sheet."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17: ADDITIONAL MODULES</a:t>
            </a:r>
          </a:p>
          <a:p/>
          <a:p>
            <a:r>
              <a:t>This slide covers four modules that may not need as much hands-on time but are important to understand.</a:t>
            </a:r>
          </a:p>
          <a:p/>
          <a:p>
            <a:r>
              <a:t>SANCTIONS:</a:t>
            </a:r>
          </a:p>
          <a:p>
            <a:r>
              <a:t>"Sanctions checking is a COMPLIANCE REQUIREMENT. We must verify that every provider is not excluded from federal healthcare programs. The system does this automatically — initial check when a provider enters the pipeline, plus monthly rechecks for all active providers."</a:t>
            </a:r>
          </a:p>
          <a:p/>
          <a:p>
            <a:r>
              <a:t>KEY POINT: "If a sanction IS found, it's the most serious result possible. The application is immediately blocked. The Manager is alerted. This must be investigated and resolved before ANYTHING else happens with that provider."</a:t>
            </a:r>
          </a:p>
          <a:p/>
          <a:p>
            <a:r>
              <a:t>NPDB:</a:t>
            </a:r>
          </a:p>
          <a:p>
            <a:r>
              <a:t>"NPDB results are legally confidential. Only Managers and Admins can see them. If you're a Specialist, you will NOT see NPDB results and that's by design. If a Manager reviews an NPDB report and determines it's not disqualifying, they document that finding and the provider can proceed."</a:t>
            </a:r>
          </a:p>
          <a:p/>
          <a:p>
            <a:r>
              <a:t>MEDICAID:</a:t>
            </a:r>
          </a:p>
          <a:p>
            <a:r>
              <a:t>"For providers practicing in New York, we need to enroll them with NY Medicaid via the eMedNY portal. The platform tracks the entire lifecycle including ETIN affiliation, revalidation dates, and provider signature tracking."</a:t>
            </a:r>
          </a:p>
          <a:p/>
          <a:p>
            <a:r>
              <a:t>HOSPITAL PRIVILEGES:</a:t>
            </a:r>
          </a:p>
          <a:p>
            <a:r>
              <a:t>"Many of our providers need privileges at specific hospitals. This module tracks the application process and renewal cycle for each facility. Renewals are tracked as expirables, so you'll see them in the Dashboard alerts."</a:t>
            </a:r>
          </a:p>
          <a:p/>
          <a:p>
            <a:r>
              <a:t>TEACHING TIP: These modules follow the same patterns as the others — list views, detail pages, status workflows. Once the audience has learned the Provider/Enrollment/Expirables pattern, these modules feel familiar.</a:t>
            </a:r>
          </a:p>
          <a:p/>
          <a:p>
            <a:r>
              <a:t>Spend about 2-3 minutes per module here unless the audience has specific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18: ADMIN PANEL</a:t>
            </a:r>
          </a:p>
          <a:p/>
          <a:p>
            <a:r>
              <a:t>NOTE: This slide is only relevant for Admin-role users. If your audience is Specialists or Committee Members, you can skip this slide or cover it very briefly ("Your Admin handles this behind the scenes").</a:t>
            </a:r>
          </a:p>
          <a:p/>
          <a:p>
            <a:r>
              <a:t>FOR ADMIN AUDIENCE:</a:t>
            </a:r>
          </a:p>
          <a:p/>
          <a:p>
            <a:r>
              <a:t>USER MANAGEMENT:</a:t>
            </a:r>
          </a:p>
          <a:p>
            <a:r>
              <a:t>DEMO: Create a test user</a:t>
            </a:r>
          </a:p>
          <a:p>
            <a:r>
              <a:t>1. Go to Admin → Users</a:t>
            </a:r>
          </a:p>
          <a:p>
            <a:r>
              <a:t>2. Click "+ Invite User"</a:t>
            </a:r>
          </a:p>
          <a:p>
            <a:r>
              <a:t>3. Enter a test email, name, and role</a:t>
            </a:r>
          </a:p>
          <a:p>
            <a:r>
              <a:t>4. Create — "The user can now log in with their Azure AD credentials"</a:t>
            </a:r>
          </a:p>
          <a:p>
            <a:r>
              <a:t>5. Show Edit — change the role to demonstrate immediate effect</a:t>
            </a:r>
          </a:p>
          <a:p>
            <a:r>
              <a:t>6. Show Deactivate — "Instantly revokes access. The user record is preserved for audit purposes."</a:t>
            </a:r>
          </a:p>
          <a:p/>
          <a:p>
            <a:r>
              <a:t>PROVIDER TYPE CONFIGURATION:</a:t>
            </a:r>
          </a:p>
          <a:p>
            <a:r>
              <a:t>"This is how you control what documents are required for each provider type. For example, if you add a new type like 'Psychologist,' you configure which documents are Required, Conditional, or Not Applicable. New providers of that type automatically get the right checklist."</a:t>
            </a:r>
          </a:p>
          <a:p/>
          <a:p>
            <a:r>
              <a:t>DEMO: Show the provider type configuration screen. Change a document from Required to Conditional. "See how the system dynamically adjusts? No code changes needed."</a:t>
            </a:r>
          </a:p>
          <a:p/>
          <a:p>
            <a:r>
              <a:t>SYSTEM SETTINGS:</a:t>
            </a:r>
          </a:p>
          <a:p>
            <a:r>
              <a:t>"This is where you fine-tune the platform's behavior — when notifications fire, what email templates look like, default follow-up cadences, etc."</a:t>
            </a:r>
          </a:p>
          <a:p/>
          <a:p>
            <a:r>
              <a:t>AUDIT &amp; MONITORING:</a:t>
            </a:r>
          </a:p>
          <a:p>
            <a:r>
              <a:t>"As an Admin, you have visibility into the health of the entire system. You can see bot success rates, integration status, error rates. If something is broken, you'll know before anyone files a ticket."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19: PROVIDER PORTAL</a:t>
            </a:r>
          </a:p>
          <a:p/>
          <a:p>
            <a:r>
              <a:t>"Even though most of you are staff users, it's important to understand what the PROVIDER sees. When you send an outreach email and the provider clicks 'BEGIN APPLICATION,' this is where they land."</a:t>
            </a:r>
          </a:p>
          <a:p/>
          <a:p>
            <a:r>
              <a:t>KEY POINTS:</a:t>
            </a:r>
          </a:p>
          <a:p>
            <a:r>
              <a:t>1. "The provider portal is COMPLETELY separate from the staff interface. Providers see ONLY their own application. They cannot see other providers, staff dashboards, internal notes, or anything else."</a:t>
            </a:r>
          </a:p>
          <a:p/>
          <a:p>
            <a:r>
              <a:t>2. "The application form has 11 sections. It's designed to be completed in stages — providers can save progress and come back later. Auto-save runs every 60 seconds."</a:t>
            </a:r>
          </a:p>
          <a:p/>
          <a:p>
            <a:r>
              <a:t>3. "If the provider has a CAQH ID, much of the application is pre-filled automatically. If they upload a photo ID, OCR extracts name and DOB. This dramatically reduces the manual data entry burden on the provider."</a:t>
            </a:r>
          </a:p>
          <a:p/>
          <a:p>
            <a:r>
              <a:t>4. "Providers cannot submit their application until ALL required fields are complete and ALL required documents are uploaded. The system highlights missing items in red."</a:t>
            </a:r>
          </a:p>
          <a:p/>
          <a:p>
            <a:r>
              <a:t>5. "The electronic attestation at the end is legally binding. The provider certifies that all information is true and accurate, with a timestamped e-signature."</a:t>
            </a:r>
          </a:p>
          <a:p/>
          <a:p>
            <a:r>
              <a:t>WHY THIS MATTERS TO STAFF:</a:t>
            </a:r>
          </a:p>
          <a:p>
            <a:r>
              <a:t>"When a provider completes their application, you see it immediately on your Dashboard. The provider's status advances, documents appear in the checklist, and you can start running bots. The better the provider experience, the faster they complete their application, and the faster you can credential them."</a:t>
            </a:r>
          </a:p>
          <a:p/>
          <a:p>
            <a:r>
              <a:t>COMMON PROVIDER ISSUES (and how you help):</a:t>
            </a:r>
          </a:p>
          <a:p>
            <a:r>
              <a:t>- "Link expired" — Resend the invitation from the provider's profile</a:t>
            </a:r>
          </a:p>
          <a:p>
            <a:r>
              <a:t>- "I uploaded the wrong document" — They can delete and re-upload</a:t>
            </a:r>
          </a:p>
          <a:p>
            <a:r>
              <a:t>- "I can't find a section" — Sections collapse/expand; tell them to scroll down</a:t>
            </a:r>
          </a:p>
          <a:p>
            <a:r>
              <a:t>- "How do I know I'm done?" — The completion percentage at the top shows overall progress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20: BEST PRACTICES</a:t>
            </a:r>
          </a:p>
          <a:p/>
          <a:p>
            <a:r>
              <a:t>"Before we wrap up, let me share the habits that will make you successful with this platform. These come from what we've seen work in testing and what we know about the common pitfalls."</a:t>
            </a:r>
          </a:p>
          <a:p/>
          <a:p>
            <a:r>
              <a:t>GO THROUGH EACH CARD:</a:t>
            </a:r>
          </a:p>
          <a:p/>
          <a:p>
            <a:r>
              <a:t>1. MORNING ROUTINE: "Make this your first 5 minutes every day. It's like checking your email — except this is checking your credentialing email. Dashboard → Urgent → Tasks → Pipeline. Done."</a:t>
            </a:r>
          </a:p>
          <a:p/>
          <a:p>
            <a:r>
              <a:t>2. PROVIDER RECORDS: "The single biggest process improvement is advancing statuses promptly. When a provider is stuck at the wrong stage, it throws off the pipeline view for everyone. If documents are received, move them forward."</a:t>
            </a:r>
          </a:p>
          <a:p/>
          <a:p>
            <a:r>
              <a:t>3. FOLLOW-UP DISCIPLINE: "I'm going to say this one more time because it's THAT important: Always. Set. A. Next. Follow-Up. Date. If you log a follow-up without setting the next date, the enrollment disappears from your radar. The system can only help you if you give it dates."</a:t>
            </a:r>
          </a:p>
          <a:p/>
          <a:p>
            <a:r>
              <a:t>4. TASK HYGIENE: "Close tasks when you're done. I know it sounds obvious, but in PARCS, there was no system to close things. Old tasks lingering in the system create confusion about what's actually outstanding."</a:t>
            </a:r>
          </a:p>
          <a:p/>
          <a:p>
            <a:r>
              <a:t>5. BOT VERIFICATION: "Run bots BEFORE committee. Don't wait until the committee session to discover that a license is expired. Run bots early, deal with flags early, and the committee session goes smoothly."</a:t>
            </a:r>
          </a:p>
          <a:p/>
          <a:p>
            <a:r>
              <a:t>6. COMMITTEE PREP: "Managers, give committee members at least 48 hours with the agenda. The auto-generated materials save you hours of prep time — use that time to review for accuracy instead."</a:t>
            </a:r>
          </a:p>
          <a:p/>
          <a:p>
            <a:r>
              <a:t>CLOSING THIS SECTION:</a:t>
            </a:r>
          </a:p>
          <a:p>
            <a:r>
              <a:t>"Remember — the platform is a TOOL. It's only as good as the data you put into it and the habits you build around it. If you follow these six practices, you'll find that credentialing becomes faster, more accurate, and less stressful than it's ever been."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21: TROUBLESHOOTING</a:t>
            </a:r>
          </a:p>
          <a:p/>
          <a:p>
            <a:r>
              <a:t>"Before we open for Q&amp;A, let me walk through the most common issues you might encounter and how to resolve them."</a:t>
            </a:r>
          </a:p>
          <a:p/>
          <a:p>
            <a:r>
              <a:t>Go through each issue briefly. These are reference material that attendees can come back to later.</a:t>
            </a:r>
          </a:p>
          <a:p/>
          <a:p>
            <a:r>
              <a:t>KEY POINT: "Most issues have simple fixes. The most common problem is login-related, and it's almost always because the user account hasn't been created or the wrong email is being used."</a:t>
            </a:r>
          </a:p>
          <a:p/>
          <a:p>
            <a:r>
              <a:t>SUPPORT ESCALATION:</a:t>
            </a:r>
          </a:p>
          <a:p>
            <a:r>
              <a:t>"If you encounter something not on this list:"</a:t>
            </a:r>
          </a:p>
          <a:p>
            <a:r>
              <a:t>1. Check the training guide (docs/user-training.md)</a:t>
            </a:r>
          </a:p>
          <a:p>
            <a:r>
              <a:t>2. Ask a colleague</a:t>
            </a:r>
          </a:p>
          <a:p>
            <a:r>
              <a:t>3. Contact your Credentialing Manager for workflow questions</a:t>
            </a:r>
          </a:p>
          <a:p>
            <a:r>
              <a:t>4. Contact IT for technical issues — please provide: what you were doing, what you expected, what happened, and any error text</a:t>
            </a:r>
          </a:p>
          <a:p/>
          <a:p>
            <a:r>
              <a:t>ENCOURAGE SELF-SERVICE:</a:t>
            </a:r>
          </a:p>
          <a:p>
            <a:r>
              <a:t>"The training guide is comprehensive. Before contacting support, check if the answer is in the guide. It covers every workflow in detail with step-by-step instructions."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22: GLOSSARY</a:t>
            </a:r>
          </a:p>
          <a:p/>
          <a:p>
            <a:r>
              <a:t>"This is your reference slide. If you hear a term during your daily work that you don't recognize, check this glossary or the full training guide."</a:t>
            </a:r>
          </a:p>
          <a:p/>
          <a:p>
            <a:r>
              <a:t>Don't read through every term. Instead, highlight a few that cause the most confusion:</a:t>
            </a:r>
          </a:p>
          <a:p/>
          <a:p>
            <a:r>
              <a:t>1. PSV vs. bot: "PSV is the PROCESS (Primary Source Verification). A bot is the TOOL that automates the PSV. When we say 'run a PSV,' we mean 'trigger a bot to do the verification.'"</a:t>
            </a:r>
          </a:p>
          <a:p/>
          <a:p>
            <a:r>
              <a:t>2. CAQH: "Think of CAQH as a shared database that insurance companies and healthcare organizations use. If a provider has a CAQH profile, we can pull their data automatically instead of making them fill everything in from scratch."</a:t>
            </a:r>
          </a:p>
          <a:p/>
          <a:p>
            <a:r>
              <a:t>3. NPDB: "This is the most sensitive data in the system. NPDB results are confidential by federal law. Only Managers and Admins can see them. Do not share NPDB results outside the platform."</a:t>
            </a:r>
          </a:p>
          <a:p/>
          <a:p>
            <a:r>
              <a:t>4. PARCS: "The system we're replacing. You'll hear this term a lot during the transition period. When someone says 'in PARCS, we used to...' — the answer is usually 'the new platform handles that automatically.'"</a:t>
            </a:r>
          </a:p>
          <a:p/>
          <a:p>
            <a:r>
              <a:t>This slide is meant as a handout reference, not a teaching slide. Move through it quickly.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23: GETTING HELP</a:t>
            </a:r>
          </a:p>
          <a:p/>
          <a:p>
            <a:r>
              <a:t>"Before we open for Q&amp;A, let me make sure everyone knows how to get help after today."</a:t>
            </a:r>
          </a:p>
          <a:p/>
          <a:p>
            <a:r>
              <a:t>EMPHASIZE THE SELF-HELP PATH:</a:t>
            </a:r>
          </a:p>
          <a:p>
            <a:r>
              <a:t>"80% of questions can be answered by checking the training guide. It's comprehensive and searchable. Before you pick up the phone or send an email, check the guide first."</a:t>
            </a:r>
          </a:p>
          <a:p/>
          <a:p>
            <a:r>
              <a:t>SUPPORT CONTACTS:</a:t>
            </a:r>
          </a:p>
          <a:p>
            <a:r>
              <a:t>"For workflow questions — 'How do I handle this situation?' — your Credentialing Manager is the right person. They understand the business process."</a:t>
            </a:r>
          </a:p>
          <a:p>
            <a:r>
              <a:t>"For technical issues — 'I'm getting an error' or 'the page won't load' — contact IT or the development team."</a:t>
            </a:r>
          </a:p>
          <a:p>
            <a:r>
              <a:t>"For account issues — 'I can't log in' or 'I need a different role' — contact your System Admin."</a:t>
            </a:r>
          </a:p>
          <a:p/>
          <a:p>
            <a:r>
              <a:t>BUG REPORTING:</a:t>
            </a:r>
          </a:p>
          <a:p>
            <a:r>
              <a:t>"When you report a technical issue, the more detail you provide, the faster we can fix it. Please always include: what you did, what you expected, what happened, and the exact error message if there was one."</a:t>
            </a:r>
          </a:p>
          <a:p/>
          <a:p>
            <a:r>
              <a:t>TRANSITION SUPPORT:</a:t>
            </a:r>
          </a:p>
          <a:p>
            <a:r>
              <a:t>"During the pilot phase, we'll have daily office hours — 30 minutes each day where you can drop in with questions. We'll also have a dedicated Slack/Teams channel for quick questions."</a:t>
            </a:r>
          </a:p>
          <a:p/>
          <a:p>
            <a:r>
              <a:t>DISTRIBUTE QUICK REFERENCE CARDS:</a:t>
            </a:r>
          </a:p>
          <a:p>
            <a:r>
              <a:t>If you have printed quick reference cards, hand them out now.</a:t>
            </a:r>
          </a:p>
          <a:p/>
          <a:p>
            <a:r>
              <a:t>OPEN FOR Q&amp;A:</a:t>
            </a:r>
          </a:p>
          <a:p>
            <a:r>
              <a:t>"That's the end of the formal training. Let's open it up for questions. What would you like to review again? What's unclear? What are you most excited about? What are you most concerned about?"</a:t>
            </a:r>
          </a:p>
          <a:p/>
          <a:p>
            <a:r>
              <a:t>Allow 10-15 minutes for Q&amp;A. Address each question thoroughly.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TRAINER NOTES — SLIDE 24: CLOSING</a:t>
            </a:r>
          </a:p>
          <a:p/>
          <a:p>
            <a:r>
              <a:t>"Congratulations! You've completed the ESSEN Credentialing Platform training."</a:t>
            </a:r>
          </a:p>
          <a:p/>
          <a:p>
            <a:r>
              <a:t>RECAP:</a:t>
            </a:r>
          </a:p>
          <a:p>
            <a:r>
              <a:t>"Today we covered:</a:t>
            </a:r>
          </a:p>
          <a:p>
            <a:r>
              <a:t>- How to sign in and navigate the platform</a:t>
            </a:r>
          </a:p>
          <a:p>
            <a:r>
              <a:t>- How roles and permissions work</a:t>
            </a:r>
          </a:p>
          <a:p>
            <a:r>
              <a:t>- How to manage providers through the entire credentialing lifecycle</a:t>
            </a:r>
          </a:p>
          <a:p>
            <a:r>
              <a:t>- How to use verification bots to automate PSV</a:t>
            </a:r>
          </a:p>
          <a:p>
            <a:r>
              <a:t>- How to track enrollments with follow-up cadence</a:t>
            </a:r>
          </a:p>
          <a:p>
            <a:r>
              <a:t>- How to monitor expirables for compliance</a:t>
            </a:r>
          </a:p>
          <a:p>
            <a:r>
              <a:t>- How to run committee sessions and record approvals</a:t>
            </a:r>
          </a:p>
          <a:p>
            <a:r>
              <a:t>- How to use the admin panel (for Admins)</a:t>
            </a:r>
          </a:p>
          <a:p>
            <a:r>
              <a:t>- Best practices for daily success</a:t>
            </a:r>
          </a:p>
          <a:p/>
          <a:p>
            <a:r>
              <a:t>NEXT STEPS FOR ATTENDEES:</a:t>
            </a:r>
          </a:p>
          <a:p>
            <a:r>
              <a:t>1. Practice in the training environment — create providers, run bots, create tasks</a:t>
            </a:r>
          </a:p>
          <a:p>
            <a:r>
              <a:t>2. Keep the quick reference card at your desk for the first 2 weeks</a:t>
            </a:r>
          </a:p>
          <a:p>
            <a:r>
              <a:t>3. Bookmark the platform URL</a:t>
            </a:r>
          </a:p>
          <a:p>
            <a:r>
              <a:t>4. Join the support Slack/Teams channel</a:t>
            </a:r>
          </a:p>
          <a:p>
            <a:r>
              <a:t>5. Attend the daily office hours during the pilot period</a:t>
            </a:r>
          </a:p>
          <a:p/>
          <a:p>
            <a:r>
              <a:t>NEXT STEPS FOR THE PROGRAM:</a:t>
            </a:r>
          </a:p>
          <a:p>
            <a:r>
              <a:t>- [If this is pre-pilot]: 'The pilot starts next week. You'll begin using the platform with real providers alongside PARCS.'</a:t>
            </a:r>
          </a:p>
          <a:p>
            <a:r>
              <a:t>- [If this is full rollout]: 'Starting Monday, all new providers go through the new platform. PARCS is available as backup during the transition.'</a:t>
            </a:r>
          </a:p>
          <a:p/>
          <a:p>
            <a:r>
              <a:t>FEEDBACK:</a:t>
            </a:r>
          </a:p>
          <a:p>
            <a:r>
              <a:t>'Please fill out the post-training survey that will be emailed to you. Your feedback helps us improve the training for future sessions.'</a:t>
            </a:r>
          </a:p>
          <a:p/>
          <a:p>
            <a:r>
              <a:t>FINAL WORDS:</a:t>
            </a:r>
          </a:p>
          <a:p>
            <a:r>
              <a:t>'This platform was built specifically for Essen's credentialing workflow. Every module, every bot, every alert was designed based on how YOUR team works. It's going to make your jobs faster, more accurate, and less stressful. I'm excited for you to start using it. Thank you for your time today.'</a:t>
            </a:r>
          </a:p>
          <a:p/>
          <a:p>
            <a:r>
              <a:t>END OF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defRPr sz="1200" b="1">
                <a:solidFill>
                  <a:srgbClr val="00A3E0"/>
                </a:solidFill>
                <a:latin typeface="Calibri"/>
              </a:defRPr>
            </a:pPr>
            <a:r>
              <a:t>ESSEN CREDENTIALING PLATFORM</a:t>
            </a:r>
          </a:p>
        </p:txBody>
      </p:sp>
      <p:sp>
        <p:nvSpPr>
          <p:cNvPr id="3" name="TextBox 2"/>
          <p:cNvSpPr txBox="1"/>
          <p:nvPr/>
        </p:nvSpPr>
        <p:spPr>
          <a:xfrm>
            <a:off x="731520" y="1097280"/>
            <a:ext cx="9144000" cy="1280160"/>
          </a:xfrm>
          <a:prstGeom prst="rect">
            <a:avLst/>
          </a:prstGeom>
          <a:noFill/>
        </p:spPr>
        <p:txBody>
          <a:bodyPr wrap="square">
            <a:spAutoFit/>
          </a:bodyPr>
          <a:lstStyle/>
          <a:p>
            <a:pPr algn="l">
              <a:defRPr sz="5800" b="1">
                <a:solidFill>
                  <a:srgbClr val="FFFFFF"/>
                </a:solidFill>
                <a:latin typeface="Calibri"/>
              </a:defRPr>
            </a:pPr>
            <a:r>
              <a:t>User Training Guide</a:t>
            </a:r>
          </a:p>
        </p:txBody>
      </p:sp>
      <p:sp>
        <p:nvSpPr>
          <p:cNvPr id="4" name="TextBox 3"/>
          <p:cNvSpPr txBox="1"/>
          <p:nvPr/>
        </p:nvSpPr>
        <p:spPr>
          <a:xfrm>
            <a:off x="731520" y="2560320"/>
            <a:ext cx="8229600" cy="822960"/>
          </a:xfrm>
          <a:prstGeom prst="rect">
            <a:avLst/>
          </a:prstGeom>
          <a:noFill/>
        </p:spPr>
        <p:txBody>
          <a:bodyPr wrap="square">
            <a:spAutoFit/>
          </a:bodyPr>
          <a:lstStyle/>
          <a:p>
            <a:pPr algn="l">
              <a:defRPr sz="1800" b="0">
                <a:solidFill>
                  <a:srgbClr val="BBBBDD"/>
                </a:solidFill>
                <a:latin typeface="Calibri"/>
              </a:defRPr>
            </a:pPr>
            <a:r>
              <a:t>Comprehensive training for all platform users: Credentialing Specialists, Managers,</a:t>
            </a:r>
            <a:br/>
            <a:r>
              <a:t>Committee Members, and System Administrators.</a:t>
            </a:r>
          </a:p>
        </p:txBody>
      </p:sp>
      <p:sp>
        <p:nvSpPr>
          <p:cNvPr id="5" name="TextBox 4"/>
          <p:cNvSpPr txBox="1"/>
          <p:nvPr/>
        </p:nvSpPr>
        <p:spPr>
          <a:xfrm>
            <a:off x="731520" y="3749039"/>
            <a:ext cx="7315200" cy="731520"/>
          </a:xfrm>
          <a:prstGeom prst="rect">
            <a:avLst/>
          </a:prstGeom>
          <a:noFill/>
        </p:spPr>
        <p:txBody>
          <a:bodyPr wrap="square">
            <a:spAutoFit/>
          </a:bodyPr>
          <a:lstStyle/>
          <a:p>
            <a:pPr algn="l">
              <a:defRPr sz="1300" b="0">
                <a:solidFill>
                  <a:srgbClr val="777799"/>
                </a:solidFill>
                <a:latin typeface="Calibri"/>
              </a:defRPr>
            </a:pPr>
            <a:r>
              <a:t>This deck includes detailed trainer speaker notes on every slide.</a:t>
            </a:r>
            <a:br/>
            <a:r>
              <a:t>Version 2.0  |  April 2026  |  credentialing.hdpulseai.com</a:t>
            </a:r>
          </a:p>
        </p:txBody>
      </p:sp>
      <p:sp>
        <p:nvSpPr>
          <p:cNvPr id="6" name="Rounded Rectangle 5"/>
          <p:cNvSpPr/>
          <p:nvPr/>
        </p:nvSpPr>
        <p:spPr>
          <a:xfrm>
            <a:off x="73152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617720"/>
            <a:ext cx="2011680" cy="274320"/>
          </a:xfrm>
          <a:prstGeom prst="rect">
            <a:avLst/>
          </a:prstGeom>
          <a:noFill/>
        </p:spPr>
        <p:txBody>
          <a:bodyPr wrap="square">
            <a:spAutoFit/>
          </a:bodyPr>
          <a:lstStyle/>
          <a:p>
            <a:pPr algn="ctr">
              <a:defRPr sz="1000" b="1">
                <a:solidFill>
                  <a:srgbClr val="BBBBDD"/>
                </a:solidFill>
                <a:latin typeface="Calibri"/>
              </a:defRPr>
            </a:pPr>
            <a:r>
              <a:t>Getting Started</a:t>
            </a:r>
          </a:p>
        </p:txBody>
      </p:sp>
      <p:sp>
        <p:nvSpPr>
          <p:cNvPr id="8" name="Rounded Rectangle 7"/>
          <p:cNvSpPr/>
          <p:nvPr/>
        </p:nvSpPr>
        <p:spPr>
          <a:xfrm>
            <a:off x="297180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4617720"/>
            <a:ext cx="2011680" cy="274320"/>
          </a:xfrm>
          <a:prstGeom prst="rect">
            <a:avLst/>
          </a:prstGeom>
          <a:noFill/>
        </p:spPr>
        <p:txBody>
          <a:bodyPr wrap="square">
            <a:spAutoFit/>
          </a:bodyPr>
          <a:lstStyle/>
          <a:p>
            <a:pPr algn="ctr">
              <a:defRPr sz="1000" b="1">
                <a:solidFill>
                  <a:srgbClr val="BBBBDD"/>
                </a:solidFill>
                <a:latin typeface="Calibri"/>
              </a:defRPr>
            </a:pPr>
            <a:r>
              <a:t>Roles &amp; Permissions</a:t>
            </a:r>
          </a:p>
        </p:txBody>
      </p:sp>
      <p:sp>
        <p:nvSpPr>
          <p:cNvPr id="10" name="Rounded Rectangle 9"/>
          <p:cNvSpPr/>
          <p:nvPr/>
        </p:nvSpPr>
        <p:spPr>
          <a:xfrm>
            <a:off x="521208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4617720"/>
            <a:ext cx="2011680" cy="274320"/>
          </a:xfrm>
          <a:prstGeom prst="rect">
            <a:avLst/>
          </a:prstGeom>
          <a:noFill/>
        </p:spPr>
        <p:txBody>
          <a:bodyPr wrap="square">
            <a:spAutoFit/>
          </a:bodyPr>
          <a:lstStyle/>
          <a:p>
            <a:pPr algn="ctr">
              <a:defRPr sz="1000" b="1">
                <a:solidFill>
                  <a:srgbClr val="BBBBDD"/>
                </a:solidFill>
                <a:latin typeface="Calibri"/>
              </a:defRPr>
            </a:pPr>
            <a:r>
              <a:t>Dashboard &amp; Navigation</a:t>
            </a:r>
          </a:p>
        </p:txBody>
      </p:sp>
      <p:sp>
        <p:nvSpPr>
          <p:cNvPr id="12" name="Rounded Rectangle 11"/>
          <p:cNvSpPr/>
          <p:nvPr/>
        </p:nvSpPr>
        <p:spPr>
          <a:xfrm>
            <a:off x="745236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4617720"/>
            <a:ext cx="2011680" cy="274320"/>
          </a:xfrm>
          <a:prstGeom prst="rect">
            <a:avLst/>
          </a:prstGeom>
          <a:noFill/>
        </p:spPr>
        <p:txBody>
          <a:bodyPr wrap="square">
            <a:spAutoFit/>
          </a:bodyPr>
          <a:lstStyle/>
          <a:p>
            <a:pPr algn="ctr">
              <a:defRPr sz="1000" b="1">
                <a:solidFill>
                  <a:srgbClr val="BBBBDD"/>
                </a:solidFill>
                <a:latin typeface="Calibri"/>
              </a:defRPr>
            </a:pPr>
            <a:r>
              <a:t>Provider Management</a:t>
            </a:r>
          </a:p>
        </p:txBody>
      </p:sp>
      <p:sp>
        <p:nvSpPr>
          <p:cNvPr id="14" name="Rounded Rectangle 13"/>
          <p:cNvSpPr/>
          <p:nvPr/>
        </p:nvSpPr>
        <p:spPr>
          <a:xfrm>
            <a:off x="9692640" y="45720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0" y="4617720"/>
            <a:ext cx="2011680" cy="274320"/>
          </a:xfrm>
          <a:prstGeom prst="rect">
            <a:avLst/>
          </a:prstGeom>
          <a:noFill/>
        </p:spPr>
        <p:txBody>
          <a:bodyPr wrap="square">
            <a:spAutoFit/>
          </a:bodyPr>
          <a:lstStyle/>
          <a:p>
            <a:pPr algn="ctr">
              <a:defRPr sz="1000" b="1">
                <a:solidFill>
                  <a:srgbClr val="BBBBDD"/>
                </a:solidFill>
                <a:latin typeface="Calibri"/>
              </a:defRPr>
            </a:pPr>
            <a:r>
              <a:t>Document Checklist</a:t>
            </a:r>
          </a:p>
        </p:txBody>
      </p:sp>
      <p:sp>
        <p:nvSpPr>
          <p:cNvPr id="16" name="Rounded Rectangle 15"/>
          <p:cNvSpPr/>
          <p:nvPr/>
        </p:nvSpPr>
        <p:spPr>
          <a:xfrm>
            <a:off x="73152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074920"/>
            <a:ext cx="2011680" cy="274320"/>
          </a:xfrm>
          <a:prstGeom prst="rect">
            <a:avLst/>
          </a:prstGeom>
          <a:noFill/>
        </p:spPr>
        <p:txBody>
          <a:bodyPr wrap="square">
            <a:spAutoFit/>
          </a:bodyPr>
          <a:lstStyle/>
          <a:p>
            <a:pPr algn="ctr">
              <a:defRPr sz="1000" b="1">
                <a:solidFill>
                  <a:srgbClr val="BBBBDD"/>
                </a:solidFill>
                <a:latin typeface="Calibri"/>
              </a:defRPr>
            </a:pPr>
            <a:r>
              <a:t>Status Lifecycle</a:t>
            </a:r>
          </a:p>
        </p:txBody>
      </p:sp>
      <p:sp>
        <p:nvSpPr>
          <p:cNvPr id="18" name="Rounded Rectangle 17"/>
          <p:cNvSpPr/>
          <p:nvPr/>
        </p:nvSpPr>
        <p:spPr>
          <a:xfrm>
            <a:off x="297180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5074920"/>
            <a:ext cx="2011680" cy="274320"/>
          </a:xfrm>
          <a:prstGeom prst="rect">
            <a:avLst/>
          </a:prstGeom>
          <a:noFill/>
        </p:spPr>
        <p:txBody>
          <a:bodyPr wrap="square">
            <a:spAutoFit/>
          </a:bodyPr>
          <a:lstStyle/>
          <a:p>
            <a:pPr algn="ctr">
              <a:defRPr sz="1000" b="1">
                <a:solidFill>
                  <a:srgbClr val="BBBBDD"/>
                </a:solidFill>
                <a:latin typeface="Calibri"/>
              </a:defRPr>
            </a:pPr>
            <a:r>
              <a:t>Task Management</a:t>
            </a:r>
          </a:p>
        </p:txBody>
      </p:sp>
      <p:sp>
        <p:nvSpPr>
          <p:cNvPr id="20" name="Rounded Rectangle 19"/>
          <p:cNvSpPr/>
          <p:nvPr/>
        </p:nvSpPr>
        <p:spPr>
          <a:xfrm>
            <a:off x="521208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0" y="5074920"/>
            <a:ext cx="2011680" cy="274320"/>
          </a:xfrm>
          <a:prstGeom prst="rect">
            <a:avLst/>
          </a:prstGeom>
          <a:noFill/>
        </p:spPr>
        <p:txBody>
          <a:bodyPr wrap="square">
            <a:spAutoFit/>
          </a:bodyPr>
          <a:lstStyle/>
          <a:p>
            <a:pPr algn="ctr">
              <a:defRPr sz="1000" b="1">
                <a:solidFill>
                  <a:srgbClr val="BBBBDD"/>
                </a:solidFill>
                <a:latin typeface="Calibri"/>
              </a:defRPr>
            </a:pPr>
            <a:r>
              <a:t>Verification Bots</a:t>
            </a:r>
          </a:p>
        </p:txBody>
      </p:sp>
      <p:sp>
        <p:nvSpPr>
          <p:cNvPr id="22" name="Rounded Rectangle 21"/>
          <p:cNvSpPr/>
          <p:nvPr/>
        </p:nvSpPr>
        <p:spPr>
          <a:xfrm>
            <a:off x="745236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5074920"/>
            <a:ext cx="2011680" cy="274320"/>
          </a:xfrm>
          <a:prstGeom prst="rect">
            <a:avLst/>
          </a:prstGeom>
          <a:noFill/>
        </p:spPr>
        <p:txBody>
          <a:bodyPr wrap="square">
            <a:spAutoFit/>
          </a:bodyPr>
          <a:lstStyle/>
          <a:p>
            <a:pPr algn="ctr">
              <a:defRPr sz="1000" b="1">
                <a:solidFill>
                  <a:srgbClr val="BBBBDD"/>
                </a:solidFill>
                <a:latin typeface="Calibri"/>
              </a:defRPr>
            </a:pPr>
            <a:r>
              <a:t>Enrollments</a:t>
            </a:r>
          </a:p>
        </p:txBody>
      </p:sp>
      <p:sp>
        <p:nvSpPr>
          <p:cNvPr id="24" name="Rounded Rectangle 23"/>
          <p:cNvSpPr/>
          <p:nvPr/>
        </p:nvSpPr>
        <p:spPr>
          <a:xfrm>
            <a:off x="9692640" y="50292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0" y="5074920"/>
            <a:ext cx="2011680" cy="274320"/>
          </a:xfrm>
          <a:prstGeom prst="rect">
            <a:avLst/>
          </a:prstGeom>
          <a:noFill/>
        </p:spPr>
        <p:txBody>
          <a:bodyPr wrap="square">
            <a:spAutoFit/>
          </a:bodyPr>
          <a:lstStyle/>
          <a:p>
            <a:pPr algn="ctr">
              <a:defRPr sz="1000" b="1">
                <a:solidFill>
                  <a:srgbClr val="BBBBDD"/>
                </a:solidFill>
                <a:latin typeface="Calibri"/>
              </a:defRPr>
            </a:pPr>
            <a:r>
              <a:t>Expirables</a:t>
            </a:r>
          </a:p>
        </p:txBody>
      </p:sp>
      <p:sp>
        <p:nvSpPr>
          <p:cNvPr id="26" name="Rounded Rectangle 25"/>
          <p:cNvSpPr/>
          <p:nvPr/>
        </p:nvSpPr>
        <p:spPr>
          <a:xfrm>
            <a:off x="73152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532120"/>
            <a:ext cx="2011680" cy="274320"/>
          </a:xfrm>
          <a:prstGeom prst="rect">
            <a:avLst/>
          </a:prstGeom>
          <a:noFill/>
        </p:spPr>
        <p:txBody>
          <a:bodyPr wrap="square">
            <a:spAutoFit/>
          </a:bodyPr>
          <a:lstStyle/>
          <a:p>
            <a:pPr algn="ctr">
              <a:defRPr sz="1000" b="1">
                <a:solidFill>
                  <a:srgbClr val="BBBBDD"/>
                </a:solidFill>
                <a:latin typeface="Calibri"/>
              </a:defRPr>
            </a:pPr>
            <a:r>
              <a:t>Committee Review</a:t>
            </a:r>
          </a:p>
        </p:txBody>
      </p:sp>
      <p:sp>
        <p:nvSpPr>
          <p:cNvPr id="28" name="Rounded Rectangle 27"/>
          <p:cNvSpPr/>
          <p:nvPr/>
        </p:nvSpPr>
        <p:spPr>
          <a:xfrm>
            <a:off x="297180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71800" y="5532120"/>
            <a:ext cx="2011680" cy="274320"/>
          </a:xfrm>
          <a:prstGeom prst="rect">
            <a:avLst/>
          </a:prstGeom>
          <a:noFill/>
        </p:spPr>
        <p:txBody>
          <a:bodyPr wrap="square">
            <a:spAutoFit/>
          </a:bodyPr>
          <a:lstStyle/>
          <a:p>
            <a:pPr algn="ctr">
              <a:defRPr sz="1000" b="1">
                <a:solidFill>
                  <a:srgbClr val="BBBBDD"/>
                </a:solidFill>
                <a:latin typeface="Calibri"/>
              </a:defRPr>
            </a:pPr>
            <a:r>
              <a:t>Medicaid &amp; ETIN</a:t>
            </a:r>
          </a:p>
        </p:txBody>
      </p:sp>
      <p:sp>
        <p:nvSpPr>
          <p:cNvPr id="30" name="Rounded Rectangle 29"/>
          <p:cNvSpPr/>
          <p:nvPr/>
        </p:nvSpPr>
        <p:spPr>
          <a:xfrm>
            <a:off x="521208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0" y="5532120"/>
            <a:ext cx="2011680" cy="274320"/>
          </a:xfrm>
          <a:prstGeom prst="rect">
            <a:avLst/>
          </a:prstGeom>
          <a:noFill/>
        </p:spPr>
        <p:txBody>
          <a:bodyPr wrap="square">
            <a:spAutoFit/>
          </a:bodyPr>
          <a:lstStyle/>
          <a:p>
            <a:pPr algn="ctr">
              <a:defRPr sz="1000" b="1">
                <a:solidFill>
                  <a:srgbClr val="BBBBDD"/>
                </a:solidFill>
                <a:latin typeface="Calibri"/>
              </a:defRPr>
            </a:pPr>
            <a:r>
              <a:t>Hospital Privileges</a:t>
            </a:r>
          </a:p>
        </p:txBody>
      </p:sp>
      <p:sp>
        <p:nvSpPr>
          <p:cNvPr id="32" name="Rounded Rectangle 31"/>
          <p:cNvSpPr/>
          <p:nvPr/>
        </p:nvSpPr>
        <p:spPr>
          <a:xfrm>
            <a:off x="745236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52360" y="5532120"/>
            <a:ext cx="2011680" cy="274320"/>
          </a:xfrm>
          <a:prstGeom prst="rect">
            <a:avLst/>
          </a:prstGeom>
          <a:noFill/>
        </p:spPr>
        <p:txBody>
          <a:bodyPr wrap="square">
            <a:spAutoFit/>
          </a:bodyPr>
          <a:lstStyle/>
          <a:p>
            <a:pPr algn="ctr">
              <a:defRPr sz="1000" b="1">
                <a:solidFill>
                  <a:srgbClr val="BBBBDD"/>
                </a:solidFill>
                <a:latin typeface="Calibri"/>
              </a:defRPr>
            </a:pPr>
            <a:r>
              <a:t>Sanctions &amp; NPDB</a:t>
            </a:r>
          </a:p>
        </p:txBody>
      </p:sp>
      <p:sp>
        <p:nvSpPr>
          <p:cNvPr id="34" name="Rounded Rectangle 33"/>
          <p:cNvSpPr/>
          <p:nvPr/>
        </p:nvSpPr>
        <p:spPr>
          <a:xfrm>
            <a:off x="9692640" y="5486400"/>
            <a:ext cx="2011680" cy="3657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0" y="5532120"/>
            <a:ext cx="2011680" cy="274320"/>
          </a:xfrm>
          <a:prstGeom prst="rect">
            <a:avLst/>
          </a:prstGeom>
          <a:noFill/>
        </p:spPr>
        <p:txBody>
          <a:bodyPr wrap="square">
            <a:spAutoFit/>
          </a:bodyPr>
          <a:lstStyle/>
          <a:p>
            <a:pPr algn="ctr">
              <a:defRPr sz="1000" b="1">
                <a:solidFill>
                  <a:srgbClr val="BBBBDD"/>
                </a:solidFill>
                <a:latin typeface="Calibri"/>
              </a:defRPr>
            </a:pPr>
            <a:r>
              <a:t>Admin Panel</a:t>
            </a:r>
          </a:p>
        </p:txBody>
      </p:sp>
      <p:sp>
        <p:nvSpPr>
          <p:cNvPr id="36" name="TextBox 35"/>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AGENDA</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What We'll Cover Today</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555577"/>
                </a:solidFill>
                <a:latin typeface="Calibri"/>
              </a:defRPr>
            </a:pPr>
            <a:r>
              <a:t>A structured walkthrough of every module, with hands-on practice at each stage.</a:t>
            </a:r>
          </a:p>
        </p:txBody>
      </p:sp>
      <p:sp>
        <p:nvSpPr>
          <p:cNvPr id="5" name="Rounded Rectangle 4"/>
          <p:cNvSpPr/>
          <p:nvPr/>
        </p:nvSpPr>
        <p:spPr>
          <a:xfrm>
            <a:off x="731520" y="182880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74519"/>
            <a:ext cx="3657600" cy="274320"/>
          </a:xfrm>
          <a:prstGeom prst="rect">
            <a:avLst/>
          </a:prstGeom>
          <a:noFill/>
        </p:spPr>
        <p:txBody>
          <a:bodyPr wrap="square">
            <a:spAutoFit/>
          </a:bodyPr>
          <a:lstStyle/>
          <a:p>
            <a:pPr algn="l">
              <a:defRPr sz="1500" b="1">
                <a:solidFill>
                  <a:srgbClr val="0B3D91"/>
                </a:solidFill>
                <a:latin typeface="Calibri"/>
              </a:defRPr>
            </a:pPr>
            <a:r>
              <a:t>Part 1: Foundations</a:t>
            </a:r>
          </a:p>
        </p:txBody>
      </p:sp>
      <p:sp>
        <p:nvSpPr>
          <p:cNvPr id="8" name="TextBox 7"/>
          <p:cNvSpPr txBox="1"/>
          <p:nvPr/>
        </p:nvSpPr>
        <p:spPr>
          <a:xfrm>
            <a:off x="9601200" y="1874519"/>
            <a:ext cx="1828800" cy="274320"/>
          </a:xfrm>
          <a:prstGeom prst="rect">
            <a:avLst/>
          </a:prstGeom>
          <a:noFill/>
        </p:spPr>
        <p:txBody>
          <a:bodyPr wrap="square">
            <a:spAutoFit/>
          </a:bodyPr>
          <a:lstStyle/>
          <a:p>
            <a:pPr algn="r">
              <a:defRPr sz="1300" b="1">
                <a:solidFill>
                  <a:srgbClr val="00A3E0"/>
                </a:solidFill>
                <a:latin typeface="Calibri"/>
              </a:defRPr>
            </a:pPr>
            <a:r>
              <a:t>20 min</a:t>
            </a:r>
          </a:p>
        </p:txBody>
      </p:sp>
      <p:sp>
        <p:nvSpPr>
          <p:cNvPr id="9" name="TextBox 8"/>
          <p:cNvSpPr txBox="1"/>
          <p:nvPr/>
        </p:nvSpPr>
        <p:spPr>
          <a:xfrm>
            <a:off x="5029200" y="1874519"/>
            <a:ext cx="5943600" cy="182880"/>
          </a:xfrm>
          <a:prstGeom prst="rect">
            <a:avLst/>
          </a:prstGeom>
          <a:noFill/>
        </p:spPr>
        <p:txBody>
          <a:bodyPr wrap="square">
            <a:spAutoFit/>
          </a:bodyPr>
          <a:lstStyle/>
          <a:p>
            <a:pPr algn="l">
              <a:defRPr sz="1000" b="0">
                <a:solidFill>
                  <a:srgbClr val="555577"/>
                </a:solidFill>
                <a:latin typeface="Calibri"/>
              </a:defRPr>
            </a:pPr>
            <a:r>
              <a:t>•  Getting Started: Login, navigation, system requirements</a:t>
            </a:r>
          </a:p>
        </p:txBody>
      </p:sp>
      <p:sp>
        <p:nvSpPr>
          <p:cNvPr id="10" name="TextBox 9"/>
          <p:cNvSpPr txBox="1"/>
          <p:nvPr/>
        </p:nvSpPr>
        <p:spPr>
          <a:xfrm>
            <a:off x="5029200" y="2075688"/>
            <a:ext cx="5943600" cy="182880"/>
          </a:xfrm>
          <a:prstGeom prst="rect">
            <a:avLst/>
          </a:prstGeom>
          <a:noFill/>
        </p:spPr>
        <p:txBody>
          <a:bodyPr wrap="square">
            <a:spAutoFit/>
          </a:bodyPr>
          <a:lstStyle/>
          <a:p>
            <a:pPr algn="l">
              <a:defRPr sz="1000" b="0">
                <a:solidFill>
                  <a:srgbClr val="555577"/>
                </a:solidFill>
                <a:latin typeface="Calibri"/>
              </a:defRPr>
            </a:pPr>
            <a:r>
              <a:t>•  Roles &amp; Permissions: What you can and cannot do</a:t>
            </a:r>
          </a:p>
        </p:txBody>
      </p:sp>
      <p:sp>
        <p:nvSpPr>
          <p:cNvPr id="11" name="TextBox 10"/>
          <p:cNvSpPr txBox="1"/>
          <p:nvPr/>
        </p:nvSpPr>
        <p:spPr>
          <a:xfrm>
            <a:off x="5029200" y="2276856"/>
            <a:ext cx="5943600" cy="182880"/>
          </a:xfrm>
          <a:prstGeom prst="rect">
            <a:avLst/>
          </a:prstGeom>
          <a:noFill/>
        </p:spPr>
        <p:txBody>
          <a:bodyPr wrap="square">
            <a:spAutoFit/>
          </a:bodyPr>
          <a:lstStyle/>
          <a:p>
            <a:pPr algn="l">
              <a:defRPr sz="1000" b="0">
                <a:solidFill>
                  <a:srgbClr val="555577"/>
                </a:solidFill>
                <a:latin typeface="Calibri"/>
              </a:defRPr>
            </a:pPr>
            <a:r>
              <a:t>•  Dashboard: Your daily home screen and workflow</a:t>
            </a:r>
          </a:p>
        </p:txBody>
      </p:sp>
      <p:sp>
        <p:nvSpPr>
          <p:cNvPr id="12" name="Rounded Rectangle 11"/>
          <p:cNvSpPr/>
          <p:nvPr/>
        </p:nvSpPr>
        <p:spPr>
          <a:xfrm>
            <a:off x="731520" y="278892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788920"/>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834639"/>
            <a:ext cx="3657600" cy="274320"/>
          </a:xfrm>
          <a:prstGeom prst="rect">
            <a:avLst/>
          </a:prstGeom>
          <a:noFill/>
        </p:spPr>
        <p:txBody>
          <a:bodyPr wrap="square">
            <a:spAutoFit/>
          </a:bodyPr>
          <a:lstStyle/>
          <a:p>
            <a:pPr algn="l">
              <a:defRPr sz="1500" b="1">
                <a:solidFill>
                  <a:srgbClr val="0B3D91"/>
                </a:solidFill>
                <a:latin typeface="Calibri"/>
              </a:defRPr>
            </a:pPr>
            <a:r>
              <a:t>Part 2: Provider Management</a:t>
            </a:r>
          </a:p>
        </p:txBody>
      </p:sp>
      <p:sp>
        <p:nvSpPr>
          <p:cNvPr id="15" name="TextBox 14"/>
          <p:cNvSpPr txBox="1"/>
          <p:nvPr/>
        </p:nvSpPr>
        <p:spPr>
          <a:xfrm>
            <a:off x="9601200" y="2834639"/>
            <a:ext cx="1828800" cy="274320"/>
          </a:xfrm>
          <a:prstGeom prst="rect">
            <a:avLst/>
          </a:prstGeom>
          <a:noFill/>
        </p:spPr>
        <p:txBody>
          <a:bodyPr wrap="square">
            <a:spAutoFit/>
          </a:bodyPr>
          <a:lstStyle/>
          <a:p>
            <a:pPr algn="r">
              <a:defRPr sz="1300" b="1">
                <a:solidFill>
                  <a:srgbClr val="00A3E0"/>
                </a:solidFill>
                <a:latin typeface="Calibri"/>
              </a:defRPr>
            </a:pPr>
            <a:r>
              <a:t>45 min</a:t>
            </a:r>
          </a:p>
        </p:txBody>
      </p:sp>
      <p:sp>
        <p:nvSpPr>
          <p:cNvPr id="16" name="TextBox 15"/>
          <p:cNvSpPr txBox="1"/>
          <p:nvPr/>
        </p:nvSpPr>
        <p:spPr>
          <a:xfrm>
            <a:off x="5029200" y="2834639"/>
            <a:ext cx="5943600" cy="182880"/>
          </a:xfrm>
          <a:prstGeom prst="rect">
            <a:avLst/>
          </a:prstGeom>
          <a:noFill/>
        </p:spPr>
        <p:txBody>
          <a:bodyPr wrap="square">
            <a:spAutoFit/>
          </a:bodyPr>
          <a:lstStyle/>
          <a:p>
            <a:pPr algn="l">
              <a:defRPr sz="1000" b="0">
                <a:solidFill>
                  <a:srgbClr val="555577"/>
                </a:solidFill>
                <a:latin typeface="Calibri"/>
              </a:defRPr>
            </a:pPr>
            <a:r>
              <a:t>•  Finding, adding, and editing providers</a:t>
            </a:r>
          </a:p>
        </p:txBody>
      </p:sp>
      <p:sp>
        <p:nvSpPr>
          <p:cNvPr id="17" name="TextBox 16"/>
          <p:cNvSpPr txBox="1"/>
          <p:nvPr/>
        </p:nvSpPr>
        <p:spPr>
          <a:xfrm>
            <a:off x="5029200" y="3035808"/>
            <a:ext cx="5943600" cy="182880"/>
          </a:xfrm>
          <a:prstGeom prst="rect">
            <a:avLst/>
          </a:prstGeom>
          <a:noFill/>
        </p:spPr>
        <p:txBody>
          <a:bodyPr wrap="square">
            <a:spAutoFit/>
          </a:bodyPr>
          <a:lstStyle/>
          <a:p>
            <a:pPr algn="l">
              <a:defRPr sz="1000" b="0">
                <a:solidFill>
                  <a:srgbClr val="555577"/>
                </a:solidFill>
                <a:latin typeface="Calibri"/>
              </a:defRPr>
            </a:pPr>
            <a:r>
              <a:t>•  Document checklist and upload management</a:t>
            </a:r>
          </a:p>
        </p:txBody>
      </p:sp>
      <p:sp>
        <p:nvSpPr>
          <p:cNvPr id="18" name="TextBox 17"/>
          <p:cNvSpPr txBox="1"/>
          <p:nvPr/>
        </p:nvSpPr>
        <p:spPr>
          <a:xfrm>
            <a:off x="5029200" y="3236975"/>
            <a:ext cx="5943600" cy="182880"/>
          </a:xfrm>
          <a:prstGeom prst="rect">
            <a:avLst/>
          </a:prstGeom>
          <a:noFill/>
        </p:spPr>
        <p:txBody>
          <a:bodyPr wrap="square">
            <a:spAutoFit/>
          </a:bodyPr>
          <a:lstStyle/>
          <a:p>
            <a:pPr algn="l">
              <a:defRPr sz="1000" b="0">
                <a:solidFill>
                  <a:srgbClr val="555577"/>
                </a:solidFill>
                <a:latin typeface="Calibri"/>
              </a:defRPr>
            </a:pPr>
            <a:r>
              <a:t>•  Provider status lifecycle — 10 stages explained</a:t>
            </a:r>
          </a:p>
        </p:txBody>
      </p:sp>
      <p:sp>
        <p:nvSpPr>
          <p:cNvPr id="19" name="TextBox 18"/>
          <p:cNvSpPr txBox="1"/>
          <p:nvPr/>
        </p:nvSpPr>
        <p:spPr>
          <a:xfrm>
            <a:off x="5029200" y="3438144"/>
            <a:ext cx="5943600" cy="182880"/>
          </a:xfrm>
          <a:prstGeom prst="rect">
            <a:avLst/>
          </a:prstGeom>
          <a:noFill/>
        </p:spPr>
        <p:txBody>
          <a:bodyPr wrap="square">
            <a:spAutoFit/>
          </a:bodyPr>
          <a:lstStyle/>
          <a:p>
            <a:pPr algn="l">
              <a:defRPr sz="1000" b="0">
                <a:solidFill>
                  <a:srgbClr val="555577"/>
                </a:solidFill>
                <a:latin typeface="Calibri"/>
              </a:defRPr>
            </a:pPr>
            <a:r>
              <a:t>•  Hands-on: Create a provider and advance through statuses</a:t>
            </a:r>
          </a:p>
        </p:txBody>
      </p:sp>
      <p:sp>
        <p:nvSpPr>
          <p:cNvPr id="20" name="Rounded Rectangle 19"/>
          <p:cNvSpPr/>
          <p:nvPr/>
        </p:nvSpPr>
        <p:spPr>
          <a:xfrm>
            <a:off x="731520" y="3749039"/>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749039"/>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94759"/>
            <a:ext cx="3657600" cy="274320"/>
          </a:xfrm>
          <a:prstGeom prst="rect">
            <a:avLst/>
          </a:prstGeom>
          <a:noFill/>
        </p:spPr>
        <p:txBody>
          <a:bodyPr wrap="square">
            <a:spAutoFit/>
          </a:bodyPr>
          <a:lstStyle/>
          <a:p>
            <a:pPr algn="l">
              <a:defRPr sz="1500" b="1">
                <a:solidFill>
                  <a:srgbClr val="0B3D91"/>
                </a:solidFill>
                <a:latin typeface="Calibri"/>
              </a:defRPr>
            </a:pPr>
            <a:r>
              <a:t>Part 3: Verification &amp; Tasks</a:t>
            </a:r>
          </a:p>
        </p:txBody>
      </p:sp>
      <p:sp>
        <p:nvSpPr>
          <p:cNvPr id="23" name="TextBox 22"/>
          <p:cNvSpPr txBox="1"/>
          <p:nvPr/>
        </p:nvSpPr>
        <p:spPr>
          <a:xfrm>
            <a:off x="9601200" y="3794759"/>
            <a:ext cx="1828800" cy="274320"/>
          </a:xfrm>
          <a:prstGeom prst="rect">
            <a:avLst/>
          </a:prstGeom>
          <a:noFill/>
        </p:spPr>
        <p:txBody>
          <a:bodyPr wrap="square">
            <a:spAutoFit/>
          </a:bodyPr>
          <a:lstStyle/>
          <a:p>
            <a:pPr algn="r">
              <a:defRPr sz="1300" b="1">
                <a:solidFill>
                  <a:srgbClr val="00A3E0"/>
                </a:solidFill>
                <a:latin typeface="Calibri"/>
              </a:defRPr>
            </a:pPr>
            <a:r>
              <a:t>30 min</a:t>
            </a:r>
          </a:p>
        </p:txBody>
      </p:sp>
      <p:sp>
        <p:nvSpPr>
          <p:cNvPr id="24" name="TextBox 23"/>
          <p:cNvSpPr txBox="1"/>
          <p:nvPr/>
        </p:nvSpPr>
        <p:spPr>
          <a:xfrm>
            <a:off x="5029200" y="3794759"/>
            <a:ext cx="5943600" cy="182880"/>
          </a:xfrm>
          <a:prstGeom prst="rect">
            <a:avLst/>
          </a:prstGeom>
          <a:noFill/>
        </p:spPr>
        <p:txBody>
          <a:bodyPr wrap="square">
            <a:spAutoFit/>
          </a:bodyPr>
          <a:lstStyle/>
          <a:p>
            <a:pPr algn="l">
              <a:defRPr sz="1000" b="0">
                <a:solidFill>
                  <a:srgbClr val="555577"/>
                </a:solidFill>
                <a:latin typeface="Calibri"/>
              </a:defRPr>
            </a:pPr>
            <a:r>
              <a:t>•  Task management: create, assign, prioritize, escalate</a:t>
            </a:r>
          </a:p>
        </p:txBody>
      </p:sp>
      <p:sp>
        <p:nvSpPr>
          <p:cNvPr id="25" name="TextBox 24"/>
          <p:cNvSpPr txBox="1"/>
          <p:nvPr/>
        </p:nvSpPr>
        <p:spPr>
          <a:xfrm>
            <a:off x="5029200" y="3995927"/>
            <a:ext cx="5943600" cy="182880"/>
          </a:xfrm>
          <a:prstGeom prst="rect">
            <a:avLst/>
          </a:prstGeom>
          <a:noFill/>
        </p:spPr>
        <p:txBody>
          <a:bodyPr wrap="square">
            <a:spAutoFit/>
          </a:bodyPr>
          <a:lstStyle/>
          <a:p>
            <a:pPr algn="l">
              <a:defRPr sz="1000" b="0">
                <a:solidFill>
                  <a:srgbClr val="555577"/>
                </a:solidFill>
                <a:latin typeface="Calibri"/>
              </a:defRPr>
            </a:pPr>
            <a:r>
              <a:t>•  Verification bots: 8 bot types, triggering, reading results</a:t>
            </a:r>
          </a:p>
        </p:txBody>
      </p:sp>
      <p:sp>
        <p:nvSpPr>
          <p:cNvPr id="26" name="TextBox 25"/>
          <p:cNvSpPr txBox="1"/>
          <p:nvPr/>
        </p:nvSpPr>
        <p:spPr>
          <a:xfrm>
            <a:off x="5029200" y="4197096"/>
            <a:ext cx="5943600" cy="182880"/>
          </a:xfrm>
          <a:prstGeom prst="rect">
            <a:avLst/>
          </a:prstGeom>
          <a:noFill/>
        </p:spPr>
        <p:txBody>
          <a:bodyPr wrap="square">
            <a:spAutoFit/>
          </a:bodyPr>
          <a:lstStyle/>
          <a:p>
            <a:pPr algn="l">
              <a:defRPr sz="1000" b="0">
                <a:solidFill>
                  <a:srgbClr val="555577"/>
                </a:solidFill>
                <a:latin typeface="Calibri"/>
              </a:defRPr>
            </a:pPr>
            <a:r>
              <a:t>•  Hands-on: Trigger a bot and create a task</a:t>
            </a:r>
          </a:p>
        </p:txBody>
      </p:sp>
      <p:sp>
        <p:nvSpPr>
          <p:cNvPr id="27" name="Rounded Rectangle 26"/>
          <p:cNvSpPr/>
          <p:nvPr/>
        </p:nvSpPr>
        <p:spPr>
          <a:xfrm>
            <a:off x="731520" y="470916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4709160"/>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754880"/>
            <a:ext cx="3657600" cy="274320"/>
          </a:xfrm>
          <a:prstGeom prst="rect">
            <a:avLst/>
          </a:prstGeom>
          <a:noFill/>
        </p:spPr>
        <p:txBody>
          <a:bodyPr wrap="square">
            <a:spAutoFit/>
          </a:bodyPr>
          <a:lstStyle/>
          <a:p>
            <a:pPr algn="l">
              <a:defRPr sz="1500" b="1">
                <a:solidFill>
                  <a:srgbClr val="0B3D91"/>
                </a:solidFill>
                <a:latin typeface="Calibri"/>
              </a:defRPr>
            </a:pPr>
            <a:r>
              <a:t>Part 4: Enrollments &amp; Compliance</a:t>
            </a:r>
          </a:p>
        </p:txBody>
      </p:sp>
      <p:sp>
        <p:nvSpPr>
          <p:cNvPr id="30" name="TextBox 29"/>
          <p:cNvSpPr txBox="1"/>
          <p:nvPr/>
        </p:nvSpPr>
        <p:spPr>
          <a:xfrm>
            <a:off x="9601200" y="4754880"/>
            <a:ext cx="1828800" cy="274320"/>
          </a:xfrm>
          <a:prstGeom prst="rect">
            <a:avLst/>
          </a:prstGeom>
          <a:noFill/>
        </p:spPr>
        <p:txBody>
          <a:bodyPr wrap="square">
            <a:spAutoFit/>
          </a:bodyPr>
          <a:lstStyle/>
          <a:p>
            <a:pPr algn="r">
              <a:defRPr sz="1300" b="1">
                <a:solidFill>
                  <a:srgbClr val="00A3E0"/>
                </a:solidFill>
                <a:latin typeface="Calibri"/>
              </a:defRPr>
            </a:pPr>
            <a:r>
              <a:t>35 min</a:t>
            </a:r>
          </a:p>
        </p:txBody>
      </p:sp>
      <p:sp>
        <p:nvSpPr>
          <p:cNvPr id="31" name="TextBox 30"/>
          <p:cNvSpPr txBox="1"/>
          <p:nvPr/>
        </p:nvSpPr>
        <p:spPr>
          <a:xfrm>
            <a:off x="5029200" y="4754880"/>
            <a:ext cx="5943600" cy="182880"/>
          </a:xfrm>
          <a:prstGeom prst="rect">
            <a:avLst/>
          </a:prstGeom>
          <a:noFill/>
        </p:spPr>
        <p:txBody>
          <a:bodyPr wrap="square">
            <a:spAutoFit/>
          </a:bodyPr>
          <a:lstStyle/>
          <a:p>
            <a:pPr algn="l">
              <a:defRPr sz="1000" b="0">
                <a:solidFill>
                  <a:srgbClr val="555577"/>
                </a:solidFill>
                <a:latin typeface="Calibri"/>
              </a:defRPr>
            </a:pPr>
            <a:r>
              <a:t>•  Enrollment types, status workflow, follow-up cadence</a:t>
            </a:r>
          </a:p>
        </p:txBody>
      </p:sp>
      <p:sp>
        <p:nvSpPr>
          <p:cNvPr id="32" name="TextBox 31"/>
          <p:cNvSpPr txBox="1"/>
          <p:nvPr/>
        </p:nvSpPr>
        <p:spPr>
          <a:xfrm>
            <a:off x="5029200" y="4956048"/>
            <a:ext cx="5943600" cy="182880"/>
          </a:xfrm>
          <a:prstGeom prst="rect">
            <a:avLst/>
          </a:prstGeom>
          <a:noFill/>
        </p:spPr>
        <p:txBody>
          <a:bodyPr wrap="square">
            <a:spAutoFit/>
          </a:bodyPr>
          <a:lstStyle/>
          <a:p>
            <a:pPr algn="l">
              <a:defRPr sz="1000" b="0">
                <a:solidFill>
                  <a:srgbClr val="555577"/>
                </a:solidFill>
                <a:latin typeface="Calibri"/>
              </a:defRPr>
            </a:pPr>
            <a:r>
              <a:t>•  Expirables tracking: color codes, alerts, renewal workflow</a:t>
            </a:r>
          </a:p>
        </p:txBody>
      </p:sp>
      <p:sp>
        <p:nvSpPr>
          <p:cNvPr id="33" name="TextBox 32"/>
          <p:cNvSpPr txBox="1"/>
          <p:nvPr/>
        </p:nvSpPr>
        <p:spPr>
          <a:xfrm>
            <a:off x="5029200" y="5157216"/>
            <a:ext cx="5943600" cy="182880"/>
          </a:xfrm>
          <a:prstGeom prst="rect">
            <a:avLst/>
          </a:prstGeom>
          <a:noFill/>
        </p:spPr>
        <p:txBody>
          <a:bodyPr wrap="square">
            <a:spAutoFit/>
          </a:bodyPr>
          <a:lstStyle/>
          <a:p>
            <a:pPr algn="l">
              <a:defRPr sz="1000" b="0">
                <a:solidFill>
                  <a:srgbClr val="555577"/>
                </a:solidFill>
                <a:latin typeface="Calibri"/>
              </a:defRPr>
            </a:pPr>
            <a:r>
              <a:t>•  Sanctions checking and NPDB monitoring</a:t>
            </a:r>
          </a:p>
        </p:txBody>
      </p:sp>
      <p:sp>
        <p:nvSpPr>
          <p:cNvPr id="34" name="Rounded Rectangle 33"/>
          <p:cNvSpPr/>
          <p:nvPr/>
        </p:nvSpPr>
        <p:spPr>
          <a:xfrm>
            <a:off x="731520" y="566928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 y="5669280"/>
            <a:ext cx="54864" cy="8229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715000"/>
            <a:ext cx="3657600" cy="274320"/>
          </a:xfrm>
          <a:prstGeom prst="rect">
            <a:avLst/>
          </a:prstGeom>
          <a:noFill/>
        </p:spPr>
        <p:txBody>
          <a:bodyPr wrap="square">
            <a:spAutoFit/>
          </a:bodyPr>
          <a:lstStyle/>
          <a:p>
            <a:pPr algn="l">
              <a:defRPr sz="1500" b="1">
                <a:solidFill>
                  <a:srgbClr val="0B3D91"/>
                </a:solidFill>
                <a:latin typeface="Calibri"/>
              </a:defRPr>
            </a:pPr>
            <a:r>
              <a:t>Part 5: Committee &amp; Admin</a:t>
            </a:r>
          </a:p>
        </p:txBody>
      </p:sp>
      <p:sp>
        <p:nvSpPr>
          <p:cNvPr id="37" name="TextBox 36"/>
          <p:cNvSpPr txBox="1"/>
          <p:nvPr/>
        </p:nvSpPr>
        <p:spPr>
          <a:xfrm>
            <a:off x="9601200" y="5715000"/>
            <a:ext cx="1828800" cy="274320"/>
          </a:xfrm>
          <a:prstGeom prst="rect">
            <a:avLst/>
          </a:prstGeom>
          <a:noFill/>
        </p:spPr>
        <p:txBody>
          <a:bodyPr wrap="square">
            <a:spAutoFit/>
          </a:bodyPr>
          <a:lstStyle/>
          <a:p>
            <a:pPr algn="r">
              <a:defRPr sz="1300" b="1">
                <a:solidFill>
                  <a:srgbClr val="00A3E0"/>
                </a:solidFill>
                <a:latin typeface="Calibri"/>
              </a:defRPr>
            </a:pPr>
            <a:r>
              <a:t>30 min</a:t>
            </a:r>
          </a:p>
        </p:txBody>
      </p:sp>
      <p:sp>
        <p:nvSpPr>
          <p:cNvPr id="38" name="TextBox 37"/>
          <p:cNvSpPr txBox="1"/>
          <p:nvPr/>
        </p:nvSpPr>
        <p:spPr>
          <a:xfrm>
            <a:off x="5029200" y="5715000"/>
            <a:ext cx="5943600" cy="182880"/>
          </a:xfrm>
          <a:prstGeom prst="rect">
            <a:avLst/>
          </a:prstGeom>
          <a:noFill/>
        </p:spPr>
        <p:txBody>
          <a:bodyPr wrap="square">
            <a:spAutoFit/>
          </a:bodyPr>
          <a:lstStyle/>
          <a:p>
            <a:pPr algn="l">
              <a:defRPr sz="1000" b="0">
                <a:solidFill>
                  <a:srgbClr val="555577"/>
                </a:solidFill>
                <a:latin typeface="Calibri"/>
              </a:defRPr>
            </a:pPr>
            <a:r>
              <a:t>•  Committee sessions: create, manage, approve/deny/defer</a:t>
            </a:r>
          </a:p>
        </p:txBody>
      </p:sp>
      <p:sp>
        <p:nvSpPr>
          <p:cNvPr id="39" name="TextBox 38"/>
          <p:cNvSpPr txBox="1"/>
          <p:nvPr/>
        </p:nvSpPr>
        <p:spPr>
          <a:xfrm>
            <a:off x="5029200" y="5916168"/>
            <a:ext cx="5943600" cy="182880"/>
          </a:xfrm>
          <a:prstGeom prst="rect">
            <a:avLst/>
          </a:prstGeom>
          <a:noFill/>
        </p:spPr>
        <p:txBody>
          <a:bodyPr wrap="square">
            <a:spAutoFit/>
          </a:bodyPr>
          <a:lstStyle/>
          <a:p>
            <a:pPr algn="l">
              <a:defRPr sz="1000" b="0">
                <a:solidFill>
                  <a:srgbClr val="555577"/>
                </a:solidFill>
                <a:latin typeface="Calibri"/>
              </a:defRPr>
            </a:pPr>
            <a:r>
              <a:t>•  Admin panel: users, provider types, system settings</a:t>
            </a:r>
          </a:p>
        </p:txBody>
      </p:sp>
      <p:sp>
        <p:nvSpPr>
          <p:cNvPr id="40" name="TextBox 39"/>
          <p:cNvSpPr txBox="1"/>
          <p:nvPr/>
        </p:nvSpPr>
        <p:spPr>
          <a:xfrm>
            <a:off x="5029200" y="6117336"/>
            <a:ext cx="5943600" cy="182880"/>
          </a:xfrm>
          <a:prstGeom prst="rect">
            <a:avLst/>
          </a:prstGeom>
          <a:noFill/>
        </p:spPr>
        <p:txBody>
          <a:bodyPr wrap="square">
            <a:spAutoFit/>
          </a:bodyPr>
          <a:lstStyle/>
          <a:p>
            <a:pPr algn="l">
              <a:defRPr sz="1000" b="0">
                <a:solidFill>
                  <a:srgbClr val="555577"/>
                </a:solidFill>
                <a:latin typeface="Calibri"/>
              </a:defRPr>
            </a:pPr>
            <a:r>
              <a:t>•  Best practices, troubleshooting, Q&amp;A</a:t>
            </a:r>
          </a:p>
        </p:txBody>
      </p:sp>
      <p:sp>
        <p:nvSpPr>
          <p:cNvPr id="41" name="TextBox 4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PART 1: FOUNDATIONS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Getting Started — System Requirements</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555577"/>
                </a:solidFill>
                <a:latin typeface="Calibri"/>
              </a:defRPr>
            </a:pPr>
            <a:r>
              <a:t>Everything you need before your first login.</a:t>
            </a:r>
          </a:p>
        </p:txBody>
      </p:sp>
      <p:sp>
        <p:nvSpPr>
          <p:cNvPr id="5" name="Rounded Rectangle 4"/>
          <p:cNvSpPr/>
          <p:nvPr/>
        </p:nvSpPr>
        <p:spPr>
          <a:xfrm>
            <a:off x="731520" y="1828800"/>
            <a:ext cx="5029200" cy="32004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600" b="1">
                <a:solidFill>
                  <a:srgbClr val="0B3D91"/>
                </a:solidFill>
                <a:latin typeface="Calibri"/>
              </a:defRPr>
            </a:pPr>
            <a:r>
              <a:t>What You Need</a:t>
            </a:r>
          </a:p>
        </p:txBody>
      </p:sp>
      <p:sp>
        <p:nvSpPr>
          <p:cNvPr id="7" name="TextBox 6"/>
          <p:cNvSpPr txBox="1"/>
          <p:nvPr/>
        </p:nvSpPr>
        <p:spPr>
          <a:xfrm>
            <a:off x="1005840" y="2377440"/>
            <a:ext cx="1645920" cy="228600"/>
          </a:xfrm>
          <a:prstGeom prst="rect">
            <a:avLst/>
          </a:prstGeom>
          <a:noFill/>
        </p:spPr>
        <p:txBody>
          <a:bodyPr wrap="square">
            <a:spAutoFit/>
          </a:bodyPr>
          <a:lstStyle/>
          <a:p>
            <a:pPr algn="l">
              <a:defRPr sz="1200" b="1">
                <a:solidFill>
                  <a:srgbClr val="00A3E0"/>
                </a:solidFill>
                <a:latin typeface="Calibri"/>
              </a:defRPr>
            </a:pPr>
            <a:r>
              <a:t>Web Browser</a:t>
            </a:r>
          </a:p>
        </p:txBody>
      </p:sp>
      <p:sp>
        <p:nvSpPr>
          <p:cNvPr id="8" name="TextBox 7"/>
          <p:cNvSpPr txBox="1"/>
          <p:nvPr/>
        </p:nvSpPr>
        <p:spPr>
          <a:xfrm>
            <a:off x="2651760" y="2377440"/>
            <a:ext cx="3017520" cy="411480"/>
          </a:xfrm>
          <a:prstGeom prst="rect">
            <a:avLst/>
          </a:prstGeom>
          <a:noFill/>
        </p:spPr>
        <p:txBody>
          <a:bodyPr wrap="square">
            <a:spAutoFit/>
          </a:bodyPr>
          <a:lstStyle/>
          <a:p>
            <a:pPr algn="l">
              <a:defRPr sz="1100" b="0">
                <a:solidFill>
                  <a:srgbClr val="555577"/>
                </a:solidFill>
                <a:latin typeface="Calibri"/>
              </a:defRPr>
            </a:pPr>
            <a:r>
              <a:t>Chrome 90+, Edge 90+, Firefox 90+, or Safari 15+. Chrome or Edge recommended.</a:t>
            </a:r>
          </a:p>
        </p:txBody>
      </p:sp>
      <p:sp>
        <p:nvSpPr>
          <p:cNvPr id="9" name="TextBox 8"/>
          <p:cNvSpPr txBox="1"/>
          <p:nvPr/>
        </p:nvSpPr>
        <p:spPr>
          <a:xfrm>
            <a:off x="1005840" y="2880360"/>
            <a:ext cx="1645920" cy="228600"/>
          </a:xfrm>
          <a:prstGeom prst="rect">
            <a:avLst/>
          </a:prstGeom>
          <a:noFill/>
        </p:spPr>
        <p:txBody>
          <a:bodyPr wrap="square">
            <a:spAutoFit/>
          </a:bodyPr>
          <a:lstStyle/>
          <a:p>
            <a:pPr algn="l">
              <a:defRPr sz="1200" b="1">
                <a:solidFill>
                  <a:srgbClr val="00A3E0"/>
                </a:solidFill>
                <a:latin typeface="Calibri"/>
              </a:defRPr>
            </a:pPr>
            <a:r>
              <a:t>Internet</a:t>
            </a:r>
          </a:p>
        </p:txBody>
      </p:sp>
      <p:sp>
        <p:nvSpPr>
          <p:cNvPr id="10" name="TextBox 9"/>
          <p:cNvSpPr txBox="1"/>
          <p:nvPr/>
        </p:nvSpPr>
        <p:spPr>
          <a:xfrm>
            <a:off x="2651760" y="2880360"/>
            <a:ext cx="3017520" cy="411480"/>
          </a:xfrm>
          <a:prstGeom prst="rect">
            <a:avLst/>
          </a:prstGeom>
          <a:noFill/>
        </p:spPr>
        <p:txBody>
          <a:bodyPr wrap="square">
            <a:spAutoFit/>
          </a:bodyPr>
          <a:lstStyle/>
          <a:p>
            <a:pPr algn="l">
              <a:defRPr sz="1100" b="0">
                <a:solidFill>
                  <a:srgbClr val="555577"/>
                </a:solidFill>
                <a:latin typeface="Calibri"/>
              </a:defRPr>
            </a:pPr>
            <a:r>
              <a:t>Stable broadband connection. VPN is NOT required (unlike the old K: drive).</a:t>
            </a:r>
          </a:p>
        </p:txBody>
      </p:sp>
      <p:sp>
        <p:nvSpPr>
          <p:cNvPr id="11" name="TextBox 10"/>
          <p:cNvSpPr txBox="1"/>
          <p:nvPr/>
        </p:nvSpPr>
        <p:spPr>
          <a:xfrm>
            <a:off x="1005840" y="3383280"/>
            <a:ext cx="1645920" cy="228600"/>
          </a:xfrm>
          <a:prstGeom prst="rect">
            <a:avLst/>
          </a:prstGeom>
          <a:noFill/>
        </p:spPr>
        <p:txBody>
          <a:bodyPr wrap="square">
            <a:spAutoFit/>
          </a:bodyPr>
          <a:lstStyle/>
          <a:p>
            <a:pPr algn="l">
              <a:defRPr sz="1200" b="1">
                <a:solidFill>
                  <a:srgbClr val="00A3E0"/>
                </a:solidFill>
                <a:latin typeface="Calibri"/>
              </a:defRPr>
            </a:pPr>
            <a:r>
              <a:t>Essen Email</a:t>
            </a:r>
          </a:p>
        </p:txBody>
      </p:sp>
      <p:sp>
        <p:nvSpPr>
          <p:cNvPr id="12" name="TextBox 11"/>
          <p:cNvSpPr txBox="1"/>
          <p:nvPr/>
        </p:nvSpPr>
        <p:spPr>
          <a:xfrm>
            <a:off x="2651760" y="3383280"/>
            <a:ext cx="3017520" cy="411480"/>
          </a:xfrm>
          <a:prstGeom prst="rect">
            <a:avLst/>
          </a:prstGeom>
          <a:noFill/>
        </p:spPr>
        <p:txBody>
          <a:bodyPr wrap="square">
            <a:spAutoFit/>
          </a:bodyPr>
          <a:lstStyle/>
          <a:p>
            <a:pPr algn="l">
              <a:defRPr sz="1100" b="0">
                <a:solidFill>
                  <a:srgbClr val="555577"/>
                </a:solidFill>
                <a:latin typeface="Calibri"/>
              </a:defRPr>
            </a:pPr>
            <a:r>
              <a:t>Your @essenmed.com work email — the same one you use for Outlook.</a:t>
            </a:r>
          </a:p>
        </p:txBody>
      </p:sp>
      <p:sp>
        <p:nvSpPr>
          <p:cNvPr id="13" name="TextBox 12"/>
          <p:cNvSpPr txBox="1"/>
          <p:nvPr/>
        </p:nvSpPr>
        <p:spPr>
          <a:xfrm>
            <a:off x="1005840" y="3886200"/>
            <a:ext cx="1645920" cy="228600"/>
          </a:xfrm>
          <a:prstGeom prst="rect">
            <a:avLst/>
          </a:prstGeom>
          <a:noFill/>
        </p:spPr>
        <p:txBody>
          <a:bodyPr wrap="square">
            <a:spAutoFit/>
          </a:bodyPr>
          <a:lstStyle/>
          <a:p>
            <a:pPr algn="l">
              <a:defRPr sz="1200" b="1">
                <a:solidFill>
                  <a:srgbClr val="00A3E0"/>
                </a:solidFill>
                <a:latin typeface="Calibri"/>
              </a:defRPr>
            </a:pPr>
            <a:r>
              <a:t>MFA Device</a:t>
            </a:r>
          </a:p>
        </p:txBody>
      </p:sp>
      <p:sp>
        <p:nvSpPr>
          <p:cNvPr id="14" name="TextBox 13"/>
          <p:cNvSpPr txBox="1"/>
          <p:nvPr/>
        </p:nvSpPr>
        <p:spPr>
          <a:xfrm>
            <a:off x="2651760" y="3886200"/>
            <a:ext cx="3017520" cy="411480"/>
          </a:xfrm>
          <a:prstGeom prst="rect">
            <a:avLst/>
          </a:prstGeom>
          <a:noFill/>
        </p:spPr>
        <p:txBody>
          <a:bodyPr wrap="square">
            <a:spAutoFit/>
          </a:bodyPr>
          <a:lstStyle/>
          <a:p>
            <a:pPr algn="l">
              <a:defRPr sz="1100" b="0">
                <a:solidFill>
                  <a:srgbClr val="555577"/>
                </a:solidFill>
                <a:latin typeface="Calibri"/>
              </a:defRPr>
            </a:pPr>
            <a:r>
              <a:t>Microsoft Authenticator app or your existing approved MFA method.</a:t>
            </a:r>
          </a:p>
        </p:txBody>
      </p:sp>
      <p:sp>
        <p:nvSpPr>
          <p:cNvPr id="15" name="TextBox 14"/>
          <p:cNvSpPr txBox="1"/>
          <p:nvPr/>
        </p:nvSpPr>
        <p:spPr>
          <a:xfrm>
            <a:off x="1005840" y="4389120"/>
            <a:ext cx="1645920" cy="228600"/>
          </a:xfrm>
          <a:prstGeom prst="rect">
            <a:avLst/>
          </a:prstGeom>
          <a:noFill/>
        </p:spPr>
        <p:txBody>
          <a:bodyPr wrap="square">
            <a:spAutoFit/>
          </a:bodyPr>
          <a:lstStyle/>
          <a:p>
            <a:pPr algn="l">
              <a:defRPr sz="1200" b="1">
                <a:solidFill>
                  <a:srgbClr val="00A3E0"/>
                </a:solidFill>
                <a:latin typeface="Calibri"/>
              </a:defRPr>
            </a:pPr>
            <a:r>
              <a:t>Screen Size</a:t>
            </a:r>
          </a:p>
        </p:txBody>
      </p:sp>
      <p:sp>
        <p:nvSpPr>
          <p:cNvPr id="16" name="TextBox 15"/>
          <p:cNvSpPr txBox="1"/>
          <p:nvPr/>
        </p:nvSpPr>
        <p:spPr>
          <a:xfrm>
            <a:off x="2651760" y="4389120"/>
            <a:ext cx="3017520" cy="411480"/>
          </a:xfrm>
          <a:prstGeom prst="rect">
            <a:avLst/>
          </a:prstGeom>
          <a:noFill/>
        </p:spPr>
        <p:txBody>
          <a:bodyPr wrap="square">
            <a:spAutoFit/>
          </a:bodyPr>
          <a:lstStyle/>
          <a:p>
            <a:pPr algn="l">
              <a:defRPr sz="1100" b="0">
                <a:solidFill>
                  <a:srgbClr val="555577"/>
                </a:solidFill>
                <a:latin typeface="Calibri"/>
              </a:defRPr>
            </a:pPr>
            <a:r>
              <a:t>Desktop or laptop recommended. The platform works on tablets but is not optimized for phones.</a:t>
            </a:r>
          </a:p>
        </p:txBody>
      </p:sp>
      <p:sp>
        <p:nvSpPr>
          <p:cNvPr id="17" name="Rounded Rectangle 16"/>
          <p:cNvSpPr/>
          <p:nvPr/>
        </p:nvSpPr>
        <p:spPr>
          <a:xfrm>
            <a:off x="6217920" y="1828800"/>
            <a:ext cx="5303520" cy="32004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965960"/>
            <a:ext cx="4572000" cy="274320"/>
          </a:xfrm>
          <a:prstGeom prst="rect">
            <a:avLst/>
          </a:prstGeom>
          <a:noFill/>
        </p:spPr>
        <p:txBody>
          <a:bodyPr wrap="square">
            <a:spAutoFit/>
          </a:bodyPr>
          <a:lstStyle/>
          <a:p>
            <a:pPr algn="l">
              <a:defRPr sz="1600" b="1">
                <a:solidFill>
                  <a:srgbClr val="00B67A"/>
                </a:solidFill>
                <a:latin typeface="Calibri"/>
              </a:defRPr>
            </a:pPr>
            <a:r>
              <a:t>What Changed from PARCS</a:t>
            </a:r>
          </a:p>
        </p:txBody>
      </p:sp>
      <p:sp>
        <p:nvSpPr>
          <p:cNvPr id="19" name="TextBox 18"/>
          <p:cNvSpPr txBox="1"/>
          <p:nvPr/>
        </p:nvSpPr>
        <p:spPr>
          <a:xfrm>
            <a:off x="6492240" y="2377440"/>
            <a:ext cx="2286000" cy="228600"/>
          </a:xfrm>
          <a:prstGeom prst="rect">
            <a:avLst/>
          </a:prstGeom>
          <a:noFill/>
        </p:spPr>
        <p:txBody>
          <a:bodyPr wrap="square">
            <a:spAutoFit/>
          </a:bodyPr>
          <a:lstStyle/>
          <a:p>
            <a:pPr algn="l">
              <a:defRPr sz="1200" b="1">
                <a:solidFill>
                  <a:srgbClr val="00B67A"/>
                </a:solidFill>
                <a:latin typeface="Calibri"/>
              </a:defRPr>
            </a:pPr>
            <a:r>
              <a:t>✓  No VPN required</a:t>
            </a:r>
          </a:p>
        </p:txBody>
      </p:sp>
      <p:sp>
        <p:nvSpPr>
          <p:cNvPr id="20" name="TextBox 19"/>
          <p:cNvSpPr txBox="1"/>
          <p:nvPr/>
        </p:nvSpPr>
        <p:spPr>
          <a:xfrm>
            <a:off x="8778240" y="2377440"/>
            <a:ext cx="2560320" cy="228600"/>
          </a:xfrm>
          <a:prstGeom prst="rect">
            <a:avLst/>
          </a:prstGeom>
          <a:noFill/>
        </p:spPr>
        <p:txBody>
          <a:bodyPr wrap="square">
            <a:spAutoFit/>
          </a:bodyPr>
          <a:lstStyle/>
          <a:p>
            <a:pPr algn="l">
              <a:defRPr sz="1100" b="0">
                <a:solidFill>
                  <a:srgbClr val="555577"/>
                </a:solidFill>
                <a:latin typeface="Calibri"/>
              </a:defRPr>
            </a:pPr>
            <a:r>
              <a:t>Access from anywhere with internet</a:t>
            </a:r>
          </a:p>
        </p:txBody>
      </p:sp>
      <p:sp>
        <p:nvSpPr>
          <p:cNvPr id="21" name="TextBox 20"/>
          <p:cNvSpPr txBox="1"/>
          <p:nvPr/>
        </p:nvSpPr>
        <p:spPr>
          <a:xfrm>
            <a:off x="6492240" y="2834640"/>
            <a:ext cx="2286000" cy="228600"/>
          </a:xfrm>
          <a:prstGeom prst="rect">
            <a:avLst/>
          </a:prstGeom>
          <a:noFill/>
        </p:spPr>
        <p:txBody>
          <a:bodyPr wrap="square">
            <a:spAutoFit/>
          </a:bodyPr>
          <a:lstStyle/>
          <a:p>
            <a:pPr algn="l">
              <a:defRPr sz="1200" b="1">
                <a:solidFill>
                  <a:srgbClr val="00B67A"/>
                </a:solidFill>
                <a:latin typeface="Calibri"/>
              </a:defRPr>
            </a:pPr>
            <a:r>
              <a:t>✓  No K: drive</a:t>
            </a:r>
          </a:p>
        </p:txBody>
      </p:sp>
      <p:sp>
        <p:nvSpPr>
          <p:cNvPr id="22" name="TextBox 21"/>
          <p:cNvSpPr txBox="1"/>
          <p:nvPr/>
        </p:nvSpPr>
        <p:spPr>
          <a:xfrm>
            <a:off x="8778240" y="2834640"/>
            <a:ext cx="2560320" cy="228600"/>
          </a:xfrm>
          <a:prstGeom prst="rect">
            <a:avLst/>
          </a:prstGeom>
          <a:noFill/>
        </p:spPr>
        <p:txBody>
          <a:bodyPr wrap="square">
            <a:spAutoFit/>
          </a:bodyPr>
          <a:lstStyle/>
          <a:p>
            <a:pPr algn="l">
              <a:defRPr sz="1100" b="0">
                <a:solidFill>
                  <a:srgbClr val="555577"/>
                </a:solidFill>
                <a:latin typeface="Calibri"/>
              </a:defRPr>
            </a:pPr>
            <a:r>
              <a:t>Documents stored in secure cloud (Azure Blob)</a:t>
            </a:r>
          </a:p>
        </p:txBody>
      </p:sp>
      <p:sp>
        <p:nvSpPr>
          <p:cNvPr id="23" name="TextBox 22"/>
          <p:cNvSpPr txBox="1"/>
          <p:nvPr/>
        </p:nvSpPr>
        <p:spPr>
          <a:xfrm>
            <a:off x="6492240" y="3291840"/>
            <a:ext cx="2286000" cy="228600"/>
          </a:xfrm>
          <a:prstGeom prst="rect">
            <a:avLst/>
          </a:prstGeom>
          <a:noFill/>
        </p:spPr>
        <p:txBody>
          <a:bodyPr wrap="square">
            <a:spAutoFit/>
          </a:bodyPr>
          <a:lstStyle/>
          <a:p>
            <a:pPr algn="l">
              <a:defRPr sz="1200" b="1">
                <a:solidFill>
                  <a:srgbClr val="00B67A"/>
                </a:solidFill>
                <a:latin typeface="Calibri"/>
              </a:defRPr>
            </a:pPr>
            <a:r>
              <a:t>✓  No manual website checks</a:t>
            </a:r>
          </a:p>
        </p:txBody>
      </p:sp>
      <p:sp>
        <p:nvSpPr>
          <p:cNvPr id="24" name="TextBox 23"/>
          <p:cNvSpPr txBox="1"/>
          <p:nvPr/>
        </p:nvSpPr>
        <p:spPr>
          <a:xfrm>
            <a:off x="8778240" y="3291840"/>
            <a:ext cx="2560320" cy="228600"/>
          </a:xfrm>
          <a:prstGeom prst="rect">
            <a:avLst/>
          </a:prstGeom>
          <a:noFill/>
        </p:spPr>
        <p:txBody>
          <a:bodyPr wrap="square">
            <a:spAutoFit/>
          </a:bodyPr>
          <a:lstStyle/>
          <a:p>
            <a:pPr algn="l">
              <a:defRPr sz="1100" b="0">
                <a:solidFill>
                  <a:srgbClr val="555577"/>
                </a:solidFill>
                <a:latin typeface="Calibri"/>
              </a:defRPr>
            </a:pPr>
            <a:r>
              <a:t>Bots do verification automatically</a:t>
            </a:r>
          </a:p>
        </p:txBody>
      </p:sp>
      <p:sp>
        <p:nvSpPr>
          <p:cNvPr id="25" name="TextBox 24"/>
          <p:cNvSpPr txBox="1"/>
          <p:nvPr/>
        </p:nvSpPr>
        <p:spPr>
          <a:xfrm>
            <a:off x="6492240" y="3749039"/>
            <a:ext cx="2286000" cy="228600"/>
          </a:xfrm>
          <a:prstGeom prst="rect">
            <a:avLst/>
          </a:prstGeom>
          <a:noFill/>
        </p:spPr>
        <p:txBody>
          <a:bodyPr wrap="square">
            <a:spAutoFit/>
          </a:bodyPr>
          <a:lstStyle/>
          <a:p>
            <a:pPr algn="l">
              <a:defRPr sz="1200" b="1">
                <a:solidFill>
                  <a:srgbClr val="00B67A"/>
                </a:solidFill>
                <a:latin typeface="Calibri"/>
              </a:defRPr>
            </a:pPr>
            <a:r>
              <a:t>✓  No spreadsheet tracking</a:t>
            </a:r>
          </a:p>
        </p:txBody>
      </p:sp>
      <p:sp>
        <p:nvSpPr>
          <p:cNvPr id="26" name="TextBox 25"/>
          <p:cNvSpPr txBox="1"/>
          <p:nvPr/>
        </p:nvSpPr>
        <p:spPr>
          <a:xfrm>
            <a:off x="8778240" y="3749039"/>
            <a:ext cx="2560320" cy="228600"/>
          </a:xfrm>
          <a:prstGeom prst="rect">
            <a:avLst/>
          </a:prstGeom>
          <a:noFill/>
        </p:spPr>
        <p:txBody>
          <a:bodyPr wrap="square">
            <a:spAutoFit/>
          </a:bodyPr>
          <a:lstStyle/>
          <a:p>
            <a:pPr algn="l">
              <a:defRPr sz="1100" b="0">
                <a:solidFill>
                  <a:srgbClr val="555577"/>
                </a:solidFill>
                <a:latin typeface="Calibri"/>
              </a:defRPr>
            </a:pPr>
            <a:r>
              <a:t>Expirables and enrollments tracked in-platform</a:t>
            </a:r>
          </a:p>
        </p:txBody>
      </p:sp>
      <p:sp>
        <p:nvSpPr>
          <p:cNvPr id="27" name="TextBox 26"/>
          <p:cNvSpPr txBox="1"/>
          <p:nvPr/>
        </p:nvSpPr>
        <p:spPr>
          <a:xfrm>
            <a:off x="6492240" y="4206240"/>
            <a:ext cx="2286000" cy="228600"/>
          </a:xfrm>
          <a:prstGeom prst="rect">
            <a:avLst/>
          </a:prstGeom>
          <a:noFill/>
        </p:spPr>
        <p:txBody>
          <a:bodyPr wrap="square">
            <a:spAutoFit/>
          </a:bodyPr>
          <a:lstStyle/>
          <a:p>
            <a:pPr algn="l">
              <a:defRPr sz="1200" b="1">
                <a:solidFill>
                  <a:srgbClr val="00B67A"/>
                </a:solidFill>
                <a:latin typeface="Calibri"/>
              </a:defRPr>
            </a:pPr>
            <a:r>
              <a:t>✓  No paper agendas</a:t>
            </a:r>
          </a:p>
        </p:txBody>
      </p:sp>
      <p:sp>
        <p:nvSpPr>
          <p:cNvPr id="28" name="TextBox 27"/>
          <p:cNvSpPr txBox="1"/>
          <p:nvPr/>
        </p:nvSpPr>
        <p:spPr>
          <a:xfrm>
            <a:off x="8778240" y="4206240"/>
            <a:ext cx="2560320" cy="228600"/>
          </a:xfrm>
          <a:prstGeom prst="rect">
            <a:avLst/>
          </a:prstGeom>
          <a:noFill/>
        </p:spPr>
        <p:txBody>
          <a:bodyPr wrap="square">
            <a:spAutoFit/>
          </a:bodyPr>
          <a:lstStyle/>
          <a:p>
            <a:pPr algn="l">
              <a:defRPr sz="1100" b="0">
                <a:solidFill>
                  <a:srgbClr val="555577"/>
                </a:solidFill>
                <a:latin typeface="Calibri"/>
              </a:defRPr>
            </a:pPr>
            <a:r>
              <a:t>Committee agendas auto-generated</a:t>
            </a:r>
          </a:p>
        </p:txBody>
      </p:sp>
      <p:sp>
        <p:nvSpPr>
          <p:cNvPr id="29" name="TextBox 28"/>
          <p:cNvSpPr txBox="1"/>
          <p:nvPr/>
        </p:nvSpPr>
        <p:spPr>
          <a:xfrm>
            <a:off x="6492240" y="4663440"/>
            <a:ext cx="2286000" cy="228600"/>
          </a:xfrm>
          <a:prstGeom prst="rect">
            <a:avLst/>
          </a:prstGeom>
          <a:noFill/>
        </p:spPr>
        <p:txBody>
          <a:bodyPr wrap="square">
            <a:spAutoFit/>
          </a:bodyPr>
          <a:lstStyle/>
          <a:p>
            <a:pPr algn="l">
              <a:defRPr sz="1200" b="1">
                <a:solidFill>
                  <a:srgbClr val="00B67A"/>
                </a:solidFill>
                <a:latin typeface="Calibri"/>
              </a:defRPr>
            </a:pPr>
            <a:r>
              <a:t>✓  Same Essen login</a:t>
            </a:r>
          </a:p>
        </p:txBody>
      </p:sp>
      <p:sp>
        <p:nvSpPr>
          <p:cNvPr id="30" name="TextBox 29"/>
          <p:cNvSpPr txBox="1"/>
          <p:nvPr/>
        </p:nvSpPr>
        <p:spPr>
          <a:xfrm>
            <a:off x="8778240" y="4663440"/>
            <a:ext cx="2560320" cy="228600"/>
          </a:xfrm>
          <a:prstGeom prst="rect">
            <a:avLst/>
          </a:prstGeom>
          <a:noFill/>
        </p:spPr>
        <p:txBody>
          <a:bodyPr wrap="square">
            <a:spAutoFit/>
          </a:bodyPr>
          <a:lstStyle/>
          <a:p>
            <a:pPr algn="l">
              <a:defRPr sz="1100" b="0">
                <a:solidFill>
                  <a:srgbClr val="555577"/>
                </a:solidFill>
                <a:latin typeface="Calibri"/>
              </a:defRPr>
            </a:pPr>
            <a:r>
              <a:t>Use your existing Outlook/Microsoft credentials</a:t>
            </a:r>
          </a:p>
        </p:txBody>
      </p:sp>
      <p:sp>
        <p:nvSpPr>
          <p:cNvPr id="31" name="Rounded Rectangle 30"/>
          <p:cNvSpPr/>
          <p:nvPr/>
        </p:nvSpPr>
        <p:spPr>
          <a:xfrm>
            <a:off x="731520" y="5303520"/>
            <a:ext cx="10698480" cy="914400"/>
          </a:xfrm>
          <a:prstGeom prst="roundRect">
            <a:avLst/>
          </a:prstGeom>
          <a:solidFill>
            <a:srgbClr val="FEF3E2"/>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413248"/>
            <a:ext cx="10058400" cy="274320"/>
          </a:xfrm>
          <a:prstGeom prst="rect">
            <a:avLst/>
          </a:prstGeom>
          <a:noFill/>
        </p:spPr>
        <p:txBody>
          <a:bodyPr wrap="square">
            <a:spAutoFit/>
          </a:bodyPr>
          <a:lstStyle/>
          <a:p>
            <a:pPr algn="l">
              <a:defRPr sz="1300" b="1">
                <a:solidFill>
                  <a:srgbClr val="FF6B35"/>
                </a:solidFill>
                <a:latin typeface="Calibri"/>
              </a:defRPr>
            </a:pPr>
            <a:r>
              <a:t>Important: Personal Microsoft accounts will NOT work. You must use your @essenmed.com Essen Medical work account.</a:t>
            </a:r>
          </a:p>
        </p:txBody>
      </p:sp>
      <p:sp>
        <p:nvSpPr>
          <p:cNvPr id="33" name="TextBox 32"/>
          <p:cNvSpPr txBox="1"/>
          <p:nvPr/>
        </p:nvSpPr>
        <p:spPr>
          <a:xfrm>
            <a:off x="1005840" y="5760720"/>
            <a:ext cx="10058400" cy="274320"/>
          </a:xfrm>
          <a:prstGeom prst="rect">
            <a:avLst/>
          </a:prstGeom>
          <a:noFill/>
        </p:spPr>
        <p:txBody>
          <a:bodyPr wrap="square">
            <a:spAutoFit/>
          </a:bodyPr>
          <a:lstStyle/>
          <a:p>
            <a:pPr algn="l">
              <a:defRPr sz="1200" b="0">
                <a:solidFill>
                  <a:srgbClr val="1A1A2E"/>
                </a:solidFill>
                <a:latin typeface="Calibri"/>
              </a:defRPr>
            </a:pPr>
            <a:r>
              <a:t>If you see "Contact your administrator" at login, it means your user account hasn't been created yet. Ask your System Admin.</a:t>
            </a:r>
          </a:p>
        </p:txBody>
      </p:sp>
      <p:sp>
        <p:nvSpPr>
          <p:cNvPr id="34" name="TextBox 33"/>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GETTING STARTED</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Signing In — Step by Step</a:t>
            </a:r>
          </a:p>
        </p:txBody>
      </p:sp>
      <p:sp>
        <p:nvSpPr>
          <p:cNvPr id="4" name="Rounded Rectangle 3"/>
          <p:cNvSpPr/>
          <p:nvPr/>
        </p:nvSpPr>
        <p:spPr>
          <a:xfrm>
            <a:off x="73152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7320" y="1600200"/>
            <a:ext cx="640080" cy="6400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17320" y="1664208"/>
            <a:ext cx="640080" cy="502920"/>
          </a:xfrm>
          <a:prstGeom prst="rect">
            <a:avLst/>
          </a:prstGeom>
          <a:noFill/>
        </p:spPr>
        <p:txBody>
          <a:bodyPr wrap="square">
            <a:spAutoFit/>
          </a:bodyPr>
          <a:lstStyle/>
          <a:p>
            <a:pPr algn="ctr">
              <a:defRPr sz="3200" b="1">
                <a:solidFill>
                  <a:srgbClr val="FFFFFF"/>
                </a:solidFill>
                <a:latin typeface="Calibri"/>
              </a:defRPr>
            </a:pPr>
            <a:r>
              <a:t>1</a:t>
            </a:r>
          </a:p>
        </p:txBody>
      </p:sp>
      <p:sp>
        <p:nvSpPr>
          <p:cNvPr id="7" name="TextBox 6"/>
          <p:cNvSpPr txBox="1"/>
          <p:nvPr/>
        </p:nvSpPr>
        <p:spPr>
          <a:xfrm>
            <a:off x="868680" y="2377440"/>
            <a:ext cx="1737360" cy="274320"/>
          </a:xfrm>
          <a:prstGeom prst="rect">
            <a:avLst/>
          </a:prstGeom>
          <a:noFill/>
        </p:spPr>
        <p:txBody>
          <a:bodyPr wrap="square">
            <a:spAutoFit/>
          </a:bodyPr>
          <a:lstStyle/>
          <a:p>
            <a:pPr algn="ctr">
              <a:defRPr sz="1400" b="1">
                <a:solidFill>
                  <a:srgbClr val="FFFFFF"/>
                </a:solidFill>
                <a:latin typeface="Calibri"/>
              </a:defRPr>
            </a:pPr>
            <a:r>
              <a:t>Open Your Browser</a:t>
            </a:r>
          </a:p>
        </p:txBody>
      </p:sp>
      <p:sp>
        <p:nvSpPr>
          <p:cNvPr id="8" name="TextBox 7"/>
          <p:cNvSpPr txBox="1"/>
          <p:nvPr/>
        </p:nvSpPr>
        <p:spPr>
          <a:xfrm>
            <a:off x="868680" y="2743200"/>
            <a:ext cx="1737360" cy="1097280"/>
          </a:xfrm>
          <a:prstGeom prst="rect">
            <a:avLst/>
          </a:prstGeom>
          <a:noFill/>
        </p:spPr>
        <p:txBody>
          <a:bodyPr wrap="square">
            <a:spAutoFit/>
          </a:bodyPr>
          <a:lstStyle/>
          <a:p>
            <a:pPr algn="ctr">
              <a:defRPr sz="1100" b="0">
                <a:solidFill>
                  <a:srgbClr val="BBBBDD"/>
                </a:solidFill>
                <a:latin typeface="Calibri"/>
              </a:defRPr>
            </a:pPr>
            <a:r>
              <a:t>Navigate to credentialing.hdpulseai.com</a:t>
            </a:r>
            <a:br/>
            <a:r>
              <a:t>(or http://localhost:6015 for development)</a:t>
            </a:r>
          </a:p>
        </p:txBody>
      </p:sp>
      <p:sp>
        <p:nvSpPr>
          <p:cNvPr id="9" name="Rounded Rectangle 8"/>
          <p:cNvSpPr/>
          <p:nvPr/>
        </p:nvSpPr>
        <p:spPr>
          <a:xfrm>
            <a:off x="297180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0" y="1600200"/>
            <a:ext cx="640080" cy="6400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64208"/>
            <a:ext cx="640080" cy="502920"/>
          </a:xfrm>
          <a:prstGeom prst="rect">
            <a:avLst/>
          </a:prstGeom>
          <a:noFill/>
        </p:spPr>
        <p:txBody>
          <a:bodyPr wrap="square">
            <a:spAutoFit/>
          </a:bodyPr>
          <a:lstStyle/>
          <a:p>
            <a:pPr algn="ctr">
              <a:defRPr sz="3200" b="1">
                <a:solidFill>
                  <a:srgbClr val="FFFFFF"/>
                </a:solidFill>
                <a:latin typeface="Calibri"/>
              </a:defRPr>
            </a:pPr>
            <a:r>
              <a:t>2</a:t>
            </a:r>
          </a:p>
        </p:txBody>
      </p:sp>
      <p:sp>
        <p:nvSpPr>
          <p:cNvPr id="12" name="TextBox 11"/>
          <p:cNvSpPr txBox="1"/>
          <p:nvPr/>
        </p:nvSpPr>
        <p:spPr>
          <a:xfrm>
            <a:off x="3108960" y="2377440"/>
            <a:ext cx="1737360" cy="274320"/>
          </a:xfrm>
          <a:prstGeom prst="rect">
            <a:avLst/>
          </a:prstGeom>
          <a:noFill/>
        </p:spPr>
        <p:txBody>
          <a:bodyPr wrap="square">
            <a:spAutoFit/>
          </a:bodyPr>
          <a:lstStyle/>
          <a:p>
            <a:pPr algn="ctr">
              <a:defRPr sz="1400" b="1">
                <a:solidFill>
                  <a:srgbClr val="FFFFFF"/>
                </a:solidFill>
                <a:latin typeface="Calibri"/>
              </a:defRPr>
            </a:pPr>
            <a:r>
              <a:t>Click Sign In</a:t>
            </a:r>
          </a:p>
        </p:txBody>
      </p:sp>
      <p:sp>
        <p:nvSpPr>
          <p:cNvPr id="13" name="TextBox 12"/>
          <p:cNvSpPr txBox="1"/>
          <p:nvPr/>
        </p:nvSpPr>
        <p:spPr>
          <a:xfrm>
            <a:off x="3108960" y="2743200"/>
            <a:ext cx="1737360" cy="1097280"/>
          </a:xfrm>
          <a:prstGeom prst="rect">
            <a:avLst/>
          </a:prstGeom>
          <a:noFill/>
        </p:spPr>
        <p:txBody>
          <a:bodyPr wrap="square">
            <a:spAutoFit/>
          </a:bodyPr>
          <a:lstStyle/>
          <a:p>
            <a:pPr algn="ctr">
              <a:defRPr sz="1100" b="0">
                <a:solidFill>
                  <a:srgbClr val="BBBBDD"/>
                </a:solidFill>
                <a:latin typeface="Calibri"/>
              </a:defRPr>
            </a:pPr>
            <a:r>
              <a:t>Click the blue "Sign in with Microsoft" button on the login page</a:t>
            </a:r>
          </a:p>
        </p:txBody>
      </p:sp>
      <p:sp>
        <p:nvSpPr>
          <p:cNvPr id="14" name="Rounded Rectangle 13"/>
          <p:cNvSpPr/>
          <p:nvPr/>
        </p:nvSpPr>
        <p:spPr>
          <a:xfrm>
            <a:off x="521208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897880" y="1600200"/>
            <a:ext cx="640080" cy="6400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97880" y="1664208"/>
            <a:ext cx="640080" cy="502920"/>
          </a:xfrm>
          <a:prstGeom prst="rect">
            <a:avLst/>
          </a:prstGeom>
          <a:noFill/>
        </p:spPr>
        <p:txBody>
          <a:bodyPr wrap="square">
            <a:spAutoFit/>
          </a:bodyPr>
          <a:lstStyle/>
          <a:p>
            <a:pPr algn="ctr">
              <a:defRPr sz="3200" b="1">
                <a:solidFill>
                  <a:srgbClr val="FFFFFF"/>
                </a:solidFill>
                <a:latin typeface="Calibri"/>
              </a:defRPr>
            </a:pPr>
            <a:r>
              <a:t>3</a:t>
            </a:r>
          </a:p>
        </p:txBody>
      </p:sp>
      <p:sp>
        <p:nvSpPr>
          <p:cNvPr id="17" name="TextBox 16"/>
          <p:cNvSpPr txBox="1"/>
          <p:nvPr/>
        </p:nvSpPr>
        <p:spPr>
          <a:xfrm>
            <a:off x="5349240" y="2377440"/>
            <a:ext cx="1737360" cy="274320"/>
          </a:xfrm>
          <a:prstGeom prst="rect">
            <a:avLst/>
          </a:prstGeom>
          <a:noFill/>
        </p:spPr>
        <p:txBody>
          <a:bodyPr wrap="square">
            <a:spAutoFit/>
          </a:bodyPr>
          <a:lstStyle/>
          <a:p>
            <a:pPr algn="ctr">
              <a:defRPr sz="1400" b="1">
                <a:solidFill>
                  <a:srgbClr val="FFFFFF"/>
                </a:solidFill>
                <a:latin typeface="Calibri"/>
              </a:defRPr>
            </a:pPr>
            <a:r>
              <a:t>Enter Your Credentials</a:t>
            </a:r>
          </a:p>
        </p:txBody>
      </p:sp>
      <p:sp>
        <p:nvSpPr>
          <p:cNvPr id="18" name="TextBox 17"/>
          <p:cNvSpPr txBox="1"/>
          <p:nvPr/>
        </p:nvSpPr>
        <p:spPr>
          <a:xfrm>
            <a:off x="5349240" y="2743200"/>
            <a:ext cx="1737360" cy="1097280"/>
          </a:xfrm>
          <a:prstGeom prst="rect">
            <a:avLst/>
          </a:prstGeom>
          <a:noFill/>
        </p:spPr>
        <p:txBody>
          <a:bodyPr wrap="square">
            <a:spAutoFit/>
          </a:bodyPr>
          <a:lstStyle/>
          <a:p>
            <a:pPr algn="ctr">
              <a:defRPr sz="1100" b="0">
                <a:solidFill>
                  <a:srgbClr val="BBBBDD"/>
                </a:solidFill>
                <a:latin typeface="Calibri"/>
              </a:defRPr>
            </a:pPr>
            <a:r>
              <a:t>Type your @essenmed.com email address and your regular Microsoft password</a:t>
            </a:r>
          </a:p>
        </p:txBody>
      </p:sp>
      <p:sp>
        <p:nvSpPr>
          <p:cNvPr id="19" name="Rounded Rectangle 18"/>
          <p:cNvSpPr/>
          <p:nvPr/>
        </p:nvSpPr>
        <p:spPr>
          <a:xfrm>
            <a:off x="745236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38160" y="1600200"/>
            <a:ext cx="640080" cy="640080"/>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1664208"/>
            <a:ext cx="640080" cy="502920"/>
          </a:xfrm>
          <a:prstGeom prst="rect">
            <a:avLst/>
          </a:prstGeom>
          <a:noFill/>
        </p:spPr>
        <p:txBody>
          <a:bodyPr wrap="square">
            <a:spAutoFit/>
          </a:bodyPr>
          <a:lstStyle/>
          <a:p>
            <a:pPr algn="ctr">
              <a:defRPr sz="3200" b="1">
                <a:solidFill>
                  <a:srgbClr val="FFFFFF"/>
                </a:solidFill>
                <a:latin typeface="Calibri"/>
              </a:defRPr>
            </a:pPr>
            <a:r>
              <a:t>4</a:t>
            </a:r>
          </a:p>
        </p:txBody>
      </p:sp>
      <p:sp>
        <p:nvSpPr>
          <p:cNvPr id="22" name="TextBox 21"/>
          <p:cNvSpPr txBox="1"/>
          <p:nvPr/>
        </p:nvSpPr>
        <p:spPr>
          <a:xfrm>
            <a:off x="7589520" y="2377440"/>
            <a:ext cx="1737360" cy="274320"/>
          </a:xfrm>
          <a:prstGeom prst="rect">
            <a:avLst/>
          </a:prstGeom>
          <a:noFill/>
        </p:spPr>
        <p:txBody>
          <a:bodyPr wrap="square">
            <a:spAutoFit/>
          </a:bodyPr>
          <a:lstStyle/>
          <a:p>
            <a:pPr algn="ctr">
              <a:defRPr sz="1400" b="1">
                <a:solidFill>
                  <a:srgbClr val="FFFFFF"/>
                </a:solidFill>
                <a:latin typeface="Calibri"/>
              </a:defRPr>
            </a:pPr>
            <a:r>
              <a:t>Complete MFA</a:t>
            </a:r>
          </a:p>
        </p:txBody>
      </p:sp>
      <p:sp>
        <p:nvSpPr>
          <p:cNvPr id="23" name="TextBox 22"/>
          <p:cNvSpPr txBox="1"/>
          <p:nvPr/>
        </p:nvSpPr>
        <p:spPr>
          <a:xfrm>
            <a:off x="7589520" y="2743200"/>
            <a:ext cx="1737360" cy="1097280"/>
          </a:xfrm>
          <a:prstGeom prst="rect">
            <a:avLst/>
          </a:prstGeom>
          <a:noFill/>
        </p:spPr>
        <p:txBody>
          <a:bodyPr wrap="square">
            <a:spAutoFit/>
          </a:bodyPr>
          <a:lstStyle/>
          <a:p>
            <a:pPr algn="ctr">
              <a:defRPr sz="1100" b="0">
                <a:solidFill>
                  <a:srgbClr val="BBBBDD"/>
                </a:solidFill>
                <a:latin typeface="Calibri"/>
              </a:defRPr>
            </a:pPr>
            <a:r>
              <a:t>If prompted, approve the notification in Microsoft Authenticator or enter your code</a:t>
            </a:r>
          </a:p>
        </p:txBody>
      </p:sp>
      <p:sp>
        <p:nvSpPr>
          <p:cNvPr id="24" name="Rounded Rectangle 23"/>
          <p:cNvSpPr/>
          <p:nvPr/>
        </p:nvSpPr>
        <p:spPr>
          <a:xfrm>
            <a:off x="9692640" y="1463040"/>
            <a:ext cx="2011680" cy="27432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378440" y="1600200"/>
            <a:ext cx="640080" cy="640080"/>
          </a:xfrm>
          <a:prstGeom prst="round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78440" y="1664208"/>
            <a:ext cx="640080" cy="502920"/>
          </a:xfrm>
          <a:prstGeom prst="rect">
            <a:avLst/>
          </a:prstGeom>
          <a:noFill/>
        </p:spPr>
        <p:txBody>
          <a:bodyPr wrap="square">
            <a:spAutoFit/>
          </a:bodyPr>
          <a:lstStyle/>
          <a:p>
            <a:pPr algn="ctr">
              <a:defRPr sz="3200" b="1">
                <a:solidFill>
                  <a:srgbClr val="FFFFFF"/>
                </a:solidFill>
                <a:latin typeface="Calibri"/>
              </a:defRPr>
            </a:pPr>
            <a:r>
              <a:t>5</a:t>
            </a:r>
          </a:p>
        </p:txBody>
      </p:sp>
      <p:sp>
        <p:nvSpPr>
          <p:cNvPr id="27" name="TextBox 26"/>
          <p:cNvSpPr txBox="1"/>
          <p:nvPr/>
        </p:nvSpPr>
        <p:spPr>
          <a:xfrm>
            <a:off x="9829800" y="2377440"/>
            <a:ext cx="1737360" cy="274320"/>
          </a:xfrm>
          <a:prstGeom prst="rect">
            <a:avLst/>
          </a:prstGeom>
          <a:noFill/>
        </p:spPr>
        <p:txBody>
          <a:bodyPr wrap="square">
            <a:spAutoFit/>
          </a:bodyPr>
          <a:lstStyle/>
          <a:p>
            <a:pPr algn="ctr">
              <a:defRPr sz="1400" b="1">
                <a:solidFill>
                  <a:srgbClr val="FFFFFF"/>
                </a:solidFill>
                <a:latin typeface="Calibri"/>
              </a:defRPr>
            </a:pPr>
            <a:r>
              <a:t>You're In!</a:t>
            </a:r>
          </a:p>
        </p:txBody>
      </p:sp>
      <p:sp>
        <p:nvSpPr>
          <p:cNvPr id="28" name="TextBox 27"/>
          <p:cNvSpPr txBox="1"/>
          <p:nvPr/>
        </p:nvSpPr>
        <p:spPr>
          <a:xfrm>
            <a:off x="9829800" y="2743200"/>
            <a:ext cx="1737360" cy="1097280"/>
          </a:xfrm>
          <a:prstGeom prst="rect">
            <a:avLst/>
          </a:prstGeom>
          <a:noFill/>
        </p:spPr>
        <p:txBody>
          <a:bodyPr wrap="square">
            <a:spAutoFit/>
          </a:bodyPr>
          <a:lstStyle/>
          <a:p>
            <a:pPr algn="ctr">
              <a:defRPr sz="1100" b="0">
                <a:solidFill>
                  <a:srgbClr val="BBBBDD"/>
                </a:solidFill>
                <a:latin typeface="Calibri"/>
              </a:defRPr>
            </a:pPr>
            <a:r>
              <a:t>You land on the Dashboard — your daily home screen with all key metrics</a:t>
            </a:r>
          </a:p>
        </p:txBody>
      </p:sp>
      <p:sp>
        <p:nvSpPr>
          <p:cNvPr id="29" name="Rounded Rectangle 28"/>
          <p:cNvSpPr/>
          <p:nvPr/>
        </p:nvSpPr>
        <p:spPr>
          <a:xfrm>
            <a:off x="731520" y="4572000"/>
            <a:ext cx="502920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709160"/>
            <a:ext cx="4572000" cy="274320"/>
          </a:xfrm>
          <a:prstGeom prst="rect">
            <a:avLst/>
          </a:prstGeom>
          <a:noFill/>
        </p:spPr>
        <p:txBody>
          <a:bodyPr wrap="square">
            <a:spAutoFit/>
          </a:bodyPr>
          <a:lstStyle/>
          <a:p>
            <a:pPr algn="l">
              <a:defRPr sz="1500" b="1">
                <a:solidFill>
                  <a:srgbClr val="00A3E0"/>
                </a:solidFill>
                <a:latin typeface="Calibri"/>
              </a:defRPr>
            </a:pPr>
            <a:r>
              <a:t>Session Management</a:t>
            </a:r>
          </a:p>
        </p:txBody>
      </p:sp>
      <p:sp>
        <p:nvSpPr>
          <p:cNvPr id="31" name="TextBox 30"/>
          <p:cNvSpPr txBox="1"/>
          <p:nvPr/>
        </p:nvSpPr>
        <p:spPr>
          <a:xfrm>
            <a:off x="1005840" y="5074920"/>
            <a:ext cx="4572000" cy="228600"/>
          </a:xfrm>
          <a:prstGeom prst="rect">
            <a:avLst/>
          </a:prstGeom>
          <a:noFill/>
        </p:spPr>
        <p:txBody>
          <a:bodyPr wrap="square">
            <a:spAutoFit/>
          </a:bodyPr>
          <a:lstStyle/>
          <a:p>
            <a:pPr algn="l">
              <a:defRPr sz="1100" b="0">
                <a:solidFill>
                  <a:srgbClr val="BBBBDD"/>
                </a:solidFill>
                <a:latin typeface="Calibri"/>
              </a:defRPr>
            </a:pPr>
            <a:r>
              <a:t>•  Session warning appears at 25 minutes of inactivity</a:t>
            </a:r>
          </a:p>
        </p:txBody>
      </p:sp>
      <p:sp>
        <p:nvSpPr>
          <p:cNvPr id="32" name="TextBox 31"/>
          <p:cNvSpPr txBox="1"/>
          <p:nvPr/>
        </p:nvSpPr>
        <p:spPr>
          <a:xfrm>
            <a:off x="1005840" y="5330952"/>
            <a:ext cx="4572000" cy="228600"/>
          </a:xfrm>
          <a:prstGeom prst="rect">
            <a:avLst/>
          </a:prstGeom>
          <a:noFill/>
        </p:spPr>
        <p:txBody>
          <a:bodyPr wrap="square">
            <a:spAutoFit/>
          </a:bodyPr>
          <a:lstStyle/>
          <a:p>
            <a:pPr algn="l">
              <a:defRPr sz="1100" b="0">
                <a:solidFill>
                  <a:srgbClr val="BBBBDD"/>
                </a:solidFill>
                <a:latin typeface="Calibri"/>
              </a:defRPr>
            </a:pPr>
            <a:r>
              <a:t>•  Automatic logout after 30 minutes of inactivity</a:t>
            </a:r>
          </a:p>
        </p:txBody>
      </p:sp>
      <p:sp>
        <p:nvSpPr>
          <p:cNvPr id="33" name="TextBox 32"/>
          <p:cNvSpPr txBox="1"/>
          <p:nvPr/>
        </p:nvSpPr>
        <p:spPr>
          <a:xfrm>
            <a:off x="1005840" y="5586983"/>
            <a:ext cx="4572000" cy="228600"/>
          </a:xfrm>
          <a:prstGeom prst="rect">
            <a:avLst/>
          </a:prstGeom>
          <a:noFill/>
        </p:spPr>
        <p:txBody>
          <a:bodyPr wrap="square">
            <a:spAutoFit/>
          </a:bodyPr>
          <a:lstStyle/>
          <a:p>
            <a:pPr algn="l">
              <a:defRPr sz="1100" b="0">
                <a:solidFill>
                  <a:srgbClr val="BBBBDD"/>
                </a:solidFill>
                <a:latin typeface="Calibri"/>
              </a:defRPr>
            </a:pPr>
            <a:r>
              <a:t>•  Unsaved draft work (provider edits) is preserved</a:t>
            </a:r>
          </a:p>
        </p:txBody>
      </p:sp>
      <p:sp>
        <p:nvSpPr>
          <p:cNvPr id="34" name="TextBox 33"/>
          <p:cNvSpPr txBox="1"/>
          <p:nvPr/>
        </p:nvSpPr>
        <p:spPr>
          <a:xfrm>
            <a:off x="1005840" y="5843016"/>
            <a:ext cx="4572000" cy="228600"/>
          </a:xfrm>
          <a:prstGeom prst="rect">
            <a:avLst/>
          </a:prstGeom>
          <a:noFill/>
        </p:spPr>
        <p:txBody>
          <a:bodyPr wrap="square">
            <a:spAutoFit/>
          </a:bodyPr>
          <a:lstStyle/>
          <a:p>
            <a:pPr algn="l">
              <a:defRPr sz="1100" b="0">
                <a:solidFill>
                  <a:srgbClr val="BBBBDD"/>
                </a:solidFill>
                <a:latin typeface="Calibri"/>
              </a:defRPr>
            </a:pPr>
            <a:r>
              <a:t>•  To sign out manually: click your name (top-right) then Sign Out</a:t>
            </a:r>
          </a:p>
        </p:txBody>
      </p:sp>
      <p:sp>
        <p:nvSpPr>
          <p:cNvPr id="35" name="Rounded Rectangle 34"/>
          <p:cNvSpPr/>
          <p:nvPr/>
        </p:nvSpPr>
        <p:spPr>
          <a:xfrm>
            <a:off x="6217920" y="4572000"/>
            <a:ext cx="5303520" cy="16459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4709160"/>
            <a:ext cx="4572000" cy="274320"/>
          </a:xfrm>
          <a:prstGeom prst="rect">
            <a:avLst/>
          </a:prstGeom>
          <a:noFill/>
        </p:spPr>
        <p:txBody>
          <a:bodyPr wrap="square">
            <a:spAutoFit/>
          </a:bodyPr>
          <a:lstStyle/>
          <a:p>
            <a:pPr algn="l">
              <a:defRPr sz="1500" b="1">
                <a:solidFill>
                  <a:srgbClr val="F4A261"/>
                </a:solidFill>
                <a:latin typeface="Calibri"/>
              </a:defRPr>
            </a:pPr>
            <a:r>
              <a:t>First-Time Login</a:t>
            </a:r>
          </a:p>
        </p:txBody>
      </p:sp>
      <p:sp>
        <p:nvSpPr>
          <p:cNvPr id="37" name="TextBox 36"/>
          <p:cNvSpPr txBox="1"/>
          <p:nvPr/>
        </p:nvSpPr>
        <p:spPr>
          <a:xfrm>
            <a:off x="6492240" y="5074920"/>
            <a:ext cx="4754880" cy="914400"/>
          </a:xfrm>
          <a:prstGeom prst="rect">
            <a:avLst/>
          </a:prstGeom>
          <a:noFill/>
        </p:spPr>
        <p:txBody>
          <a:bodyPr wrap="square">
            <a:spAutoFit/>
          </a:bodyPr>
          <a:lstStyle/>
          <a:p>
            <a:pPr algn="l">
              <a:defRPr sz="1100" b="0">
                <a:solidFill>
                  <a:srgbClr val="BBBBDD"/>
                </a:solidFill>
                <a:latin typeface="Calibri"/>
              </a:defRPr>
            </a:pPr>
            <a:r>
              <a:t>The very first time you sign in, the platform automatically matches your Azure AD identity to the user account your Admin pre-created for you.</a:t>
            </a:r>
            <a:br/>
            <a:br/>
            <a:r>
              <a:t>This is a one-time process. After the first login, you'll go straight to the Dashboard every time you sign in.</a:t>
            </a:r>
          </a:p>
        </p:txBody>
      </p:sp>
      <p:sp>
        <p:nvSpPr>
          <p:cNvPr id="38" name="TextBox 37"/>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ROLES &amp; PERMISSIONS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Understanding What You Can Do</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555577"/>
                </a:solidFill>
                <a:latin typeface="Calibri"/>
              </a:defRPr>
            </a:pPr>
            <a:r>
              <a:t>The platform enforces role-based access automatically. Each role sees only what it needs.</a:t>
            </a:r>
          </a:p>
        </p:txBody>
      </p:sp>
      <p:sp>
        <p:nvSpPr>
          <p:cNvPr id="5" name="Rounded Rectangle 4"/>
          <p:cNvSpPr/>
          <p:nvPr/>
        </p:nvSpPr>
        <p:spPr>
          <a:xfrm>
            <a:off x="731520" y="173736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54864" cy="22860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754880" cy="274320"/>
          </a:xfrm>
          <a:prstGeom prst="rect">
            <a:avLst/>
          </a:prstGeom>
          <a:noFill/>
        </p:spPr>
        <p:txBody>
          <a:bodyPr wrap="square">
            <a:spAutoFit/>
          </a:bodyPr>
          <a:lstStyle/>
          <a:p>
            <a:pPr algn="l">
              <a:defRPr sz="1500" b="1">
                <a:solidFill>
                  <a:srgbClr val="00A3E0"/>
                </a:solidFill>
                <a:latin typeface="Calibri"/>
              </a:defRPr>
            </a:pPr>
            <a:r>
              <a:t>Credentialing Specialist</a:t>
            </a:r>
          </a:p>
        </p:txBody>
      </p:sp>
      <p:sp>
        <p:nvSpPr>
          <p:cNvPr id="8" name="TextBox 7"/>
          <p:cNvSpPr txBox="1"/>
          <p:nvPr/>
        </p:nvSpPr>
        <p:spPr>
          <a:xfrm>
            <a:off x="1005840" y="2148840"/>
            <a:ext cx="2743200" cy="164592"/>
          </a:xfrm>
          <a:prstGeom prst="rect">
            <a:avLst/>
          </a:prstGeom>
          <a:noFill/>
        </p:spPr>
        <p:txBody>
          <a:bodyPr wrap="square">
            <a:spAutoFit/>
          </a:bodyPr>
          <a:lstStyle/>
          <a:p>
            <a:pPr algn="l">
              <a:defRPr sz="900" b="0">
                <a:solidFill>
                  <a:srgbClr val="00B67A"/>
                </a:solidFill>
                <a:latin typeface="Calibri"/>
              </a:defRPr>
            </a:pPr>
            <a:r>
              <a:t>✓ Manage assigned provider records end-to-end</a:t>
            </a:r>
          </a:p>
        </p:txBody>
      </p:sp>
      <p:sp>
        <p:nvSpPr>
          <p:cNvPr id="9" name="TextBox 8"/>
          <p:cNvSpPr txBox="1"/>
          <p:nvPr/>
        </p:nvSpPr>
        <p:spPr>
          <a:xfrm>
            <a:off x="1005840" y="2331720"/>
            <a:ext cx="2743200" cy="164592"/>
          </a:xfrm>
          <a:prstGeom prst="rect">
            <a:avLst/>
          </a:prstGeom>
          <a:noFill/>
        </p:spPr>
        <p:txBody>
          <a:bodyPr wrap="square">
            <a:spAutoFit/>
          </a:bodyPr>
          <a:lstStyle/>
          <a:p>
            <a:pPr algn="l">
              <a:defRPr sz="900" b="0">
                <a:solidFill>
                  <a:srgbClr val="00B67A"/>
                </a:solidFill>
                <a:latin typeface="Calibri"/>
              </a:defRPr>
            </a:pPr>
            <a:r>
              <a:t>✓ Upload documents, manage checklists</a:t>
            </a:r>
          </a:p>
        </p:txBody>
      </p:sp>
      <p:sp>
        <p:nvSpPr>
          <p:cNvPr id="10" name="TextBox 9"/>
          <p:cNvSpPr txBox="1"/>
          <p:nvPr/>
        </p:nvSpPr>
        <p:spPr>
          <a:xfrm>
            <a:off x="1005840" y="2514600"/>
            <a:ext cx="2743200" cy="164592"/>
          </a:xfrm>
          <a:prstGeom prst="rect">
            <a:avLst/>
          </a:prstGeom>
          <a:noFill/>
        </p:spPr>
        <p:txBody>
          <a:bodyPr wrap="square">
            <a:spAutoFit/>
          </a:bodyPr>
          <a:lstStyle/>
          <a:p>
            <a:pPr algn="l">
              <a:defRPr sz="900" b="0">
                <a:solidFill>
                  <a:srgbClr val="00B67A"/>
                </a:solidFill>
                <a:latin typeface="Calibri"/>
              </a:defRPr>
            </a:pPr>
            <a:r>
              <a:t>✓ Trigger verification bots manually</a:t>
            </a:r>
          </a:p>
        </p:txBody>
      </p:sp>
      <p:sp>
        <p:nvSpPr>
          <p:cNvPr id="11" name="TextBox 10"/>
          <p:cNvSpPr txBox="1"/>
          <p:nvPr/>
        </p:nvSpPr>
        <p:spPr>
          <a:xfrm>
            <a:off x="1005840" y="2697480"/>
            <a:ext cx="2743200" cy="164592"/>
          </a:xfrm>
          <a:prstGeom prst="rect">
            <a:avLst/>
          </a:prstGeom>
          <a:noFill/>
        </p:spPr>
        <p:txBody>
          <a:bodyPr wrap="square">
            <a:spAutoFit/>
          </a:bodyPr>
          <a:lstStyle/>
          <a:p>
            <a:pPr algn="l">
              <a:defRPr sz="900" b="0">
                <a:solidFill>
                  <a:srgbClr val="00B67A"/>
                </a:solidFill>
                <a:latin typeface="Calibri"/>
              </a:defRPr>
            </a:pPr>
            <a:r>
              <a:t>✓ Send follow-up emails, SMS, log phone calls</a:t>
            </a:r>
          </a:p>
        </p:txBody>
      </p:sp>
      <p:sp>
        <p:nvSpPr>
          <p:cNvPr id="12" name="TextBox 11"/>
          <p:cNvSpPr txBox="1"/>
          <p:nvPr/>
        </p:nvSpPr>
        <p:spPr>
          <a:xfrm>
            <a:off x="1005840" y="2880360"/>
            <a:ext cx="2743200" cy="164592"/>
          </a:xfrm>
          <a:prstGeom prst="rect">
            <a:avLst/>
          </a:prstGeom>
          <a:noFill/>
        </p:spPr>
        <p:txBody>
          <a:bodyPr wrap="square">
            <a:spAutoFit/>
          </a:bodyPr>
          <a:lstStyle/>
          <a:p>
            <a:pPr algn="l">
              <a:defRPr sz="900" b="0">
                <a:solidFill>
                  <a:srgbClr val="00B67A"/>
                </a:solidFill>
                <a:latin typeface="Calibri"/>
              </a:defRPr>
            </a:pPr>
            <a:r>
              <a:t>✓ Create and manage tasks for team members</a:t>
            </a:r>
          </a:p>
        </p:txBody>
      </p:sp>
      <p:sp>
        <p:nvSpPr>
          <p:cNvPr id="13" name="TextBox 12"/>
          <p:cNvSpPr txBox="1"/>
          <p:nvPr/>
        </p:nvSpPr>
        <p:spPr>
          <a:xfrm>
            <a:off x="1005840" y="3063240"/>
            <a:ext cx="2743200" cy="164592"/>
          </a:xfrm>
          <a:prstGeom prst="rect">
            <a:avLst/>
          </a:prstGeom>
          <a:noFill/>
        </p:spPr>
        <p:txBody>
          <a:bodyPr wrap="square">
            <a:spAutoFit/>
          </a:bodyPr>
          <a:lstStyle/>
          <a:p>
            <a:pPr algn="l">
              <a:defRPr sz="900" b="0">
                <a:solidFill>
                  <a:srgbClr val="00B67A"/>
                </a:solidFill>
                <a:latin typeface="Calibri"/>
              </a:defRPr>
            </a:pPr>
            <a:r>
              <a:t>✓ Track enrollments and log payer follow-ups</a:t>
            </a:r>
          </a:p>
        </p:txBody>
      </p:sp>
      <p:sp>
        <p:nvSpPr>
          <p:cNvPr id="14" name="TextBox 13"/>
          <p:cNvSpPr txBox="1"/>
          <p:nvPr/>
        </p:nvSpPr>
        <p:spPr>
          <a:xfrm>
            <a:off x="1005840" y="3246120"/>
            <a:ext cx="2743200" cy="164592"/>
          </a:xfrm>
          <a:prstGeom prst="rect">
            <a:avLst/>
          </a:prstGeom>
          <a:noFill/>
        </p:spPr>
        <p:txBody>
          <a:bodyPr wrap="square">
            <a:spAutoFit/>
          </a:bodyPr>
          <a:lstStyle/>
          <a:p>
            <a:pPr algn="l">
              <a:defRPr sz="900" b="0">
                <a:solidFill>
                  <a:srgbClr val="00B67A"/>
                </a:solidFill>
                <a:latin typeface="Calibri"/>
              </a:defRPr>
            </a:pPr>
            <a:r>
              <a:t>✓ Monitor expirables and initiate renewals</a:t>
            </a:r>
          </a:p>
        </p:txBody>
      </p:sp>
      <p:sp>
        <p:nvSpPr>
          <p:cNvPr id="15" name="TextBox 14"/>
          <p:cNvSpPr txBox="1"/>
          <p:nvPr/>
        </p:nvSpPr>
        <p:spPr>
          <a:xfrm>
            <a:off x="3749039" y="2148840"/>
            <a:ext cx="2194560" cy="164592"/>
          </a:xfrm>
          <a:prstGeom prst="rect">
            <a:avLst/>
          </a:prstGeom>
          <a:noFill/>
        </p:spPr>
        <p:txBody>
          <a:bodyPr wrap="square">
            <a:spAutoFit/>
          </a:bodyPr>
          <a:lstStyle/>
          <a:p>
            <a:pPr algn="l">
              <a:defRPr sz="900" b="0">
                <a:solidFill>
                  <a:srgbClr val="E63946"/>
                </a:solidFill>
                <a:latin typeface="Calibri"/>
              </a:defRPr>
            </a:pPr>
            <a:r>
              <a:t>✗ Approve/deny providers for committee</a:t>
            </a:r>
          </a:p>
        </p:txBody>
      </p:sp>
      <p:sp>
        <p:nvSpPr>
          <p:cNvPr id="16" name="TextBox 15"/>
          <p:cNvSpPr txBox="1"/>
          <p:nvPr/>
        </p:nvSpPr>
        <p:spPr>
          <a:xfrm>
            <a:off x="3749039" y="2331720"/>
            <a:ext cx="2194560" cy="164592"/>
          </a:xfrm>
          <a:prstGeom prst="rect">
            <a:avLst/>
          </a:prstGeom>
          <a:noFill/>
        </p:spPr>
        <p:txBody>
          <a:bodyPr wrap="square">
            <a:spAutoFit/>
          </a:bodyPr>
          <a:lstStyle/>
          <a:p>
            <a:pPr algn="l">
              <a:defRPr sz="900" b="0">
                <a:solidFill>
                  <a:srgbClr val="E63946"/>
                </a:solidFill>
                <a:latin typeface="Calibri"/>
              </a:defRPr>
            </a:pPr>
            <a:r>
              <a:t>✗ Create or manage committee sessions</a:t>
            </a:r>
          </a:p>
        </p:txBody>
      </p:sp>
      <p:sp>
        <p:nvSpPr>
          <p:cNvPr id="17" name="TextBox 16"/>
          <p:cNvSpPr txBox="1"/>
          <p:nvPr/>
        </p:nvSpPr>
        <p:spPr>
          <a:xfrm>
            <a:off x="3749039" y="2514600"/>
            <a:ext cx="2194560" cy="164592"/>
          </a:xfrm>
          <a:prstGeom prst="rect">
            <a:avLst/>
          </a:prstGeom>
          <a:noFill/>
        </p:spPr>
        <p:txBody>
          <a:bodyPr wrap="square">
            <a:spAutoFit/>
          </a:bodyPr>
          <a:lstStyle/>
          <a:p>
            <a:pPr algn="l">
              <a:defRPr sz="900" b="0">
                <a:solidFill>
                  <a:srgbClr val="E63946"/>
                </a:solidFill>
                <a:latin typeface="Calibri"/>
              </a:defRPr>
            </a:pPr>
            <a:r>
              <a:t>✗ Manage user accounts or system settings</a:t>
            </a:r>
          </a:p>
        </p:txBody>
      </p:sp>
      <p:sp>
        <p:nvSpPr>
          <p:cNvPr id="18" name="Rounded Rectangle 17"/>
          <p:cNvSpPr/>
          <p:nvPr/>
        </p:nvSpPr>
        <p:spPr>
          <a:xfrm>
            <a:off x="6400800" y="173736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1737360"/>
            <a:ext cx="54864" cy="22860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828800"/>
            <a:ext cx="4754880" cy="274320"/>
          </a:xfrm>
          <a:prstGeom prst="rect">
            <a:avLst/>
          </a:prstGeom>
          <a:noFill/>
        </p:spPr>
        <p:txBody>
          <a:bodyPr wrap="square">
            <a:spAutoFit/>
          </a:bodyPr>
          <a:lstStyle/>
          <a:p>
            <a:pPr algn="l">
              <a:defRPr sz="1500" b="1">
                <a:solidFill>
                  <a:srgbClr val="00B67A"/>
                </a:solidFill>
                <a:latin typeface="Calibri"/>
              </a:defRPr>
            </a:pPr>
            <a:r>
              <a:t>Credentialing Manager</a:t>
            </a:r>
          </a:p>
        </p:txBody>
      </p:sp>
      <p:sp>
        <p:nvSpPr>
          <p:cNvPr id="21" name="TextBox 20"/>
          <p:cNvSpPr txBox="1"/>
          <p:nvPr/>
        </p:nvSpPr>
        <p:spPr>
          <a:xfrm>
            <a:off x="6675120" y="2148840"/>
            <a:ext cx="2743200" cy="164592"/>
          </a:xfrm>
          <a:prstGeom prst="rect">
            <a:avLst/>
          </a:prstGeom>
          <a:noFill/>
        </p:spPr>
        <p:txBody>
          <a:bodyPr wrap="square">
            <a:spAutoFit/>
          </a:bodyPr>
          <a:lstStyle/>
          <a:p>
            <a:pPr algn="l">
              <a:defRPr sz="900" b="0">
                <a:solidFill>
                  <a:srgbClr val="1A1A2E"/>
                </a:solidFill>
                <a:latin typeface="Calibri"/>
              </a:defRPr>
            </a:pPr>
            <a:r>
              <a:t>✓ Everything a Specialist can do, PLUS:</a:t>
            </a:r>
          </a:p>
        </p:txBody>
      </p:sp>
      <p:sp>
        <p:nvSpPr>
          <p:cNvPr id="22" name="TextBox 21"/>
          <p:cNvSpPr txBox="1"/>
          <p:nvPr/>
        </p:nvSpPr>
        <p:spPr>
          <a:xfrm>
            <a:off x="6675120" y="2331720"/>
            <a:ext cx="2743200" cy="164592"/>
          </a:xfrm>
          <a:prstGeom prst="rect">
            <a:avLst/>
          </a:prstGeom>
          <a:noFill/>
        </p:spPr>
        <p:txBody>
          <a:bodyPr wrap="square">
            <a:spAutoFit/>
          </a:bodyPr>
          <a:lstStyle/>
          <a:p>
            <a:pPr algn="l">
              <a:defRPr sz="900" b="0">
                <a:solidFill>
                  <a:srgbClr val="00B67A"/>
                </a:solidFill>
                <a:latin typeface="Calibri"/>
              </a:defRPr>
            </a:pPr>
            <a:r>
              <a:t>✓ Create and manage committee review sessions</a:t>
            </a:r>
          </a:p>
        </p:txBody>
      </p:sp>
      <p:sp>
        <p:nvSpPr>
          <p:cNvPr id="23" name="TextBox 22"/>
          <p:cNvSpPr txBox="1"/>
          <p:nvPr/>
        </p:nvSpPr>
        <p:spPr>
          <a:xfrm>
            <a:off x="6675120" y="2514600"/>
            <a:ext cx="2743200" cy="164592"/>
          </a:xfrm>
          <a:prstGeom prst="rect">
            <a:avLst/>
          </a:prstGeom>
          <a:noFill/>
        </p:spPr>
        <p:txBody>
          <a:bodyPr wrap="square">
            <a:spAutoFit/>
          </a:bodyPr>
          <a:lstStyle/>
          <a:p>
            <a:pPr algn="l">
              <a:defRPr sz="900" b="0">
                <a:solidFill>
                  <a:srgbClr val="00B67A"/>
                </a:solidFill>
                <a:latin typeface="Calibri"/>
              </a:defRPr>
            </a:pPr>
            <a:r>
              <a:t>✓ Approve, deny, or defer providers</a:t>
            </a:r>
          </a:p>
        </p:txBody>
      </p:sp>
      <p:sp>
        <p:nvSpPr>
          <p:cNvPr id="24" name="TextBox 23"/>
          <p:cNvSpPr txBox="1"/>
          <p:nvPr/>
        </p:nvSpPr>
        <p:spPr>
          <a:xfrm>
            <a:off x="6675120" y="2697480"/>
            <a:ext cx="2743200" cy="164592"/>
          </a:xfrm>
          <a:prstGeom prst="rect">
            <a:avLst/>
          </a:prstGeom>
          <a:noFill/>
        </p:spPr>
        <p:txBody>
          <a:bodyPr wrap="square">
            <a:spAutoFit/>
          </a:bodyPr>
          <a:lstStyle/>
          <a:p>
            <a:pPr algn="l">
              <a:defRPr sz="900" b="0">
                <a:solidFill>
                  <a:srgbClr val="00B67A"/>
                </a:solidFill>
                <a:latin typeface="Calibri"/>
              </a:defRPr>
            </a:pPr>
            <a:r>
              <a:t>✓ Generate and send committee agendas</a:t>
            </a:r>
          </a:p>
        </p:txBody>
      </p:sp>
      <p:sp>
        <p:nvSpPr>
          <p:cNvPr id="25" name="TextBox 24"/>
          <p:cNvSpPr txBox="1"/>
          <p:nvPr/>
        </p:nvSpPr>
        <p:spPr>
          <a:xfrm>
            <a:off x="6675120" y="2880360"/>
            <a:ext cx="2743200" cy="164592"/>
          </a:xfrm>
          <a:prstGeom prst="rect">
            <a:avLst/>
          </a:prstGeom>
          <a:noFill/>
        </p:spPr>
        <p:txBody>
          <a:bodyPr wrap="square">
            <a:spAutoFit/>
          </a:bodyPr>
          <a:lstStyle/>
          <a:p>
            <a:pPr algn="l">
              <a:defRPr sz="900" b="0">
                <a:solidFill>
                  <a:srgbClr val="00B67A"/>
                </a:solidFill>
                <a:latin typeface="Calibri"/>
              </a:defRPr>
            </a:pPr>
            <a:r>
              <a:t>✓ Send bulk follow-up reminders</a:t>
            </a:r>
          </a:p>
        </p:txBody>
      </p:sp>
      <p:sp>
        <p:nvSpPr>
          <p:cNvPr id="26" name="TextBox 25"/>
          <p:cNvSpPr txBox="1"/>
          <p:nvPr/>
        </p:nvSpPr>
        <p:spPr>
          <a:xfrm>
            <a:off x="6675120" y="3063240"/>
            <a:ext cx="2743200" cy="164592"/>
          </a:xfrm>
          <a:prstGeom prst="rect">
            <a:avLst/>
          </a:prstGeom>
          <a:noFill/>
        </p:spPr>
        <p:txBody>
          <a:bodyPr wrap="square">
            <a:spAutoFit/>
          </a:bodyPr>
          <a:lstStyle/>
          <a:p>
            <a:pPr algn="l">
              <a:defRPr sz="900" b="0">
                <a:solidFill>
                  <a:srgbClr val="00B67A"/>
                </a:solidFill>
                <a:latin typeface="Calibri"/>
              </a:defRPr>
            </a:pPr>
            <a:r>
              <a:t>✓ Override checklist items (with justification)</a:t>
            </a:r>
          </a:p>
        </p:txBody>
      </p:sp>
      <p:sp>
        <p:nvSpPr>
          <p:cNvPr id="27" name="TextBox 26"/>
          <p:cNvSpPr txBox="1"/>
          <p:nvPr/>
        </p:nvSpPr>
        <p:spPr>
          <a:xfrm>
            <a:off x="6675120" y="3246120"/>
            <a:ext cx="2743200" cy="164592"/>
          </a:xfrm>
          <a:prstGeom prst="rect">
            <a:avLst/>
          </a:prstGeom>
          <a:noFill/>
        </p:spPr>
        <p:txBody>
          <a:bodyPr wrap="square">
            <a:spAutoFit/>
          </a:bodyPr>
          <a:lstStyle/>
          <a:p>
            <a:pPr algn="l">
              <a:defRPr sz="900" b="0">
                <a:solidFill>
                  <a:srgbClr val="00B67A"/>
                </a:solidFill>
                <a:latin typeface="Calibri"/>
              </a:defRPr>
            </a:pPr>
            <a:r>
              <a:t>✓ View system-wide reports and audit trail</a:t>
            </a:r>
          </a:p>
        </p:txBody>
      </p:sp>
      <p:sp>
        <p:nvSpPr>
          <p:cNvPr id="28" name="TextBox 27"/>
          <p:cNvSpPr txBox="1"/>
          <p:nvPr/>
        </p:nvSpPr>
        <p:spPr>
          <a:xfrm>
            <a:off x="9418320" y="2148840"/>
            <a:ext cx="2194560" cy="164592"/>
          </a:xfrm>
          <a:prstGeom prst="rect">
            <a:avLst/>
          </a:prstGeom>
          <a:noFill/>
        </p:spPr>
        <p:txBody>
          <a:bodyPr wrap="square">
            <a:spAutoFit/>
          </a:bodyPr>
          <a:lstStyle/>
          <a:p>
            <a:pPr algn="l">
              <a:defRPr sz="900" b="0">
                <a:solidFill>
                  <a:srgbClr val="E63946"/>
                </a:solidFill>
                <a:latin typeface="Calibri"/>
              </a:defRPr>
            </a:pPr>
            <a:r>
              <a:t>✗ Manage user accounts (Admin only)</a:t>
            </a:r>
          </a:p>
        </p:txBody>
      </p:sp>
      <p:sp>
        <p:nvSpPr>
          <p:cNvPr id="29" name="TextBox 28"/>
          <p:cNvSpPr txBox="1"/>
          <p:nvPr/>
        </p:nvSpPr>
        <p:spPr>
          <a:xfrm>
            <a:off x="9418320" y="2331720"/>
            <a:ext cx="2194560" cy="164592"/>
          </a:xfrm>
          <a:prstGeom prst="rect">
            <a:avLst/>
          </a:prstGeom>
          <a:noFill/>
        </p:spPr>
        <p:txBody>
          <a:bodyPr wrap="square">
            <a:spAutoFit/>
          </a:bodyPr>
          <a:lstStyle/>
          <a:p>
            <a:pPr algn="l">
              <a:defRPr sz="900" b="0">
                <a:solidFill>
                  <a:srgbClr val="E63946"/>
                </a:solidFill>
                <a:latin typeface="Calibri"/>
              </a:defRPr>
            </a:pPr>
            <a:r>
              <a:t>✗ Configure system-level settings</a:t>
            </a:r>
          </a:p>
        </p:txBody>
      </p:sp>
      <p:sp>
        <p:nvSpPr>
          <p:cNvPr id="30" name="Rounded Rectangle 29"/>
          <p:cNvSpPr/>
          <p:nvPr/>
        </p:nvSpPr>
        <p:spPr>
          <a:xfrm>
            <a:off x="731520" y="420624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4206240"/>
            <a:ext cx="54864" cy="228600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4297679"/>
            <a:ext cx="4754880" cy="274320"/>
          </a:xfrm>
          <a:prstGeom prst="rect">
            <a:avLst/>
          </a:prstGeom>
          <a:noFill/>
        </p:spPr>
        <p:txBody>
          <a:bodyPr wrap="square">
            <a:spAutoFit/>
          </a:bodyPr>
          <a:lstStyle/>
          <a:p>
            <a:pPr algn="l">
              <a:defRPr sz="1500" b="1">
                <a:solidFill>
                  <a:srgbClr val="F4A261"/>
                </a:solidFill>
                <a:latin typeface="Calibri"/>
              </a:defRPr>
            </a:pPr>
            <a:r>
              <a:t>Committee Member</a:t>
            </a:r>
          </a:p>
        </p:txBody>
      </p:sp>
      <p:sp>
        <p:nvSpPr>
          <p:cNvPr id="33" name="TextBox 32"/>
          <p:cNvSpPr txBox="1"/>
          <p:nvPr/>
        </p:nvSpPr>
        <p:spPr>
          <a:xfrm>
            <a:off x="1005840" y="4617720"/>
            <a:ext cx="2743200" cy="164592"/>
          </a:xfrm>
          <a:prstGeom prst="rect">
            <a:avLst/>
          </a:prstGeom>
          <a:noFill/>
        </p:spPr>
        <p:txBody>
          <a:bodyPr wrap="square">
            <a:spAutoFit/>
          </a:bodyPr>
          <a:lstStyle/>
          <a:p>
            <a:pPr algn="l">
              <a:defRPr sz="900" b="0">
                <a:solidFill>
                  <a:srgbClr val="00B67A"/>
                </a:solidFill>
                <a:latin typeface="Calibri"/>
              </a:defRPr>
            </a:pPr>
            <a:r>
              <a:t>✓ View committee session agendas</a:t>
            </a:r>
          </a:p>
        </p:txBody>
      </p:sp>
      <p:sp>
        <p:nvSpPr>
          <p:cNvPr id="34" name="TextBox 33"/>
          <p:cNvSpPr txBox="1"/>
          <p:nvPr/>
        </p:nvSpPr>
        <p:spPr>
          <a:xfrm>
            <a:off x="1005840" y="4800600"/>
            <a:ext cx="2743200" cy="164592"/>
          </a:xfrm>
          <a:prstGeom prst="rect">
            <a:avLst/>
          </a:prstGeom>
          <a:noFill/>
        </p:spPr>
        <p:txBody>
          <a:bodyPr wrap="square">
            <a:spAutoFit/>
          </a:bodyPr>
          <a:lstStyle/>
          <a:p>
            <a:pPr algn="l">
              <a:defRPr sz="900" b="0">
                <a:solidFill>
                  <a:srgbClr val="00B67A"/>
                </a:solidFill>
                <a:latin typeface="Calibri"/>
              </a:defRPr>
            </a:pPr>
            <a:r>
              <a:t>✓ Read provider summary sheets for assigned sessions</a:t>
            </a:r>
          </a:p>
        </p:txBody>
      </p:sp>
      <p:sp>
        <p:nvSpPr>
          <p:cNvPr id="35" name="TextBox 34"/>
          <p:cNvSpPr txBox="1"/>
          <p:nvPr/>
        </p:nvSpPr>
        <p:spPr>
          <a:xfrm>
            <a:off x="1005840" y="4983480"/>
            <a:ext cx="2743200" cy="164592"/>
          </a:xfrm>
          <a:prstGeom prst="rect">
            <a:avLst/>
          </a:prstGeom>
          <a:noFill/>
        </p:spPr>
        <p:txBody>
          <a:bodyPr wrap="square">
            <a:spAutoFit/>
          </a:bodyPr>
          <a:lstStyle/>
          <a:p>
            <a:pPr algn="l">
              <a:defRPr sz="900" b="0">
                <a:solidFill>
                  <a:srgbClr val="00B67A"/>
                </a:solidFill>
                <a:latin typeface="Calibri"/>
              </a:defRPr>
            </a:pPr>
            <a:r>
              <a:t>✓ Submit approval votes with comments</a:t>
            </a:r>
          </a:p>
        </p:txBody>
      </p:sp>
      <p:sp>
        <p:nvSpPr>
          <p:cNvPr id="36" name="TextBox 35"/>
          <p:cNvSpPr txBox="1"/>
          <p:nvPr/>
        </p:nvSpPr>
        <p:spPr>
          <a:xfrm>
            <a:off x="1005840" y="5166360"/>
            <a:ext cx="2743200" cy="164592"/>
          </a:xfrm>
          <a:prstGeom prst="rect">
            <a:avLst/>
          </a:prstGeom>
          <a:noFill/>
        </p:spPr>
        <p:txBody>
          <a:bodyPr wrap="square">
            <a:spAutoFit/>
          </a:bodyPr>
          <a:lstStyle/>
          <a:p>
            <a:pPr algn="l">
              <a:defRPr sz="900" b="0">
                <a:solidFill>
                  <a:srgbClr val="00B67A"/>
                </a:solidFill>
                <a:latin typeface="Calibri"/>
              </a:defRPr>
            </a:pPr>
            <a:r>
              <a:t>✓ Add notes to provider committee records</a:t>
            </a:r>
          </a:p>
        </p:txBody>
      </p:sp>
      <p:sp>
        <p:nvSpPr>
          <p:cNvPr id="37" name="TextBox 36"/>
          <p:cNvSpPr txBox="1"/>
          <p:nvPr/>
        </p:nvSpPr>
        <p:spPr>
          <a:xfrm>
            <a:off x="3749039" y="4617720"/>
            <a:ext cx="2194560" cy="164592"/>
          </a:xfrm>
          <a:prstGeom prst="rect">
            <a:avLst/>
          </a:prstGeom>
          <a:noFill/>
        </p:spPr>
        <p:txBody>
          <a:bodyPr wrap="square">
            <a:spAutoFit/>
          </a:bodyPr>
          <a:lstStyle/>
          <a:p>
            <a:pPr algn="l">
              <a:defRPr sz="900" b="0">
                <a:solidFill>
                  <a:srgbClr val="E63946"/>
                </a:solidFill>
                <a:latin typeface="Calibri"/>
              </a:defRPr>
            </a:pPr>
            <a:r>
              <a:t>✗ View onboarding dashboard or provider details</a:t>
            </a:r>
          </a:p>
        </p:txBody>
      </p:sp>
      <p:sp>
        <p:nvSpPr>
          <p:cNvPr id="38" name="TextBox 37"/>
          <p:cNvSpPr txBox="1"/>
          <p:nvPr/>
        </p:nvSpPr>
        <p:spPr>
          <a:xfrm>
            <a:off x="3749039" y="4800600"/>
            <a:ext cx="2194560" cy="164592"/>
          </a:xfrm>
          <a:prstGeom prst="rect">
            <a:avLst/>
          </a:prstGeom>
          <a:noFill/>
        </p:spPr>
        <p:txBody>
          <a:bodyPr wrap="square">
            <a:spAutoFit/>
          </a:bodyPr>
          <a:lstStyle/>
          <a:p>
            <a:pPr algn="l">
              <a:defRPr sz="900" b="0">
                <a:solidFill>
                  <a:srgbClr val="E63946"/>
                </a:solidFill>
                <a:latin typeface="Calibri"/>
              </a:defRPr>
            </a:pPr>
            <a:r>
              <a:t>✗ Access enrollment, expirable, or task modules</a:t>
            </a:r>
          </a:p>
        </p:txBody>
      </p:sp>
      <p:sp>
        <p:nvSpPr>
          <p:cNvPr id="39" name="TextBox 38"/>
          <p:cNvSpPr txBox="1"/>
          <p:nvPr/>
        </p:nvSpPr>
        <p:spPr>
          <a:xfrm>
            <a:off x="3749039" y="4983480"/>
            <a:ext cx="2194560" cy="164592"/>
          </a:xfrm>
          <a:prstGeom prst="rect">
            <a:avLst/>
          </a:prstGeom>
          <a:noFill/>
        </p:spPr>
        <p:txBody>
          <a:bodyPr wrap="square">
            <a:spAutoFit/>
          </a:bodyPr>
          <a:lstStyle/>
          <a:p>
            <a:pPr algn="l">
              <a:defRPr sz="900" b="0">
                <a:solidFill>
                  <a:srgbClr val="E63946"/>
                </a:solidFill>
                <a:latin typeface="Calibri"/>
              </a:defRPr>
            </a:pPr>
            <a:r>
              <a:t>✗ Send communications to providers</a:t>
            </a:r>
          </a:p>
        </p:txBody>
      </p:sp>
      <p:sp>
        <p:nvSpPr>
          <p:cNvPr id="40" name="TextBox 39"/>
          <p:cNvSpPr txBox="1"/>
          <p:nvPr/>
        </p:nvSpPr>
        <p:spPr>
          <a:xfrm>
            <a:off x="3749039" y="5166360"/>
            <a:ext cx="2194560" cy="164592"/>
          </a:xfrm>
          <a:prstGeom prst="rect">
            <a:avLst/>
          </a:prstGeom>
          <a:noFill/>
        </p:spPr>
        <p:txBody>
          <a:bodyPr wrap="square">
            <a:spAutoFit/>
          </a:bodyPr>
          <a:lstStyle/>
          <a:p>
            <a:pPr algn="l">
              <a:defRPr sz="900" b="0">
                <a:solidFill>
                  <a:srgbClr val="E63946"/>
                </a:solidFill>
                <a:latin typeface="Calibri"/>
              </a:defRPr>
            </a:pPr>
            <a:r>
              <a:t>✗ Create or manage committee sessions</a:t>
            </a:r>
          </a:p>
        </p:txBody>
      </p:sp>
      <p:sp>
        <p:nvSpPr>
          <p:cNvPr id="41" name="Rounded Rectangle 40"/>
          <p:cNvSpPr/>
          <p:nvPr/>
        </p:nvSpPr>
        <p:spPr>
          <a:xfrm>
            <a:off x="6400800" y="420624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0" y="4206240"/>
            <a:ext cx="54864" cy="22860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5120" y="4297679"/>
            <a:ext cx="4754880" cy="274320"/>
          </a:xfrm>
          <a:prstGeom prst="rect">
            <a:avLst/>
          </a:prstGeom>
          <a:noFill/>
        </p:spPr>
        <p:txBody>
          <a:bodyPr wrap="square">
            <a:spAutoFit/>
          </a:bodyPr>
          <a:lstStyle/>
          <a:p>
            <a:pPr algn="l">
              <a:defRPr sz="1500" b="1">
                <a:solidFill>
                  <a:srgbClr val="0B3D91"/>
                </a:solidFill>
                <a:latin typeface="Calibri"/>
              </a:defRPr>
            </a:pPr>
            <a:r>
              <a:t>System Admin</a:t>
            </a:r>
          </a:p>
        </p:txBody>
      </p:sp>
      <p:sp>
        <p:nvSpPr>
          <p:cNvPr id="44" name="TextBox 43"/>
          <p:cNvSpPr txBox="1"/>
          <p:nvPr/>
        </p:nvSpPr>
        <p:spPr>
          <a:xfrm>
            <a:off x="6675120" y="4617720"/>
            <a:ext cx="2743200" cy="164592"/>
          </a:xfrm>
          <a:prstGeom prst="rect">
            <a:avLst/>
          </a:prstGeom>
          <a:noFill/>
        </p:spPr>
        <p:txBody>
          <a:bodyPr wrap="square">
            <a:spAutoFit/>
          </a:bodyPr>
          <a:lstStyle/>
          <a:p>
            <a:pPr algn="l">
              <a:defRPr sz="900" b="0">
                <a:solidFill>
                  <a:srgbClr val="00B67A"/>
                </a:solidFill>
                <a:latin typeface="Calibri"/>
              </a:defRPr>
            </a:pPr>
            <a:r>
              <a:t>✓ All capabilities of every role above, PLUS:</a:t>
            </a:r>
          </a:p>
        </p:txBody>
      </p:sp>
      <p:sp>
        <p:nvSpPr>
          <p:cNvPr id="45" name="TextBox 44"/>
          <p:cNvSpPr txBox="1"/>
          <p:nvPr/>
        </p:nvSpPr>
        <p:spPr>
          <a:xfrm>
            <a:off x="6675120" y="4800600"/>
            <a:ext cx="2743200" cy="164592"/>
          </a:xfrm>
          <a:prstGeom prst="rect">
            <a:avLst/>
          </a:prstGeom>
          <a:noFill/>
        </p:spPr>
        <p:txBody>
          <a:bodyPr wrap="square">
            <a:spAutoFit/>
          </a:bodyPr>
          <a:lstStyle/>
          <a:p>
            <a:pPr algn="l">
              <a:defRPr sz="900" b="0">
                <a:solidFill>
                  <a:srgbClr val="00B67A"/>
                </a:solidFill>
                <a:latin typeface="Calibri"/>
              </a:defRPr>
            </a:pPr>
            <a:r>
              <a:t>✓ Create, edit, and deactivate user accounts</a:t>
            </a:r>
          </a:p>
        </p:txBody>
      </p:sp>
      <p:sp>
        <p:nvSpPr>
          <p:cNvPr id="46" name="TextBox 45"/>
          <p:cNvSpPr txBox="1"/>
          <p:nvPr/>
        </p:nvSpPr>
        <p:spPr>
          <a:xfrm>
            <a:off x="6675120" y="4983480"/>
            <a:ext cx="2743200" cy="164592"/>
          </a:xfrm>
          <a:prstGeom prst="rect">
            <a:avLst/>
          </a:prstGeom>
          <a:noFill/>
        </p:spPr>
        <p:txBody>
          <a:bodyPr wrap="square">
            <a:spAutoFit/>
          </a:bodyPr>
          <a:lstStyle/>
          <a:p>
            <a:pPr algn="l">
              <a:defRPr sz="900" b="0">
                <a:solidFill>
                  <a:srgbClr val="00B67A"/>
                </a:solidFill>
                <a:latin typeface="Calibri"/>
              </a:defRPr>
            </a:pPr>
            <a:r>
              <a:t>✓ Assign and modify staff roles</a:t>
            </a:r>
          </a:p>
        </p:txBody>
      </p:sp>
      <p:sp>
        <p:nvSpPr>
          <p:cNvPr id="47" name="TextBox 46"/>
          <p:cNvSpPr txBox="1"/>
          <p:nvPr/>
        </p:nvSpPr>
        <p:spPr>
          <a:xfrm>
            <a:off x="6675120" y="5166360"/>
            <a:ext cx="2743200" cy="164592"/>
          </a:xfrm>
          <a:prstGeom prst="rect">
            <a:avLst/>
          </a:prstGeom>
          <a:noFill/>
        </p:spPr>
        <p:txBody>
          <a:bodyPr wrap="square">
            <a:spAutoFit/>
          </a:bodyPr>
          <a:lstStyle/>
          <a:p>
            <a:pPr algn="l">
              <a:defRPr sz="900" b="0">
                <a:solidFill>
                  <a:srgbClr val="00B67A"/>
                </a:solidFill>
                <a:latin typeface="Calibri"/>
              </a:defRPr>
            </a:pPr>
            <a:r>
              <a:t>✓ Configure provider types and document requirements</a:t>
            </a:r>
          </a:p>
        </p:txBody>
      </p:sp>
      <p:sp>
        <p:nvSpPr>
          <p:cNvPr id="48" name="TextBox 47"/>
          <p:cNvSpPr txBox="1"/>
          <p:nvPr/>
        </p:nvSpPr>
        <p:spPr>
          <a:xfrm>
            <a:off x="6675120" y="5349240"/>
            <a:ext cx="2743200" cy="164592"/>
          </a:xfrm>
          <a:prstGeom prst="rect">
            <a:avLst/>
          </a:prstGeom>
          <a:noFill/>
        </p:spPr>
        <p:txBody>
          <a:bodyPr wrap="square">
            <a:spAutoFit/>
          </a:bodyPr>
          <a:lstStyle/>
          <a:p>
            <a:pPr algn="l">
              <a:defRPr sz="900" b="0">
                <a:solidFill>
                  <a:srgbClr val="00B67A"/>
                </a:solidFill>
                <a:latin typeface="Calibri"/>
              </a:defRPr>
            </a:pPr>
            <a:r>
              <a:t>✓ Manage notification templates and thresholds</a:t>
            </a:r>
          </a:p>
        </p:txBody>
      </p:sp>
      <p:sp>
        <p:nvSpPr>
          <p:cNvPr id="49" name="TextBox 48"/>
          <p:cNvSpPr txBox="1"/>
          <p:nvPr/>
        </p:nvSpPr>
        <p:spPr>
          <a:xfrm>
            <a:off x="6675120" y="5532120"/>
            <a:ext cx="2743200" cy="164592"/>
          </a:xfrm>
          <a:prstGeom prst="rect">
            <a:avLst/>
          </a:prstGeom>
          <a:noFill/>
        </p:spPr>
        <p:txBody>
          <a:bodyPr wrap="square">
            <a:spAutoFit/>
          </a:bodyPr>
          <a:lstStyle/>
          <a:p>
            <a:pPr algn="l">
              <a:defRPr sz="900" b="0">
                <a:solidFill>
                  <a:srgbClr val="00B67A"/>
                </a:solidFill>
                <a:latin typeface="Calibri"/>
              </a:defRPr>
            </a:pPr>
            <a:r>
              <a:t>✓ View integration health dashboard</a:t>
            </a:r>
          </a:p>
        </p:txBody>
      </p:sp>
      <p:sp>
        <p:nvSpPr>
          <p:cNvPr id="50" name="TextBox 49"/>
          <p:cNvSpPr txBox="1"/>
          <p:nvPr/>
        </p:nvSpPr>
        <p:spPr>
          <a:xfrm>
            <a:off x="9418320" y="4617720"/>
            <a:ext cx="2194560" cy="164592"/>
          </a:xfrm>
          <a:prstGeom prst="rect">
            <a:avLst/>
          </a:prstGeom>
          <a:noFill/>
        </p:spPr>
        <p:txBody>
          <a:bodyPr wrap="square">
            <a:spAutoFit/>
          </a:bodyPr>
          <a:lstStyle/>
          <a:p>
            <a:pPr algn="l">
              <a:defRPr sz="900" b="0">
                <a:solidFill>
                  <a:srgbClr val="E63946"/>
                </a:solidFill>
                <a:latin typeface="Calibri"/>
              </a:defRPr>
            </a:pPr>
            <a:r>
              <a:t>✗ Approve providers (not a credentialing role)</a:t>
            </a:r>
          </a:p>
        </p:txBody>
      </p:sp>
      <p:sp>
        <p:nvSpPr>
          <p:cNvPr id="51" name="TextBox 50"/>
          <p:cNvSpPr txBox="1"/>
          <p:nvPr/>
        </p:nvSpPr>
        <p:spPr>
          <a:xfrm>
            <a:off x="9418320" y="4800600"/>
            <a:ext cx="2194560" cy="164592"/>
          </a:xfrm>
          <a:prstGeom prst="rect">
            <a:avLst/>
          </a:prstGeom>
          <a:noFill/>
        </p:spPr>
        <p:txBody>
          <a:bodyPr wrap="square">
            <a:spAutoFit/>
          </a:bodyPr>
          <a:lstStyle/>
          <a:p>
            <a:pPr algn="l">
              <a:defRPr sz="900" b="0">
                <a:solidFill>
                  <a:srgbClr val="E63946"/>
                </a:solidFill>
                <a:latin typeface="Calibri"/>
              </a:defRPr>
            </a:pPr>
            <a:r>
              <a:t>✗ View PHI beyond what admin functions require</a:t>
            </a:r>
          </a:p>
        </p:txBody>
      </p:sp>
      <p:sp>
        <p:nvSpPr>
          <p:cNvPr id="52" name="TextBox 51"/>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THE DASHBOARD</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Your Daily Command Center</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BBBBDD"/>
                </a:solidFill>
                <a:latin typeface="Calibri"/>
              </a:defRPr>
            </a:pPr>
            <a:r>
              <a:t>The Dashboard is the first screen you see after login. It surfaces everything that needs your attention.</a:t>
            </a:r>
          </a:p>
        </p:txBody>
      </p:sp>
      <p:sp>
        <p:nvSpPr>
          <p:cNvPr id="5" name="Rounded Rectangle 4"/>
          <p:cNvSpPr/>
          <p:nvPr/>
        </p:nvSpPr>
        <p:spPr>
          <a:xfrm>
            <a:off x="731520" y="1828800"/>
            <a:ext cx="34747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47472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93392"/>
            <a:ext cx="3017520" cy="274320"/>
          </a:xfrm>
          <a:prstGeom prst="rect">
            <a:avLst/>
          </a:prstGeom>
          <a:noFill/>
        </p:spPr>
        <p:txBody>
          <a:bodyPr wrap="square">
            <a:spAutoFit/>
          </a:bodyPr>
          <a:lstStyle/>
          <a:p>
            <a:pPr algn="l">
              <a:defRPr sz="1400" b="1">
                <a:solidFill>
                  <a:srgbClr val="FFFFFF"/>
                </a:solidFill>
                <a:latin typeface="Calibri"/>
              </a:defRPr>
            </a:pPr>
            <a:r>
              <a:t>Provider Pipeline</a:t>
            </a:r>
          </a:p>
        </p:txBody>
      </p:sp>
      <p:sp>
        <p:nvSpPr>
          <p:cNvPr id="8" name="TextBox 7"/>
          <p:cNvSpPr txBox="1"/>
          <p:nvPr/>
        </p:nvSpPr>
        <p:spPr>
          <a:xfrm>
            <a:off x="960120" y="2286000"/>
            <a:ext cx="3017520" cy="274320"/>
          </a:xfrm>
          <a:prstGeom prst="rect">
            <a:avLst/>
          </a:prstGeom>
          <a:noFill/>
        </p:spPr>
        <p:txBody>
          <a:bodyPr wrap="square">
            <a:spAutoFit/>
          </a:bodyPr>
          <a:lstStyle/>
          <a:p>
            <a:pPr algn="l">
              <a:defRPr sz="1000" b="1">
                <a:solidFill>
                  <a:srgbClr val="00A3E0"/>
                </a:solidFill>
                <a:latin typeface="Calibri"/>
              </a:defRPr>
            </a:pPr>
            <a:r>
              <a:t>Specialists, Managers</a:t>
            </a:r>
          </a:p>
        </p:txBody>
      </p:sp>
      <p:sp>
        <p:nvSpPr>
          <p:cNvPr id="9" name="TextBox 8"/>
          <p:cNvSpPr txBox="1"/>
          <p:nvPr/>
        </p:nvSpPr>
        <p:spPr>
          <a:xfrm>
            <a:off x="960120" y="2560320"/>
            <a:ext cx="3017520" cy="1097280"/>
          </a:xfrm>
          <a:prstGeom prst="rect">
            <a:avLst/>
          </a:prstGeom>
          <a:noFill/>
        </p:spPr>
        <p:txBody>
          <a:bodyPr wrap="square">
            <a:spAutoFit/>
          </a:bodyPr>
          <a:lstStyle/>
          <a:p>
            <a:pPr algn="l">
              <a:defRPr sz="1100" b="0">
                <a:solidFill>
                  <a:srgbClr val="BBBBDD"/>
                </a:solidFill>
                <a:latin typeface="Calibri"/>
              </a:defRPr>
            </a:pPr>
            <a:r>
              <a:t>Shows the count of providers at each stage of the credentialing process. Think of it as a funnel — providers flow from Invited at the top to Approved at the bottom. If too many are stuck at one stage, you know where the bottleneck is.</a:t>
            </a:r>
          </a:p>
        </p:txBody>
      </p:sp>
      <p:sp>
        <p:nvSpPr>
          <p:cNvPr id="10" name="Rounded Rectangle 9"/>
          <p:cNvSpPr/>
          <p:nvPr/>
        </p:nvSpPr>
        <p:spPr>
          <a:xfrm>
            <a:off x="4480559" y="1828800"/>
            <a:ext cx="34747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59" y="1828800"/>
            <a:ext cx="347472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59" y="1993392"/>
            <a:ext cx="3017520" cy="274320"/>
          </a:xfrm>
          <a:prstGeom prst="rect">
            <a:avLst/>
          </a:prstGeom>
          <a:noFill/>
        </p:spPr>
        <p:txBody>
          <a:bodyPr wrap="square">
            <a:spAutoFit/>
          </a:bodyPr>
          <a:lstStyle/>
          <a:p>
            <a:pPr algn="l">
              <a:defRPr sz="1400" b="1">
                <a:solidFill>
                  <a:srgbClr val="FFFFFF"/>
                </a:solidFill>
                <a:latin typeface="Calibri"/>
              </a:defRPr>
            </a:pPr>
            <a:r>
              <a:t>My Tasks</a:t>
            </a:r>
          </a:p>
        </p:txBody>
      </p:sp>
      <p:sp>
        <p:nvSpPr>
          <p:cNvPr id="13" name="TextBox 12"/>
          <p:cNvSpPr txBox="1"/>
          <p:nvPr/>
        </p:nvSpPr>
        <p:spPr>
          <a:xfrm>
            <a:off x="4709159" y="2286000"/>
            <a:ext cx="3017520" cy="274320"/>
          </a:xfrm>
          <a:prstGeom prst="rect">
            <a:avLst/>
          </a:prstGeom>
          <a:noFill/>
        </p:spPr>
        <p:txBody>
          <a:bodyPr wrap="square">
            <a:spAutoFit/>
          </a:bodyPr>
          <a:lstStyle/>
          <a:p>
            <a:pPr algn="l">
              <a:defRPr sz="1000" b="1">
                <a:solidFill>
                  <a:srgbClr val="00B67A"/>
                </a:solidFill>
                <a:latin typeface="Calibri"/>
              </a:defRPr>
            </a:pPr>
            <a:r>
              <a:t>Specialists, Managers</a:t>
            </a:r>
          </a:p>
        </p:txBody>
      </p:sp>
      <p:sp>
        <p:nvSpPr>
          <p:cNvPr id="14" name="TextBox 13"/>
          <p:cNvSpPr txBox="1"/>
          <p:nvPr/>
        </p:nvSpPr>
        <p:spPr>
          <a:xfrm>
            <a:off x="4709159" y="2560320"/>
            <a:ext cx="3017520" cy="1097280"/>
          </a:xfrm>
          <a:prstGeom prst="rect">
            <a:avLst/>
          </a:prstGeom>
          <a:noFill/>
        </p:spPr>
        <p:txBody>
          <a:bodyPr wrap="square">
            <a:spAutoFit/>
          </a:bodyPr>
          <a:lstStyle/>
          <a:p>
            <a:pPr algn="l">
              <a:defRPr sz="1100" b="0">
                <a:solidFill>
                  <a:srgbClr val="BBBBDD"/>
                </a:solidFill>
                <a:latin typeface="Calibri"/>
              </a:defRPr>
            </a:pPr>
            <a:r>
              <a:t>Your personal to-do list. Every task assigned to you appears here, sorted by due date. Overdue tasks appear in red at the top. This should be your first stop each morning.</a:t>
            </a:r>
          </a:p>
        </p:txBody>
      </p:sp>
      <p:sp>
        <p:nvSpPr>
          <p:cNvPr id="15" name="Rounded Rectangle 14"/>
          <p:cNvSpPr/>
          <p:nvPr/>
        </p:nvSpPr>
        <p:spPr>
          <a:xfrm>
            <a:off x="8229600" y="1828800"/>
            <a:ext cx="34747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828800"/>
            <a:ext cx="347472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1993392"/>
            <a:ext cx="3017520" cy="274320"/>
          </a:xfrm>
          <a:prstGeom prst="rect">
            <a:avLst/>
          </a:prstGeom>
          <a:noFill/>
        </p:spPr>
        <p:txBody>
          <a:bodyPr wrap="square">
            <a:spAutoFit/>
          </a:bodyPr>
          <a:lstStyle/>
          <a:p>
            <a:pPr algn="l">
              <a:defRPr sz="1400" b="1">
                <a:solidFill>
                  <a:srgbClr val="FFFFFF"/>
                </a:solidFill>
                <a:latin typeface="Calibri"/>
              </a:defRPr>
            </a:pPr>
            <a:r>
              <a:t>Urgent Attention</a:t>
            </a:r>
          </a:p>
        </p:txBody>
      </p:sp>
      <p:sp>
        <p:nvSpPr>
          <p:cNvPr id="18" name="TextBox 17"/>
          <p:cNvSpPr txBox="1"/>
          <p:nvPr/>
        </p:nvSpPr>
        <p:spPr>
          <a:xfrm>
            <a:off x="8458200" y="2286000"/>
            <a:ext cx="3017520" cy="274320"/>
          </a:xfrm>
          <a:prstGeom prst="rect">
            <a:avLst/>
          </a:prstGeom>
          <a:noFill/>
        </p:spPr>
        <p:txBody>
          <a:bodyPr wrap="square">
            <a:spAutoFit/>
          </a:bodyPr>
          <a:lstStyle/>
          <a:p>
            <a:pPr algn="l">
              <a:defRPr sz="1000" b="1">
                <a:solidFill>
                  <a:srgbClr val="E63946"/>
                </a:solidFill>
                <a:latin typeface="Calibri"/>
              </a:defRPr>
            </a:pPr>
            <a:r>
              <a:t>Specialists, Managers</a:t>
            </a:r>
          </a:p>
        </p:txBody>
      </p:sp>
      <p:sp>
        <p:nvSpPr>
          <p:cNvPr id="19" name="TextBox 18"/>
          <p:cNvSpPr txBox="1"/>
          <p:nvPr/>
        </p:nvSpPr>
        <p:spPr>
          <a:xfrm>
            <a:off x="8458200" y="2560320"/>
            <a:ext cx="3017520" cy="1097280"/>
          </a:xfrm>
          <a:prstGeom prst="rect">
            <a:avLst/>
          </a:prstGeom>
          <a:noFill/>
        </p:spPr>
        <p:txBody>
          <a:bodyPr wrap="square">
            <a:spAutoFit/>
          </a:bodyPr>
          <a:lstStyle/>
          <a:p>
            <a:pPr algn="l">
              <a:defRPr sz="1100" b="0">
                <a:solidFill>
                  <a:srgbClr val="BBBBDD"/>
                </a:solidFill>
                <a:latin typeface="Calibri"/>
              </a:defRPr>
            </a:pPr>
            <a:r>
              <a:t>Critical items that need immediate action: credentials expiring within 30 days, overdue enrollment follow-ups, and flagged bot results. These are the items that could cause compliance issues if ignored.</a:t>
            </a:r>
          </a:p>
        </p:txBody>
      </p:sp>
      <p:sp>
        <p:nvSpPr>
          <p:cNvPr id="20" name="Rounded Rectangle 19"/>
          <p:cNvSpPr/>
          <p:nvPr/>
        </p:nvSpPr>
        <p:spPr>
          <a:xfrm>
            <a:off x="731520" y="4114800"/>
            <a:ext cx="53035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114800"/>
            <a:ext cx="5303520" cy="4572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279392"/>
            <a:ext cx="4846320" cy="274320"/>
          </a:xfrm>
          <a:prstGeom prst="rect">
            <a:avLst/>
          </a:prstGeom>
          <a:noFill/>
        </p:spPr>
        <p:txBody>
          <a:bodyPr wrap="square">
            <a:spAutoFit/>
          </a:bodyPr>
          <a:lstStyle/>
          <a:p>
            <a:pPr algn="l">
              <a:defRPr sz="1400" b="1">
                <a:solidFill>
                  <a:srgbClr val="FFFFFF"/>
                </a:solidFill>
                <a:latin typeface="Calibri"/>
              </a:defRPr>
            </a:pPr>
            <a:r>
              <a:t>Recent Activity</a:t>
            </a:r>
          </a:p>
        </p:txBody>
      </p:sp>
      <p:sp>
        <p:nvSpPr>
          <p:cNvPr id="23" name="TextBox 22"/>
          <p:cNvSpPr txBox="1"/>
          <p:nvPr/>
        </p:nvSpPr>
        <p:spPr>
          <a:xfrm>
            <a:off x="960120" y="4572000"/>
            <a:ext cx="4846320" cy="274320"/>
          </a:xfrm>
          <a:prstGeom prst="rect">
            <a:avLst/>
          </a:prstGeom>
          <a:noFill/>
        </p:spPr>
        <p:txBody>
          <a:bodyPr wrap="square">
            <a:spAutoFit/>
          </a:bodyPr>
          <a:lstStyle/>
          <a:p>
            <a:pPr algn="l">
              <a:defRPr sz="1000" b="1">
                <a:solidFill>
                  <a:srgbClr val="F4A261"/>
                </a:solidFill>
                <a:latin typeface="Calibri"/>
              </a:defRPr>
            </a:pPr>
            <a:r>
              <a:t>Specialists, Managers</a:t>
            </a:r>
          </a:p>
        </p:txBody>
      </p:sp>
      <p:sp>
        <p:nvSpPr>
          <p:cNvPr id="24" name="TextBox 23"/>
          <p:cNvSpPr txBox="1"/>
          <p:nvPr/>
        </p:nvSpPr>
        <p:spPr>
          <a:xfrm>
            <a:off x="960120" y="4846320"/>
            <a:ext cx="4846320" cy="1097280"/>
          </a:xfrm>
          <a:prstGeom prst="rect">
            <a:avLst/>
          </a:prstGeom>
          <a:noFill/>
        </p:spPr>
        <p:txBody>
          <a:bodyPr wrap="square">
            <a:spAutoFit/>
          </a:bodyPr>
          <a:lstStyle/>
          <a:p>
            <a:pPr algn="l">
              <a:defRPr sz="1100" b="0">
                <a:solidFill>
                  <a:srgbClr val="BBBBDD"/>
                </a:solidFill>
                <a:latin typeface="Calibri"/>
              </a:defRPr>
            </a:pPr>
            <a:r>
              <a:t>A live feed of the last 10 actions taken across the system. Useful for team awareness — you can see what your colleagues are working on without asking.</a:t>
            </a:r>
          </a:p>
        </p:txBody>
      </p:sp>
      <p:sp>
        <p:nvSpPr>
          <p:cNvPr id="25" name="Rounded Rectangle 24"/>
          <p:cNvSpPr/>
          <p:nvPr/>
        </p:nvSpPr>
        <p:spPr>
          <a:xfrm>
            <a:off x="6400800" y="4114800"/>
            <a:ext cx="5303520" cy="20116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4114800"/>
            <a:ext cx="5303520" cy="4572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4279392"/>
            <a:ext cx="4846320" cy="274320"/>
          </a:xfrm>
          <a:prstGeom prst="rect">
            <a:avLst/>
          </a:prstGeom>
          <a:noFill/>
        </p:spPr>
        <p:txBody>
          <a:bodyPr wrap="square">
            <a:spAutoFit/>
          </a:bodyPr>
          <a:lstStyle/>
          <a:p>
            <a:pPr algn="l">
              <a:defRPr sz="1400" b="1">
                <a:solidFill>
                  <a:srgbClr val="FFFFFF"/>
                </a:solidFill>
                <a:latin typeface="Calibri"/>
              </a:defRPr>
            </a:pPr>
            <a:r>
              <a:t>Committee Queue</a:t>
            </a:r>
          </a:p>
        </p:txBody>
      </p:sp>
      <p:sp>
        <p:nvSpPr>
          <p:cNvPr id="28" name="TextBox 27"/>
          <p:cNvSpPr txBox="1"/>
          <p:nvPr/>
        </p:nvSpPr>
        <p:spPr>
          <a:xfrm>
            <a:off x="6629400" y="4572000"/>
            <a:ext cx="4846320" cy="274320"/>
          </a:xfrm>
          <a:prstGeom prst="rect">
            <a:avLst/>
          </a:prstGeom>
          <a:noFill/>
        </p:spPr>
        <p:txBody>
          <a:bodyPr wrap="square">
            <a:spAutoFit/>
          </a:bodyPr>
          <a:lstStyle/>
          <a:p>
            <a:pPr algn="l">
              <a:defRPr sz="1000" b="1">
                <a:solidFill>
                  <a:srgbClr val="0B3D91"/>
                </a:solidFill>
                <a:latin typeface="Calibri"/>
              </a:defRPr>
            </a:pPr>
            <a:r>
              <a:t>Managers only</a:t>
            </a:r>
          </a:p>
        </p:txBody>
      </p:sp>
      <p:sp>
        <p:nvSpPr>
          <p:cNvPr id="29" name="TextBox 28"/>
          <p:cNvSpPr txBox="1"/>
          <p:nvPr/>
        </p:nvSpPr>
        <p:spPr>
          <a:xfrm>
            <a:off x="6629400" y="4846320"/>
            <a:ext cx="4846320" cy="1097280"/>
          </a:xfrm>
          <a:prstGeom prst="rect">
            <a:avLst/>
          </a:prstGeom>
          <a:noFill/>
        </p:spPr>
        <p:txBody>
          <a:bodyPr wrap="square">
            <a:spAutoFit/>
          </a:bodyPr>
          <a:lstStyle/>
          <a:p>
            <a:pPr algn="l">
              <a:defRPr sz="1100" b="0">
                <a:solidFill>
                  <a:srgbClr val="BBBBDD"/>
                </a:solidFill>
                <a:latin typeface="Calibri"/>
              </a:defRPr>
            </a:pPr>
            <a:r>
              <a:t>Shows how many providers are waiting for committee review. Only visible to Managers. Helps Managers plan when to schedule the next committee session.</a:t>
            </a:r>
          </a:p>
        </p:txBody>
      </p:sp>
      <p:sp>
        <p:nvSpPr>
          <p:cNvPr id="30" name="TextBox 29"/>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NAVIGATION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Finding Your Way Around</a:t>
            </a:r>
          </a:p>
        </p:txBody>
      </p:sp>
      <p:sp>
        <p:nvSpPr>
          <p:cNvPr id="4" name="Rounded Rectangle 3"/>
          <p:cNvSpPr/>
          <p:nvPr/>
        </p:nvSpPr>
        <p:spPr>
          <a:xfrm>
            <a:off x="731520" y="1463040"/>
            <a:ext cx="3657600" cy="475488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3200400" cy="274320"/>
          </a:xfrm>
          <a:prstGeom prst="rect">
            <a:avLst/>
          </a:prstGeom>
          <a:noFill/>
        </p:spPr>
        <p:txBody>
          <a:bodyPr wrap="square">
            <a:spAutoFit/>
          </a:bodyPr>
          <a:lstStyle/>
          <a:p>
            <a:pPr algn="l">
              <a:defRPr sz="1600" b="1">
                <a:solidFill>
                  <a:srgbClr val="0B3D91"/>
                </a:solidFill>
                <a:latin typeface="Calibri"/>
              </a:defRPr>
            </a:pPr>
            <a:r>
              <a:t>Sidebar Navigation</a:t>
            </a:r>
          </a:p>
        </p:txBody>
      </p:sp>
      <p:sp>
        <p:nvSpPr>
          <p:cNvPr id="6" name="TextBox 5"/>
          <p:cNvSpPr txBox="1"/>
          <p:nvPr/>
        </p:nvSpPr>
        <p:spPr>
          <a:xfrm>
            <a:off x="1005840" y="1965960"/>
            <a:ext cx="1371600" cy="228600"/>
          </a:xfrm>
          <a:prstGeom prst="rect">
            <a:avLst/>
          </a:prstGeom>
          <a:noFill/>
        </p:spPr>
        <p:txBody>
          <a:bodyPr wrap="square">
            <a:spAutoFit/>
          </a:bodyPr>
          <a:lstStyle/>
          <a:p>
            <a:pPr algn="l">
              <a:defRPr sz="1300" b="1">
                <a:solidFill>
                  <a:srgbClr val="00A3E0"/>
                </a:solidFill>
                <a:latin typeface="Calibri"/>
              </a:defRPr>
            </a:pPr>
            <a:r>
              <a:t>Dashboard</a:t>
            </a:r>
          </a:p>
        </p:txBody>
      </p:sp>
      <p:sp>
        <p:nvSpPr>
          <p:cNvPr id="7" name="TextBox 6"/>
          <p:cNvSpPr txBox="1"/>
          <p:nvPr/>
        </p:nvSpPr>
        <p:spPr>
          <a:xfrm>
            <a:off x="2377440" y="1965960"/>
            <a:ext cx="1828800" cy="228600"/>
          </a:xfrm>
          <a:prstGeom prst="rect">
            <a:avLst/>
          </a:prstGeom>
          <a:noFill/>
        </p:spPr>
        <p:txBody>
          <a:bodyPr wrap="square">
            <a:spAutoFit/>
          </a:bodyPr>
          <a:lstStyle/>
          <a:p>
            <a:pPr algn="l">
              <a:defRPr sz="1000" b="0">
                <a:solidFill>
                  <a:srgbClr val="555577"/>
                </a:solidFill>
                <a:latin typeface="Calibri"/>
              </a:defRPr>
            </a:pPr>
            <a:r>
              <a:t>Home screen with summary metrics</a:t>
            </a:r>
          </a:p>
        </p:txBody>
      </p:sp>
      <p:sp>
        <p:nvSpPr>
          <p:cNvPr id="8" name="TextBox 7"/>
          <p:cNvSpPr txBox="1"/>
          <p:nvPr/>
        </p:nvSpPr>
        <p:spPr>
          <a:xfrm>
            <a:off x="1005840" y="2468880"/>
            <a:ext cx="1371600" cy="228600"/>
          </a:xfrm>
          <a:prstGeom prst="rect">
            <a:avLst/>
          </a:prstGeom>
          <a:noFill/>
        </p:spPr>
        <p:txBody>
          <a:bodyPr wrap="square">
            <a:spAutoFit/>
          </a:bodyPr>
          <a:lstStyle/>
          <a:p>
            <a:pPr algn="l">
              <a:defRPr sz="1300" b="1">
                <a:solidFill>
                  <a:srgbClr val="00A3E0"/>
                </a:solidFill>
                <a:latin typeface="Calibri"/>
              </a:defRPr>
            </a:pPr>
            <a:r>
              <a:t>Providers</a:t>
            </a:r>
          </a:p>
        </p:txBody>
      </p:sp>
      <p:sp>
        <p:nvSpPr>
          <p:cNvPr id="9" name="TextBox 8"/>
          <p:cNvSpPr txBox="1"/>
          <p:nvPr/>
        </p:nvSpPr>
        <p:spPr>
          <a:xfrm>
            <a:off x="2377440" y="2468880"/>
            <a:ext cx="1828800" cy="228600"/>
          </a:xfrm>
          <a:prstGeom prst="rect">
            <a:avLst/>
          </a:prstGeom>
          <a:noFill/>
        </p:spPr>
        <p:txBody>
          <a:bodyPr wrap="square">
            <a:spAutoFit/>
          </a:bodyPr>
          <a:lstStyle/>
          <a:p>
            <a:pPr algn="l">
              <a:defRPr sz="1000" b="0">
                <a:solidFill>
                  <a:srgbClr val="555577"/>
                </a:solidFill>
                <a:latin typeface="Calibri"/>
              </a:defRPr>
            </a:pPr>
            <a:r>
              <a:t>List of all providers, search, filter</a:t>
            </a:r>
          </a:p>
        </p:txBody>
      </p:sp>
      <p:sp>
        <p:nvSpPr>
          <p:cNvPr id="10" name="TextBox 9"/>
          <p:cNvSpPr txBox="1"/>
          <p:nvPr/>
        </p:nvSpPr>
        <p:spPr>
          <a:xfrm>
            <a:off x="1005840" y="2971800"/>
            <a:ext cx="1371600" cy="228600"/>
          </a:xfrm>
          <a:prstGeom prst="rect">
            <a:avLst/>
          </a:prstGeom>
          <a:noFill/>
        </p:spPr>
        <p:txBody>
          <a:bodyPr wrap="square">
            <a:spAutoFit/>
          </a:bodyPr>
          <a:lstStyle/>
          <a:p>
            <a:pPr algn="l">
              <a:defRPr sz="1300" b="1">
                <a:solidFill>
                  <a:srgbClr val="00A3E0"/>
                </a:solidFill>
                <a:latin typeface="Calibri"/>
              </a:defRPr>
            </a:pPr>
            <a:r>
              <a:t>Enrollments</a:t>
            </a:r>
          </a:p>
        </p:txBody>
      </p:sp>
      <p:sp>
        <p:nvSpPr>
          <p:cNvPr id="11" name="TextBox 10"/>
          <p:cNvSpPr txBox="1"/>
          <p:nvPr/>
        </p:nvSpPr>
        <p:spPr>
          <a:xfrm>
            <a:off x="2377440" y="2971800"/>
            <a:ext cx="1828800" cy="228600"/>
          </a:xfrm>
          <a:prstGeom prst="rect">
            <a:avLst/>
          </a:prstGeom>
          <a:noFill/>
        </p:spPr>
        <p:txBody>
          <a:bodyPr wrap="square">
            <a:spAutoFit/>
          </a:bodyPr>
          <a:lstStyle/>
          <a:p>
            <a:pPr algn="l">
              <a:defRPr sz="1000" b="0">
                <a:solidFill>
                  <a:srgbClr val="555577"/>
                </a:solidFill>
                <a:latin typeface="Calibri"/>
              </a:defRPr>
            </a:pPr>
            <a:r>
              <a:t>All enrollment records across all providers</a:t>
            </a:r>
          </a:p>
        </p:txBody>
      </p:sp>
      <p:sp>
        <p:nvSpPr>
          <p:cNvPr id="12" name="TextBox 11"/>
          <p:cNvSpPr txBox="1"/>
          <p:nvPr/>
        </p:nvSpPr>
        <p:spPr>
          <a:xfrm>
            <a:off x="1005840" y="3474720"/>
            <a:ext cx="1371600" cy="228600"/>
          </a:xfrm>
          <a:prstGeom prst="rect">
            <a:avLst/>
          </a:prstGeom>
          <a:noFill/>
        </p:spPr>
        <p:txBody>
          <a:bodyPr wrap="square">
            <a:spAutoFit/>
          </a:bodyPr>
          <a:lstStyle/>
          <a:p>
            <a:pPr algn="l">
              <a:defRPr sz="1300" b="1">
                <a:solidFill>
                  <a:srgbClr val="00A3E0"/>
                </a:solidFill>
                <a:latin typeface="Calibri"/>
              </a:defRPr>
            </a:pPr>
            <a:r>
              <a:t>Expirables</a:t>
            </a:r>
          </a:p>
        </p:txBody>
      </p:sp>
      <p:sp>
        <p:nvSpPr>
          <p:cNvPr id="13" name="TextBox 12"/>
          <p:cNvSpPr txBox="1"/>
          <p:nvPr/>
        </p:nvSpPr>
        <p:spPr>
          <a:xfrm>
            <a:off x="2377440" y="3474720"/>
            <a:ext cx="1828800" cy="228600"/>
          </a:xfrm>
          <a:prstGeom prst="rect">
            <a:avLst/>
          </a:prstGeom>
          <a:noFill/>
        </p:spPr>
        <p:txBody>
          <a:bodyPr wrap="square">
            <a:spAutoFit/>
          </a:bodyPr>
          <a:lstStyle/>
          <a:p>
            <a:pPr algn="l">
              <a:defRPr sz="1000" b="0">
                <a:solidFill>
                  <a:srgbClr val="555577"/>
                </a:solidFill>
                <a:latin typeface="Calibri"/>
              </a:defRPr>
            </a:pPr>
            <a:r>
              <a:t>All expiring credentials, sorted by urgency</a:t>
            </a:r>
          </a:p>
        </p:txBody>
      </p:sp>
      <p:sp>
        <p:nvSpPr>
          <p:cNvPr id="14" name="TextBox 13"/>
          <p:cNvSpPr txBox="1"/>
          <p:nvPr/>
        </p:nvSpPr>
        <p:spPr>
          <a:xfrm>
            <a:off x="1005840" y="3977639"/>
            <a:ext cx="1371600" cy="228600"/>
          </a:xfrm>
          <a:prstGeom prst="rect">
            <a:avLst/>
          </a:prstGeom>
          <a:noFill/>
        </p:spPr>
        <p:txBody>
          <a:bodyPr wrap="square">
            <a:spAutoFit/>
          </a:bodyPr>
          <a:lstStyle/>
          <a:p>
            <a:pPr algn="l">
              <a:defRPr sz="1300" b="1">
                <a:solidFill>
                  <a:srgbClr val="00A3E0"/>
                </a:solidFill>
                <a:latin typeface="Calibri"/>
              </a:defRPr>
            </a:pPr>
            <a:r>
              <a:t>Committee</a:t>
            </a:r>
          </a:p>
        </p:txBody>
      </p:sp>
      <p:sp>
        <p:nvSpPr>
          <p:cNvPr id="15" name="TextBox 14"/>
          <p:cNvSpPr txBox="1"/>
          <p:nvPr/>
        </p:nvSpPr>
        <p:spPr>
          <a:xfrm>
            <a:off x="2377440" y="3977639"/>
            <a:ext cx="1828800" cy="228600"/>
          </a:xfrm>
          <a:prstGeom prst="rect">
            <a:avLst/>
          </a:prstGeom>
          <a:noFill/>
        </p:spPr>
        <p:txBody>
          <a:bodyPr wrap="square">
            <a:spAutoFit/>
          </a:bodyPr>
          <a:lstStyle/>
          <a:p>
            <a:pPr algn="l">
              <a:defRPr sz="1000" b="0">
                <a:solidFill>
                  <a:srgbClr val="555577"/>
                </a:solidFill>
                <a:latin typeface="Calibri"/>
              </a:defRPr>
            </a:pPr>
            <a:r>
              <a:t>Committee queue and session management</a:t>
            </a:r>
          </a:p>
        </p:txBody>
      </p:sp>
      <p:sp>
        <p:nvSpPr>
          <p:cNvPr id="16" name="TextBox 15"/>
          <p:cNvSpPr txBox="1"/>
          <p:nvPr/>
        </p:nvSpPr>
        <p:spPr>
          <a:xfrm>
            <a:off x="1005840" y="4480560"/>
            <a:ext cx="1371600" cy="228600"/>
          </a:xfrm>
          <a:prstGeom prst="rect">
            <a:avLst/>
          </a:prstGeom>
          <a:noFill/>
        </p:spPr>
        <p:txBody>
          <a:bodyPr wrap="square">
            <a:spAutoFit/>
          </a:bodyPr>
          <a:lstStyle/>
          <a:p>
            <a:pPr algn="l">
              <a:defRPr sz="1300" b="1">
                <a:solidFill>
                  <a:srgbClr val="00A3E0"/>
                </a:solidFill>
                <a:latin typeface="Calibri"/>
              </a:defRPr>
            </a:pPr>
            <a:r>
              <a:t>Medicaid</a:t>
            </a:r>
          </a:p>
        </p:txBody>
      </p:sp>
      <p:sp>
        <p:nvSpPr>
          <p:cNvPr id="17" name="TextBox 16"/>
          <p:cNvSpPr txBox="1"/>
          <p:nvPr/>
        </p:nvSpPr>
        <p:spPr>
          <a:xfrm>
            <a:off x="2377440" y="4480560"/>
            <a:ext cx="1828800" cy="228600"/>
          </a:xfrm>
          <a:prstGeom prst="rect">
            <a:avLst/>
          </a:prstGeom>
          <a:noFill/>
        </p:spPr>
        <p:txBody>
          <a:bodyPr wrap="square">
            <a:spAutoFit/>
          </a:bodyPr>
          <a:lstStyle/>
          <a:p>
            <a:pPr algn="l">
              <a:defRPr sz="1000" b="0">
                <a:solidFill>
                  <a:srgbClr val="555577"/>
                </a:solidFill>
                <a:latin typeface="Calibri"/>
              </a:defRPr>
            </a:pPr>
            <a:r>
              <a:t>NY Medicaid enrollment and ETIN tracking</a:t>
            </a:r>
          </a:p>
        </p:txBody>
      </p:sp>
      <p:sp>
        <p:nvSpPr>
          <p:cNvPr id="18" name="TextBox 17"/>
          <p:cNvSpPr txBox="1"/>
          <p:nvPr/>
        </p:nvSpPr>
        <p:spPr>
          <a:xfrm>
            <a:off x="1005840" y="4983480"/>
            <a:ext cx="1371600" cy="228600"/>
          </a:xfrm>
          <a:prstGeom prst="rect">
            <a:avLst/>
          </a:prstGeom>
          <a:noFill/>
        </p:spPr>
        <p:txBody>
          <a:bodyPr wrap="square">
            <a:spAutoFit/>
          </a:bodyPr>
          <a:lstStyle/>
          <a:p>
            <a:pPr algn="l">
              <a:defRPr sz="1300" b="1">
                <a:solidFill>
                  <a:srgbClr val="F4A261"/>
                </a:solidFill>
                <a:latin typeface="Calibri"/>
              </a:defRPr>
            </a:pPr>
            <a:r>
              <a:t>Admin</a:t>
            </a:r>
          </a:p>
        </p:txBody>
      </p:sp>
      <p:sp>
        <p:nvSpPr>
          <p:cNvPr id="19" name="TextBox 18"/>
          <p:cNvSpPr txBox="1"/>
          <p:nvPr/>
        </p:nvSpPr>
        <p:spPr>
          <a:xfrm>
            <a:off x="2377440" y="4983480"/>
            <a:ext cx="1828800" cy="228600"/>
          </a:xfrm>
          <a:prstGeom prst="rect">
            <a:avLst/>
          </a:prstGeom>
          <a:noFill/>
        </p:spPr>
        <p:txBody>
          <a:bodyPr wrap="square">
            <a:spAutoFit/>
          </a:bodyPr>
          <a:lstStyle/>
          <a:p>
            <a:pPr algn="l">
              <a:defRPr sz="1000" b="0">
                <a:solidFill>
                  <a:srgbClr val="555577"/>
                </a:solidFill>
                <a:latin typeface="Calibri"/>
              </a:defRPr>
            </a:pPr>
            <a:r>
              <a:t>Users, provider types, settings, workflows</a:t>
            </a:r>
          </a:p>
        </p:txBody>
      </p:sp>
      <p:sp>
        <p:nvSpPr>
          <p:cNvPr id="20" name="TextBox 19"/>
          <p:cNvSpPr txBox="1"/>
          <p:nvPr/>
        </p:nvSpPr>
        <p:spPr>
          <a:xfrm>
            <a:off x="2377440" y="5184648"/>
            <a:ext cx="1828800" cy="182880"/>
          </a:xfrm>
          <a:prstGeom prst="rect">
            <a:avLst/>
          </a:prstGeom>
          <a:noFill/>
        </p:spPr>
        <p:txBody>
          <a:bodyPr wrap="square">
            <a:spAutoFit/>
          </a:bodyPr>
          <a:lstStyle/>
          <a:p>
            <a:pPr algn="l">
              <a:defRPr sz="900" b="1">
                <a:solidFill>
                  <a:srgbClr val="F4A261"/>
                </a:solidFill>
                <a:latin typeface="Calibri"/>
              </a:defRPr>
            </a:pPr>
            <a:r>
              <a:t>(Admin role only)</a:t>
            </a:r>
          </a:p>
        </p:txBody>
      </p:sp>
      <p:sp>
        <p:nvSpPr>
          <p:cNvPr id="21" name="Rounded Rectangle 20"/>
          <p:cNvSpPr/>
          <p:nvPr/>
        </p:nvSpPr>
        <p:spPr>
          <a:xfrm>
            <a:off x="4846320" y="1463040"/>
            <a:ext cx="6675120" cy="21945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600200"/>
            <a:ext cx="5943600" cy="274320"/>
          </a:xfrm>
          <a:prstGeom prst="rect">
            <a:avLst/>
          </a:prstGeom>
          <a:noFill/>
        </p:spPr>
        <p:txBody>
          <a:bodyPr wrap="square">
            <a:spAutoFit/>
          </a:bodyPr>
          <a:lstStyle/>
          <a:p>
            <a:pPr algn="l">
              <a:defRPr sz="1600" b="1">
                <a:solidFill>
                  <a:srgbClr val="0B3D91"/>
                </a:solidFill>
                <a:latin typeface="Calibri"/>
              </a:defRPr>
            </a:pPr>
            <a:r>
              <a:t>Page Structure Pattern</a:t>
            </a:r>
          </a:p>
        </p:txBody>
      </p:sp>
      <p:sp>
        <p:nvSpPr>
          <p:cNvPr id="23" name="TextBox 22"/>
          <p:cNvSpPr txBox="1"/>
          <p:nvPr/>
        </p:nvSpPr>
        <p:spPr>
          <a:xfrm>
            <a:off x="5120640" y="1920240"/>
            <a:ext cx="5943600" cy="1371600"/>
          </a:xfrm>
          <a:prstGeom prst="rect">
            <a:avLst/>
          </a:prstGeom>
          <a:noFill/>
        </p:spPr>
        <p:txBody>
          <a:bodyPr wrap="square">
            <a:spAutoFit/>
          </a:bodyPr>
          <a:lstStyle/>
          <a:p>
            <a:pPr algn="l">
              <a:defRPr sz="1200" b="0">
                <a:solidFill>
                  <a:srgbClr val="1A1A2E"/>
                </a:solidFill>
                <a:latin typeface="Calibri"/>
              </a:defRPr>
            </a:pPr>
            <a:r>
              <a:t>Every page in the platform follows the same structure:</a:t>
            </a:r>
            <a:br/>
            <a:br/>
            <a:r>
              <a:t>1. Header bar — shows your current location and action buttons (top right)</a:t>
            </a:r>
            <a:br/>
            <a:r>
              <a:t>2. Search / Filter bar — filter the list by status, type, name, NPI</a:t>
            </a:r>
            <a:br/>
            <a:r>
              <a:t>3. Content area — the main data table or detail view</a:t>
            </a:r>
            <a:br/>
            <a:r>
              <a:t>4. Sidebar — always visible for navigation between modules</a:t>
            </a:r>
            <a:br/>
            <a:br/>
            <a:r>
              <a:t>This consistency means once you learn one module, every other module feels familiar.</a:t>
            </a:r>
          </a:p>
        </p:txBody>
      </p:sp>
      <p:sp>
        <p:nvSpPr>
          <p:cNvPr id="24" name="Rounded Rectangle 23"/>
          <p:cNvSpPr/>
          <p:nvPr/>
        </p:nvSpPr>
        <p:spPr>
          <a:xfrm>
            <a:off x="4846320" y="3840480"/>
            <a:ext cx="66751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3977639"/>
            <a:ext cx="5943600" cy="274320"/>
          </a:xfrm>
          <a:prstGeom prst="rect">
            <a:avLst/>
          </a:prstGeom>
          <a:noFill/>
        </p:spPr>
        <p:txBody>
          <a:bodyPr wrap="square">
            <a:spAutoFit/>
          </a:bodyPr>
          <a:lstStyle/>
          <a:p>
            <a:pPr algn="l">
              <a:defRPr sz="1600" b="1">
                <a:solidFill>
                  <a:srgbClr val="0B3D91"/>
                </a:solidFill>
                <a:latin typeface="Calibri"/>
              </a:defRPr>
            </a:pPr>
            <a:r>
              <a:t>Provider Detail Page — 8 Tabs</a:t>
            </a:r>
          </a:p>
        </p:txBody>
      </p:sp>
      <p:sp>
        <p:nvSpPr>
          <p:cNvPr id="26" name="TextBox 25"/>
          <p:cNvSpPr txBox="1"/>
          <p:nvPr/>
        </p:nvSpPr>
        <p:spPr>
          <a:xfrm>
            <a:off x="5120640" y="4389120"/>
            <a:ext cx="1188720" cy="182880"/>
          </a:xfrm>
          <a:prstGeom prst="rect">
            <a:avLst/>
          </a:prstGeom>
          <a:noFill/>
        </p:spPr>
        <p:txBody>
          <a:bodyPr wrap="square">
            <a:spAutoFit/>
          </a:bodyPr>
          <a:lstStyle/>
          <a:p>
            <a:pPr algn="l">
              <a:defRPr sz="1100" b="1">
                <a:solidFill>
                  <a:srgbClr val="00A3E0"/>
                </a:solidFill>
                <a:latin typeface="Calibri"/>
              </a:defRPr>
            </a:pPr>
            <a:r>
              <a:t>Overview</a:t>
            </a:r>
          </a:p>
        </p:txBody>
      </p:sp>
      <p:sp>
        <p:nvSpPr>
          <p:cNvPr id="27" name="TextBox 26"/>
          <p:cNvSpPr txBox="1"/>
          <p:nvPr/>
        </p:nvSpPr>
        <p:spPr>
          <a:xfrm>
            <a:off x="6309359" y="4389120"/>
            <a:ext cx="2011680" cy="182880"/>
          </a:xfrm>
          <a:prstGeom prst="rect">
            <a:avLst/>
          </a:prstGeom>
          <a:noFill/>
        </p:spPr>
        <p:txBody>
          <a:bodyPr wrap="square">
            <a:spAutoFit/>
          </a:bodyPr>
          <a:lstStyle/>
          <a:p>
            <a:pPr algn="l">
              <a:defRPr sz="1000" b="0">
                <a:solidFill>
                  <a:srgbClr val="555577"/>
                </a:solidFill>
                <a:latin typeface="Calibri"/>
              </a:defRPr>
            </a:pPr>
            <a:r>
              <a:t>NPI, DEA, CAQH, timeline, status at a glance</a:t>
            </a:r>
          </a:p>
        </p:txBody>
      </p:sp>
      <p:sp>
        <p:nvSpPr>
          <p:cNvPr id="28" name="TextBox 27"/>
          <p:cNvSpPr txBox="1"/>
          <p:nvPr/>
        </p:nvSpPr>
        <p:spPr>
          <a:xfrm>
            <a:off x="8412480" y="4389120"/>
            <a:ext cx="1188720" cy="182880"/>
          </a:xfrm>
          <a:prstGeom prst="rect">
            <a:avLst/>
          </a:prstGeom>
          <a:noFill/>
        </p:spPr>
        <p:txBody>
          <a:bodyPr wrap="square">
            <a:spAutoFit/>
          </a:bodyPr>
          <a:lstStyle/>
          <a:p>
            <a:pPr algn="l">
              <a:defRPr sz="1100" b="1">
                <a:solidFill>
                  <a:srgbClr val="00A3E0"/>
                </a:solidFill>
                <a:latin typeface="Calibri"/>
              </a:defRPr>
            </a:pPr>
            <a:r>
              <a:t>Documents</a:t>
            </a:r>
          </a:p>
        </p:txBody>
      </p:sp>
      <p:sp>
        <p:nvSpPr>
          <p:cNvPr id="29" name="TextBox 28"/>
          <p:cNvSpPr txBox="1"/>
          <p:nvPr/>
        </p:nvSpPr>
        <p:spPr>
          <a:xfrm>
            <a:off x="9601200" y="4389120"/>
            <a:ext cx="2011680" cy="182880"/>
          </a:xfrm>
          <a:prstGeom prst="rect">
            <a:avLst/>
          </a:prstGeom>
          <a:noFill/>
        </p:spPr>
        <p:txBody>
          <a:bodyPr wrap="square">
            <a:spAutoFit/>
          </a:bodyPr>
          <a:lstStyle/>
          <a:p>
            <a:pPr algn="l">
              <a:defRPr sz="1000" b="0">
                <a:solidFill>
                  <a:srgbClr val="555577"/>
                </a:solidFill>
                <a:latin typeface="Calibri"/>
              </a:defRPr>
            </a:pPr>
            <a:r>
              <a:t>Required docs checklist with upload status</a:t>
            </a:r>
          </a:p>
        </p:txBody>
      </p:sp>
      <p:sp>
        <p:nvSpPr>
          <p:cNvPr id="30" name="TextBox 29"/>
          <p:cNvSpPr txBox="1"/>
          <p:nvPr/>
        </p:nvSpPr>
        <p:spPr>
          <a:xfrm>
            <a:off x="5120640" y="4800600"/>
            <a:ext cx="1188720" cy="182880"/>
          </a:xfrm>
          <a:prstGeom prst="rect">
            <a:avLst/>
          </a:prstGeom>
          <a:noFill/>
        </p:spPr>
        <p:txBody>
          <a:bodyPr wrap="square">
            <a:spAutoFit/>
          </a:bodyPr>
          <a:lstStyle/>
          <a:p>
            <a:pPr algn="l">
              <a:defRPr sz="1100" b="1">
                <a:solidFill>
                  <a:srgbClr val="00A3E0"/>
                </a:solidFill>
                <a:latin typeface="Calibri"/>
              </a:defRPr>
            </a:pPr>
            <a:r>
              <a:t>Verifications</a:t>
            </a:r>
          </a:p>
        </p:txBody>
      </p:sp>
      <p:sp>
        <p:nvSpPr>
          <p:cNvPr id="31" name="TextBox 30"/>
          <p:cNvSpPr txBox="1"/>
          <p:nvPr/>
        </p:nvSpPr>
        <p:spPr>
          <a:xfrm>
            <a:off x="6309359" y="4800600"/>
            <a:ext cx="2011680" cy="182880"/>
          </a:xfrm>
          <a:prstGeom prst="rect">
            <a:avLst/>
          </a:prstGeom>
          <a:noFill/>
        </p:spPr>
        <p:txBody>
          <a:bodyPr wrap="square">
            <a:spAutoFit/>
          </a:bodyPr>
          <a:lstStyle/>
          <a:p>
            <a:pPr algn="l">
              <a:defRPr sz="1000" b="0">
                <a:solidFill>
                  <a:srgbClr val="555577"/>
                </a:solidFill>
                <a:latin typeface="Calibri"/>
              </a:defRPr>
            </a:pPr>
            <a:r>
              <a:t>PSV bot results with dates and PDFs</a:t>
            </a:r>
          </a:p>
        </p:txBody>
      </p:sp>
      <p:sp>
        <p:nvSpPr>
          <p:cNvPr id="32" name="TextBox 31"/>
          <p:cNvSpPr txBox="1"/>
          <p:nvPr/>
        </p:nvSpPr>
        <p:spPr>
          <a:xfrm>
            <a:off x="8412480" y="4800600"/>
            <a:ext cx="1188720" cy="182880"/>
          </a:xfrm>
          <a:prstGeom prst="rect">
            <a:avLst/>
          </a:prstGeom>
          <a:noFill/>
        </p:spPr>
        <p:txBody>
          <a:bodyPr wrap="square">
            <a:spAutoFit/>
          </a:bodyPr>
          <a:lstStyle/>
          <a:p>
            <a:pPr algn="l">
              <a:defRPr sz="1100" b="1">
                <a:solidFill>
                  <a:srgbClr val="00A3E0"/>
                </a:solidFill>
                <a:latin typeface="Calibri"/>
              </a:defRPr>
            </a:pPr>
            <a:r>
              <a:t>Tasks</a:t>
            </a:r>
          </a:p>
        </p:txBody>
      </p:sp>
      <p:sp>
        <p:nvSpPr>
          <p:cNvPr id="33" name="TextBox 32"/>
          <p:cNvSpPr txBox="1"/>
          <p:nvPr/>
        </p:nvSpPr>
        <p:spPr>
          <a:xfrm>
            <a:off x="9601200" y="4800600"/>
            <a:ext cx="2011680" cy="182880"/>
          </a:xfrm>
          <a:prstGeom prst="rect">
            <a:avLst/>
          </a:prstGeom>
          <a:noFill/>
        </p:spPr>
        <p:txBody>
          <a:bodyPr wrap="square">
            <a:spAutoFit/>
          </a:bodyPr>
          <a:lstStyle/>
          <a:p>
            <a:pPr algn="l">
              <a:defRPr sz="1000" b="0">
                <a:solidFill>
                  <a:srgbClr val="555577"/>
                </a:solidFill>
                <a:latin typeface="Calibri"/>
              </a:defRPr>
            </a:pPr>
            <a:r>
              <a:t>Open tasks assigned to this provider</a:t>
            </a:r>
          </a:p>
        </p:txBody>
      </p:sp>
      <p:sp>
        <p:nvSpPr>
          <p:cNvPr id="34" name="TextBox 33"/>
          <p:cNvSpPr txBox="1"/>
          <p:nvPr/>
        </p:nvSpPr>
        <p:spPr>
          <a:xfrm>
            <a:off x="5120640" y="5212080"/>
            <a:ext cx="1188720" cy="182880"/>
          </a:xfrm>
          <a:prstGeom prst="rect">
            <a:avLst/>
          </a:prstGeom>
          <a:noFill/>
        </p:spPr>
        <p:txBody>
          <a:bodyPr wrap="square">
            <a:spAutoFit/>
          </a:bodyPr>
          <a:lstStyle/>
          <a:p>
            <a:pPr algn="l">
              <a:defRPr sz="1100" b="1">
                <a:solidFill>
                  <a:srgbClr val="00A3E0"/>
                </a:solidFill>
                <a:latin typeface="Calibri"/>
              </a:defRPr>
            </a:pPr>
            <a:r>
              <a:t>Communications</a:t>
            </a:r>
          </a:p>
        </p:txBody>
      </p:sp>
      <p:sp>
        <p:nvSpPr>
          <p:cNvPr id="35" name="TextBox 34"/>
          <p:cNvSpPr txBox="1"/>
          <p:nvPr/>
        </p:nvSpPr>
        <p:spPr>
          <a:xfrm>
            <a:off x="6309359" y="5212080"/>
            <a:ext cx="2011680" cy="182880"/>
          </a:xfrm>
          <a:prstGeom prst="rect">
            <a:avLst/>
          </a:prstGeom>
          <a:noFill/>
        </p:spPr>
        <p:txBody>
          <a:bodyPr wrap="square">
            <a:spAutoFit/>
          </a:bodyPr>
          <a:lstStyle/>
          <a:p>
            <a:pPr algn="l">
              <a:defRPr sz="1000" b="0">
                <a:solidFill>
                  <a:srgbClr val="555577"/>
                </a:solidFill>
                <a:latin typeface="Calibri"/>
              </a:defRPr>
            </a:pPr>
            <a:r>
              <a:t>Call logs, emails, SMS history</a:t>
            </a:r>
          </a:p>
        </p:txBody>
      </p:sp>
      <p:sp>
        <p:nvSpPr>
          <p:cNvPr id="36" name="TextBox 35"/>
          <p:cNvSpPr txBox="1"/>
          <p:nvPr/>
        </p:nvSpPr>
        <p:spPr>
          <a:xfrm>
            <a:off x="8412480" y="5212080"/>
            <a:ext cx="1188720" cy="182880"/>
          </a:xfrm>
          <a:prstGeom prst="rect">
            <a:avLst/>
          </a:prstGeom>
          <a:noFill/>
        </p:spPr>
        <p:txBody>
          <a:bodyPr wrap="square">
            <a:spAutoFit/>
          </a:bodyPr>
          <a:lstStyle/>
          <a:p>
            <a:pPr algn="l">
              <a:defRPr sz="1100" b="1">
                <a:solidFill>
                  <a:srgbClr val="00A3E0"/>
                </a:solidFill>
                <a:latin typeface="Calibri"/>
              </a:defRPr>
            </a:pPr>
            <a:r>
              <a:t>Enrollments</a:t>
            </a:r>
          </a:p>
        </p:txBody>
      </p:sp>
      <p:sp>
        <p:nvSpPr>
          <p:cNvPr id="37" name="TextBox 36"/>
          <p:cNvSpPr txBox="1"/>
          <p:nvPr/>
        </p:nvSpPr>
        <p:spPr>
          <a:xfrm>
            <a:off x="9601200" y="5212080"/>
            <a:ext cx="2011680" cy="182880"/>
          </a:xfrm>
          <a:prstGeom prst="rect">
            <a:avLst/>
          </a:prstGeom>
          <a:noFill/>
        </p:spPr>
        <p:txBody>
          <a:bodyPr wrap="square">
            <a:spAutoFit/>
          </a:bodyPr>
          <a:lstStyle/>
          <a:p>
            <a:pPr algn="l">
              <a:defRPr sz="1000" b="0">
                <a:solidFill>
                  <a:srgbClr val="555577"/>
                </a:solidFill>
                <a:latin typeface="Calibri"/>
              </a:defRPr>
            </a:pPr>
            <a:r>
              <a:t>Per-payer enrollment records</a:t>
            </a:r>
          </a:p>
        </p:txBody>
      </p:sp>
      <p:sp>
        <p:nvSpPr>
          <p:cNvPr id="38" name="TextBox 37"/>
          <p:cNvSpPr txBox="1"/>
          <p:nvPr/>
        </p:nvSpPr>
        <p:spPr>
          <a:xfrm>
            <a:off x="5120640" y="5623560"/>
            <a:ext cx="1188720" cy="182880"/>
          </a:xfrm>
          <a:prstGeom prst="rect">
            <a:avLst/>
          </a:prstGeom>
          <a:noFill/>
        </p:spPr>
        <p:txBody>
          <a:bodyPr wrap="square">
            <a:spAutoFit/>
          </a:bodyPr>
          <a:lstStyle/>
          <a:p>
            <a:pPr algn="l">
              <a:defRPr sz="1100" b="1">
                <a:solidFill>
                  <a:srgbClr val="00A3E0"/>
                </a:solidFill>
                <a:latin typeface="Calibri"/>
              </a:defRPr>
            </a:pPr>
            <a:r>
              <a:t>Expirables</a:t>
            </a:r>
          </a:p>
        </p:txBody>
      </p:sp>
      <p:sp>
        <p:nvSpPr>
          <p:cNvPr id="39" name="TextBox 38"/>
          <p:cNvSpPr txBox="1"/>
          <p:nvPr/>
        </p:nvSpPr>
        <p:spPr>
          <a:xfrm>
            <a:off x="6309359" y="5623560"/>
            <a:ext cx="2011680" cy="182880"/>
          </a:xfrm>
          <a:prstGeom prst="rect">
            <a:avLst/>
          </a:prstGeom>
          <a:noFill/>
        </p:spPr>
        <p:txBody>
          <a:bodyPr wrap="square">
            <a:spAutoFit/>
          </a:bodyPr>
          <a:lstStyle/>
          <a:p>
            <a:pPr algn="l">
              <a:defRPr sz="1000" b="0">
                <a:solidFill>
                  <a:srgbClr val="555577"/>
                </a:solidFill>
                <a:latin typeface="Calibri"/>
              </a:defRPr>
            </a:pPr>
            <a:r>
              <a:t>Credentials with expiration tracking</a:t>
            </a:r>
          </a:p>
        </p:txBody>
      </p:sp>
      <p:sp>
        <p:nvSpPr>
          <p:cNvPr id="40" name="TextBox 39"/>
          <p:cNvSpPr txBox="1"/>
          <p:nvPr/>
        </p:nvSpPr>
        <p:spPr>
          <a:xfrm>
            <a:off x="8412480" y="5623560"/>
            <a:ext cx="1188720" cy="182880"/>
          </a:xfrm>
          <a:prstGeom prst="rect">
            <a:avLst/>
          </a:prstGeom>
          <a:noFill/>
        </p:spPr>
        <p:txBody>
          <a:bodyPr wrap="square">
            <a:spAutoFit/>
          </a:bodyPr>
          <a:lstStyle/>
          <a:p>
            <a:pPr algn="l">
              <a:defRPr sz="1100" b="1">
                <a:solidFill>
                  <a:srgbClr val="00A3E0"/>
                </a:solidFill>
                <a:latin typeface="Calibri"/>
              </a:defRPr>
            </a:pPr>
            <a:r>
              <a:t>Audit Trail</a:t>
            </a:r>
          </a:p>
        </p:txBody>
      </p:sp>
      <p:sp>
        <p:nvSpPr>
          <p:cNvPr id="41" name="TextBox 40"/>
          <p:cNvSpPr txBox="1"/>
          <p:nvPr/>
        </p:nvSpPr>
        <p:spPr>
          <a:xfrm>
            <a:off x="9601200" y="5623560"/>
            <a:ext cx="2011680" cy="182880"/>
          </a:xfrm>
          <a:prstGeom prst="rect">
            <a:avLst/>
          </a:prstGeom>
          <a:noFill/>
        </p:spPr>
        <p:txBody>
          <a:bodyPr wrap="square">
            <a:spAutoFit/>
          </a:bodyPr>
          <a:lstStyle/>
          <a:p>
            <a:pPr algn="l">
              <a:defRPr sz="1000" b="0">
                <a:solidFill>
                  <a:srgbClr val="555577"/>
                </a:solidFill>
                <a:latin typeface="Calibri"/>
              </a:defRPr>
            </a:pPr>
            <a:r>
              <a:t>Complete immutable change history</a:t>
            </a:r>
          </a:p>
        </p:txBody>
      </p:sp>
      <p:sp>
        <p:nvSpPr>
          <p:cNvPr id="42" name="TextBox 41"/>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PART 2: PROVIDER MANAGEMENT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Finding &amp; Adding Providers</a:t>
            </a:r>
          </a:p>
        </p:txBody>
      </p:sp>
      <p:sp>
        <p:nvSpPr>
          <p:cNvPr id="4" name="Rounded Rectangle 3"/>
          <p:cNvSpPr/>
          <p:nvPr/>
        </p:nvSpPr>
        <p:spPr>
          <a:xfrm>
            <a:off x="731520" y="1463040"/>
            <a:ext cx="5303520" cy="2743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274320"/>
          </a:xfrm>
          <a:prstGeom prst="rect">
            <a:avLst/>
          </a:prstGeom>
          <a:noFill/>
        </p:spPr>
        <p:txBody>
          <a:bodyPr wrap="square">
            <a:spAutoFit/>
          </a:bodyPr>
          <a:lstStyle/>
          <a:p>
            <a:pPr algn="l">
              <a:defRPr sz="1600" b="1">
                <a:solidFill>
                  <a:srgbClr val="0B3D91"/>
                </a:solidFill>
                <a:latin typeface="Calibri"/>
              </a:defRPr>
            </a:pPr>
            <a:r>
              <a:t>Finding a Provider</a:t>
            </a:r>
          </a:p>
        </p:txBody>
      </p:sp>
      <p:sp>
        <p:nvSpPr>
          <p:cNvPr id="6" name="TextBox 5"/>
          <p:cNvSpPr txBox="1"/>
          <p:nvPr/>
        </p:nvSpPr>
        <p:spPr>
          <a:xfrm>
            <a:off x="1005840" y="1965960"/>
            <a:ext cx="4937760" cy="292608"/>
          </a:xfrm>
          <a:prstGeom prst="rect">
            <a:avLst/>
          </a:prstGeom>
          <a:noFill/>
        </p:spPr>
        <p:txBody>
          <a:bodyPr wrap="square">
            <a:spAutoFit/>
          </a:bodyPr>
          <a:lstStyle/>
          <a:p>
            <a:pPr algn="l">
              <a:defRPr sz="1100" b="0">
                <a:solidFill>
                  <a:srgbClr val="1A1A2E"/>
                </a:solidFill>
                <a:latin typeface="Calibri"/>
              </a:defRPr>
            </a:pPr>
            <a:r>
              <a:t>1. Click Providers in the left sidebar to see the full provider list</a:t>
            </a:r>
          </a:p>
        </p:txBody>
      </p:sp>
      <p:sp>
        <p:nvSpPr>
          <p:cNvPr id="7" name="TextBox 6"/>
          <p:cNvSpPr txBox="1"/>
          <p:nvPr/>
        </p:nvSpPr>
        <p:spPr>
          <a:xfrm>
            <a:off x="1005840" y="2295144"/>
            <a:ext cx="4937760" cy="292608"/>
          </a:xfrm>
          <a:prstGeom prst="rect">
            <a:avLst/>
          </a:prstGeom>
          <a:noFill/>
        </p:spPr>
        <p:txBody>
          <a:bodyPr wrap="square">
            <a:spAutoFit/>
          </a:bodyPr>
          <a:lstStyle/>
          <a:p>
            <a:pPr algn="l">
              <a:defRPr sz="1100" b="0">
                <a:solidFill>
                  <a:srgbClr val="1A1A2E"/>
                </a:solidFill>
                <a:latin typeface="Calibri"/>
              </a:defRPr>
            </a:pPr>
            <a:r>
              <a:t>2. Type a name or NPI in the search box (partial names work — 'John' finds 'Johnson')</a:t>
            </a:r>
          </a:p>
        </p:txBody>
      </p:sp>
      <p:sp>
        <p:nvSpPr>
          <p:cNvPr id="8" name="TextBox 7"/>
          <p:cNvSpPr txBox="1"/>
          <p:nvPr/>
        </p:nvSpPr>
        <p:spPr>
          <a:xfrm>
            <a:off x="1005840" y="2624328"/>
            <a:ext cx="4937760" cy="292608"/>
          </a:xfrm>
          <a:prstGeom prst="rect">
            <a:avLst/>
          </a:prstGeom>
          <a:noFill/>
        </p:spPr>
        <p:txBody>
          <a:bodyPr wrap="square">
            <a:spAutoFit/>
          </a:bodyPr>
          <a:lstStyle/>
          <a:p>
            <a:pPr algn="l">
              <a:defRPr sz="1100" b="0">
                <a:solidFill>
                  <a:srgbClr val="1A1A2E"/>
                </a:solidFill>
                <a:latin typeface="Calibri"/>
              </a:defRPr>
            </a:pPr>
            <a:r>
              <a:t>3. Use the Status dropdown to filter by stage (e.g., show only Committee Ready providers)</a:t>
            </a:r>
          </a:p>
        </p:txBody>
      </p:sp>
      <p:sp>
        <p:nvSpPr>
          <p:cNvPr id="9" name="TextBox 8"/>
          <p:cNvSpPr txBox="1"/>
          <p:nvPr/>
        </p:nvSpPr>
        <p:spPr>
          <a:xfrm>
            <a:off x="1005840" y="2953512"/>
            <a:ext cx="4937760" cy="292608"/>
          </a:xfrm>
          <a:prstGeom prst="rect">
            <a:avLst/>
          </a:prstGeom>
          <a:noFill/>
        </p:spPr>
        <p:txBody>
          <a:bodyPr wrap="square">
            <a:spAutoFit/>
          </a:bodyPr>
          <a:lstStyle/>
          <a:p>
            <a:pPr algn="l">
              <a:defRPr sz="1100" b="0">
                <a:solidFill>
                  <a:srgbClr val="1A1A2E"/>
                </a:solidFill>
                <a:latin typeface="Calibri"/>
              </a:defRPr>
            </a:pPr>
            <a:r>
              <a:t>4. Use the Provider Type dropdown to filter by type (MD, DO, PA, NP, LCSW, LMHC)</a:t>
            </a:r>
          </a:p>
        </p:txBody>
      </p:sp>
      <p:sp>
        <p:nvSpPr>
          <p:cNvPr id="10" name="TextBox 9"/>
          <p:cNvSpPr txBox="1"/>
          <p:nvPr/>
        </p:nvSpPr>
        <p:spPr>
          <a:xfrm>
            <a:off x="1005840" y="3282696"/>
            <a:ext cx="4937760" cy="292608"/>
          </a:xfrm>
          <a:prstGeom prst="rect">
            <a:avLst/>
          </a:prstGeom>
          <a:noFill/>
        </p:spPr>
        <p:txBody>
          <a:bodyPr wrap="square">
            <a:spAutoFit/>
          </a:bodyPr>
          <a:lstStyle/>
          <a:p>
            <a:pPr algn="l">
              <a:defRPr sz="1100" b="0">
                <a:solidFill>
                  <a:srgbClr val="1A1A2E"/>
                </a:solidFill>
                <a:latin typeface="Calibri"/>
              </a:defRPr>
            </a:pPr>
            <a:r>
              <a:t>5. Click "Filter" to apply, or "Clear" to reset and see all providers</a:t>
            </a:r>
          </a:p>
        </p:txBody>
      </p:sp>
      <p:sp>
        <p:nvSpPr>
          <p:cNvPr id="11" name="TextBox 10"/>
          <p:cNvSpPr txBox="1"/>
          <p:nvPr/>
        </p:nvSpPr>
        <p:spPr>
          <a:xfrm>
            <a:off x="1005840" y="3611879"/>
            <a:ext cx="4937760" cy="292608"/>
          </a:xfrm>
          <a:prstGeom prst="rect">
            <a:avLst/>
          </a:prstGeom>
          <a:noFill/>
        </p:spPr>
        <p:txBody>
          <a:bodyPr wrap="square">
            <a:spAutoFit/>
          </a:bodyPr>
          <a:lstStyle/>
          <a:p>
            <a:pPr algn="l">
              <a:defRPr sz="1100" b="0">
                <a:solidFill>
                  <a:srgbClr val="1A1A2E"/>
                </a:solidFill>
                <a:latin typeface="Calibri"/>
              </a:defRPr>
            </a:pPr>
            <a:r>
              <a:t>6. Click any provider's name to open their detail page</a:t>
            </a:r>
          </a:p>
        </p:txBody>
      </p:sp>
      <p:sp>
        <p:nvSpPr>
          <p:cNvPr id="12" name="Rounded Rectangle 11"/>
          <p:cNvSpPr/>
          <p:nvPr/>
        </p:nvSpPr>
        <p:spPr>
          <a:xfrm>
            <a:off x="6400800" y="1463040"/>
            <a:ext cx="5120640" cy="2743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00200"/>
            <a:ext cx="4572000" cy="274320"/>
          </a:xfrm>
          <a:prstGeom prst="rect">
            <a:avLst/>
          </a:prstGeom>
          <a:noFill/>
        </p:spPr>
        <p:txBody>
          <a:bodyPr wrap="square">
            <a:spAutoFit/>
          </a:bodyPr>
          <a:lstStyle/>
          <a:p>
            <a:pPr algn="l">
              <a:defRPr sz="1600" b="1">
                <a:solidFill>
                  <a:srgbClr val="0B3D91"/>
                </a:solidFill>
                <a:latin typeface="Calibri"/>
              </a:defRPr>
            </a:pPr>
            <a:r>
              <a:t>Adding a New Provider</a:t>
            </a:r>
          </a:p>
        </p:txBody>
      </p:sp>
      <p:sp>
        <p:nvSpPr>
          <p:cNvPr id="14" name="TextBox 13"/>
          <p:cNvSpPr txBox="1"/>
          <p:nvPr/>
        </p:nvSpPr>
        <p:spPr>
          <a:xfrm>
            <a:off x="6675120" y="1965960"/>
            <a:ext cx="4754880" cy="292608"/>
          </a:xfrm>
          <a:prstGeom prst="rect">
            <a:avLst/>
          </a:prstGeom>
          <a:noFill/>
        </p:spPr>
        <p:txBody>
          <a:bodyPr wrap="square">
            <a:spAutoFit/>
          </a:bodyPr>
          <a:lstStyle/>
          <a:p>
            <a:pPr algn="l">
              <a:defRPr sz="1100" b="0">
                <a:solidFill>
                  <a:srgbClr val="1A1A2E"/>
                </a:solidFill>
                <a:latin typeface="Calibri"/>
              </a:defRPr>
            </a:pPr>
            <a:r>
              <a:t>1. On the Providers list, click "+ New Provider" button (top right)</a:t>
            </a:r>
          </a:p>
        </p:txBody>
      </p:sp>
      <p:sp>
        <p:nvSpPr>
          <p:cNvPr id="15" name="TextBox 14"/>
          <p:cNvSpPr txBox="1"/>
          <p:nvPr/>
        </p:nvSpPr>
        <p:spPr>
          <a:xfrm>
            <a:off x="6675120" y="2295144"/>
            <a:ext cx="4754880" cy="292608"/>
          </a:xfrm>
          <a:prstGeom prst="rect">
            <a:avLst/>
          </a:prstGeom>
          <a:noFill/>
        </p:spPr>
        <p:txBody>
          <a:bodyPr wrap="square">
            <a:spAutoFit/>
          </a:bodyPr>
          <a:lstStyle/>
          <a:p>
            <a:pPr algn="l">
              <a:defRPr sz="1100" b="0">
                <a:solidFill>
                  <a:srgbClr val="1A1A2E"/>
                </a:solidFill>
                <a:latin typeface="Calibri"/>
              </a:defRPr>
            </a:pPr>
            <a:r>
              <a:t>2. Required fields: First Name, Last Name, Provider Type (dropdown)</a:t>
            </a:r>
          </a:p>
        </p:txBody>
      </p:sp>
      <p:sp>
        <p:nvSpPr>
          <p:cNvPr id="16" name="TextBox 15"/>
          <p:cNvSpPr txBox="1"/>
          <p:nvPr/>
        </p:nvSpPr>
        <p:spPr>
          <a:xfrm>
            <a:off x="6675120" y="2624328"/>
            <a:ext cx="4754880" cy="292608"/>
          </a:xfrm>
          <a:prstGeom prst="rect">
            <a:avLst/>
          </a:prstGeom>
          <a:noFill/>
        </p:spPr>
        <p:txBody>
          <a:bodyPr wrap="square">
            <a:spAutoFit/>
          </a:bodyPr>
          <a:lstStyle/>
          <a:p>
            <a:pPr algn="l">
              <a:defRPr sz="1100" b="0">
                <a:solidFill>
                  <a:srgbClr val="1A1A2E"/>
                </a:solidFill>
                <a:latin typeface="Calibri"/>
              </a:defRPr>
            </a:pPr>
            <a:r>
              <a:t>3. Optional but recommended: NPI (10 digits — system validates format)</a:t>
            </a:r>
          </a:p>
        </p:txBody>
      </p:sp>
      <p:sp>
        <p:nvSpPr>
          <p:cNvPr id="17" name="TextBox 16"/>
          <p:cNvSpPr txBox="1"/>
          <p:nvPr/>
        </p:nvSpPr>
        <p:spPr>
          <a:xfrm>
            <a:off x="6675120" y="2953512"/>
            <a:ext cx="4754880" cy="292608"/>
          </a:xfrm>
          <a:prstGeom prst="rect">
            <a:avLst/>
          </a:prstGeom>
          <a:noFill/>
        </p:spPr>
        <p:txBody>
          <a:bodyPr wrap="square">
            <a:spAutoFit/>
          </a:bodyPr>
          <a:lstStyle/>
          <a:p>
            <a:pPr algn="l">
              <a:defRPr sz="1100" b="0">
                <a:solidFill>
                  <a:srgbClr val="1A1A2E"/>
                </a:solidFill>
                <a:latin typeface="Calibri"/>
              </a:defRPr>
            </a:pPr>
            <a:r>
              <a:t>4. Optional: Middle Name, Personal Email, Mobile Phone</a:t>
            </a:r>
          </a:p>
        </p:txBody>
      </p:sp>
      <p:sp>
        <p:nvSpPr>
          <p:cNvPr id="18" name="TextBox 17"/>
          <p:cNvSpPr txBox="1"/>
          <p:nvPr/>
        </p:nvSpPr>
        <p:spPr>
          <a:xfrm>
            <a:off x="6675120" y="3282696"/>
            <a:ext cx="4754880" cy="292608"/>
          </a:xfrm>
          <a:prstGeom prst="rect">
            <a:avLst/>
          </a:prstGeom>
          <a:noFill/>
        </p:spPr>
        <p:txBody>
          <a:bodyPr wrap="square">
            <a:spAutoFit/>
          </a:bodyPr>
          <a:lstStyle/>
          <a:p>
            <a:pPr algn="l">
              <a:defRPr sz="1100" b="0">
                <a:solidFill>
                  <a:srgbClr val="1A1A2E"/>
                </a:solidFill>
                <a:latin typeface="Calibri"/>
              </a:defRPr>
            </a:pPr>
            <a:r>
              <a:t>5. Assign to Specialist (defaults to you if left blank)</a:t>
            </a:r>
          </a:p>
        </p:txBody>
      </p:sp>
      <p:sp>
        <p:nvSpPr>
          <p:cNvPr id="19" name="TextBox 18"/>
          <p:cNvSpPr txBox="1"/>
          <p:nvPr/>
        </p:nvSpPr>
        <p:spPr>
          <a:xfrm>
            <a:off x="6675120" y="3611879"/>
            <a:ext cx="4754880" cy="292608"/>
          </a:xfrm>
          <a:prstGeom prst="rect">
            <a:avLst/>
          </a:prstGeom>
          <a:noFill/>
        </p:spPr>
        <p:txBody>
          <a:bodyPr wrap="square">
            <a:spAutoFit/>
          </a:bodyPr>
          <a:lstStyle/>
          <a:p>
            <a:pPr algn="l">
              <a:defRPr sz="1100" b="0">
                <a:solidFill>
                  <a:srgbClr val="1A1A2E"/>
                </a:solidFill>
                <a:latin typeface="Calibri"/>
              </a:defRPr>
            </a:pPr>
            <a:r>
              <a:t>6. Click "Create Provider" — redirects to the new provider's detail page</a:t>
            </a:r>
          </a:p>
        </p:txBody>
      </p:sp>
      <p:sp>
        <p:nvSpPr>
          <p:cNvPr id="20" name="Rounded Rectangle 19"/>
          <p:cNvSpPr/>
          <p:nvPr/>
        </p:nvSpPr>
        <p:spPr>
          <a:xfrm>
            <a:off x="731520" y="4480560"/>
            <a:ext cx="10698480" cy="1828800"/>
          </a:xfrm>
          <a:prstGeom prst="roundRect">
            <a:avLst/>
          </a:prstGeom>
          <a:solidFill>
            <a:srgbClr val="E8F8F0"/>
          </a:solidFill>
          <a:ln w="12700">
            <a:solidFill>
              <a:srgbClr val="00B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617720"/>
            <a:ext cx="10058400" cy="274320"/>
          </a:xfrm>
          <a:prstGeom prst="rect">
            <a:avLst/>
          </a:prstGeom>
          <a:noFill/>
        </p:spPr>
        <p:txBody>
          <a:bodyPr wrap="square">
            <a:spAutoFit/>
          </a:bodyPr>
          <a:lstStyle/>
          <a:p>
            <a:pPr algn="l">
              <a:defRPr sz="1500" b="1">
                <a:solidFill>
                  <a:srgbClr val="00B67A"/>
                </a:solidFill>
                <a:latin typeface="Calibri"/>
              </a:defRPr>
            </a:pPr>
            <a:r>
              <a:t>What Happens When You Create a Provider</a:t>
            </a:r>
          </a:p>
        </p:txBody>
      </p:sp>
      <p:sp>
        <p:nvSpPr>
          <p:cNvPr id="22" name="TextBox 21"/>
          <p:cNvSpPr txBox="1"/>
          <p:nvPr/>
        </p:nvSpPr>
        <p:spPr>
          <a:xfrm>
            <a:off x="1005840" y="4983480"/>
            <a:ext cx="1645920" cy="228600"/>
          </a:xfrm>
          <a:prstGeom prst="rect">
            <a:avLst/>
          </a:prstGeom>
          <a:noFill/>
        </p:spPr>
        <p:txBody>
          <a:bodyPr wrap="square">
            <a:spAutoFit/>
          </a:bodyPr>
          <a:lstStyle/>
          <a:p>
            <a:pPr algn="l">
              <a:defRPr sz="1100" b="1">
                <a:solidFill>
                  <a:srgbClr val="00B67A"/>
                </a:solidFill>
                <a:latin typeface="Calibri"/>
              </a:defRPr>
            </a:pPr>
            <a:r>
              <a:t>✓  Status set to INVITED</a:t>
            </a:r>
          </a:p>
        </p:txBody>
      </p:sp>
      <p:sp>
        <p:nvSpPr>
          <p:cNvPr id="23" name="TextBox 22"/>
          <p:cNvSpPr txBox="1"/>
          <p:nvPr/>
        </p:nvSpPr>
        <p:spPr>
          <a:xfrm>
            <a:off x="2743200" y="4983480"/>
            <a:ext cx="3200400" cy="411480"/>
          </a:xfrm>
          <a:prstGeom prst="rect">
            <a:avLst/>
          </a:prstGeom>
          <a:noFill/>
        </p:spPr>
        <p:txBody>
          <a:bodyPr wrap="square">
            <a:spAutoFit/>
          </a:bodyPr>
          <a:lstStyle/>
          <a:p>
            <a:pPr algn="l">
              <a:defRPr sz="1000" b="0">
                <a:solidFill>
                  <a:srgbClr val="1A1A2E"/>
                </a:solidFill>
                <a:latin typeface="Calibri"/>
              </a:defRPr>
            </a:pPr>
            <a:r>
              <a:t>The provider starts at the beginning of the credentialing pipeline</a:t>
            </a:r>
          </a:p>
        </p:txBody>
      </p:sp>
      <p:sp>
        <p:nvSpPr>
          <p:cNvPr id="24" name="TextBox 23"/>
          <p:cNvSpPr txBox="1"/>
          <p:nvPr/>
        </p:nvSpPr>
        <p:spPr>
          <a:xfrm>
            <a:off x="6309360" y="4983480"/>
            <a:ext cx="1645920" cy="228600"/>
          </a:xfrm>
          <a:prstGeom prst="rect">
            <a:avLst/>
          </a:prstGeom>
          <a:noFill/>
        </p:spPr>
        <p:txBody>
          <a:bodyPr wrap="square">
            <a:spAutoFit/>
          </a:bodyPr>
          <a:lstStyle/>
          <a:p>
            <a:pPr algn="l">
              <a:defRPr sz="1100" b="1">
                <a:solidFill>
                  <a:srgbClr val="00B67A"/>
                </a:solidFill>
                <a:latin typeface="Calibri"/>
              </a:defRPr>
            </a:pPr>
            <a:r>
              <a:t>✓  Document checklist auto-generated</a:t>
            </a:r>
          </a:p>
        </p:txBody>
      </p:sp>
      <p:sp>
        <p:nvSpPr>
          <p:cNvPr id="25" name="TextBox 24"/>
          <p:cNvSpPr txBox="1"/>
          <p:nvPr/>
        </p:nvSpPr>
        <p:spPr>
          <a:xfrm>
            <a:off x="8046720" y="4983480"/>
            <a:ext cx="3200400" cy="411480"/>
          </a:xfrm>
          <a:prstGeom prst="rect">
            <a:avLst/>
          </a:prstGeom>
          <a:noFill/>
        </p:spPr>
        <p:txBody>
          <a:bodyPr wrap="square">
            <a:spAutoFit/>
          </a:bodyPr>
          <a:lstStyle/>
          <a:p>
            <a:pPr algn="l">
              <a:defRPr sz="1000" b="0">
                <a:solidFill>
                  <a:srgbClr val="1A1A2E"/>
                </a:solidFill>
                <a:latin typeface="Calibri"/>
              </a:defRPr>
            </a:pPr>
            <a:r>
              <a:t>Based on the provider type you selected, the system creates a complete list of required, conditional, and N/A documents</a:t>
            </a:r>
          </a:p>
        </p:txBody>
      </p:sp>
      <p:sp>
        <p:nvSpPr>
          <p:cNvPr id="26" name="TextBox 25"/>
          <p:cNvSpPr txBox="1"/>
          <p:nvPr/>
        </p:nvSpPr>
        <p:spPr>
          <a:xfrm>
            <a:off x="1005840" y="5513832"/>
            <a:ext cx="1645920" cy="228600"/>
          </a:xfrm>
          <a:prstGeom prst="rect">
            <a:avLst/>
          </a:prstGeom>
          <a:noFill/>
        </p:spPr>
        <p:txBody>
          <a:bodyPr wrap="square">
            <a:spAutoFit/>
          </a:bodyPr>
          <a:lstStyle/>
          <a:p>
            <a:pPr algn="l">
              <a:defRPr sz="1100" b="1">
                <a:solidFill>
                  <a:srgbClr val="00B67A"/>
                </a:solidFill>
                <a:latin typeface="Calibri"/>
              </a:defRPr>
            </a:pPr>
            <a:r>
              <a:t>✓  Audit trail initialized</a:t>
            </a:r>
          </a:p>
        </p:txBody>
      </p:sp>
      <p:sp>
        <p:nvSpPr>
          <p:cNvPr id="27" name="TextBox 26"/>
          <p:cNvSpPr txBox="1"/>
          <p:nvPr/>
        </p:nvSpPr>
        <p:spPr>
          <a:xfrm>
            <a:off x="2743200" y="5513832"/>
            <a:ext cx="3200400" cy="411480"/>
          </a:xfrm>
          <a:prstGeom prst="rect">
            <a:avLst/>
          </a:prstGeom>
          <a:noFill/>
        </p:spPr>
        <p:txBody>
          <a:bodyPr wrap="square">
            <a:spAutoFit/>
          </a:bodyPr>
          <a:lstStyle/>
          <a:p>
            <a:pPr algn="l">
              <a:defRPr sz="1000" b="0">
                <a:solidFill>
                  <a:srgbClr val="1A1A2E"/>
                </a:solidFill>
                <a:latin typeface="Calibri"/>
              </a:defRPr>
            </a:pPr>
            <a:r>
              <a:t>The creation event is logged with your name, timestamp, and all field values</a:t>
            </a:r>
          </a:p>
        </p:txBody>
      </p:sp>
      <p:sp>
        <p:nvSpPr>
          <p:cNvPr id="28" name="TextBox 27"/>
          <p:cNvSpPr txBox="1"/>
          <p:nvPr/>
        </p:nvSpPr>
        <p:spPr>
          <a:xfrm>
            <a:off x="6309360" y="5513832"/>
            <a:ext cx="1645920" cy="228600"/>
          </a:xfrm>
          <a:prstGeom prst="rect">
            <a:avLst/>
          </a:prstGeom>
          <a:noFill/>
        </p:spPr>
        <p:txBody>
          <a:bodyPr wrap="square">
            <a:spAutoFit/>
          </a:bodyPr>
          <a:lstStyle/>
          <a:p>
            <a:pPr algn="l">
              <a:defRPr sz="1100" b="1">
                <a:solidFill>
                  <a:srgbClr val="00B67A"/>
                </a:solidFill>
                <a:latin typeface="Calibri"/>
              </a:defRPr>
            </a:pPr>
            <a:r>
              <a:t>✓  Provider appears in pipeline</a:t>
            </a:r>
          </a:p>
        </p:txBody>
      </p:sp>
      <p:sp>
        <p:nvSpPr>
          <p:cNvPr id="29" name="TextBox 28"/>
          <p:cNvSpPr txBox="1"/>
          <p:nvPr/>
        </p:nvSpPr>
        <p:spPr>
          <a:xfrm>
            <a:off x="8046720" y="5513832"/>
            <a:ext cx="3200400" cy="411480"/>
          </a:xfrm>
          <a:prstGeom prst="rect">
            <a:avLst/>
          </a:prstGeom>
          <a:noFill/>
        </p:spPr>
        <p:txBody>
          <a:bodyPr wrap="square">
            <a:spAutoFit/>
          </a:bodyPr>
          <a:lstStyle/>
          <a:p>
            <a:pPr algn="l">
              <a:defRPr sz="1000" b="0">
                <a:solidFill>
                  <a:srgbClr val="1A1A2E"/>
                </a:solidFill>
                <a:latin typeface="Calibri"/>
              </a:defRPr>
            </a:pPr>
            <a:r>
              <a:t>The provider now shows up in the Dashboard pipeline view and the Providers list</a:t>
            </a:r>
          </a:p>
        </p:txBody>
      </p:sp>
      <p:sp>
        <p:nvSpPr>
          <p:cNvPr id="30" name="TextBox 29"/>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PROVIDER MANAGEMENT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Editing Information &amp; Document Checklist</a:t>
            </a:r>
          </a:p>
        </p:txBody>
      </p:sp>
      <p:sp>
        <p:nvSpPr>
          <p:cNvPr id="4" name="Rounded Rectangle 3"/>
          <p:cNvSpPr/>
          <p:nvPr/>
        </p:nvSpPr>
        <p:spPr>
          <a:xfrm>
            <a:off x="731520" y="146304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274320"/>
          </a:xfrm>
          <a:prstGeom prst="rect">
            <a:avLst/>
          </a:prstGeom>
          <a:noFill/>
        </p:spPr>
        <p:txBody>
          <a:bodyPr wrap="square">
            <a:spAutoFit/>
          </a:bodyPr>
          <a:lstStyle/>
          <a:p>
            <a:pPr algn="l">
              <a:defRPr sz="1500" b="1">
                <a:solidFill>
                  <a:srgbClr val="0B3D91"/>
                </a:solidFill>
                <a:latin typeface="Calibri"/>
              </a:defRPr>
            </a:pPr>
            <a:r>
              <a:t>Editing a Provider's Information</a:t>
            </a:r>
          </a:p>
        </p:txBody>
      </p:sp>
      <p:sp>
        <p:nvSpPr>
          <p:cNvPr id="6" name="TextBox 5"/>
          <p:cNvSpPr txBox="1"/>
          <p:nvPr/>
        </p:nvSpPr>
        <p:spPr>
          <a:xfrm>
            <a:off x="1005840" y="1965960"/>
            <a:ext cx="4937760" cy="274320"/>
          </a:xfrm>
          <a:prstGeom prst="rect">
            <a:avLst/>
          </a:prstGeom>
          <a:noFill/>
        </p:spPr>
        <p:txBody>
          <a:bodyPr wrap="square">
            <a:spAutoFit/>
          </a:bodyPr>
          <a:lstStyle/>
          <a:p>
            <a:pPr algn="l">
              <a:defRPr sz="1100" b="0">
                <a:solidFill>
                  <a:srgbClr val="1A1A2E"/>
                </a:solidFill>
                <a:latin typeface="Calibri"/>
              </a:defRPr>
            </a:pPr>
            <a:r>
              <a:t>1. On the detail page, click "Edit Info" (top right)</a:t>
            </a:r>
          </a:p>
        </p:txBody>
      </p:sp>
      <p:sp>
        <p:nvSpPr>
          <p:cNvPr id="7" name="TextBox 6"/>
          <p:cNvSpPr txBox="1"/>
          <p:nvPr/>
        </p:nvSpPr>
        <p:spPr>
          <a:xfrm>
            <a:off x="1005840" y="2276856"/>
            <a:ext cx="4937760" cy="274320"/>
          </a:xfrm>
          <a:prstGeom prst="rect">
            <a:avLst/>
          </a:prstGeom>
          <a:noFill/>
        </p:spPr>
        <p:txBody>
          <a:bodyPr wrap="square">
            <a:spAutoFit/>
          </a:bodyPr>
          <a:lstStyle/>
          <a:p>
            <a:pPr algn="l">
              <a:defRPr sz="1100" b="0">
                <a:solidFill>
                  <a:srgbClr val="1A1A2E"/>
                </a:solidFill>
                <a:latin typeface="Calibri"/>
              </a:defRPr>
            </a:pPr>
            <a:r>
              <a:t>2. Editable fields: NPI, DEA Number, CAQH ID, iCIMS ID</a:t>
            </a:r>
          </a:p>
        </p:txBody>
      </p:sp>
      <p:sp>
        <p:nvSpPr>
          <p:cNvPr id="8" name="TextBox 7"/>
          <p:cNvSpPr txBox="1"/>
          <p:nvPr/>
        </p:nvSpPr>
        <p:spPr>
          <a:xfrm>
            <a:off x="1005840" y="2587752"/>
            <a:ext cx="4937760" cy="274320"/>
          </a:xfrm>
          <a:prstGeom prst="rect">
            <a:avLst/>
          </a:prstGeom>
          <a:noFill/>
        </p:spPr>
        <p:txBody>
          <a:bodyPr wrap="square">
            <a:spAutoFit/>
          </a:bodyPr>
          <a:lstStyle/>
          <a:p>
            <a:pPr algn="l">
              <a:defRPr sz="1100" b="0">
                <a:solidFill>
                  <a:srgbClr val="1A1A2E"/>
                </a:solidFill>
                <a:latin typeface="Calibri"/>
              </a:defRPr>
            </a:pPr>
            <a:r>
              <a:t>3. Change Assigned Specialist if responsibility is transferring</a:t>
            </a:r>
          </a:p>
        </p:txBody>
      </p:sp>
      <p:sp>
        <p:nvSpPr>
          <p:cNvPr id="9" name="TextBox 8"/>
          <p:cNvSpPr txBox="1"/>
          <p:nvPr/>
        </p:nvSpPr>
        <p:spPr>
          <a:xfrm>
            <a:off x="1005840" y="2898648"/>
            <a:ext cx="4937760" cy="274320"/>
          </a:xfrm>
          <a:prstGeom prst="rect">
            <a:avLst/>
          </a:prstGeom>
          <a:noFill/>
        </p:spPr>
        <p:txBody>
          <a:bodyPr wrap="square">
            <a:spAutoFit/>
          </a:bodyPr>
          <a:lstStyle/>
          <a:p>
            <a:pPr algn="l">
              <a:defRPr sz="1100" b="0">
                <a:solidFill>
                  <a:srgbClr val="1A1A2E"/>
                </a:solidFill>
                <a:latin typeface="Calibri"/>
              </a:defRPr>
            </a:pPr>
            <a:r>
              <a:t>4. Add Internal Notes (visible to staff only, NEVER to the provider)</a:t>
            </a:r>
          </a:p>
        </p:txBody>
      </p:sp>
      <p:sp>
        <p:nvSpPr>
          <p:cNvPr id="10" name="TextBox 9"/>
          <p:cNvSpPr txBox="1"/>
          <p:nvPr/>
        </p:nvSpPr>
        <p:spPr>
          <a:xfrm>
            <a:off x="1005840" y="3209544"/>
            <a:ext cx="4937760" cy="274320"/>
          </a:xfrm>
          <a:prstGeom prst="rect">
            <a:avLst/>
          </a:prstGeom>
          <a:noFill/>
        </p:spPr>
        <p:txBody>
          <a:bodyPr wrap="square">
            <a:spAutoFit/>
          </a:bodyPr>
          <a:lstStyle/>
          <a:p>
            <a:pPr algn="l">
              <a:defRPr sz="1100" b="0">
                <a:solidFill>
                  <a:srgbClr val="1A1A2E"/>
                </a:solidFill>
                <a:latin typeface="Calibri"/>
              </a:defRPr>
            </a:pPr>
            <a:r>
              <a:t>5. Click "Save Changes" — updates are instant</a:t>
            </a:r>
          </a:p>
        </p:txBody>
      </p:sp>
      <p:sp>
        <p:nvSpPr>
          <p:cNvPr id="11" name="TextBox 10"/>
          <p:cNvSpPr txBox="1"/>
          <p:nvPr/>
        </p:nvSpPr>
        <p:spPr>
          <a:xfrm>
            <a:off x="1005840" y="3520440"/>
            <a:ext cx="4937760" cy="274320"/>
          </a:xfrm>
          <a:prstGeom prst="rect">
            <a:avLst/>
          </a:prstGeom>
          <a:noFill/>
        </p:spPr>
        <p:txBody>
          <a:bodyPr wrap="square">
            <a:spAutoFit/>
          </a:bodyPr>
          <a:lstStyle/>
          <a:p>
            <a:pPr algn="l">
              <a:defRPr sz="1100" b="0">
                <a:solidFill>
                  <a:srgbClr val="1A1A2E"/>
                </a:solidFill>
                <a:latin typeface="Calibri"/>
              </a:defRPr>
            </a:pPr>
            <a:r>
              <a:t>6. Every change is logged in the Audit Trail with before/after values</a:t>
            </a:r>
          </a:p>
        </p:txBody>
      </p:sp>
      <p:sp>
        <p:nvSpPr>
          <p:cNvPr id="12" name="Rounded Rectangle 11"/>
          <p:cNvSpPr/>
          <p:nvPr/>
        </p:nvSpPr>
        <p:spPr>
          <a:xfrm>
            <a:off x="6400800" y="1463040"/>
            <a:ext cx="512064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00200"/>
            <a:ext cx="4572000" cy="274320"/>
          </a:xfrm>
          <a:prstGeom prst="rect">
            <a:avLst/>
          </a:prstGeom>
          <a:noFill/>
        </p:spPr>
        <p:txBody>
          <a:bodyPr wrap="square">
            <a:spAutoFit/>
          </a:bodyPr>
          <a:lstStyle/>
          <a:p>
            <a:pPr algn="l">
              <a:defRPr sz="1500" b="1">
                <a:solidFill>
                  <a:srgbClr val="0B3D91"/>
                </a:solidFill>
                <a:latin typeface="Calibri"/>
              </a:defRPr>
            </a:pPr>
            <a:r>
              <a:t>Document Checklist</a:t>
            </a:r>
          </a:p>
        </p:txBody>
      </p:sp>
      <p:sp>
        <p:nvSpPr>
          <p:cNvPr id="14" name="TextBox 13"/>
          <p:cNvSpPr txBox="1"/>
          <p:nvPr/>
        </p:nvSpPr>
        <p:spPr>
          <a:xfrm>
            <a:off x="6675120" y="1920240"/>
            <a:ext cx="4754880" cy="548640"/>
          </a:xfrm>
          <a:prstGeom prst="rect">
            <a:avLst/>
          </a:prstGeom>
          <a:noFill/>
        </p:spPr>
        <p:txBody>
          <a:bodyPr wrap="square">
            <a:spAutoFit/>
          </a:bodyPr>
          <a:lstStyle/>
          <a:p>
            <a:pPr algn="l">
              <a:defRPr sz="1100" b="0">
                <a:solidFill>
                  <a:srgbClr val="555577"/>
                </a:solidFill>
                <a:latin typeface="Calibri"/>
              </a:defRPr>
            </a:pPr>
            <a:r>
              <a:t>The Document Checklist is auto-generated when a provider is created, based on their provider type. It shows every document needed for credentialing.</a:t>
            </a:r>
          </a:p>
        </p:txBody>
      </p:sp>
      <p:sp>
        <p:nvSpPr>
          <p:cNvPr id="15" name="TextBox 14"/>
          <p:cNvSpPr txBox="1"/>
          <p:nvPr/>
        </p:nvSpPr>
        <p:spPr>
          <a:xfrm>
            <a:off x="6675120" y="2606040"/>
            <a:ext cx="1645920" cy="228600"/>
          </a:xfrm>
          <a:prstGeom prst="rect">
            <a:avLst/>
          </a:prstGeom>
          <a:noFill/>
        </p:spPr>
        <p:txBody>
          <a:bodyPr wrap="square">
            <a:spAutoFit/>
          </a:bodyPr>
          <a:lstStyle/>
          <a:p>
            <a:pPr algn="l">
              <a:defRPr sz="1200" b="1">
                <a:solidFill>
                  <a:srgbClr val="00B67A"/>
                </a:solidFill>
                <a:latin typeface="Calibri"/>
              </a:defRPr>
            </a:pPr>
            <a:r>
              <a:t>✓ Received</a:t>
            </a:r>
          </a:p>
        </p:txBody>
      </p:sp>
      <p:sp>
        <p:nvSpPr>
          <p:cNvPr id="16" name="TextBox 15"/>
          <p:cNvSpPr txBox="1"/>
          <p:nvPr/>
        </p:nvSpPr>
        <p:spPr>
          <a:xfrm>
            <a:off x="8321040" y="2606040"/>
            <a:ext cx="3200400" cy="228600"/>
          </a:xfrm>
          <a:prstGeom prst="rect">
            <a:avLst/>
          </a:prstGeom>
          <a:noFill/>
        </p:spPr>
        <p:txBody>
          <a:bodyPr wrap="square">
            <a:spAutoFit/>
          </a:bodyPr>
          <a:lstStyle/>
          <a:p>
            <a:pPr algn="l">
              <a:defRPr sz="1100" b="0">
                <a:solidFill>
                  <a:srgbClr val="555577"/>
                </a:solidFill>
                <a:latin typeface="Calibri"/>
              </a:defRPr>
            </a:pPr>
            <a:r>
              <a:t>Document uploaded and present</a:t>
            </a:r>
          </a:p>
        </p:txBody>
      </p:sp>
      <p:sp>
        <p:nvSpPr>
          <p:cNvPr id="17" name="TextBox 16"/>
          <p:cNvSpPr txBox="1"/>
          <p:nvPr/>
        </p:nvSpPr>
        <p:spPr>
          <a:xfrm>
            <a:off x="6675120" y="2971800"/>
            <a:ext cx="1645920" cy="228600"/>
          </a:xfrm>
          <a:prstGeom prst="rect">
            <a:avLst/>
          </a:prstGeom>
          <a:noFill/>
        </p:spPr>
        <p:txBody>
          <a:bodyPr wrap="square">
            <a:spAutoFit/>
          </a:bodyPr>
          <a:lstStyle/>
          <a:p>
            <a:pPr algn="l">
              <a:defRPr sz="1200" b="1">
                <a:solidFill>
                  <a:srgbClr val="FF6B35"/>
                </a:solidFill>
                <a:latin typeface="Calibri"/>
              </a:defRPr>
            </a:pPr>
            <a:r>
              <a:t>○ Pending</a:t>
            </a:r>
          </a:p>
        </p:txBody>
      </p:sp>
      <p:sp>
        <p:nvSpPr>
          <p:cNvPr id="18" name="TextBox 17"/>
          <p:cNvSpPr txBox="1"/>
          <p:nvPr/>
        </p:nvSpPr>
        <p:spPr>
          <a:xfrm>
            <a:off x="8321040" y="2971800"/>
            <a:ext cx="3200400" cy="228600"/>
          </a:xfrm>
          <a:prstGeom prst="rect">
            <a:avLst/>
          </a:prstGeom>
          <a:noFill/>
        </p:spPr>
        <p:txBody>
          <a:bodyPr wrap="square">
            <a:spAutoFit/>
          </a:bodyPr>
          <a:lstStyle/>
          <a:p>
            <a:pPr algn="l">
              <a:defRPr sz="1100" b="0">
                <a:solidFill>
                  <a:srgbClr val="555577"/>
                </a:solidFill>
                <a:latin typeface="Calibri"/>
              </a:defRPr>
            </a:pPr>
            <a:r>
              <a:t>Not yet uploaded — no issue yet</a:t>
            </a:r>
          </a:p>
        </p:txBody>
      </p:sp>
      <p:sp>
        <p:nvSpPr>
          <p:cNvPr id="19" name="TextBox 18"/>
          <p:cNvSpPr txBox="1"/>
          <p:nvPr/>
        </p:nvSpPr>
        <p:spPr>
          <a:xfrm>
            <a:off x="6675120" y="3337560"/>
            <a:ext cx="1645920" cy="228600"/>
          </a:xfrm>
          <a:prstGeom prst="rect">
            <a:avLst/>
          </a:prstGeom>
          <a:noFill/>
        </p:spPr>
        <p:txBody>
          <a:bodyPr wrap="square">
            <a:spAutoFit/>
          </a:bodyPr>
          <a:lstStyle/>
          <a:p>
            <a:pPr algn="l">
              <a:defRPr sz="1200" b="1">
                <a:solidFill>
                  <a:srgbClr val="E63946"/>
                </a:solidFill>
                <a:latin typeface="Calibri"/>
              </a:defRPr>
            </a:pPr>
            <a:r>
              <a:t>⚠ Needs Attention</a:t>
            </a:r>
          </a:p>
        </p:txBody>
      </p:sp>
      <p:sp>
        <p:nvSpPr>
          <p:cNvPr id="20" name="TextBox 19"/>
          <p:cNvSpPr txBox="1"/>
          <p:nvPr/>
        </p:nvSpPr>
        <p:spPr>
          <a:xfrm>
            <a:off x="8321040" y="3337560"/>
            <a:ext cx="3200400" cy="228600"/>
          </a:xfrm>
          <a:prstGeom prst="rect">
            <a:avLst/>
          </a:prstGeom>
          <a:noFill/>
        </p:spPr>
        <p:txBody>
          <a:bodyPr wrap="square">
            <a:spAutoFit/>
          </a:bodyPr>
          <a:lstStyle/>
          <a:p>
            <a:pPr algn="l">
              <a:defRPr sz="1100" b="0">
                <a:solidFill>
                  <a:srgbClr val="555577"/>
                </a:solidFill>
                <a:latin typeface="Calibri"/>
              </a:defRPr>
            </a:pPr>
            <a:r>
              <a:t>Required and overdue, or flagged by staff</a:t>
            </a:r>
          </a:p>
        </p:txBody>
      </p:sp>
      <p:sp>
        <p:nvSpPr>
          <p:cNvPr id="21" name="Rounded Rectangle 20"/>
          <p:cNvSpPr/>
          <p:nvPr/>
        </p:nvSpPr>
        <p:spPr>
          <a:xfrm>
            <a:off x="731520" y="4023360"/>
            <a:ext cx="10698480" cy="256032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160520"/>
            <a:ext cx="10058400" cy="274320"/>
          </a:xfrm>
          <a:prstGeom prst="rect">
            <a:avLst/>
          </a:prstGeom>
          <a:noFill/>
        </p:spPr>
        <p:txBody>
          <a:bodyPr wrap="square">
            <a:spAutoFit/>
          </a:bodyPr>
          <a:lstStyle/>
          <a:p>
            <a:pPr algn="l">
              <a:defRPr sz="1500" b="1">
                <a:solidFill>
                  <a:srgbClr val="0B3D91"/>
                </a:solidFill>
                <a:latin typeface="Calibri"/>
              </a:defRPr>
            </a:pPr>
            <a:r>
              <a:t>Common Required Documents (varies by provider type)</a:t>
            </a:r>
          </a:p>
        </p:txBody>
      </p:sp>
      <p:sp>
        <p:nvSpPr>
          <p:cNvPr id="23" name="TextBox 22"/>
          <p:cNvSpPr txBox="1"/>
          <p:nvPr/>
        </p:nvSpPr>
        <p:spPr>
          <a:xfrm>
            <a:off x="1005840" y="4572000"/>
            <a:ext cx="2468880" cy="274320"/>
          </a:xfrm>
          <a:prstGeom prst="rect">
            <a:avLst/>
          </a:prstGeom>
          <a:noFill/>
        </p:spPr>
        <p:txBody>
          <a:bodyPr wrap="square">
            <a:spAutoFit/>
          </a:bodyPr>
          <a:lstStyle/>
          <a:p>
            <a:pPr algn="l">
              <a:defRPr sz="1000" b="0">
                <a:solidFill>
                  <a:srgbClr val="1A1A2E"/>
                </a:solidFill>
                <a:latin typeface="Calibri"/>
              </a:defRPr>
            </a:pPr>
            <a:r>
              <a:t>•  Photo ID (government-issued)</a:t>
            </a:r>
          </a:p>
        </p:txBody>
      </p:sp>
      <p:sp>
        <p:nvSpPr>
          <p:cNvPr id="24" name="TextBox 23"/>
          <p:cNvSpPr txBox="1"/>
          <p:nvPr/>
        </p:nvSpPr>
        <p:spPr>
          <a:xfrm>
            <a:off x="3657600" y="4572000"/>
            <a:ext cx="2468880" cy="274320"/>
          </a:xfrm>
          <a:prstGeom prst="rect">
            <a:avLst/>
          </a:prstGeom>
          <a:noFill/>
        </p:spPr>
        <p:txBody>
          <a:bodyPr wrap="square">
            <a:spAutoFit/>
          </a:bodyPr>
          <a:lstStyle/>
          <a:p>
            <a:pPr algn="l">
              <a:defRPr sz="1000" b="0">
                <a:solidFill>
                  <a:srgbClr val="1A1A2E"/>
                </a:solidFill>
                <a:latin typeface="Calibri"/>
              </a:defRPr>
            </a:pPr>
            <a:r>
              <a:t>•  SSN Card</a:t>
            </a:r>
          </a:p>
        </p:txBody>
      </p:sp>
      <p:sp>
        <p:nvSpPr>
          <p:cNvPr id="25" name="TextBox 24"/>
          <p:cNvSpPr txBox="1"/>
          <p:nvPr/>
        </p:nvSpPr>
        <p:spPr>
          <a:xfrm>
            <a:off x="6309360" y="4572000"/>
            <a:ext cx="2468880" cy="274320"/>
          </a:xfrm>
          <a:prstGeom prst="rect">
            <a:avLst/>
          </a:prstGeom>
          <a:noFill/>
        </p:spPr>
        <p:txBody>
          <a:bodyPr wrap="square">
            <a:spAutoFit/>
          </a:bodyPr>
          <a:lstStyle/>
          <a:p>
            <a:pPr algn="l">
              <a:defRPr sz="1000" b="0">
                <a:solidFill>
                  <a:srgbClr val="1A1A2E"/>
                </a:solidFill>
                <a:latin typeface="Calibri"/>
              </a:defRPr>
            </a:pPr>
            <a:r>
              <a:t>•  Current CV/Resume</a:t>
            </a:r>
          </a:p>
        </p:txBody>
      </p:sp>
      <p:sp>
        <p:nvSpPr>
          <p:cNvPr id="26" name="TextBox 25"/>
          <p:cNvSpPr txBox="1"/>
          <p:nvPr/>
        </p:nvSpPr>
        <p:spPr>
          <a:xfrm>
            <a:off x="8961119" y="4572000"/>
            <a:ext cx="2468880" cy="274320"/>
          </a:xfrm>
          <a:prstGeom prst="rect">
            <a:avLst/>
          </a:prstGeom>
          <a:noFill/>
        </p:spPr>
        <p:txBody>
          <a:bodyPr wrap="square">
            <a:spAutoFit/>
          </a:bodyPr>
          <a:lstStyle/>
          <a:p>
            <a:pPr algn="l">
              <a:defRPr sz="1000" b="0">
                <a:solidFill>
                  <a:srgbClr val="1A1A2E"/>
                </a:solidFill>
                <a:latin typeface="Calibri"/>
              </a:defRPr>
            </a:pPr>
            <a:r>
              <a:t>•  Professional Liability Insurance</a:t>
            </a:r>
          </a:p>
        </p:txBody>
      </p:sp>
      <p:sp>
        <p:nvSpPr>
          <p:cNvPr id="27" name="TextBox 26"/>
          <p:cNvSpPr txBox="1"/>
          <p:nvPr/>
        </p:nvSpPr>
        <p:spPr>
          <a:xfrm>
            <a:off x="1005840" y="4919472"/>
            <a:ext cx="2468880" cy="274320"/>
          </a:xfrm>
          <a:prstGeom prst="rect">
            <a:avLst/>
          </a:prstGeom>
          <a:noFill/>
        </p:spPr>
        <p:txBody>
          <a:bodyPr wrap="square">
            <a:spAutoFit/>
          </a:bodyPr>
          <a:lstStyle/>
          <a:p>
            <a:pPr algn="l">
              <a:defRPr sz="1000" b="0">
                <a:solidFill>
                  <a:srgbClr val="1A1A2E"/>
                </a:solidFill>
                <a:latin typeface="Calibri"/>
              </a:defRPr>
            </a:pPr>
            <a:r>
              <a:t>•  State Medical License(s)</a:t>
            </a:r>
          </a:p>
        </p:txBody>
      </p:sp>
      <p:sp>
        <p:nvSpPr>
          <p:cNvPr id="28" name="TextBox 27"/>
          <p:cNvSpPr txBox="1"/>
          <p:nvPr/>
        </p:nvSpPr>
        <p:spPr>
          <a:xfrm>
            <a:off x="3657600" y="4919472"/>
            <a:ext cx="2468880" cy="274320"/>
          </a:xfrm>
          <a:prstGeom prst="rect">
            <a:avLst/>
          </a:prstGeom>
          <a:noFill/>
        </p:spPr>
        <p:txBody>
          <a:bodyPr wrap="square">
            <a:spAutoFit/>
          </a:bodyPr>
          <a:lstStyle/>
          <a:p>
            <a:pPr algn="l">
              <a:defRPr sz="1000" b="0">
                <a:solidFill>
                  <a:srgbClr val="1A1A2E"/>
                </a:solidFill>
                <a:latin typeface="Calibri"/>
              </a:defRPr>
            </a:pPr>
            <a:r>
              <a:t>•  DEA Certificate(s)</a:t>
            </a:r>
          </a:p>
        </p:txBody>
      </p:sp>
      <p:sp>
        <p:nvSpPr>
          <p:cNvPr id="29" name="TextBox 28"/>
          <p:cNvSpPr txBox="1"/>
          <p:nvPr/>
        </p:nvSpPr>
        <p:spPr>
          <a:xfrm>
            <a:off x="6309360" y="4919472"/>
            <a:ext cx="2468880" cy="274320"/>
          </a:xfrm>
          <a:prstGeom prst="rect">
            <a:avLst/>
          </a:prstGeom>
          <a:noFill/>
        </p:spPr>
        <p:txBody>
          <a:bodyPr wrap="square">
            <a:spAutoFit/>
          </a:bodyPr>
          <a:lstStyle/>
          <a:p>
            <a:pPr algn="l">
              <a:defRPr sz="1000" b="0">
                <a:solidFill>
                  <a:srgbClr val="1A1A2E"/>
                </a:solidFill>
                <a:latin typeface="Calibri"/>
              </a:defRPr>
            </a:pPr>
            <a:r>
              <a:t>•  Medical School Diploma / Grad Certificate</a:t>
            </a:r>
          </a:p>
        </p:txBody>
      </p:sp>
      <p:sp>
        <p:nvSpPr>
          <p:cNvPr id="30" name="TextBox 29"/>
          <p:cNvSpPr txBox="1"/>
          <p:nvPr/>
        </p:nvSpPr>
        <p:spPr>
          <a:xfrm>
            <a:off x="8961119" y="4919472"/>
            <a:ext cx="2468880" cy="274320"/>
          </a:xfrm>
          <a:prstGeom prst="rect">
            <a:avLst/>
          </a:prstGeom>
          <a:noFill/>
        </p:spPr>
        <p:txBody>
          <a:bodyPr wrap="square">
            <a:spAutoFit/>
          </a:bodyPr>
          <a:lstStyle/>
          <a:p>
            <a:pPr algn="l">
              <a:defRPr sz="1000" b="0">
                <a:solidFill>
                  <a:srgbClr val="1A1A2E"/>
                </a:solidFill>
                <a:latin typeface="Calibri"/>
              </a:defRPr>
            </a:pPr>
            <a:r>
              <a:t>•  Board Certification</a:t>
            </a:r>
          </a:p>
        </p:txBody>
      </p:sp>
      <p:sp>
        <p:nvSpPr>
          <p:cNvPr id="31" name="TextBox 30"/>
          <p:cNvSpPr txBox="1"/>
          <p:nvPr/>
        </p:nvSpPr>
        <p:spPr>
          <a:xfrm>
            <a:off x="1005840" y="5266944"/>
            <a:ext cx="2468880" cy="274320"/>
          </a:xfrm>
          <a:prstGeom prst="rect">
            <a:avLst/>
          </a:prstGeom>
          <a:noFill/>
        </p:spPr>
        <p:txBody>
          <a:bodyPr wrap="square">
            <a:spAutoFit/>
          </a:bodyPr>
          <a:lstStyle/>
          <a:p>
            <a:pPr algn="l">
              <a:defRPr sz="1000" b="0">
                <a:solidFill>
                  <a:srgbClr val="1A1A2E"/>
                </a:solidFill>
                <a:latin typeface="Calibri"/>
              </a:defRPr>
            </a:pPr>
            <a:r>
              <a:t>•  BLS Card</a:t>
            </a:r>
          </a:p>
        </p:txBody>
      </p:sp>
      <p:sp>
        <p:nvSpPr>
          <p:cNvPr id="32" name="TextBox 31"/>
          <p:cNvSpPr txBox="1"/>
          <p:nvPr/>
        </p:nvSpPr>
        <p:spPr>
          <a:xfrm>
            <a:off x="3657600" y="5266944"/>
            <a:ext cx="2468880" cy="274320"/>
          </a:xfrm>
          <a:prstGeom prst="rect">
            <a:avLst/>
          </a:prstGeom>
          <a:noFill/>
        </p:spPr>
        <p:txBody>
          <a:bodyPr wrap="square">
            <a:spAutoFit/>
          </a:bodyPr>
          <a:lstStyle/>
          <a:p>
            <a:pPr algn="l">
              <a:defRPr sz="1000" b="0">
                <a:solidFill>
                  <a:srgbClr val="1A1A2E"/>
                </a:solidFill>
                <a:latin typeface="Calibri"/>
              </a:defRPr>
            </a:pPr>
            <a:r>
              <a:t>•  ACLS Card</a:t>
            </a:r>
          </a:p>
        </p:txBody>
      </p:sp>
      <p:sp>
        <p:nvSpPr>
          <p:cNvPr id="33" name="TextBox 32"/>
          <p:cNvSpPr txBox="1"/>
          <p:nvPr/>
        </p:nvSpPr>
        <p:spPr>
          <a:xfrm>
            <a:off x="6309360" y="5266944"/>
            <a:ext cx="2468880" cy="274320"/>
          </a:xfrm>
          <a:prstGeom prst="rect">
            <a:avLst/>
          </a:prstGeom>
          <a:noFill/>
        </p:spPr>
        <p:txBody>
          <a:bodyPr wrap="square">
            <a:spAutoFit/>
          </a:bodyPr>
          <a:lstStyle/>
          <a:p>
            <a:pPr algn="l">
              <a:defRPr sz="1000" b="0">
                <a:solidFill>
                  <a:srgbClr val="1A1A2E"/>
                </a:solidFill>
                <a:latin typeface="Calibri"/>
              </a:defRPr>
            </a:pPr>
            <a:r>
              <a:t>•  PALS Card</a:t>
            </a:r>
          </a:p>
        </p:txBody>
      </p:sp>
      <p:sp>
        <p:nvSpPr>
          <p:cNvPr id="34" name="TextBox 33"/>
          <p:cNvSpPr txBox="1"/>
          <p:nvPr/>
        </p:nvSpPr>
        <p:spPr>
          <a:xfrm>
            <a:off x="8961119" y="5266944"/>
            <a:ext cx="2468880" cy="274320"/>
          </a:xfrm>
          <a:prstGeom prst="rect">
            <a:avLst/>
          </a:prstGeom>
          <a:noFill/>
        </p:spPr>
        <p:txBody>
          <a:bodyPr wrap="square">
            <a:spAutoFit/>
          </a:bodyPr>
          <a:lstStyle/>
          <a:p>
            <a:pPr algn="l">
              <a:defRPr sz="1000" b="0">
                <a:solidFill>
                  <a:srgbClr val="1A1A2E"/>
                </a:solidFill>
                <a:latin typeface="Calibri"/>
              </a:defRPr>
            </a:pPr>
            <a:r>
              <a:t>•  ECFMG Certificate (international MDs)</a:t>
            </a:r>
          </a:p>
        </p:txBody>
      </p:sp>
      <p:sp>
        <p:nvSpPr>
          <p:cNvPr id="35" name="TextBox 34"/>
          <p:cNvSpPr txBox="1"/>
          <p:nvPr/>
        </p:nvSpPr>
        <p:spPr>
          <a:xfrm>
            <a:off x="1005840" y="5614416"/>
            <a:ext cx="2468880" cy="274320"/>
          </a:xfrm>
          <a:prstGeom prst="rect">
            <a:avLst/>
          </a:prstGeom>
          <a:noFill/>
        </p:spPr>
        <p:txBody>
          <a:bodyPr wrap="square">
            <a:spAutoFit/>
          </a:bodyPr>
          <a:lstStyle/>
          <a:p>
            <a:pPr algn="l">
              <a:defRPr sz="1000" b="0">
                <a:solidFill>
                  <a:srgbClr val="1A1A2E"/>
                </a:solidFill>
                <a:latin typeface="Calibri"/>
              </a:defRPr>
            </a:pPr>
            <a:r>
              <a:t>•  Infection Control Certificate</a:t>
            </a:r>
          </a:p>
        </p:txBody>
      </p:sp>
      <p:sp>
        <p:nvSpPr>
          <p:cNvPr id="36" name="TextBox 35"/>
          <p:cNvSpPr txBox="1"/>
          <p:nvPr/>
        </p:nvSpPr>
        <p:spPr>
          <a:xfrm>
            <a:off x="3657600" y="5614416"/>
            <a:ext cx="2468880" cy="274320"/>
          </a:xfrm>
          <a:prstGeom prst="rect">
            <a:avLst/>
          </a:prstGeom>
          <a:noFill/>
        </p:spPr>
        <p:txBody>
          <a:bodyPr wrap="square">
            <a:spAutoFit/>
          </a:bodyPr>
          <a:lstStyle/>
          <a:p>
            <a:pPr algn="l">
              <a:defRPr sz="1000" b="0">
                <a:solidFill>
                  <a:srgbClr val="1A1A2E"/>
                </a:solidFill>
                <a:latin typeface="Calibri"/>
              </a:defRPr>
            </a:pPr>
            <a:r>
              <a:t>•  Child Abuse Certificate</a:t>
            </a:r>
          </a:p>
        </p:txBody>
      </p:sp>
      <p:sp>
        <p:nvSpPr>
          <p:cNvPr id="37" name="TextBox 36"/>
          <p:cNvSpPr txBox="1"/>
          <p:nvPr/>
        </p:nvSpPr>
        <p:spPr>
          <a:xfrm>
            <a:off x="6309360" y="5614416"/>
            <a:ext cx="2468880" cy="274320"/>
          </a:xfrm>
          <a:prstGeom prst="rect">
            <a:avLst/>
          </a:prstGeom>
          <a:noFill/>
        </p:spPr>
        <p:txBody>
          <a:bodyPr wrap="square">
            <a:spAutoFit/>
          </a:bodyPr>
          <a:lstStyle/>
          <a:p>
            <a:pPr algn="l">
              <a:defRPr sz="1000" b="0">
                <a:solidFill>
                  <a:srgbClr val="1A1A2E"/>
                </a:solidFill>
                <a:latin typeface="Calibri"/>
              </a:defRPr>
            </a:pPr>
            <a:r>
              <a:t>•  Pain Management Certificate</a:t>
            </a:r>
          </a:p>
        </p:txBody>
      </p:sp>
      <p:sp>
        <p:nvSpPr>
          <p:cNvPr id="38" name="TextBox 37"/>
          <p:cNvSpPr txBox="1"/>
          <p:nvPr/>
        </p:nvSpPr>
        <p:spPr>
          <a:xfrm>
            <a:off x="8961119" y="5614416"/>
            <a:ext cx="2468880" cy="274320"/>
          </a:xfrm>
          <a:prstGeom prst="rect">
            <a:avLst/>
          </a:prstGeom>
          <a:noFill/>
        </p:spPr>
        <p:txBody>
          <a:bodyPr wrap="square">
            <a:spAutoFit/>
          </a:bodyPr>
          <a:lstStyle/>
          <a:p>
            <a:pPr algn="l">
              <a:defRPr sz="1000" b="0">
                <a:solidFill>
                  <a:srgbClr val="1A1A2E"/>
                </a:solidFill>
                <a:latin typeface="Calibri"/>
              </a:defRPr>
            </a:pPr>
            <a:r>
              <a:t>•  Physical Exam — MMR titres</a:t>
            </a:r>
          </a:p>
        </p:txBody>
      </p:sp>
      <p:sp>
        <p:nvSpPr>
          <p:cNvPr id="39" name="TextBox 38"/>
          <p:cNvSpPr txBox="1"/>
          <p:nvPr/>
        </p:nvSpPr>
        <p:spPr>
          <a:xfrm>
            <a:off x="1005840" y="5961888"/>
            <a:ext cx="2468880" cy="274320"/>
          </a:xfrm>
          <a:prstGeom prst="rect">
            <a:avLst/>
          </a:prstGeom>
          <a:noFill/>
        </p:spPr>
        <p:txBody>
          <a:bodyPr wrap="square">
            <a:spAutoFit/>
          </a:bodyPr>
          <a:lstStyle/>
          <a:p>
            <a:pPr algn="l">
              <a:defRPr sz="1000" b="0">
                <a:solidFill>
                  <a:srgbClr val="1A1A2E"/>
                </a:solidFill>
                <a:latin typeface="Calibri"/>
              </a:defRPr>
            </a:pPr>
            <a:r>
              <a:t>•  PPD / QuantiFERON Gold</a:t>
            </a:r>
          </a:p>
        </p:txBody>
      </p:sp>
      <p:sp>
        <p:nvSpPr>
          <p:cNvPr id="40" name="TextBox 39"/>
          <p:cNvSpPr txBox="1"/>
          <p:nvPr/>
        </p:nvSpPr>
        <p:spPr>
          <a:xfrm>
            <a:off x="3657600" y="5961888"/>
            <a:ext cx="2468880" cy="274320"/>
          </a:xfrm>
          <a:prstGeom prst="rect">
            <a:avLst/>
          </a:prstGeom>
          <a:noFill/>
        </p:spPr>
        <p:txBody>
          <a:bodyPr wrap="square">
            <a:spAutoFit/>
          </a:bodyPr>
          <a:lstStyle/>
          <a:p>
            <a:pPr algn="l">
              <a:defRPr sz="1000" b="0">
                <a:solidFill>
                  <a:srgbClr val="1A1A2E"/>
                </a:solidFill>
                <a:latin typeface="Calibri"/>
              </a:defRPr>
            </a:pPr>
            <a:r>
              <a:t>•  Flu Shot documentation</a:t>
            </a:r>
          </a:p>
        </p:txBody>
      </p:sp>
      <p:sp>
        <p:nvSpPr>
          <p:cNvPr id="41" name="TextBox 40"/>
          <p:cNvSpPr txBox="1"/>
          <p:nvPr/>
        </p:nvSpPr>
        <p:spPr>
          <a:xfrm>
            <a:off x="6309360" y="5961888"/>
            <a:ext cx="2468880" cy="274320"/>
          </a:xfrm>
          <a:prstGeom prst="rect">
            <a:avLst/>
          </a:prstGeom>
          <a:noFill/>
        </p:spPr>
        <p:txBody>
          <a:bodyPr wrap="square">
            <a:spAutoFit/>
          </a:bodyPr>
          <a:lstStyle/>
          <a:p>
            <a:pPr algn="l">
              <a:defRPr sz="1000" b="0">
                <a:solidFill>
                  <a:srgbClr val="1A1A2E"/>
                </a:solidFill>
                <a:latin typeface="Calibri"/>
              </a:defRPr>
            </a:pPr>
            <a:r>
              <a:t>•  Hospital Appointment Letters</a:t>
            </a:r>
          </a:p>
        </p:txBody>
      </p:sp>
      <p:sp>
        <p:nvSpPr>
          <p:cNvPr id="42" name="TextBox 41"/>
          <p:cNvSpPr txBox="1"/>
          <p:nvPr/>
        </p:nvSpPr>
        <p:spPr>
          <a:xfrm>
            <a:off x="8961119" y="5961888"/>
            <a:ext cx="2468880" cy="274320"/>
          </a:xfrm>
          <a:prstGeom prst="rect">
            <a:avLst/>
          </a:prstGeom>
          <a:noFill/>
        </p:spPr>
        <p:txBody>
          <a:bodyPr wrap="square">
            <a:spAutoFit/>
          </a:bodyPr>
          <a:lstStyle/>
          <a:p>
            <a:pPr algn="l">
              <a:defRPr sz="1000" b="0">
                <a:solidFill>
                  <a:srgbClr val="1A1A2E"/>
                </a:solidFill>
                <a:latin typeface="Calibri"/>
              </a:defRPr>
            </a:pPr>
            <a:r>
              <a:t>•  Internship / Residency / Fellowship Certificates</a:t>
            </a:r>
          </a:p>
        </p:txBody>
      </p:sp>
      <p:sp>
        <p:nvSpPr>
          <p:cNvPr id="43" name="TextBox 42"/>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PROVIDER MANAGEMENT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Provider Status Lifecycle — 10 Stages</a:t>
            </a:r>
          </a:p>
        </p:txBody>
      </p:sp>
      <p:sp>
        <p:nvSpPr>
          <p:cNvPr id="4" name="TextBox 3"/>
          <p:cNvSpPr txBox="1"/>
          <p:nvPr/>
        </p:nvSpPr>
        <p:spPr>
          <a:xfrm>
            <a:off x="731520" y="1234440"/>
            <a:ext cx="9144000" cy="320040"/>
          </a:xfrm>
          <a:prstGeom prst="rect">
            <a:avLst/>
          </a:prstGeom>
          <a:noFill/>
        </p:spPr>
        <p:txBody>
          <a:bodyPr wrap="square">
            <a:spAutoFit/>
          </a:bodyPr>
          <a:lstStyle/>
          <a:p>
            <a:pPr algn="l">
              <a:defRPr sz="1400" b="0">
                <a:solidFill>
                  <a:srgbClr val="555577"/>
                </a:solidFill>
                <a:latin typeface="Calibri"/>
              </a:defRPr>
            </a:pPr>
            <a:r>
              <a:t>Every provider progresses through these stages. You advance them using buttons on the detail page header.</a:t>
            </a:r>
          </a:p>
        </p:txBody>
      </p:sp>
      <p:sp>
        <p:nvSpPr>
          <p:cNvPr id="5" name="Rounded Rectangle 4"/>
          <p:cNvSpPr/>
          <p:nvPr/>
        </p:nvSpPr>
        <p:spPr>
          <a:xfrm>
            <a:off x="731520" y="1737360"/>
            <a:ext cx="2011680" cy="1828800"/>
          </a:xfrm>
          <a:prstGeom prst="roundRect">
            <a:avLst/>
          </a:prstGeom>
          <a:solidFill>
            <a:srgbClr val="F8F9FC"/>
          </a:solidFill>
          <a:ln w="127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201168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828800" cy="457200"/>
          </a:xfrm>
          <a:prstGeom prst="rect">
            <a:avLst/>
          </a:prstGeom>
          <a:noFill/>
        </p:spPr>
        <p:txBody>
          <a:bodyPr wrap="square">
            <a:spAutoFit/>
          </a:bodyPr>
          <a:lstStyle/>
          <a:p>
            <a:pPr algn="ctr">
              <a:defRPr sz="1100" b="1">
                <a:solidFill>
                  <a:srgbClr val="00A3E0"/>
                </a:solidFill>
                <a:latin typeface="Calibri"/>
              </a:defRPr>
            </a:pPr>
            <a:r>
              <a:t>INVITED</a:t>
            </a:r>
          </a:p>
        </p:txBody>
      </p:sp>
      <p:sp>
        <p:nvSpPr>
          <p:cNvPr id="8" name="TextBox 7"/>
          <p:cNvSpPr txBox="1"/>
          <p:nvPr/>
        </p:nvSpPr>
        <p:spPr>
          <a:xfrm>
            <a:off x="822960" y="2377440"/>
            <a:ext cx="1828800" cy="457200"/>
          </a:xfrm>
          <a:prstGeom prst="rect">
            <a:avLst/>
          </a:prstGeom>
          <a:noFill/>
        </p:spPr>
        <p:txBody>
          <a:bodyPr wrap="square">
            <a:spAutoFit/>
          </a:bodyPr>
          <a:lstStyle/>
          <a:p>
            <a:pPr algn="ctr">
              <a:defRPr sz="900" b="0">
                <a:solidFill>
                  <a:srgbClr val="555577"/>
                </a:solidFill>
                <a:latin typeface="Calibri"/>
              </a:defRPr>
            </a:pPr>
            <a:r>
              <a:t>Outreach email sent.</a:t>
            </a:r>
            <a:br/>
            <a:r>
              <a:t>Waiting for provider.</a:t>
            </a:r>
          </a:p>
        </p:txBody>
      </p:sp>
      <p:sp>
        <p:nvSpPr>
          <p:cNvPr id="9" name="TextBox 8"/>
          <p:cNvSpPr txBox="1"/>
          <p:nvPr/>
        </p:nvSpPr>
        <p:spPr>
          <a:xfrm>
            <a:off x="822960" y="2926080"/>
            <a:ext cx="1828800" cy="457200"/>
          </a:xfrm>
          <a:prstGeom prst="rect">
            <a:avLst/>
          </a:prstGeom>
          <a:noFill/>
        </p:spPr>
        <p:txBody>
          <a:bodyPr wrap="square">
            <a:spAutoFit/>
          </a:bodyPr>
          <a:lstStyle/>
          <a:p>
            <a:pPr algn="ctr">
              <a:defRPr sz="900" b="0">
                <a:solidFill>
                  <a:srgbClr val="1A1A2E"/>
                </a:solidFill>
                <a:latin typeface="Calibri"/>
              </a:defRPr>
            </a:pPr>
            <a:r>
              <a:t>Provider clicks link,</a:t>
            </a:r>
            <a:br/>
            <a:r>
              <a:t>begins application</a:t>
            </a:r>
          </a:p>
        </p:txBody>
      </p:sp>
      <p:sp>
        <p:nvSpPr>
          <p:cNvPr id="10" name="TextBox 9"/>
          <p:cNvSpPr txBox="1"/>
          <p:nvPr/>
        </p:nvSpPr>
        <p:spPr>
          <a:xfrm>
            <a:off x="2743200" y="2468880"/>
            <a:ext cx="731520" cy="274320"/>
          </a:xfrm>
          <a:prstGeom prst="rect">
            <a:avLst/>
          </a:prstGeom>
          <a:noFill/>
        </p:spPr>
        <p:txBody>
          <a:bodyPr wrap="square">
            <a:spAutoFit/>
          </a:bodyPr>
          <a:lstStyle/>
          <a:p>
            <a:pPr algn="ctr">
              <a:defRPr sz="2000" b="1">
                <a:solidFill>
                  <a:srgbClr val="00A3E0"/>
                </a:solidFill>
                <a:latin typeface="Calibri"/>
              </a:defRPr>
            </a:pPr>
            <a:r>
              <a:t>→</a:t>
            </a:r>
          </a:p>
        </p:txBody>
      </p:sp>
      <p:sp>
        <p:nvSpPr>
          <p:cNvPr id="11" name="Rounded Rectangle 10"/>
          <p:cNvSpPr/>
          <p:nvPr/>
        </p:nvSpPr>
        <p:spPr>
          <a:xfrm>
            <a:off x="3017520" y="1737360"/>
            <a:ext cx="2011680" cy="1828800"/>
          </a:xfrm>
          <a:prstGeom prst="roundRect">
            <a:avLst/>
          </a:prstGeom>
          <a:solidFill>
            <a:srgbClr val="F8F9FC"/>
          </a:solidFill>
          <a:ln w="127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17520" y="1737360"/>
            <a:ext cx="201168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1874519"/>
            <a:ext cx="1828800" cy="457200"/>
          </a:xfrm>
          <a:prstGeom prst="rect">
            <a:avLst/>
          </a:prstGeom>
          <a:noFill/>
        </p:spPr>
        <p:txBody>
          <a:bodyPr wrap="square">
            <a:spAutoFit/>
          </a:bodyPr>
          <a:lstStyle/>
          <a:p>
            <a:pPr algn="ctr">
              <a:defRPr sz="1100" b="1">
                <a:solidFill>
                  <a:srgbClr val="00A3E0"/>
                </a:solidFill>
                <a:latin typeface="Calibri"/>
              </a:defRPr>
            </a:pPr>
            <a:r>
              <a:t>ONBOARDING</a:t>
            </a:r>
            <a:br/>
            <a:r>
              <a:t>IN PROGRESS</a:t>
            </a:r>
          </a:p>
        </p:txBody>
      </p:sp>
      <p:sp>
        <p:nvSpPr>
          <p:cNvPr id="14" name="TextBox 13"/>
          <p:cNvSpPr txBox="1"/>
          <p:nvPr/>
        </p:nvSpPr>
        <p:spPr>
          <a:xfrm>
            <a:off x="3108960" y="2377440"/>
            <a:ext cx="1828800" cy="457200"/>
          </a:xfrm>
          <a:prstGeom prst="rect">
            <a:avLst/>
          </a:prstGeom>
          <a:noFill/>
        </p:spPr>
        <p:txBody>
          <a:bodyPr wrap="square">
            <a:spAutoFit/>
          </a:bodyPr>
          <a:lstStyle/>
          <a:p>
            <a:pPr algn="ctr">
              <a:defRPr sz="900" b="0">
                <a:solidFill>
                  <a:srgbClr val="555577"/>
                </a:solidFill>
                <a:latin typeface="Calibri"/>
              </a:defRPr>
            </a:pPr>
            <a:r>
              <a:t>Provider is actively</a:t>
            </a:r>
            <a:br/>
            <a:r>
              <a:t>filling out application</a:t>
            </a:r>
          </a:p>
        </p:txBody>
      </p:sp>
      <p:sp>
        <p:nvSpPr>
          <p:cNvPr id="15" name="TextBox 14"/>
          <p:cNvSpPr txBox="1"/>
          <p:nvPr/>
        </p:nvSpPr>
        <p:spPr>
          <a:xfrm>
            <a:off x="3108960" y="2926080"/>
            <a:ext cx="1828800" cy="457200"/>
          </a:xfrm>
          <a:prstGeom prst="rect">
            <a:avLst/>
          </a:prstGeom>
          <a:noFill/>
        </p:spPr>
        <p:txBody>
          <a:bodyPr wrap="square">
            <a:spAutoFit/>
          </a:bodyPr>
          <a:lstStyle/>
          <a:p>
            <a:pPr algn="ctr">
              <a:defRPr sz="900" b="0">
                <a:solidFill>
                  <a:srgbClr val="1A1A2E"/>
                </a:solidFill>
                <a:latin typeface="Calibri"/>
              </a:defRPr>
            </a:pPr>
            <a:r>
              <a:t>Complete all</a:t>
            </a:r>
            <a:br/>
            <a:r>
              <a:t>required fields</a:t>
            </a:r>
          </a:p>
        </p:txBody>
      </p:sp>
      <p:sp>
        <p:nvSpPr>
          <p:cNvPr id="16" name="TextBox 15"/>
          <p:cNvSpPr txBox="1"/>
          <p:nvPr/>
        </p:nvSpPr>
        <p:spPr>
          <a:xfrm>
            <a:off x="5029200" y="2468880"/>
            <a:ext cx="731520" cy="274320"/>
          </a:xfrm>
          <a:prstGeom prst="rect">
            <a:avLst/>
          </a:prstGeom>
          <a:noFill/>
        </p:spPr>
        <p:txBody>
          <a:bodyPr wrap="square">
            <a:spAutoFit/>
          </a:bodyPr>
          <a:lstStyle/>
          <a:p>
            <a:pPr algn="ctr">
              <a:defRPr sz="2000" b="1">
                <a:solidFill>
                  <a:srgbClr val="00A3E0"/>
                </a:solidFill>
                <a:latin typeface="Calibri"/>
              </a:defRPr>
            </a:pPr>
            <a:r>
              <a:t>→</a:t>
            </a:r>
          </a:p>
        </p:txBody>
      </p:sp>
      <p:sp>
        <p:nvSpPr>
          <p:cNvPr id="17" name="Rounded Rectangle 16"/>
          <p:cNvSpPr/>
          <p:nvPr/>
        </p:nvSpPr>
        <p:spPr>
          <a:xfrm>
            <a:off x="5303520" y="1737360"/>
            <a:ext cx="2011680" cy="1828800"/>
          </a:xfrm>
          <a:prstGeom prst="roundRect">
            <a:avLst/>
          </a:prstGeom>
          <a:solidFill>
            <a:srgbClr val="F8F9FC"/>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0" y="1737360"/>
            <a:ext cx="20116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59" y="1874519"/>
            <a:ext cx="1828800" cy="457200"/>
          </a:xfrm>
          <a:prstGeom prst="rect">
            <a:avLst/>
          </a:prstGeom>
          <a:noFill/>
        </p:spPr>
        <p:txBody>
          <a:bodyPr wrap="square">
            <a:spAutoFit/>
          </a:bodyPr>
          <a:lstStyle/>
          <a:p>
            <a:pPr algn="ctr">
              <a:defRPr sz="1100" b="1">
                <a:solidFill>
                  <a:srgbClr val="FF6B35"/>
                </a:solidFill>
                <a:latin typeface="Calibri"/>
              </a:defRPr>
            </a:pPr>
            <a:r>
              <a:t>DOCUMENTS</a:t>
            </a:r>
            <a:br/>
            <a:r>
              <a:t>PENDING</a:t>
            </a:r>
          </a:p>
        </p:txBody>
      </p:sp>
      <p:sp>
        <p:nvSpPr>
          <p:cNvPr id="20" name="TextBox 19"/>
          <p:cNvSpPr txBox="1"/>
          <p:nvPr/>
        </p:nvSpPr>
        <p:spPr>
          <a:xfrm>
            <a:off x="5394959" y="2377440"/>
            <a:ext cx="1828800" cy="457200"/>
          </a:xfrm>
          <a:prstGeom prst="rect">
            <a:avLst/>
          </a:prstGeom>
          <a:noFill/>
        </p:spPr>
        <p:txBody>
          <a:bodyPr wrap="square">
            <a:spAutoFit/>
          </a:bodyPr>
          <a:lstStyle/>
          <a:p>
            <a:pPr algn="ctr">
              <a:defRPr sz="900" b="0">
                <a:solidFill>
                  <a:srgbClr val="555577"/>
                </a:solidFill>
                <a:latin typeface="Calibri"/>
              </a:defRPr>
            </a:pPr>
            <a:r>
              <a:t>Application done.</a:t>
            </a:r>
            <a:br/>
            <a:r>
              <a:t>Awaiting doc uploads</a:t>
            </a:r>
          </a:p>
        </p:txBody>
      </p:sp>
      <p:sp>
        <p:nvSpPr>
          <p:cNvPr id="21" name="TextBox 20"/>
          <p:cNvSpPr txBox="1"/>
          <p:nvPr/>
        </p:nvSpPr>
        <p:spPr>
          <a:xfrm>
            <a:off x="5394959" y="2926080"/>
            <a:ext cx="1828800" cy="457200"/>
          </a:xfrm>
          <a:prstGeom prst="rect">
            <a:avLst/>
          </a:prstGeom>
          <a:noFill/>
        </p:spPr>
        <p:txBody>
          <a:bodyPr wrap="square">
            <a:spAutoFit/>
          </a:bodyPr>
          <a:lstStyle/>
          <a:p>
            <a:pPr algn="ctr">
              <a:defRPr sz="900" b="0">
                <a:solidFill>
                  <a:srgbClr val="1A1A2E"/>
                </a:solidFill>
                <a:latin typeface="Calibri"/>
              </a:defRPr>
            </a:pPr>
            <a:r>
              <a:t>Provider uploads</a:t>
            </a:r>
            <a:br/>
            <a:r>
              <a:t>remaining documents</a:t>
            </a:r>
          </a:p>
        </p:txBody>
      </p:sp>
      <p:sp>
        <p:nvSpPr>
          <p:cNvPr id="22" name="TextBox 21"/>
          <p:cNvSpPr txBox="1"/>
          <p:nvPr/>
        </p:nvSpPr>
        <p:spPr>
          <a:xfrm>
            <a:off x="7315200" y="2468880"/>
            <a:ext cx="731520" cy="274320"/>
          </a:xfrm>
          <a:prstGeom prst="rect">
            <a:avLst/>
          </a:prstGeom>
          <a:noFill/>
        </p:spPr>
        <p:txBody>
          <a:bodyPr wrap="square">
            <a:spAutoFit/>
          </a:bodyPr>
          <a:lstStyle/>
          <a:p>
            <a:pPr algn="ctr">
              <a:defRPr sz="2000" b="1">
                <a:solidFill>
                  <a:srgbClr val="FF6B35"/>
                </a:solidFill>
                <a:latin typeface="Calibri"/>
              </a:defRPr>
            </a:pPr>
            <a:r>
              <a:t>→</a:t>
            </a:r>
          </a:p>
        </p:txBody>
      </p:sp>
      <p:sp>
        <p:nvSpPr>
          <p:cNvPr id="23" name="Rounded Rectangle 22"/>
          <p:cNvSpPr/>
          <p:nvPr/>
        </p:nvSpPr>
        <p:spPr>
          <a:xfrm>
            <a:off x="7589520" y="1737360"/>
            <a:ext cx="2011680" cy="1828800"/>
          </a:xfrm>
          <a:prstGeom prst="roundRect">
            <a:avLst/>
          </a:prstGeom>
          <a:solidFill>
            <a:srgbClr val="F8F9FC"/>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1737360"/>
            <a:ext cx="201168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1874519"/>
            <a:ext cx="1828800" cy="457200"/>
          </a:xfrm>
          <a:prstGeom prst="rect">
            <a:avLst/>
          </a:prstGeom>
          <a:noFill/>
        </p:spPr>
        <p:txBody>
          <a:bodyPr wrap="square">
            <a:spAutoFit/>
          </a:bodyPr>
          <a:lstStyle/>
          <a:p>
            <a:pPr algn="ctr">
              <a:defRPr sz="1100" b="1">
                <a:solidFill>
                  <a:srgbClr val="FF6B35"/>
                </a:solidFill>
                <a:latin typeface="Calibri"/>
              </a:defRPr>
            </a:pPr>
            <a:r>
              <a:t>VERIFICATION</a:t>
            </a:r>
            <a:br/>
            <a:r>
              <a:t>IN PROGRESS</a:t>
            </a:r>
          </a:p>
        </p:txBody>
      </p:sp>
      <p:sp>
        <p:nvSpPr>
          <p:cNvPr id="26" name="TextBox 25"/>
          <p:cNvSpPr txBox="1"/>
          <p:nvPr/>
        </p:nvSpPr>
        <p:spPr>
          <a:xfrm>
            <a:off x="7680960" y="2377440"/>
            <a:ext cx="1828800" cy="457200"/>
          </a:xfrm>
          <a:prstGeom prst="rect">
            <a:avLst/>
          </a:prstGeom>
          <a:noFill/>
        </p:spPr>
        <p:txBody>
          <a:bodyPr wrap="square">
            <a:spAutoFit/>
          </a:bodyPr>
          <a:lstStyle/>
          <a:p>
            <a:pPr algn="ctr">
              <a:defRPr sz="900" b="0">
                <a:solidFill>
                  <a:srgbClr val="555577"/>
                </a:solidFill>
                <a:latin typeface="Calibri"/>
              </a:defRPr>
            </a:pPr>
            <a:r>
              <a:t>All docs received.</a:t>
            </a:r>
            <a:br/>
            <a:r>
              <a:t>Bots running PSV</a:t>
            </a:r>
          </a:p>
        </p:txBody>
      </p:sp>
      <p:sp>
        <p:nvSpPr>
          <p:cNvPr id="27" name="TextBox 26"/>
          <p:cNvSpPr txBox="1"/>
          <p:nvPr/>
        </p:nvSpPr>
        <p:spPr>
          <a:xfrm>
            <a:off x="7680960" y="2926080"/>
            <a:ext cx="1828800" cy="457200"/>
          </a:xfrm>
          <a:prstGeom prst="rect">
            <a:avLst/>
          </a:prstGeom>
          <a:noFill/>
        </p:spPr>
        <p:txBody>
          <a:bodyPr wrap="square">
            <a:spAutoFit/>
          </a:bodyPr>
          <a:lstStyle/>
          <a:p>
            <a:pPr algn="ctr">
              <a:defRPr sz="900" b="0">
                <a:solidFill>
                  <a:srgbClr val="1A1A2E"/>
                </a:solidFill>
                <a:latin typeface="Calibri"/>
              </a:defRPr>
            </a:pPr>
            <a:r>
              <a:t>Wait for bots.</a:t>
            </a:r>
            <a:br/>
            <a:r>
              <a:t>Review flagged items</a:t>
            </a:r>
          </a:p>
        </p:txBody>
      </p:sp>
      <p:sp>
        <p:nvSpPr>
          <p:cNvPr id="28" name="TextBox 27"/>
          <p:cNvSpPr txBox="1"/>
          <p:nvPr/>
        </p:nvSpPr>
        <p:spPr>
          <a:xfrm>
            <a:off x="9601200" y="2468880"/>
            <a:ext cx="731520" cy="274320"/>
          </a:xfrm>
          <a:prstGeom prst="rect">
            <a:avLst/>
          </a:prstGeom>
          <a:noFill/>
        </p:spPr>
        <p:txBody>
          <a:bodyPr wrap="square">
            <a:spAutoFit/>
          </a:bodyPr>
          <a:lstStyle/>
          <a:p>
            <a:pPr algn="ctr">
              <a:defRPr sz="2000" b="1">
                <a:solidFill>
                  <a:srgbClr val="FF6B35"/>
                </a:solidFill>
                <a:latin typeface="Calibri"/>
              </a:defRPr>
            </a:pPr>
            <a:r>
              <a:t>→</a:t>
            </a:r>
          </a:p>
        </p:txBody>
      </p:sp>
      <p:sp>
        <p:nvSpPr>
          <p:cNvPr id="29" name="Rounded Rectangle 28"/>
          <p:cNvSpPr/>
          <p:nvPr/>
        </p:nvSpPr>
        <p:spPr>
          <a:xfrm>
            <a:off x="9875520" y="1737360"/>
            <a:ext cx="2011680" cy="1828800"/>
          </a:xfrm>
          <a:prstGeom prst="roundRect">
            <a:avLst/>
          </a:prstGeom>
          <a:solidFill>
            <a:srgbClr val="F8F9FC"/>
          </a:solidFill>
          <a:ln w="12700">
            <a:solidFill>
              <a:srgbClr val="00B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875520" y="1737360"/>
            <a:ext cx="2011680" cy="54864"/>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66960" y="1874519"/>
            <a:ext cx="1828800" cy="457200"/>
          </a:xfrm>
          <a:prstGeom prst="rect">
            <a:avLst/>
          </a:prstGeom>
          <a:noFill/>
        </p:spPr>
        <p:txBody>
          <a:bodyPr wrap="square">
            <a:spAutoFit/>
          </a:bodyPr>
          <a:lstStyle/>
          <a:p>
            <a:pPr algn="ctr">
              <a:defRPr sz="1100" b="1">
                <a:solidFill>
                  <a:srgbClr val="00B67A"/>
                </a:solidFill>
                <a:latin typeface="Calibri"/>
              </a:defRPr>
            </a:pPr>
            <a:r>
              <a:t>COMMITTEE</a:t>
            </a:r>
            <a:br/>
            <a:r>
              <a:t>READY</a:t>
            </a:r>
          </a:p>
        </p:txBody>
      </p:sp>
      <p:sp>
        <p:nvSpPr>
          <p:cNvPr id="32" name="TextBox 31"/>
          <p:cNvSpPr txBox="1"/>
          <p:nvPr/>
        </p:nvSpPr>
        <p:spPr>
          <a:xfrm>
            <a:off x="9966960" y="2377440"/>
            <a:ext cx="1828800" cy="457200"/>
          </a:xfrm>
          <a:prstGeom prst="rect">
            <a:avLst/>
          </a:prstGeom>
          <a:noFill/>
        </p:spPr>
        <p:txBody>
          <a:bodyPr wrap="square">
            <a:spAutoFit/>
          </a:bodyPr>
          <a:lstStyle/>
          <a:p>
            <a:pPr algn="ctr">
              <a:defRPr sz="900" b="0">
                <a:solidFill>
                  <a:srgbClr val="555577"/>
                </a:solidFill>
                <a:latin typeface="Calibri"/>
              </a:defRPr>
            </a:pPr>
            <a:r>
              <a:t>All verifications clear.</a:t>
            </a:r>
            <a:br/>
            <a:r>
              <a:t>Ready for review</a:t>
            </a:r>
          </a:p>
        </p:txBody>
      </p:sp>
      <p:sp>
        <p:nvSpPr>
          <p:cNvPr id="33" name="TextBox 32"/>
          <p:cNvSpPr txBox="1"/>
          <p:nvPr/>
        </p:nvSpPr>
        <p:spPr>
          <a:xfrm>
            <a:off x="9966960" y="2926080"/>
            <a:ext cx="1828800" cy="457200"/>
          </a:xfrm>
          <a:prstGeom prst="rect">
            <a:avLst/>
          </a:prstGeom>
          <a:noFill/>
        </p:spPr>
        <p:txBody>
          <a:bodyPr wrap="square">
            <a:spAutoFit/>
          </a:bodyPr>
          <a:lstStyle/>
          <a:p>
            <a:pPr algn="ctr">
              <a:defRPr sz="900" b="0">
                <a:solidFill>
                  <a:srgbClr val="1A1A2E"/>
                </a:solidFill>
                <a:latin typeface="Calibri"/>
              </a:defRPr>
            </a:pPr>
            <a:r>
              <a:t>Manager adds to</a:t>
            </a:r>
            <a:br/>
            <a:r>
              <a:t>committee session</a:t>
            </a:r>
          </a:p>
        </p:txBody>
      </p:sp>
      <p:sp>
        <p:nvSpPr>
          <p:cNvPr id="34" name="Rounded Rectangle 33"/>
          <p:cNvSpPr/>
          <p:nvPr/>
        </p:nvSpPr>
        <p:spPr>
          <a:xfrm>
            <a:off x="731520" y="3840480"/>
            <a:ext cx="2011680" cy="1828800"/>
          </a:xfrm>
          <a:prstGeom prst="roundRect">
            <a:avLst/>
          </a:prstGeom>
          <a:solidFill>
            <a:srgbClr val="F8F9FC"/>
          </a:solid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 y="3840480"/>
            <a:ext cx="2011680" cy="54864"/>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3977639"/>
            <a:ext cx="1828800" cy="457200"/>
          </a:xfrm>
          <a:prstGeom prst="rect">
            <a:avLst/>
          </a:prstGeom>
          <a:noFill/>
        </p:spPr>
        <p:txBody>
          <a:bodyPr wrap="square">
            <a:spAutoFit/>
          </a:bodyPr>
          <a:lstStyle/>
          <a:p>
            <a:pPr algn="ctr">
              <a:defRPr sz="1100" b="1">
                <a:solidFill>
                  <a:srgbClr val="0B3D91"/>
                </a:solidFill>
                <a:latin typeface="Calibri"/>
              </a:defRPr>
            </a:pPr>
            <a:r>
              <a:t>COMMITTEE</a:t>
            </a:r>
            <a:br/>
            <a:r>
              <a:t>IN REVIEW</a:t>
            </a:r>
          </a:p>
        </p:txBody>
      </p:sp>
      <p:sp>
        <p:nvSpPr>
          <p:cNvPr id="37" name="TextBox 36"/>
          <p:cNvSpPr txBox="1"/>
          <p:nvPr/>
        </p:nvSpPr>
        <p:spPr>
          <a:xfrm>
            <a:off x="822960" y="4480560"/>
            <a:ext cx="1828800" cy="457200"/>
          </a:xfrm>
          <a:prstGeom prst="rect">
            <a:avLst/>
          </a:prstGeom>
          <a:noFill/>
        </p:spPr>
        <p:txBody>
          <a:bodyPr wrap="square">
            <a:spAutoFit/>
          </a:bodyPr>
          <a:lstStyle/>
          <a:p>
            <a:pPr algn="ctr">
              <a:defRPr sz="900" b="0">
                <a:solidFill>
                  <a:srgbClr val="555577"/>
                </a:solidFill>
                <a:latin typeface="Calibri"/>
              </a:defRPr>
            </a:pPr>
            <a:r>
              <a:t>On active session</a:t>
            </a:r>
            <a:br/>
            <a:r>
              <a:t>agenda</a:t>
            </a:r>
          </a:p>
        </p:txBody>
      </p:sp>
      <p:sp>
        <p:nvSpPr>
          <p:cNvPr id="38" name="TextBox 37"/>
          <p:cNvSpPr txBox="1"/>
          <p:nvPr/>
        </p:nvSpPr>
        <p:spPr>
          <a:xfrm>
            <a:off x="822960" y="5029200"/>
            <a:ext cx="1828800" cy="457200"/>
          </a:xfrm>
          <a:prstGeom prst="rect">
            <a:avLst/>
          </a:prstGeom>
          <a:noFill/>
        </p:spPr>
        <p:txBody>
          <a:bodyPr wrap="square">
            <a:spAutoFit/>
          </a:bodyPr>
          <a:lstStyle/>
          <a:p>
            <a:pPr algn="ctr">
              <a:defRPr sz="900" b="0">
                <a:solidFill>
                  <a:srgbClr val="1A1A2E"/>
                </a:solidFill>
                <a:latin typeface="Calibri"/>
              </a:defRPr>
            </a:pPr>
            <a:r>
              <a:t>Committee reviews</a:t>
            </a:r>
            <a:br/>
            <a:r>
              <a:t>and votes</a:t>
            </a:r>
          </a:p>
        </p:txBody>
      </p:sp>
      <p:sp>
        <p:nvSpPr>
          <p:cNvPr id="39" name="Rounded Rectangle 38"/>
          <p:cNvSpPr/>
          <p:nvPr/>
        </p:nvSpPr>
        <p:spPr>
          <a:xfrm>
            <a:off x="3017520" y="3840480"/>
            <a:ext cx="2011680" cy="1828800"/>
          </a:xfrm>
          <a:prstGeom prst="roundRect">
            <a:avLst/>
          </a:prstGeom>
          <a:solidFill>
            <a:srgbClr val="F8F9FC"/>
          </a:solidFill>
          <a:ln w="12700">
            <a:solidFill>
              <a:srgbClr val="00B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017520" y="3840480"/>
            <a:ext cx="2011680" cy="54864"/>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08960" y="3977639"/>
            <a:ext cx="1828800" cy="457200"/>
          </a:xfrm>
          <a:prstGeom prst="rect">
            <a:avLst/>
          </a:prstGeom>
          <a:noFill/>
        </p:spPr>
        <p:txBody>
          <a:bodyPr wrap="square">
            <a:spAutoFit/>
          </a:bodyPr>
          <a:lstStyle/>
          <a:p>
            <a:pPr algn="ctr">
              <a:defRPr sz="1100" b="1">
                <a:solidFill>
                  <a:srgbClr val="00B67A"/>
                </a:solidFill>
                <a:latin typeface="Calibri"/>
              </a:defRPr>
            </a:pPr>
            <a:r>
              <a:t>APPROVED</a:t>
            </a:r>
          </a:p>
        </p:txBody>
      </p:sp>
      <p:sp>
        <p:nvSpPr>
          <p:cNvPr id="42" name="TextBox 41"/>
          <p:cNvSpPr txBox="1"/>
          <p:nvPr/>
        </p:nvSpPr>
        <p:spPr>
          <a:xfrm>
            <a:off x="3108960" y="4480560"/>
            <a:ext cx="1828800" cy="457200"/>
          </a:xfrm>
          <a:prstGeom prst="rect">
            <a:avLst/>
          </a:prstGeom>
          <a:noFill/>
        </p:spPr>
        <p:txBody>
          <a:bodyPr wrap="square">
            <a:spAutoFit/>
          </a:bodyPr>
          <a:lstStyle/>
          <a:p>
            <a:pPr algn="ctr">
              <a:defRPr sz="900" b="0">
                <a:solidFill>
                  <a:srgbClr val="555577"/>
                </a:solidFill>
                <a:latin typeface="Calibri"/>
              </a:defRPr>
            </a:pPr>
            <a:r>
              <a:t>Committee</a:t>
            </a:r>
            <a:br/>
            <a:r>
              <a:t>approved provider</a:t>
            </a:r>
          </a:p>
        </p:txBody>
      </p:sp>
      <p:sp>
        <p:nvSpPr>
          <p:cNvPr id="43" name="TextBox 42"/>
          <p:cNvSpPr txBox="1"/>
          <p:nvPr/>
        </p:nvSpPr>
        <p:spPr>
          <a:xfrm>
            <a:off x="3108960" y="5029200"/>
            <a:ext cx="1828800" cy="457200"/>
          </a:xfrm>
          <a:prstGeom prst="rect">
            <a:avLst/>
          </a:prstGeom>
          <a:noFill/>
        </p:spPr>
        <p:txBody>
          <a:bodyPr wrap="square">
            <a:spAutoFit/>
          </a:bodyPr>
          <a:lstStyle/>
          <a:p>
            <a:pPr algn="ctr">
              <a:defRPr sz="900" b="0">
                <a:solidFill>
                  <a:srgbClr val="1A1A2E"/>
                </a:solidFill>
                <a:latin typeface="Calibri"/>
              </a:defRPr>
            </a:pPr>
            <a:r>
              <a:t>Begin payer</a:t>
            </a:r>
            <a:br/>
            <a:r>
              <a:t>enrollments</a:t>
            </a:r>
          </a:p>
        </p:txBody>
      </p:sp>
      <p:sp>
        <p:nvSpPr>
          <p:cNvPr id="44" name="Rounded Rectangle 43"/>
          <p:cNvSpPr/>
          <p:nvPr/>
        </p:nvSpPr>
        <p:spPr>
          <a:xfrm>
            <a:off x="5303520" y="3840480"/>
            <a:ext cx="2011680" cy="1828800"/>
          </a:xfrm>
          <a:prstGeom prst="roundRect">
            <a:avLst/>
          </a:prstGeom>
          <a:solidFill>
            <a:srgbClr val="F8F9FC"/>
          </a:solidFill>
          <a:ln w="127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03520" y="3840480"/>
            <a:ext cx="2011680" cy="54864"/>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94959" y="3977639"/>
            <a:ext cx="1828800" cy="457200"/>
          </a:xfrm>
          <a:prstGeom prst="rect">
            <a:avLst/>
          </a:prstGeom>
          <a:noFill/>
        </p:spPr>
        <p:txBody>
          <a:bodyPr wrap="square">
            <a:spAutoFit/>
          </a:bodyPr>
          <a:lstStyle/>
          <a:p>
            <a:pPr algn="ctr">
              <a:defRPr sz="1100" b="1">
                <a:solidFill>
                  <a:srgbClr val="E63946"/>
                </a:solidFill>
                <a:latin typeface="Calibri"/>
              </a:defRPr>
            </a:pPr>
            <a:r>
              <a:t>DENIED</a:t>
            </a:r>
          </a:p>
        </p:txBody>
      </p:sp>
      <p:sp>
        <p:nvSpPr>
          <p:cNvPr id="47" name="TextBox 46"/>
          <p:cNvSpPr txBox="1"/>
          <p:nvPr/>
        </p:nvSpPr>
        <p:spPr>
          <a:xfrm>
            <a:off x="5394959" y="4480560"/>
            <a:ext cx="1828800" cy="457200"/>
          </a:xfrm>
          <a:prstGeom prst="rect">
            <a:avLst/>
          </a:prstGeom>
          <a:noFill/>
        </p:spPr>
        <p:txBody>
          <a:bodyPr wrap="square">
            <a:spAutoFit/>
          </a:bodyPr>
          <a:lstStyle/>
          <a:p>
            <a:pPr algn="ctr">
              <a:defRPr sz="900" b="0">
                <a:solidFill>
                  <a:srgbClr val="555577"/>
                </a:solidFill>
                <a:latin typeface="Calibri"/>
              </a:defRPr>
            </a:pPr>
            <a:r>
              <a:t>Committee</a:t>
            </a:r>
            <a:br/>
            <a:r>
              <a:t>denied provider</a:t>
            </a:r>
          </a:p>
        </p:txBody>
      </p:sp>
      <p:sp>
        <p:nvSpPr>
          <p:cNvPr id="48" name="TextBox 47"/>
          <p:cNvSpPr txBox="1"/>
          <p:nvPr/>
        </p:nvSpPr>
        <p:spPr>
          <a:xfrm>
            <a:off x="5394959" y="5029200"/>
            <a:ext cx="1828800" cy="457200"/>
          </a:xfrm>
          <a:prstGeom prst="rect">
            <a:avLst/>
          </a:prstGeom>
          <a:noFill/>
        </p:spPr>
        <p:txBody>
          <a:bodyPr wrap="square">
            <a:spAutoFit/>
          </a:bodyPr>
          <a:lstStyle/>
          <a:p>
            <a:pPr algn="ctr">
              <a:defRPr sz="900" b="0">
                <a:solidFill>
                  <a:srgbClr val="1A1A2E"/>
                </a:solidFill>
                <a:latin typeface="Calibri"/>
              </a:defRPr>
            </a:pPr>
            <a:r>
              <a:t>Application</a:t>
            </a:r>
            <a:br/>
            <a:r>
              <a:t>closed</a:t>
            </a:r>
          </a:p>
        </p:txBody>
      </p:sp>
      <p:sp>
        <p:nvSpPr>
          <p:cNvPr id="49" name="Rounded Rectangle 48"/>
          <p:cNvSpPr/>
          <p:nvPr/>
        </p:nvSpPr>
        <p:spPr>
          <a:xfrm>
            <a:off x="7589520" y="3840480"/>
            <a:ext cx="2011680" cy="1828800"/>
          </a:xfrm>
          <a:prstGeom prst="roundRect">
            <a:avLst/>
          </a:prstGeom>
          <a:solidFill>
            <a:srgbClr val="F8F9FC"/>
          </a:solidFill>
          <a:ln w="1270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3840480"/>
            <a:ext cx="2011680" cy="54864"/>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80960" y="3977639"/>
            <a:ext cx="1828800" cy="457200"/>
          </a:xfrm>
          <a:prstGeom prst="rect">
            <a:avLst/>
          </a:prstGeom>
          <a:noFill/>
        </p:spPr>
        <p:txBody>
          <a:bodyPr wrap="square">
            <a:spAutoFit/>
          </a:bodyPr>
          <a:lstStyle/>
          <a:p>
            <a:pPr algn="ctr">
              <a:defRPr sz="1100" b="1">
                <a:solidFill>
                  <a:srgbClr val="F4A261"/>
                </a:solidFill>
                <a:latin typeface="Calibri"/>
              </a:defRPr>
            </a:pPr>
            <a:r>
              <a:t>DEFERRED</a:t>
            </a:r>
          </a:p>
        </p:txBody>
      </p:sp>
      <p:sp>
        <p:nvSpPr>
          <p:cNvPr id="52" name="TextBox 51"/>
          <p:cNvSpPr txBox="1"/>
          <p:nvPr/>
        </p:nvSpPr>
        <p:spPr>
          <a:xfrm>
            <a:off x="7680960" y="4480560"/>
            <a:ext cx="1828800" cy="457200"/>
          </a:xfrm>
          <a:prstGeom prst="rect">
            <a:avLst/>
          </a:prstGeom>
          <a:noFill/>
        </p:spPr>
        <p:txBody>
          <a:bodyPr wrap="square">
            <a:spAutoFit/>
          </a:bodyPr>
          <a:lstStyle/>
          <a:p>
            <a:pPr algn="ctr">
              <a:defRPr sz="900" b="0">
                <a:solidFill>
                  <a:srgbClr val="555577"/>
                </a:solidFill>
                <a:latin typeface="Calibri"/>
              </a:defRPr>
            </a:pPr>
            <a:r>
              <a:t>Needs more</a:t>
            </a:r>
            <a:br/>
            <a:r>
              <a:t>information</a:t>
            </a:r>
          </a:p>
        </p:txBody>
      </p:sp>
      <p:sp>
        <p:nvSpPr>
          <p:cNvPr id="53" name="TextBox 52"/>
          <p:cNvSpPr txBox="1"/>
          <p:nvPr/>
        </p:nvSpPr>
        <p:spPr>
          <a:xfrm>
            <a:off x="7680960" y="5029200"/>
            <a:ext cx="1828800" cy="457200"/>
          </a:xfrm>
          <a:prstGeom prst="rect">
            <a:avLst/>
          </a:prstGeom>
          <a:noFill/>
        </p:spPr>
        <p:txBody>
          <a:bodyPr wrap="square">
            <a:spAutoFit/>
          </a:bodyPr>
          <a:lstStyle/>
          <a:p>
            <a:pPr algn="ctr">
              <a:defRPr sz="900" b="0">
                <a:solidFill>
                  <a:srgbClr val="1A1A2E"/>
                </a:solidFill>
                <a:latin typeface="Calibri"/>
              </a:defRPr>
            </a:pPr>
            <a:r>
              <a:t>Returns to</a:t>
            </a:r>
            <a:br/>
            <a:r>
              <a:t>onboarding</a:t>
            </a:r>
          </a:p>
        </p:txBody>
      </p:sp>
      <p:sp>
        <p:nvSpPr>
          <p:cNvPr id="54" name="Rounded Rectangle 53"/>
          <p:cNvSpPr/>
          <p:nvPr/>
        </p:nvSpPr>
        <p:spPr>
          <a:xfrm>
            <a:off x="9875520" y="3840480"/>
            <a:ext cx="2011680" cy="1828800"/>
          </a:xfrm>
          <a:prstGeom prst="roundRect">
            <a:avLst/>
          </a:prstGeom>
          <a:solidFill>
            <a:srgbClr val="F8F9FC"/>
          </a:solidFill>
          <a:ln w="1270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875520" y="3840480"/>
            <a:ext cx="2011680" cy="54864"/>
          </a:xfrm>
          <a:prstGeom prst="rect">
            <a:avLst/>
          </a:prstGeom>
          <a:solidFill>
            <a:srgbClr val="99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66960" y="3977639"/>
            <a:ext cx="1828800" cy="457200"/>
          </a:xfrm>
          <a:prstGeom prst="rect">
            <a:avLst/>
          </a:prstGeom>
          <a:noFill/>
        </p:spPr>
        <p:txBody>
          <a:bodyPr wrap="square">
            <a:spAutoFit/>
          </a:bodyPr>
          <a:lstStyle/>
          <a:p>
            <a:pPr algn="ctr">
              <a:defRPr sz="1100" b="1">
                <a:solidFill>
                  <a:srgbClr val="9999AA"/>
                </a:solidFill>
                <a:latin typeface="Calibri"/>
              </a:defRPr>
            </a:pPr>
            <a:r>
              <a:t>INACTIVE</a:t>
            </a:r>
          </a:p>
        </p:txBody>
      </p:sp>
      <p:sp>
        <p:nvSpPr>
          <p:cNvPr id="57" name="TextBox 56"/>
          <p:cNvSpPr txBox="1"/>
          <p:nvPr/>
        </p:nvSpPr>
        <p:spPr>
          <a:xfrm>
            <a:off x="9966960" y="4480560"/>
            <a:ext cx="1828800" cy="457200"/>
          </a:xfrm>
          <a:prstGeom prst="rect">
            <a:avLst/>
          </a:prstGeom>
          <a:noFill/>
        </p:spPr>
        <p:txBody>
          <a:bodyPr wrap="square">
            <a:spAutoFit/>
          </a:bodyPr>
          <a:lstStyle/>
          <a:p>
            <a:pPr algn="ctr">
              <a:defRPr sz="900" b="0">
                <a:solidFill>
                  <a:srgbClr val="555577"/>
                </a:solidFill>
                <a:latin typeface="Calibri"/>
              </a:defRPr>
            </a:pPr>
            <a:r>
              <a:t>Provider left or</a:t>
            </a:r>
            <a:br/>
            <a:r>
              <a:t>no longer active</a:t>
            </a:r>
          </a:p>
        </p:txBody>
      </p:sp>
      <p:sp>
        <p:nvSpPr>
          <p:cNvPr id="58" name="TextBox 57"/>
          <p:cNvSpPr txBox="1"/>
          <p:nvPr/>
        </p:nvSpPr>
        <p:spPr>
          <a:xfrm>
            <a:off x="9966960" y="5029200"/>
            <a:ext cx="1828800" cy="457200"/>
          </a:xfrm>
          <a:prstGeom prst="rect">
            <a:avLst/>
          </a:prstGeom>
          <a:noFill/>
        </p:spPr>
        <p:txBody>
          <a:bodyPr wrap="square">
            <a:spAutoFit/>
          </a:bodyPr>
          <a:lstStyle/>
          <a:p>
            <a:pPr algn="ctr">
              <a:defRPr sz="900" b="0">
                <a:solidFill>
                  <a:srgbClr val="1A1A2E"/>
                </a:solidFill>
                <a:latin typeface="Calibri"/>
              </a:defRPr>
            </a:pPr>
            <a:r>
              <a:t>No action</a:t>
            </a:r>
            <a:br/>
            <a:r>
              <a:t>needed</a:t>
            </a:r>
          </a:p>
        </p:txBody>
      </p:sp>
      <p:sp>
        <p:nvSpPr>
          <p:cNvPr id="59" name="Rounded Rectangle 58"/>
          <p:cNvSpPr/>
          <p:nvPr/>
        </p:nvSpPr>
        <p:spPr>
          <a:xfrm>
            <a:off x="731520" y="5943600"/>
            <a:ext cx="10698480" cy="548640"/>
          </a:xfrm>
          <a:prstGeom prst="roundRect">
            <a:avLst/>
          </a:prstGeom>
          <a:solidFill>
            <a:srgbClr val="FDECEC"/>
          </a:solidFill>
          <a:ln w="127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5840" y="5989320"/>
            <a:ext cx="10058400" cy="411480"/>
          </a:xfrm>
          <a:prstGeom prst="rect">
            <a:avLst/>
          </a:prstGeom>
          <a:noFill/>
        </p:spPr>
        <p:txBody>
          <a:bodyPr wrap="square">
            <a:spAutoFit/>
          </a:bodyPr>
          <a:lstStyle/>
          <a:p>
            <a:pPr algn="l">
              <a:defRPr sz="1200" b="0">
                <a:solidFill>
                  <a:srgbClr val="E63946"/>
                </a:solidFill>
                <a:latin typeface="Calibri"/>
              </a:defRPr>
            </a:pPr>
            <a:r>
              <a:t>Key rules: You cannot skip stages. Only valid next steps appear as buttons. Deny and Defer require a written reason. All status changes are permanently recorded in the audit trail.</a:t>
            </a:r>
          </a:p>
        </p:txBody>
      </p:sp>
      <p:sp>
        <p:nvSpPr>
          <p:cNvPr id="61" name="TextBox 6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PART 3: VERIFICATION &amp; TASKS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Task Management</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500" b="0">
                <a:solidFill>
                  <a:srgbClr val="555577"/>
                </a:solidFill>
                <a:latin typeface="Calibri"/>
              </a:defRPr>
            </a:pPr>
            <a:r>
              <a:t>Track action items for each provider. Tasks are the backbone of team coordination and accountability.</a:t>
            </a:r>
          </a:p>
        </p:txBody>
      </p:sp>
      <p:sp>
        <p:nvSpPr>
          <p:cNvPr id="5" name="Rounded Rectangle 4"/>
          <p:cNvSpPr/>
          <p:nvPr/>
        </p:nvSpPr>
        <p:spPr>
          <a:xfrm>
            <a:off x="731520" y="1828800"/>
            <a:ext cx="5303520" cy="292608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500" b="1">
                <a:solidFill>
                  <a:srgbClr val="0B3D91"/>
                </a:solidFill>
                <a:latin typeface="Calibri"/>
              </a:defRPr>
            </a:pPr>
            <a:r>
              <a:t>Creating a Task — Step by Step</a:t>
            </a:r>
          </a:p>
        </p:txBody>
      </p:sp>
      <p:sp>
        <p:nvSpPr>
          <p:cNvPr id="7" name="TextBox 6"/>
          <p:cNvSpPr txBox="1"/>
          <p:nvPr/>
        </p:nvSpPr>
        <p:spPr>
          <a:xfrm>
            <a:off x="1005840" y="2286000"/>
            <a:ext cx="1188720" cy="228600"/>
          </a:xfrm>
          <a:prstGeom prst="rect">
            <a:avLst/>
          </a:prstGeom>
          <a:noFill/>
        </p:spPr>
        <p:txBody>
          <a:bodyPr wrap="square">
            <a:spAutoFit/>
          </a:bodyPr>
          <a:lstStyle/>
          <a:p>
            <a:pPr algn="l">
              <a:defRPr sz="1100" b="1">
                <a:solidFill>
                  <a:srgbClr val="00A3E0"/>
                </a:solidFill>
                <a:latin typeface="Calibri"/>
              </a:defRPr>
            </a:pPr>
            <a:r>
              <a:t>1. Navigate</a:t>
            </a:r>
          </a:p>
        </p:txBody>
      </p:sp>
      <p:sp>
        <p:nvSpPr>
          <p:cNvPr id="8" name="TextBox 7"/>
          <p:cNvSpPr txBox="1"/>
          <p:nvPr/>
        </p:nvSpPr>
        <p:spPr>
          <a:xfrm>
            <a:off x="2194560" y="2286000"/>
            <a:ext cx="3657600" cy="228600"/>
          </a:xfrm>
          <a:prstGeom prst="rect">
            <a:avLst/>
          </a:prstGeom>
          <a:noFill/>
        </p:spPr>
        <p:txBody>
          <a:bodyPr wrap="square">
            <a:spAutoFit/>
          </a:bodyPr>
          <a:lstStyle/>
          <a:p>
            <a:pPr algn="l">
              <a:defRPr sz="1000" b="0">
                <a:solidFill>
                  <a:srgbClr val="1A1A2E"/>
                </a:solidFill>
                <a:latin typeface="Calibri"/>
              </a:defRPr>
            </a:pPr>
            <a:r>
              <a:t>Go to the provider's detail page, then the Tasks tab</a:t>
            </a:r>
          </a:p>
        </p:txBody>
      </p:sp>
      <p:sp>
        <p:nvSpPr>
          <p:cNvPr id="9" name="TextBox 8"/>
          <p:cNvSpPr txBox="1"/>
          <p:nvPr/>
        </p:nvSpPr>
        <p:spPr>
          <a:xfrm>
            <a:off x="1005840" y="2587752"/>
            <a:ext cx="1188720" cy="228600"/>
          </a:xfrm>
          <a:prstGeom prst="rect">
            <a:avLst/>
          </a:prstGeom>
          <a:noFill/>
        </p:spPr>
        <p:txBody>
          <a:bodyPr wrap="square">
            <a:spAutoFit/>
          </a:bodyPr>
          <a:lstStyle/>
          <a:p>
            <a:pPr algn="l">
              <a:defRPr sz="1100" b="1">
                <a:solidFill>
                  <a:srgbClr val="00A3E0"/>
                </a:solidFill>
                <a:latin typeface="Calibri"/>
              </a:defRPr>
            </a:pPr>
            <a:r>
              <a:t>2. Click Add</a:t>
            </a:r>
          </a:p>
        </p:txBody>
      </p:sp>
      <p:sp>
        <p:nvSpPr>
          <p:cNvPr id="10" name="TextBox 9"/>
          <p:cNvSpPr txBox="1"/>
          <p:nvPr/>
        </p:nvSpPr>
        <p:spPr>
          <a:xfrm>
            <a:off x="2194560" y="2587752"/>
            <a:ext cx="3657600" cy="228600"/>
          </a:xfrm>
          <a:prstGeom prst="rect">
            <a:avLst/>
          </a:prstGeom>
          <a:noFill/>
        </p:spPr>
        <p:txBody>
          <a:bodyPr wrap="square">
            <a:spAutoFit/>
          </a:bodyPr>
          <a:lstStyle/>
          <a:p>
            <a:pPr algn="l">
              <a:defRPr sz="1000" b="0">
                <a:solidFill>
                  <a:srgbClr val="1A1A2E"/>
                </a:solidFill>
                <a:latin typeface="Calibri"/>
              </a:defRPr>
            </a:pPr>
            <a:r>
              <a:t>Click the "+ Add Task" button</a:t>
            </a:r>
          </a:p>
        </p:txBody>
      </p:sp>
      <p:sp>
        <p:nvSpPr>
          <p:cNvPr id="11" name="TextBox 10"/>
          <p:cNvSpPr txBox="1"/>
          <p:nvPr/>
        </p:nvSpPr>
        <p:spPr>
          <a:xfrm>
            <a:off x="1005840" y="2889504"/>
            <a:ext cx="1188720" cy="228600"/>
          </a:xfrm>
          <a:prstGeom prst="rect">
            <a:avLst/>
          </a:prstGeom>
          <a:noFill/>
        </p:spPr>
        <p:txBody>
          <a:bodyPr wrap="square">
            <a:spAutoFit/>
          </a:bodyPr>
          <a:lstStyle/>
          <a:p>
            <a:pPr algn="l">
              <a:defRPr sz="1100" b="1">
                <a:solidFill>
                  <a:srgbClr val="00A3E0"/>
                </a:solidFill>
                <a:latin typeface="Calibri"/>
              </a:defRPr>
            </a:pPr>
            <a:r>
              <a:t>3. Title</a:t>
            </a:r>
          </a:p>
        </p:txBody>
      </p:sp>
      <p:sp>
        <p:nvSpPr>
          <p:cNvPr id="12" name="TextBox 11"/>
          <p:cNvSpPr txBox="1"/>
          <p:nvPr/>
        </p:nvSpPr>
        <p:spPr>
          <a:xfrm>
            <a:off x="2194560" y="2889504"/>
            <a:ext cx="3657600" cy="228600"/>
          </a:xfrm>
          <a:prstGeom prst="rect">
            <a:avLst/>
          </a:prstGeom>
          <a:noFill/>
        </p:spPr>
        <p:txBody>
          <a:bodyPr wrap="square">
            <a:spAutoFit/>
          </a:bodyPr>
          <a:lstStyle/>
          <a:p>
            <a:pPr algn="l">
              <a:defRPr sz="1000" b="0">
                <a:solidFill>
                  <a:srgbClr val="1A1A2E"/>
                </a:solidFill>
                <a:latin typeface="Calibri"/>
              </a:defRPr>
            </a:pPr>
            <a:r>
              <a:t>Enter a clear, specific title (e.g., "Get updated BLS card from Dr. Smith")</a:t>
            </a:r>
          </a:p>
        </p:txBody>
      </p:sp>
      <p:sp>
        <p:nvSpPr>
          <p:cNvPr id="13" name="TextBox 12"/>
          <p:cNvSpPr txBox="1"/>
          <p:nvPr/>
        </p:nvSpPr>
        <p:spPr>
          <a:xfrm>
            <a:off x="1005840" y="3191256"/>
            <a:ext cx="1188720" cy="228600"/>
          </a:xfrm>
          <a:prstGeom prst="rect">
            <a:avLst/>
          </a:prstGeom>
          <a:noFill/>
        </p:spPr>
        <p:txBody>
          <a:bodyPr wrap="square">
            <a:spAutoFit/>
          </a:bodyPr>
          <a:lstStyle/>
          <a:p>
            <a:pPr algn="l">
              <a:defRPr sz="1100" b="1">
                <a:solidFill>
                  <a:srgbClr val="00A3E0"/>
                </a:solidFill>
                <a:latin typeface="Calibri"/>
              </a:defRPr>
            </a:pPr>
            <a:r>
              <a:t>4. Description</a:t>
            </a:r>
          </a:p>
        </p:txBody>
      </p:sp>
      <p:sp>
        <p:nvSpPr>
          <p:cNvPr id="14" name="TextBox 13"/>
          <p:cNvSpPr txBox="1"/>
          <p:nvPr/>
        </p:nvSpPr>
        <p:spPr>
          <a:xfrm>
            <a:off x="2194560" y="3191256"/>
            <a:ext cx="3657600" cy="228600"/>
          </a:xfrm>
          <a:prstGeom prst="rect">
            <a:avLst/>
          </a:prstGeom>
          <a:noFill/>
        </p:spPr>
        <p:txBody>
          <a:bodyPr wrap="square">
            <a:spAutoFit/>
          </a:bodyPr>
          <a:lstStyle/>
          <a:p>
            <a:pPr algn="l">
              <a:defRPr sz="1000" b="0">
                <a:solidFill>
                  <a:srgbClr val="1A1A2E"/>
                </a:solidFill>
                <a:latin typeface="Calibri"/>
              </a:defRPr>
            </a:pPr>
            <a:r>
              <a:t>Add context: why this task exists, what specifically is needed</a:t>
            </a:r>
          </a:p>
        </p:txBody>
      </p:sp>
      <p:sp>
        <p:nvSpPr>
          <p:cNvPr id="15" name="TextBox 14"/>
          <p:cNvSpPr txBox="1"/>
          <p:nvPr/>
        </p:nvSpPr>
        <p:spPr>
          <a:xfrm>
            <a:off x="1005840" y="3493008"/>
            <a:ext cx="1188720" cy="228600"/>
          </a:xfrm>
          <a:prstGeom prst="rect">
            <a:avLst/>
          </a:prstGeom>
          <a:noFill/>
        </p:spPr>
        <p:txBody>
          <a:bodyPr wrap="square">
            <a:spAutoFit/>
          </a:bodyPr>
          <a:lstStyle/>
          <a:p>
            <a:pPr algn="l">
              <a:defRPr sz="1100" b="1">
                <a:solidFill>
                  <a:srgbClr val="00A3E0"/>
                </a:solidFill>
                <a:latin typeface="Calibri"/>
              </a:defRPr>
            </a:pPr>
            <a:r>
              <a:t>5. Assign</a:t>
            </a:r>
          </a:p>
        </p:txBody>
      </p:sp>
      <p:sp>
        <p:nvSpPr>
          <p:cNvPr id="16" name="TextBox 15"/>
          <p:cNvSpPr txBox="1"/>
          <p:nvPr/>
        </p:nvSpPr>
        <p:spPr>
          <a:xfrm>
            <a:off x="2194560" y="3493008"/>
            <a:ext cx="3657600" cy="228600"/>
          </a:xfrm>
          <a:prstGeom prst="rect">
            <a:avLst/>
          </a:prstGeom>
          <a:noFill/>
        </p:spPr>
        <p:txBody>
          <a:bodyPr wrap="square">
            <a:spAutoFit/>
          </a:bodyPr>
          <a:lstStyle/>
          <a:p>
            <a:pPr algn="l">
              <a:defRPr sz="1000" b="0">
                <a:solidFill>
                  <a:srgbClr val="1A1A2E"/>
                </a:solidFill>
                <a:latin typeface="Calibri"/>
              </a:defRPr>
            </a:pPr>
            <a:r>
              <a:t>Select the team member responsible — can be yourself or a colleague</a:t>
            </a:r>
          </a:p>
        </p:txBody>
      </p:sp>
      <p:sp>
        <p:nvSpPr>
          <p:cNvPr id="17" name="TextBox 16"/>
          <p:cNvSpPr txBox="1"/>
          <p:nvPr/>
        </p:nvSpPr>
        <p:spPr>
          <a:xfrm>
            <a:off x="1005840" y="3794760"/>
            <a:ext cx="1188720" cy="228600"/>
          </a:xfrm>
          <a:prstGeom prst="rect">
            <a:avLst/>
          </a:prstGeom>
          <a:noFill/>
        </p:spPr>
        <p:txBody>
          <a:bodyPr wrap="square">
            <a:spAutoFit/>
          </a:bodyPr>
          <a:lstStyle/>
          <a:p>
            <a:pPr algn="l">
              <a:defRPr sz="1100" b="1">
                <a:solidFill>
                  <a:srgbClr val="00A3E0"/>
                </a:solidFill>
                <a:latin typeface="Calibri"/>
              </a:defRPr>
            </a:pPr>
            <a:r>
              <a:t>6. Priority</a:t>
            </a:r>
          </a:p>
        </p:txBody>
      </p:sp>
      <p:sp>
        <p:nvSpPr>
          <p:cNvPr id="18" name="TextBox 17"/>
          <p:cNvSpPr txBox="1"/>
          <p:nvPr/>
        </p:nvSpPr>
        <p:spPr>
          <a:xfrm>
            <a:off x="2194560" y="3794760"/>
            <a:ext cx="3657600" cy="228600"/>
          </a:xfrm>
          <a:prstGeom prst="rect">
            <a:avLst/>
          </a:prstGeom>
          <a:noFill/>
        </p:spPr>
        <p:txBody>
          <a:bodyPr wrap="square">
            <a:spAutoFit/>
          </a:bodyPr>
          <a:lstStyle/>
          <a:p>
            <a:pPr algn="l">
              <a:defRPr sz="1000" b="0">
                <a:solidFill>
                  <a:srgbClr val="1A1A2E"/>
                </a:solidFill>
                <a:latin typeface="Calibri"/>
              </a:defRPr>
            </a:pPr>
            <a:r>
              <a:t>High = blocks progress, Medium = routine, Low = informational</a:t>
            </a:r>
          </a:p>
        </p:txBody>
      </p:sp>
      <p:sp>
        <p:nvSpPr>
          <p:cNvPr id="19" name="TextBox 18"/>
          <p:cNvSpPr txBox="1"/>
          <p:nvPr/>
        </p:nvSpPr>
        <p:spPr>
          <a:xfrm>
            <a:off x="1005840" y="4096512"/>
            <a:ext cx="1188720" cy="228600"/>
          </a:xfrm>
          <a:prstGeom prst="rect">
            <a:avLst/>
          </a:prstGeom>
          <a:noFill/>
        </p:spPr>
        <p:txBody>
          <a:bodyPr wrap="square">
            <a:spAutoFit/>
          </a:bodyPr>
          <a:lstStyle/>
          <a:p>
            <a:pPr algn="l">
              <a:defRPr sz="1100" b="1">
                <a:solidFill>
                  <a:srgbClr val="00A3E0"/>
                </a:solidFill>
                <a:latin typeface="Calibri"/>
              </a:defRPr>
            </a:pPr>
            <a:r>
              <a:t>7. Due Date</a:t>
            </a:r>
          </a:p>
        </p:txBody>
      </p:sp>
      <p:sp>
        <p:nvSpPr>
          <p:cNvPr id="20" name="TextBox 19"/>
          <p:cNvSpPr txBox="1"/>
          <p:nvPr/>
        </p:nvSpPr>
        <p:spPr>
          <a:xfrm>
            <a:off x="2194560" y="4096512"/>
            <a:ext cx="3657600" cy="228600"/>
          </a:xfrm>
          <a:prstGeom prst="rect">
            <a:avLst/>
          </a:prstGeom>
          <a:noFill/>
        </p:spPr>
        <p:txBody>
          <a:bodyPr wrap="square">
            <a:spAutoFit/>
          </a:bodyPr>
          <a:lstStyle/>
          <a:p>
            <a:pPr algn="l">
              <a:defRPr sz="1000" b="0">
                <a:solidFill>
                  <a:srgbClr val="1A1A2E"/>
                </a:solidFill>
                <a:latin typeface="Calibri"/>
              </a:defRPr>
            </a:pPr>
            <a:r>
              <a:t>Set a realistic due date. The system will alert the assignee if it passes.</a:t>
            </a:r>
          </a:p>
        </p:txBody>
      </p:sp>
      <p:sp>
        <p:nvSpPr>
          <p:cNvPr id="21" name="TextBox 20"/>
          <p:cNvSpPr txBox="1"/>
          <p:nvPr/>
        </p:nvSpPr>
        <p:spPr>
          <a:xfrm>
            <a:off x="1005840" y="4398264"/>
            <a:ext cx="1188720" cy="228600"/>
          </a:xfrm>
          <a:prstGeom prst="rect">
            <a:avLst/>
          </a:prstGeom>
          <a:noFill/>
        </p:spPr>
        <p:txBody>
          <a:bodyPr wrap="square">
            <a:spAutoFit/>
          </a:bodyPr>
          <a:lstStyle/>
          <a:p>
            <a:pPr algn="l">
              <a:defRPr sz="1100" b="1">
                <a:solidFill>
                  <a:srgbClr val="00A3E0"/>
                </a:solidFill>
                <a:latin typeface="Calibri"/>
              </a:defRPr>
            </a:pPr>
            <a:r>
              <a:t>8. Create</a:t>
            </a:r>
          </a:p>
        </p:txBody>
      </p:sp>
      <p:sp>
        <p:nvSpPr>
          <p:cNvPr id="22" name="TextBox 21"/>
          <p:cNvSpPr txBox="1"/>
          <p:nvPr/>
        </p:nvSpPr>
        <p:spPr>
          <a:xfrm>
            <a:off x="2194560" y="4398264"/>
            <a:ext cx="3657600" cy="228600"/>
          </a:xfrm>
          <a:prstGeom prst="rect">
            <a:avLst/>
          </a:prstGeom>
          <a:noFill/>
        </p:spPr>
        <p:txBody>
          <a:bodyPr wrap="square">
            <a:spAutoFit/>
          </a:bodyPr>
          <a:lstStyle/>
          <a:p>
            <a:pPr algn="l">
              <a:defRPr sz="1000" b="0">
                <a:solidFill>
                  <a:srgbClr val="1A1A2E"/>
                </a:solidFill>
                <a:latin typeface="Calibri"/>
              </a:defRPr>
            </a:pPr>
            <a:r>
              <a:t>Click "Create Task" — the assignee receives a notification</a:t>
            </a:r>
          </a:p>
        </p:txBody>
      </p:sp>
      <p:sp>
        <p:nvSpPr>
          <p:cNvPr id="23" name="Rounded Rectangle 22"/>
          <p:cNvSpPr/>
          <p:nvPr/>
        </p:nvSpPr>
        <p:spPr>
          <a:xfrm>
            <a:off x="6400800" y="1828800"/>
            <a:ext cx="5120640" cy="164592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1965960"/>
            <a:ext cx="4572000" cy="274320"/>
          </a:xfrm>
          <a:prstGeom prst="rect">
            <a:avLst/>
          </a:prstGeom>
          <a:noFill/>
        </p:spPr>
        <p:txBody>
          <a:bodyPr wrap="square">
            <a:spAutoFit/>
          </a:bodyPr>
          <a:lstStyle/>
          <a:p>
            <a:pPr algn="l">
              <a:defRPr sz="1500" b="1">
                <a:solidFill>
                  <a:srgbClr val="0B3D91"/>
                </a:solidFill>
                <a:latin typeface="Calibri"/>
              </a:defRPr>
            </a:pPr>
            <a:r>
              <a:t>Priority Guidelines</a:t>
            </a:r>
          </a:p>
        </p:txBody>
      </p:sp>
      <p:sp>
        <p:nvSpPr>
          <p:cNvPr id="25" name="TextBox 24"/>
          <p:cNvSpPr txBox="1"/>
          <p:nvPr/>
        </p:nvSpPr>
        <p:spPr>
          <a:xfrm>
            <a:off x="6675120" y="2331720"/>
            <a:ext cx="914400" cy="182880"/>
          </a:xfrm>
          <a:prstGeom prst="rect">
            <a:avLst/>
          </a:prstGeom>
          <a:noFill/>
        </p:spPr>
        <p:txBody>
          <a:bodyPr wrap="square">
            <a:spAutoFit/>
          </a:bodyPr>
          <a:lstStyle/>
          <a:p>
            <a:pPr algn="l">
              <a:defRPr sz="1200" b="1">
                <a:solidFill>
                  <a:srgbClr val="E63946"/>
                </a:solidFill>
                <a:latin typeface="Calibri"/>
              </a:defRPr>
            </a:pPr>
            <a:r>
              <a:t>HIGH</a:t>
            </a:r>
          </a:p>
        </p:txBody>
      </p:sp>
      <p:sp>
        <p:nvSpPr>
          <p:cNvPr id="26" name="TextBox 25"/>
          <p:cNvSpPr txBox="1"/>
          <p:nvPr/>
        </p:nvSpPr>
        <p:spPr>
          <a:xfrm>
            <a:off x="7589520" y="2331720"/>
            <a:ext cx="3657600" cy="182880"/>
          </a:xfrm>
          <a:prstGeom prst="rect">
            <a:avLst/>
          </a:prstGeom>
          <a:noFill/>
        </p:spPr>
        <p:txBody>
          <a:bodyPr wrap="square">
            <a:spAutoFit/>
          </a:bodyPr>
          <a:lstStyle/>
          <a:p>
            <a:pPr algn="l">
              <a:defRPr sz="1100" b="0">
                <a:solidFill>
                  <a:srgbClr val="1A1A2E"/>
                </a:solidFill>
                <a:latin typeface="Calibri"/>
              </a:defRPr>
            </a:pPr>
            <a:r>
              <a:t>Blocks credentialing progress</a:t>
            </a:r>
          </a:p>
        </p:txBody>
      </p:sp>
      <p:sp>
        <p:nvSpPr>
          <p:cNvPr id="27" name="TextBox 26"/>
          <p:cNvSpPr txBox="1"/>
          <p:nvPr/>
        </p:nvSpPr>
        <p:spPr>
          <a:xfrm>
            <a:off x="6675120" y="2697479"/>
            <a:ext cx="914400" cy="182880"/>
          </a:xfrm>
          <a:prstGeom prst="rect">
            <a:avLst/>
          </a:prstGeom>
          <a:noFill/>
        </p:spPr>
        <p:txBody>
          <a:bodyPr wrap="square">
            <a:spAutoFit/>
          </a:bodyPr>
          <a:lstStyle/>
          <a:p>
            <a:pPr algn="l">
              <a:defRPr sz="1200" b="1">
                <a:solidFill>
                  <a:srgbClr val="FF6B35"/>
                </a:solidFill>
                <a:latin typeface="Calibri"/>
              </a:defRPr>
            </a:pPr>
            <a:r>
              <a:t>MEDIUM</a:t>
            </a:r>
          </a:p>
        </p:txBody>
      </p:sp>
      <p:sp>
        <p:nvSpPr>
          <p:cNvPr id="28" name="TextBox 27"/>
          <p:cNvSpPr txBox="1"/>
          <p:nvPr/>
        </p:nvSpPr>
        <p:spPr>
          <a:xfrm>
            <a:off x="7589520" y="2697479"/>
            <a:ext cx="3657600" cy="182880"/>
          </a:xfrm>
          <a:prstGeom prst="rect">
            <a:avLst/>
          </a:prstGeom>
          <a:noFill/>
        </p:spPr>
        <p:txBody>
          <a:bodyPr wrap="square">
            <a:spAutoFit/>
          </a:bodyPr>
          <a:lstStyle/>
          <a:p>
            <a:pPr algn="l">
              <a:defRPr sz="1100" b="0">
                <a:solidFill>
                  <a:srgbClr val="1A1A2E"/>
                </a:solidFill>
                <a:latin typeface="Calibri"/>
              </a:defRPr>
            </a:pPr>
            <a:r>
              <a:t>Routine work with deadline</a:t>
            </a:r>
          </a:p>
        </p:txBody>
      </p:sp>
      <p:sp>
        <p:nvSpPr>
          <p:cNvPr id="29" name="TextBox 28"/>
          <p:cNvSpPr txBox="1"/>
          <p:nvPr/>
        </p:nvSpPr>
        <p:spPr>
          <a:xfrm>
            <a:off x="6675120" y="3063239"/>
            <a:ext cx="914400" cy="182880"/>
          </a:xfrm>
          <a:prstGeom prst="rect">
            <a:avLst/>
          </a:prstGeom>
          <a:noFill/>
        </p:spPr>
        <p:txBody>
          <a:bodyPr wrap="square">
            <a:spAutoFit/>
          </a:bodyPr>
          <a:lstStyle/>
          <a:p>
            <a:pPr algn="l">
              <a:defRPr sz="1200" b="1">
                <a:solidFill>
                  <a:srgbClr val="00B67A"/>
                </a:solidFill>
                <a:latin typeface="Calibri"/>
              </a:defRPr>
            </a:pPr>
            <a:r>
              <a:t>LOW</a:t>
            </a:r>
          </a:p>
        </p:txBody>
      </p:sp>
      <p:sp>
        <p:nvSpPr>
          <p:cNvPr id="30" name="TextBox 29"/>
          <p:cNvSpPr txBox="1"/>
          <p:nvPr/>
        </p:nvSpPr>
        <p:spPr>
          <a:xfrm>
            <a:off x="7589520" y="3063239"/>
            <a:ext cx="3657600" cy="182880"/>
          </a:xfrm>
          <a:prstGeom prst="rect">
            <a:avLst/>
          </a:prstGeom>
          <a:noFill/>
        </p:spPr>
        <p:txBody>
          <a:bodyPr wrap="square">
            <a:spAutoFit/>
          </a:bodyPr>
          <a:lstStyle/>
          <a:p>
            <a:pPr algn="l">
              <a:defRPr sz="1100" b="0">
                <a:solidFill>
                  <a:srgbClr val="1A1A2E"/>
                </a:solidFill>
                <a:latin typeface="Calibri"/>
              </a:defRPr>
            </a:pPr>
            <a:r>
              <a:t>Informational or non-urgent</a:t>
            </a:r>
          </a:p>
        </p:txBody>
      </p:sp>
      <p:sp>
        <p:nvSpPr>
          <p:cNvPr id="31" name="Rounded Rectangle 30"/>
          <p:cNvSpPr/>
          <p:nvPr/>
        </p:nvSpPr>
        <p:spPr>
          <a:xfrm>
            <a:off x="6400800" y="3657600"/>
            <a:ext cx="5120640" cy="1097280"/>
          </a:xfrm>
          <a:prstGeom prst="roundRect">
            <a:avLst/>
          </a:prstGeom>
          <a:solidFill>
            <a:srgbClr val="FDECEC"/>
          </a:solidFill>
          <a:ln w="127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3794760"/>
            <a:ext cx="4572000" cy="274320"/>
          </a:xfrm>
          <a:prstGeom prst="rect">
            <a:avLst/>
          </a:prstGeom>
          <a:noFill/>
        </p:spPr>
        <p:txBody>
          <a:bodyPr wrap="square">
            <a:spAutoFit/>
          </a:bodyPr>
          <a:lstStyle/>
          <a:p>
            <a:pPr algn="l">
              <a:defRPr sz="1500" b="1">
                <a:solidFill>
                  <a:srgbClr val="E63946"/>
                </a:solidFill>
                <a:latin typeface="Calibri"/>
              </a:defRPr>
            </a:pPr>
            <a:r>
              <a:t>Automatic Escalation</a:t>
            </a:r>
          </a:p>
        </p:txBody>
      </p:sp>
      <p:sp>
        <p:nvSpPr>
          <p:cNvPr id="33" name="TextBox 32"/>
          <p:cNvSpPr txBox="1"/>
          <p:nvPr/>
        </p:nvSpPr>
        <p:spPr>
          <a:xfrm>
            <a:off x="6675120" y="4114800"/>
            <a:ext cx="4754880" cy="457200"/>
          </a:xfrm>
          <a:prstGeom prst="rect">
            <a:avLst/>
          </a:prstGeom>
          <a:noFill/>
        </p:spPr>
        <p:txBody>
          <a:bodyPr wrap="square">
            <a:spAutoFit/>
          </a:bodyPr>
          <a:lstStyle/>
          <a:p>
            <a:pPr algn="l">
              <a:defRPr sz="1100" b="0">
                <a:solidFill>
                  <a:srgbClr val="1A1A2E"/>
                </a:solidFill>
                <a:latin typeface="Calibri"/>
              </a:defRPr>
            </a:pPr>
            <a:r>
              <a:t>Tasks overdue by 24+ hours are automatically:</a:t>
            </a:r>
            <a:br/>
            <a:r>
              <a:t>•  Highlighted in RED on the dashboard</a:t>
            </a:r>
            <a:br/>
            <a:r>
              <a:t>•  Escalated to the Credentialing Manager via notification</a:t>
            </a:r>
            <a:br/>
            <a:r>
              <a:t>•  This ensures nothing falls through the cracks</a:t>
            </a:r>
          </a:p>
        </p:txBody>
      </p:sp>
      <p:sp>
        <p:nvSpPr>
          <p:cNvPr id="34" name="Rounded Rectangle 33"/>
          <p:cNvSpPr/>
          <p:nvPr/>
        </p:nvSpPr>
        <p:spPr>
          <a:xfrm>
            <a:off x="731520" y="5029200"/>
            <a:ext cx="10698480" cy="128016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166360"/>
            <a:ext cx="4572000" cy="274320"/>
          </a:xfrm>
          <a:prstGeom prst="rect">
            <a:avLst/>
          </a:prstGeom>
          <a:noFill/>
        </p:spPr>
        <p:txBody>
          <a:bodyPr wrap="square">
            <a:spAutoFit/>
          </a:bodyPr>
          <a:lstStyle/>
          <a:p>
            <a:pPr algn="l">
              <a:defRPr sz="1500" b="1">
                <a:solidFill>
                  <a:srgbClr val="00B67A"/>
                </a:solidFill>
                <a:latin typeface="Calibri"/>
              </a:defRPr>
            </a:pPr>
            <a:r>
              <a:t>Task Best Practices</a:t>
            </a:r>
          </a:p>
        </p:txBody>
      </p:sp>
      <p:sp>
        <p:nvSpPr>
          <p:cNvPr id="36" name="TextBox 35"/>
          <p:cNvSpPr txBox="1"/>
          <p:nvPr/>
        </p:nvSpPr>
        <p:spPr>
          <a:xfrm>
            <a:off x="1005840" y="5532120"/>
            <a:ext cx="10058400" cy="182880"/>
          </a:xfrm>
          <a:prstGeom prst="rect">
            <a:avLst/>
          </a:prstGeom>
          <a:noFill/>
        </p:spPr>
        <p:txBody>
          <a:bodyPr wrap="square">
            <a:spAutoFit/>
          </a:bodyPr>
          <a:lstStyle/>
          <a:p>
            <a:pPr algn="l">
              <a:defRPr sz="1000" b="0">
                <a:solidFill>
                  <a:srgbClr val="1A1A2E"/>
                </a:solidFill>
                <a:latin typeface="Calibri"/>
              </a:defRPr>
            </a:pPr>
            <a:r>
              <a:t>✓  Close tasks promptly when done — lingering open tasks create false urgency and clutter</a:t>
            </a:r>
          </a:p>
        </p:txBody>
      </p:sp>
      <p:sp>
        <p:nvSpPr>
          <p:cNvPr id="37" name="TextBox 36"/>
          <p:cNvSpPr txBox="1"/>
          <p:nvPr/>
        </p:nvSpPr>
        <p:spPr>
          <a:xfrm>
            <a:off x="1005840" y="5733288"/>
            <a:ext cx="10058400" cy="182880"/>
          </a:xfrm>
          <a:prstGeom prst="rect">
            <a:avLst/>
          </a:prstGeom>
          <a:noFill/>
        </p:spPr>
        <p:txBody>
          <a:bodyPr wrap="square">
            <a:spAutoFit/>
          </a:bodyPr>
          <a:lstStyle/>
          <a:p>
            <a:pPr algn="l">
              <a:defRPr sz="1000" b="0">
                <a:solidFill>
                  <a:srgbClr val="1A1A2E"/>
                </a:solidFill>
                <a:latin typeface="Calibri"/>
              </a:defRPr>
            </a:pPr>
            <a:r>
              <a:t>✓  Be specific: "Get updated BLS from Dr. Smith" is much better than "Follow up"</a:t>
            </a:r>
          </a:p>
        </p:txBody>
      </p:sp>
      <p:sp>
        <p:nvSpPr>
          <p:cNvPr id="38" name="TextBox 37"/>
          <p:cNvSpPr txBox="1"/>
          <p:nvPr/>
        </p:nvSpPr>
        <p:spPr>
          <a:xfrm>
            <a:off x="1005840" y="5934456"/>
            <a:ext cx="10058400" cy="182880"/>
          </a:xfrm>
          <a:prstGeom prst="rect">
            <a:avLst/>
          </a:prstGeom>
          <a:noFill/>
        </p:spPr>
        <p:txBody>
          <a:bodyPr wrap="square">
            <a:spAutoFit/>
          </a:bodyPr>
          <a:lstStyle/>
          <a:p>
            <a:pPr algn="l">
              <a:defRPr sz="1000" b="0">
                <a:solidFill>
                  <a:srgbClr val="1A1A2E"/>
                </a:solidFill>
                <a:latin typeface="Calibri"/>
              </a:defRPr>
            </a:pPr>
            <a:r>
              <a:t>✓  Assign to the RIGHT person — don't hoard all tasks yourself if a colleague should own it</a:t>
            </a:r>
          </a:p>
        </p:txBody>
      </p:sp>
      <p:sp>
        <p:nvSpPr>
          <p:cNvPr id="39" name="TextBox 38"/>
          <p:cNvSpPr txBox="1"/>
          <p:nvPr/>
        </p:nvSpPr>
        <p:spPr>
          <a:xfrm>
            <a:off x="1005840" y="6135624"/>
            <a:ext cx="10058400" cy="182880"/>
          </a:xfrm>
          <a:prstGeom prst="rect">
            <a:avLst/>
          </a:prstGeom>
          <a:noFill/>
        </p:spPr>
        <p:txBody>
          <a:bodyPr wrap="square">
            <a:spAutoFit/>
          </a:bodyPr>
          <a:lstStyle/>
          <a:p>
            <a:pPr algn="l">
              <a:defRPr sz="1000" b="0">
                <a:solidFill>
                  <a:srgbClr val="1A1A2E"/>
                </a:solidFill>
                <a:latin typeface="Calibri"/>
              </a:defRPr>
            </a:pPr>
            <a:r>
              <a:t>✓  Always set a due date — tasks without dates tend to be forgotten</a:t>
            </a:r>
          </a:p>
        </p:txBody>
      </p:sp>
      <p:sp>
        <p:nvSpPr>
          <p:cNvPr id="40" name="TextBox 39"/>
          <p:cNvSpPr txBox="1"/>
          <p:nvPr/>
        </p:nvSpPr>
        <p:spPr>
          <a:xfrm>
            <a:off x="1005840" y="6336792"/>
            <a:ext cx="10058400" cy="182880"/>
          </a:xfrm>
          <a:prstGeom prst="rect">
            <a:avLst/>
          </a:prstGeom>
          <a:noFill/>
        </p:spPr>
        <p:txBody>
          <a:bodyPr wrap="square">
            <a:spAutoFit/>
          </a:bodyPr>
          <a:lstStyle/>
          <a:p>
            <a:pPr algn="l">
              <a:defRPr sz="1000" b="0">
                <a:solidFill>
                  <a:srgbClr val="1A1A2E"/>
                </a:solidFill>
                <a:latin typeface="Calibri"/>
              </a:defRPr>
            </a:pPr>
            <a:r>
              <a:t>✓  Completing a task doesn't delete it — it stays in the audit trail for compliance</a:t>
            </a:r>
          </a:p>
        </p:txBody>
      </p:sp>
      <p:sp>
        <p:nvSpPr>
          <p:cNvPr id="41" name="TextBox 4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VERIFICATION BOTS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Automated Primary Source Verification</a:t>
            </a:r>
          </a:p>
        </p:txBody>
      </p:sp>
      <p:sp>
        <p:nvSpPr>
          <p:cNvPr id="4" name="TextBox 3"/>
          <p:cNvSpPr txBox="1"/>
          <p:nvPr/>
        </p:nvSpPr>
        <p:spPr>
          <a:xfrm>
            <a:off x="731520" y="1280160"/>
            <a:ext cx="9144000" cy="365760"/>
          </a:xfrm>
          <a:prstGeom prst="rect">
            <a:avLst/>
          </a:prstGeom>
          <a:noFill/>
        </p:spPr>
        <p:txBody>
          <a:bodyPr wrap="square">
            <a:spAutoFit/>
          </a:bodyPr>
          <a:lstStyle/>
          <a:p>
            <a:pPr algn="l">
              <a:defRPr sz="1400" b="0">
                <a:solidFill>
                  <a:srgbClr val="BBBBDD"/>
                </a:solidFill>
                <a:latin typeface="Calibri"/>
              </a:defRPr>
            </a:pPr>
            <a:r>
              <a:t>Bots navigate external websites to verify credentials automatically — replacing hours of manual work per provider.</a:t>
            </a:r>
            <a:br/>
            <a:r>
              <a:t>Each bot saves a timestamped PDF, creates a verification record, and updates the checklist.</a:t>
            </a:r>
          </a:p>
        </p:txBody>
      </p:sp>
      <p:sp>
        <p:nvSpPr>
          <p:cNvPr id="5" name="Rounded Rectangle 4"/>
          <p:cNvSpPr/>
          <p:nvPr/>
        </p:nvSpPr>
        <p:spPr>
          <a:xfrm>
            <a:off x="731520" y="2103120"/>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103120"/>
            <a:ext cx="260604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40279"/>
            <a:ext cx="2286000" cy="228600"/>
          </a:xfrm>
          <a:prstGeom prst="rect">
            <a:avLst/>
          </a:prstGeom>
          <a:noFill/>
        </p:spPr>
        <p:txBody>
          <a:bodyPr wrap="square">
            <a:spAutoFit/>
          </a:bodyPr>
          <a:lstStyle/>
          <a:p>
            <a:pPr algn="l">
              <a:defRPr sz="1300" b="1">
                <a:solidFill>
                  <a:srgbClr val="FFFFFF"/>
                </a:solidFill>
                <a:latin typeface="Calibri"/>
              </a:defRPr>
            </a:pPr>
            <a:r>
              <a:t>License Verification</a:t>
            </a:r>
          </a:p>
        </p:txBody>
      </p:sp>
      <p:sp>
        <p:nvSpPr>
          <p:cNvPr id="8" name="TextBox 7"/>
          <p:cNvSpPr txBox="1"/>
          <p:nvPr/>
        </p:nvSpPr>
        <p:spPr>
          <a:xfrm>
            <a:off x="914400" y="2514600"/>
            <a:ext cx="2286000" cy="411480"/>
          </a:xfrm>
          <a:prstGeom prst="rect">
            <a:avLst/>
          </a:prstGeom>
          <a:noFill/>
        </p:spPr>
        <p:txBody>
          <a:bodyPr wrap="square">
            <a:spAutoFit/>
          </a:bodyPr>
          <a:lstStyle/>
          <a:p>
            <a:pPr algn="l">
              <a:defRPr sz="1000" b="0">
                <a:solidFill>
                  <a:srgbClr val="BBBBDD"/>
                </a:solidFill>
                <a:latin typeface="Calibri"/>
              </a:defRPr>
            </a:pPr>
            <a:r>
              <a:t>State medical license</a:t>
            </a:r>
            <a:br/>
            <a:r>
              <a:t>across all 50 states</a:t>
            </a:r>
          </a:p>
        </p:txBody>
      </p:sp>
      <p:sp>
        <p:nvSpPr>
          <p:cNvPr id="9" name="TextBox 8"/>
          <p:cNvSpPr txBox="1"/>
          <p:nvPr/>
        </p:nvSpPr>
        <p:spPr>
          <a:xfrm>
            <a:off x="914400" y="3017520"/>
            <a:ext cx="731520" cy="137160"/>
          </a:xfrm>
          <a:prstGeom prst="rect">
            <a:avLst/>
          </a:prstGeom>
          <a:noFill/>
        </p:spPr>
        <p:txBody>
          <a:bodyPr wrap="square">
            <a:spAutoFit/>
          </a:bodyPr>
          <a:lstStyle/>
          <a:p>
            <a:pPr algn="l">
              <a:defRPr sz="900" b="1">
                <a:solidFill>
                  <a:srgbClr val="00A3E0"/>
                </a:solidFill>
                <a:latin typeface="Calibri"/>
              </a:defRPr>
            </a:pPr>
            <a:r>
              <a:t>Requires:</a:t>
            </a:r>
          </a:p>
        </p:txBody>
      </p:sp>
      <p:sp>
        <p:nvSpPr>
          <p:cNvPr id="10" name="TextBox 9"/>
          <p:cNvSpPr txBox="1"/>
          <p:nvPr/>
        </p:nvSpPr>
        <p:spPr>
          <a:xfrm>
            <a:off x="1645920" y="3017520"/>
            <a:ext cx="1554480" cy="411480"/>
          </a:xfrm>
          <a:prstGeom prst="rect">
            <a:avLst/>
          </a:prstGeom>
          <a:noFill/>
        </p:spPr>
        <p:txBody>
          <a:bodyPr wrap="square">
            <a:spAutoFit/>
          </a:bodyPr>
          <a:lstStyle/>
          <a:p>
            <a:pPr algn="l">
              <a:defRPr sz="900" b="0">
                <a:solidFill>
                  <a:srgbClr val="BBBBDD"/>
                </a:solidFill>
                <a:latin typeface="Calibri"/>
              </a:defRPr>
            </a:pPr>
            <a:r>
              <a:t>License number</a:t>
            </a:r>
            <a:br/>
            <a:r>
              <a:t>+ state</a:t>
            </a:r>
          </a:p>
        </p:txBody>
      </p:sp>
      <p:sp>
        <p:nvSpPr>
          <p:cNvPr id="11" name="TextBox 10"/>
          <p:cNvSpPr txBox="1"/>
          <p:nvPr/>
        </p:nvSpPr>
        <p:spPr>
          <a:xfrm>
            <a:off x="914400" y="3520439"/>
            <a:ext cx="731520" cy="137160"/>
          </a:xfrm>
          <a:prstGeom prst="rect">
            <a:avLst/>
          </a:prstGeom>
          <a:noFill/>
        </p:spPr>
        <p:txBody>
          <a:bodyPr wrap="square">
            <a:spAutoFit/>
          </a:bodyPr>
          <a:lstStyle/>
          <a:p>
            <a:pPr algn="l">
              <a:defRPr sz="900" b="1">
                <a:solidFill>
                  <a:srgbClr val="00A3E0"/>
                </a:solidFill>
                <a:latin typeface="Calibri"/>
              </a:defRPr>
            </a:pPr>
            <a:r>
              <a:t>Source:</a:t>
            </a:r>
          </a:p>
        </p:txBody>
      </p:sp>
      <p:sp>
        <p:nvSpPr>
          <p:cNvPr id="12" name="TextBox 11"/>
          <p:cNvSpPr txBox="1"/>
          <p:nvPr/>
        </p:nvSpPr>
        <p:spPr>
          <a:xfrm>
            <a:off x="1645920" y="3520439"/>
            <a:ext cx="1554480" cy="274320"/>
          </a:xfrm>
          <a:prstGeom prst="rect">
            <a:avLst/>
          </a:prstGeom>
          <a:noFill/>
        </p:spPr>
        <p:txBody>
          <a:bodyPr wrap="square">
            <a:spAutoFit/>
          </a:bodyPr>
          <a:lstStyle/>
          <a:p>
            <a:pPr algn="l">
              <a:defRPr sz="900" b="0">
                <a:solidFill>
                  <a:srgbClr val="BBBBDD"/>
                </a:solidFill>
                <a:latin typeface="Calibri"/>
              </a:defRPr>
            </a:pPr>
            <a:r>
              <a:t>healthguideusa.org</a:t>
            </a:r>
          </a:p>
        </p:txBody>
      </p:sp>
      <p:sp>
        <p:nvSpPr>
          <p:cNvPr id="13" name="Rounded Rectangle 12"/>
          <p:cNvSpPr/>
          <p:nvPr/>
        </p:nvSpPr>
        <p:spPr>
          <a:xfrm>
            <a:off x="3566160" y="2103120"/>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2103120"/>
            <a:ext cx="260604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0" y="2240279"/>
            <a:ext cx="2286000" cy="228600"/>
          </a:xfrm>
          <a:prstGeom prst="rect">
            <a:avLst/>
          </a:prstGeom>
          <a:noFill/>
        </p:spPr>
        <p:txBody>
          <a:bodyPr wrap="square">
            <a:spAutoFit/>
          </a:bodyPr>
          <a:lstStyle/>
          <a:p>
            <a:pPr algn="l">
              <a:defRPr sz="1300" b="1">
                <a:solidFill>
                  <a:srgbClr val="FFFFFF"/>
                </a:solidFill>
                <a:latin typeface="Calibri"/>
              </a:defRPr>
            </a:pPr>
            <a:r>
              <a:t>DEA Verification</a:t>
            </a:r>
          </a:p>
        </p:txBody>
      </p:sp>
      <p:sp>
        <p:nvSpPr>
          <p:cNvPr id="16" name="TextBox 15"/>
          <p:cNvSpPr txBox="1"/>
          <p:nvPr/>
        </p:nvSpPr>
        <p:spPr>
          <a:xfrm>
            <a:off x="3749040" y="2514600"/>
            <a:ext cx="2286000" cy="411480"/>
          </a:xfrm>
          <a:prstGeom prst="rect">
            <a:avLst/>
          </a:prstGeom>
          <a:noFill/>
        </p:spPr>
        <p:txBody>
          <a:bodyPr wrap="square">
            <a:spAutoFit/>
          </a:bodyPr>
          <a:lstStyle/>
          <a:p>
            <a:pPr algn="l">
              <a:defRPr sz="1000" b="0">
                <a:solidFill>
                  <a:srgbClr val="BBBBDD"/>
                </a:solidFill>
                <a:latin typeface="Calibri"/>
              </a:defRPr>
            </a:pPr>
            <a:r>
              <a:t>Drug Enforcement</a:t>
            </a:r>
            <a:br/>
            <a:r>
              <a:t>Administration registration</a:t>
            </a:r>
          </a:p>
        </p:txBody>
      </p:sp>
      <p:sp>
        <p:nvSpPr>
          <p:cNvPr id="17" name="TextBox 16"/>
          <p:cNvSpPr txBox="1"/>
          <p:nvPr/>
        </p:nvSpPr>
        <p:spPr>
          <a:xfrm>
            <a:off x="3749040" y="3017520"/>
            <a:ext cx="731520" cy="137160"/>
          </a:xfrm>
          <a:prstGeom prst="rect">
            <a:avLst/>
          </a:prstGeom>
          <a:noFill/>
        </p:spPr>
        <p:txBody>
          <a:bodyPr wrap="square">
            <a:spAutoFit/>
          </a:bodyPr>
          <a:lstStyle/>
          <a:p>
            <a:pPr algn="l">
              <a:defRPr sz="900" b="1">
                <a:solidFill>
                  <a:srgbClr val="00A3E0"/>
                </a:solidFill>
                <a:latin typeface="Calibri"/>
              </a:defRPr>
            </a:pPr>
            <a:r>
              <a:t>Requires:</a:t>
            </a:r>
          </a:p>
        </p:txBody>
      </p:sp>
      <p:sp>
        <p:nvSpPr>
          <p:cNvPr id="18" name="TextBox 17"/>
          <p:cNvSpPr txBox="1"/>
          <p:nvPr/>
        </p:nvSpPr>
        <p:spPr>
          <a:xfrm>
            <a:off x="4480560" y="3017520"/>
            <a:ext cx="1554480" cy="411480"/>
          </a:xfrm>
          <a:prstGeom prst="rect">
            <a:avLst/>
          </a:prstGeom>
          <a:noFill/>
        </p:spPr>
        <p:txBody>
          <a:bodyPr wrap="square">
            <a:spAutoFit/>
          </a:bodyPr>
          <a:lstStyle/>
          <a:p>
            <a:pPr algn="l">
              <a:defRPr sz="900" b="0">
                <a:solidFill>
                  <a:srgbClr val="BBBBDD"/>
                </a:solidFill>
                <a:latin typeface="Calibri"/>
              </a:defRPr>
            </a:pPr>
            <a:r>
              <a:t>DEA number</a:t>
            </a:r>
            <a:br/>
            <a:r>
              <a:t>(bot handles MFA)</a:t>
            </a:r>
          </a:p>
        </p:txBody>
      </p:sp>
      <p:sp>
        <p:nvSpPr>
          <p:cNvPr id="19" name="TextBox 18"/>
          <p:cNvSpPr txBox="1"/>
          <p:nvPr/>
        </p:nvSpPr>
        <p:spPr>
          <a:xfrm>
            <a:off x="3749040" y="3520439"/>
            <a:ext cx="731520" cy="137160"/>
          </a:xfrm>
          <a:prstGeom prst="rect">
            <a:avLst/>
          </a:prstGeom>
          <a:noFill/>
        </p:spPr>
        <p:txBody>
          <a:bodyPr wrap="square">
            <a:spAutoFit/>
          </a:bodyPr>
          <a:lstStyle/>
          <a:p>
            <a:pPr algn="l">
              <a:defRPr sz="900" b="1">
                <a:solidFill>
                  <a:srgbClr val="00A3E0"/>
                </a:solidFill>
                <a:latin typeface="Calibri"/>
              </a:defRPr>
            </a:pPr>
            <a:r>
              <a:t>Source:</a:t>
            </a:r>
          </a:p>
        </p:txBody>
      </p:sp>
      <p:sp>
        <p:nvSpPr>
          <p:cNvPr id="20" name="TextBox 19"/>
          <p:cNvSpPr txBox="1"/>
          <p:nvPr/>
        </p:nvSpPr>
        <p:spPr>
          <a:xfrm>
            <a:off x="4480560" y="3520439"/>
            <a:ext cx="1554480" cy="274320"/>
          </a:xfrm>
          <a:prstGeom prst="rect">
            <a:avLst/>
          </a:prstGeom>
          <a:noFill/>
        </p:spPr>
        <p:txBody>
          <a:bodyPr wrap="square">
            <a:spAutoFit/>
          </a:bodyPr>
          <a:lstStyle/>
          <a:p>
            <a:pPr algn="l">
              <a:defRPr sz="900" b="0">
                <a:solidFill>
                  <a:srgbClr val="BBBBDD"/>
                </a:solidFill>
                <a:latin typeface="Calibri"/>
              </a:defRPr>
            </a:pPr>
            <a:r>
              <a:t>DEA portal + TOTP</a:t>
            </a:r>
          </a:p>
        </p:txBody>
      </p:sp>
      <p:sp>
        <p:nvSpPr>
          <p:cNvPr id="21" name="Rounded Rectangle 20"/>
          <p:cNvSpPr/>
          <p:nvPr/>
        </p:nvSpPr>
        <p:spPr>
          <a:xfrm>
            <a:off x="6400800" y="2103120"/>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2103120"/>
            <a:ext cx="260604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2240279"/>
            <a:ext cx="2286000" cy="228600"/>
          </a:xfrm>
          <a:prstGeom prst="rect">
            <a:avLst/>
          </a:prstGeom>
          <a:noFill/>
        </p:spPr>
        <p:txBody>
          <a:bodyPr wrap="square">
            <a:spAutoFit/>
          </a:bodyPr>
          <a:lstStyle/>
          <a:p>
            <a:pPr algn="l">
              <a:defRPr sz="1300" b="1">
                <a:solidFill>
                  <a:srgbClr val="FFFFFF"/>
                </a:solidFill>
                <a:latin typeface="Calibri"/>
              </a:defRPr>
            </a:pPr>
            <a:r>
              <a:t>NCCPA Board</a:t>
            </a:r>
          </a:p>
        </p:txBody>
      </p:sp>
      <p:sp>
        <p:nvSpPr>
          <p:cNvPr id="24" name="TextBox 23"/>
          <p:cNvSpPr txBox="1"/>
          <p:nvPr/>
        </p:nvSpPr>
        <p:spPr>
          <a:xfrm>
            <a:off x="6583680" y="2514600"/>
            <a:ext cx="2286000" cy="411480"/>
          </a:xfrm>
          <a:prstGeom prst="rect">
            <a:avLst/>
          </a:prstGeom>
          <a:noFill/>
        </p:spPr>
        <p:txBody>
          <a:bodyPr wrap="square">
            <a:spAutoFit/>
          </a:bodyPr>
          <a:lstStyle/>
          <a:p>
            <a:pPr algn="l">
              <a:defRPr sz="1000" b="0">
                <a:solidFill>
                  <a:srgbClr val="BBBBDD"/>
                </a:solidFill>
                <a:latin typeface="Calibri"/>
              </a:defRPr>
            </a:pPr>
            <a:r>
              <a:t>Physician Assistant</a:t>
            </a:r>
            <a:br/>
            <a:r>
              <a:t>board certification</a:t>
            </a:r>
          </a:p>
        </p:txBody>
      </p:sp>
      <p:sp>
        <p:nvSpPr>
          <p:cNvPr id="25" name="TextBox 24"/>
          <p:cNvSpPr txBox="1"/>
          <p:nvPr/>
        </p:nvSpPr>
        <p:spPr>
          <a:xfrm>
            <a:off x="6583680" y="3017520"/>
            <a:ext cx="731520" cy="137160"/>
          </a:xfrm>
          <a:prstGeom prst="rect">
            <a:avLst/>
          </a:prstGeom>
          <a:noFill/>
        </p:spPr>
        <p:txBody>
          <a:bodyPr wrap="square">
            <a:spAutoFit/>
          </a:bodyPr>
          <a:lstStyle/>
          <a:p>
            <a:pPr algn="l">
              <a:defRPr sz="900" b="1">
                <a:solidFill>
                  <a:srgbClr val="00B67A"/>
                </a:solidFill>
                <a:latin typeface="Calibri"/>
              </a:defRPr>
            </a:pPr>
            <a:r>
              <a:t>Requires:</a:t>
            </a:r>
          </a:p>
        </p:txBody>
      </p:sp>
      <p:sp>
        <p:nvSpPr>
          <p:cNvPr id="26" name="TextBox 25"/>
          <p:cNvSpPr txBox="1"/>
          <p:nvPr/>
        </p:nvSpPr>
        <p:spPr>
          <a:xfrm>
            <a:off x="7315200" y="3017520"/>
            <a:ext cx="1554480" cy="411480"/>
          </a:xfrm>
          <a:prstGeom prst="rect">
            <a:avLst/>
          </a:prstGeom>
          <a:noFill/>
        </p:spPr>
        <p:txBody>
          <a:bodyPr wrap="square">
            <a:spAutoFit/>
          </a:bodyPr>
          <a:lstStyle/>
          <a:p>
            <a:pPr algn="l">
              <a:defRPr sz="900" b="0">
                <a:solidFill>
                  <a:srgbClr val="BBBBDD"/>
                </a:solidFill>
                <a:latin typeface="Calibri"/>
              </a:defRPr>
            </a:pPr>
            <a:r>
              <a:t>Provider type = PA</a:t>
            </a:r>
          </a:p>
        </p:txBody>
      </p:sp>
      <p:sp>
        <p:nvSpPr>
          <p:cNvPr id="27" name="TextBox 26"/>
          <p:cNvSpPr txBox="1"/>
          <p:nvPr/>
        </p:nvSpPr>
        <p:spPr>
          <a:xfrm>
            <a:off x="6583680" y="3520439"/>
            <a:ext cx="731520" cy="137160"/>
          </a:xfrm>
          <a:prstGeom prst="rect">
            <a:avLst/>
          </a:prstGeom>
          <a:noFill/>
        </p:spPr>
        <p:txBody>
          <a:bodyPr wrap="square">
            <a:spAutoFit/>
          </a:bodyPr>
          <a:lstStyle/>
          <a:p>
            <a:pPr algn="l">
              <a:defRPr sz="900" b="1">
                <a:solidFill>
                  <a:srgbClr val="00B67A"/>
                </a:solidFill>
                <a:latin typeface="Calibri"/>
              </a:defRPr>
            </a:pPr>
            <a:r>
              <a:t>Source:</a:t>
            </a:r>
          </a:p>
        </p:txBody>
      </p:sp>
      <p:sp>
        <p:nvSpPr>
          <p:cNvPr id="28" name="TextBox 27"/>
          <p:cNvSpPr txBox="1"/>
          <p:nvPr/>
        </p:nvSpPr>
        <p:spPr>
          <a:xfrm>
            <a:off x="7315200" y="3520439"/>
            <a:ext cx="1554480" cy="274320"/>
          </a:xfrm>
          <a:prstGeom prst="rect">
            <a:avLst/>
          </a:prstGeom>
          <a:noFill/>
        </p:spPr>
        <p:txBody>
          <a:bodyPr wrap="square">
            <a:spAutoFit/>
          </a:bodyPr>
          <a:lstStyle/>
          <a:p>
            <a:pPr algn="l">
              <a:defRPr sz="900" b="0">
                <a:solidFill>
                  <a:srgbClr val="BBBBDD"/>
                </a:solidFill>
                <a:latin typeface="Calibri"/>
              </a:defRPr>
            </a:pPr>
            <a:r>
              <a:t>portal.nccpa.net</a:t>
            </a:r>
          </a:p>
        </p:txBody>
      </p:sp>
      <p:sp>
        <p:nvSpPr>
          <p:cNvPr id="29" name="Rounded Rectangle 28"/>
          <p:cNvSpPr/>
          <p:nvPr/>
        </p:nvSpPr>
        <p:spPr>
          <a:xfrm>
            <a:off x="9235440" y="2103120"/>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2103120"/>
            <a:ext cx="260604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0" y="2240279"/>
            <a:ext cx="2286000" cy="228600"/>
          </a:xfrm>
          <a:prstGeom prst="rect">
            <a:avLst/>
          </a:prstGeom>
          <a:noFill/>
        </p:spPr>
        <p:txBody>
          <a:bodyPr wrap="square">
            <a:spAutoFit/>
          </a:bodyPr>
          <a:lstStyle/>
          <a:p>
            <a:pPr algn="l">
              <a:defRPr sz="1300" b="1">
                <a:solidFill>
                  <a:srgbClr val="FFFFFF"/>
                </a:solidFill>
                <a:latin typeface="Calibri"/>
              </a:defRPr>
            </a:pPr>
            <a:r>
              <a:t>ABIM Board</a:t>
            </a:r>
          </a:p>
        </p:txBody>
      </p:sp>
      <p:sp>
        <p:nvSpPr>
          <p:cNvPr id="32" name="TextBox 31"/>
          <p:cNvSpPr txBox="1"/>
          <p:nvPr/>
        </p:nvSpPr>
        <p:spPr>
          <a:xfrm>
            <a:off x="9418320" y="2514600"/>
            <a:ext cx="2286000" cy="411480"/>
          </a:xfrm>
          <a:prstGeom prst="rect">
            <a:avLst/>
          </a:prstGeom>
          <a:noFill/>
        </p:spPr>
        <p:txBody>
          <a:bodyPr wrap="square">
            <a:spAutoFit/>
          </a:bodyPr>
          <a:lstStyle/>
          <a:p>
            <a:pPr algn="l">
              <a:defRPr sz="1000" b="0">
                <a:solidFill>
                  <a:srgbClr val="BBBBDD"/>
                </a:solidFill>
                <a:latin typeface="Calibri"/>
              </a:defRPr>
            </a:pPr>
            <a:r>
              <a:t>Internal Medicine</a:t>
            </a:r>
            <a:br/>
            <a:r>
              <a:t>board certification</a:t>
            </a:r>
          </a:p>
        </p:txBody>
      </p:sp>
      <p:sp>
        <p:nvSpPr>
          <p:cNvPr id="33" name="TextBox 32"/>
          <p:cNvSpPr txBox="1"/>
          <p:nvPr/>
        </p:nvSpPr>
        <p:spPr>
          <a:xfrm>
            <a:off x="9418320" y="3017520"/>
            <a:ext cx="731520" cy="137160"/>
          </a:xfrm>
          <a:prstGeom prst="rect">
            <a:avLst/>
          </a:prstGeom>
          <a:noFill/>
        </p:spPr>
        <p:txBody>
          <a:bodyPr wrap="square">
            <a:spAutoFit/>
          </a:bodyPr>
          <a:lstStyle/>
          <a:p>
            <a:pPr algn="l">
              <a:defRPr sz="900" b="1">
                <a:solidFill>
                  <a:srgbClr val="00B67A"/>
                </a:solidFill>
                <a:latin typeface="Calibri"/>
              </a:defRPr>
            </a:pPr>
            <a:r>
              <a:t>Requires:</a:t>
            </a:r>
          </a:p>
        </p:txBody>
      </p:sp>
      <p:sp>
        <p:nvSpPr>
          <p:cNvPr id="34" name="TextBox 33"/>
          <p:cNvSpPr txBox="1"/>
          <p:nvPr/>
        </p:nvSpPr>
        <p:spPr>
          <a:xfrm>
            <a:off x="10149840" y="3017520"/>
            <a:ext cx="1554480" cy="411480"/>
          </a:xfrm>
          <a:prstGeom prst="rect">
            <a:avLst/>
          </a:prstGeom>
          <a:noFill/>
        </p:spPr>
        <p:txBody>
          <a:bodyPr wrap="square">
            <a:spAutoFit/>
          </a:bodyPr>
          <a:lstStyle/>
          <a:p>
            <a:pPr algn="l">
              <a:defRPr sz="900" b="0">
                <a:solidFill>
                  <a:srgbClr val="BBBBDD"/>
                </a:solidFill>
                <a:latin typeface="Calibri"/>
              </a:defRPr>
            </a:pPr>
            <a:r>
              <a:t>Provider NPI</a:t>
            </a:r>
          </a:p>
        </p:txBody>
      </p:sp>
      <p:sp>
        <p:nvSpPr>
          <p:cNvPr id="35" name="TextBox 34"/>
          <p:cNvSpPr txBox="1"/>
          <p:nvPr/>
        </p:nvSpPr>
        <p:spPr>
          <a:xfrm>
            <a:off x="9418320" y="3520439"/>
            <a:ext cx="731520" cy="137160"/>
          </a:xfrm>
          <a:prstGeom prst="rect">
            <a:avLst/>
          </a:prstGeom>
          <a:noFill/>
        </p:spPr>
        <p:txBody>
          <a:bodyPr wrap="square">
            <a:spAutoFit/>
          </a:bodyPr>
          <a:lstStyle/>
          <a:p>
            <a:pPr algn="l">
              <a:defRPr sz="900" b="1">
                <a:solidFill>
                  <a:srgbClr val="00B67A"/>
                </a:solidFill>
                <a:latin typeface="Calibri"/>
              </a:defRPr>
            </a:pPr>
            <a:r>
              <a:t>Source:</a:t>
            </a:r>
          </a:p>
        </p:txBody>
      </p:sp>
      <p:sp>
        <p:nvSpPr>
          <p:cNvPr id="36" name="TextBox 35"/>
          <p:cNvSpPr txBox="1"/>
          <p:nvPr/>
        </p:nvSpPr>
        <p:spPr>
          <a:xfrm>
            <a:off x="10149840" y="3520439"/>
            <a:ext cx="1554480" cy="274320"/>
          </a:xfrm>
          <a:prstGeom prst="rect">
            <a:avLst/>
          </a:prstGeom>
          <a:noFill/>
        </p:spPr>
        <p:txBody>
          <a:bodyPr wrap="square">
            <a:spAutoFit/>
          </a:bodyPr>
          <a:lstStyle/>
          <a:p>
            <a:pPr algn="l">
              <a:defRPr sz="900" b="0">
                <a:solidFill>
                  <a:srgbClr val="BBBBDD"/>
                </a:solidFill>
                <a:latin typeface="Calibri"/>
              </a:defRPr>
            </a:pPr>
            <a:r>
              <a:t>abim.org</a:t>
            </a:r>
          </a:p>
        </p:txBody>
      </p:sp>
      <p:sp>
        <p:nvSpPr>
          <p:cNvPr id="37" name="Rounded Rectangle 36"/>
          <p:cNvSpPr/>
          <p:nvPr/>
        </p:nvSpPr>
        <p:spPr>
          <a:xfrm>
            <a:off x="731520" y="4297679"/>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4297679"/>
            <a:ext cx="260604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434840"/>
            <a:ext cx="2286000" cy="228600"/>
          </a:xfrm>
          <a:prstGeom prst="rect">
            <a:avLst/>
          </a:prstGeom>
          <a:noFill/>
        </p:spPr>
        <p:txBody>
          <a:bodyPr wrap="square">
            <a:spAutoFit/>
          </a:bodyPr>
          <a:lstStyle/>
          <a:p>
            <a:pPr algn="l">
              <a:defRPr sz="1300" b="1">
                <a:solidFill>
                  <a:srgbClr val="FFFFFF"/>
                </a:solidFill>
                <a:latin typeface="Calibri"/>
              </a:defRPr>
            </a:pPr>
            <a:r>
              <a:t>ABFM Board</a:t>
            </a:r>
          </a:p>
        </p:txBody>
      </p:sp>
      <p:sp>
        <p:nvSpPr>
          <p:cNvPr id="40" name="TextBox 39"/>
          <p:cNvSpPr txBox="1"/>
          <p:nvPr/>
        </p:nvSpPr>
        <p:spPr>
          <a:xfrm>
            <a:off x="914400" y="4709159"/>
            <a:ext cx="2286000" cy="411480"/>
          </a:xfrm>
          <a:prstGeom prst="rect">
            <a:avLst/>
          </a:prstGeom>
          <a:noFill/>
        </p:spPr>
        <p:txBody>
          <a:bodyPr wrap="square">
            <a:spAutoFit/>
          </a:bodyPr>
          <a:lstStyle/>
          <a:p>
            <a:pPr algn="l">
              <a:defRPr sz="1000" b="0">
                <a:solidFill>
                  <a:srgbClr val="BBBBDD"/>
                </a:solidFill>
                <a:latin typeface="Calibri"/>
              </a:defRPr>
            </a:pPr>
            <a:r>
              <a:t>Family Medicine</a:t>
            </a:r>
            <a:br/>
            <a:r>
              <a:t>board certification</a:t>
            </a:r>
          </a:p>
        </p:txBody>
      </p:sp>
      <p:sp>
        <p:nvSpPr>
          <p:cNvPr id="41" name="TextBox 40"/>
          <p:cNvSpPr txBox="1"/>
          <p:nvPr/>
        </p:nvSpPr>
        <p:spPr>
          <a:xfrm>
            <a:off x="914400" y="5212079"/>
            <a:ext cx="731520" cy="137160"/>
          </a:xfrm>
          <a:prstGeom prst="rect">
            <a:avLst/>
          </a:prstGeom>
          <a:noFill/>
        </p:spPr>
        <p:txBody>
          <a:bodyPr wrap="square">
            <a:spAutoFit/>
          </a:bodyPr>
          <a:lstStyle/>
          <a:p>
            <a:pPr algn="l">
              <a:defRPr sz="900" b="1">
                <a:solidFill>
                  <a:srgbClr val="00B67A"/>
                </a:solidFill>
                <a:latin typeface="Calibri"/>
              </a:defRPr>
            </a:pPr>
            <a:r>
              <a:t>Requires:</a:t>
            </a:r>
          </a:p>
        </p:txBody>
      </p:sp>
      <p:sp>
        <p:nvSpPr>
          <p:cNvPr id="42" name="TextBox 41"/>
          <p:cNvSpPr txBox="1"/>
          <p:nvPr/>
        </p:nvSpPr>
        <p:spPr>
          <a:xfrm>
            <a:off x="1645920" y="5212079"/>
            <a:ext cx="1554480" cy="411480"/>
          </a:xfrm>
          <a:prstGeom prst="rect">
            <a:avLst/>
          </a:prstGeom>
          <a:noFill/>
        </p:spPr>
        <p:txBody>
          <a:bodyPr wrap="square">
            <a:spAutoFit/>
          </a:bodyPr>
          <a:lstStyle/>
          <a:p>
            <a:pPr algn="l">
              <a:defRPr sz="900" b="0">
                <a:solidFill>
                  <a:srgbClr val="BBBBDD"/>
                </a:solidFill>
                <a:latin typeface="Calibri"/>
              </a:defRPr>
            </a:pPr>
            <a:r>
              <a:t>Name + SSN last 4</a:t>
            </a:r>
            <a:br/>
            <a:r>
              <a:t>+ Date of Birth</a:t>
            </a:r>
          </a:p>
        </p:txBody>
      </p:sp>
      <p:sp>
        <p:nvSpPr>
          <p:cNvPr id="43" name="TextBox 42"/>
          <p:cNvSpPr txBox="1"/>
          <p:nvPr/>
        </p:nvSpPr>
        <p:spPr>
          <a:xfrm>
            <a:off x="914400" y="5714999"/>
            <a:ext cx="731520" cy="137160"/>
          </a:xfrm>
          <a:prstGeom prst="rect">
            <a:avLst/>
          </a:prstGeom>
          <a:noFill/>
        </p:spPr>
        <p:txBody>
          <a:bodyPr wrap="square">
            <a:spAutoFit/>
          </a:bodyPr>
          <a:lstStyle/>
          <a:p>
            <a:pPr algn="l">
              <a:defRPr sz="900" b="1">
                <a:solidFill>
                  <a:srgbClr val="00B67A"/>
                </a:solidFill>
                <a:latin typeface="Calibri"/>
              </a:defRPr>
            </a:pPr>
            <a:r>
              <a:t>Source:</a:t>
            </a:r>
          </a:p>
        </p:txBody>
      </p:sp>
      <p:sp>
        <p:nvSpPr>
          <p:cNvPr id="44" name="TextBox 43"/>
          <p:cNvSpPr txBox="1"/>
          <p:nvPr/>
        </p:nvSpPr>
        <p:spPr>
          <a:xfrm>
            <a:off x="1645920" y="5714999"/>
            <a:ext cx="1554480" cy="274320"/>
          </a:xfrm>
          <a:prstGeom prst="rect">
            <a:avLst/>
          </a:prstGeom>
          <a:noFill/>
        </p:spPr>
        <p:txBody>
          <a:bodyPr wrap="square">
            <a:spAutoFit/>
          </a:bodyPr>
          <a:lstStyle/>
          <a:p>
            <a:pPr algn="l">
              <a:defRPr sz="900" b="0">
                <a:solidFill>
                  <a:srgbClr val="BBBBDD"/>
                </a:solidFill>
                <a:latin typeface="Calibri"/>
              </a:defRPr>
            </a:pPr>
            <a:r>
              <a:t>portfolio.theabfm.org</a:t>
            </a:r>
          </a:p>
        </p:txBody>
      </p:sp>
      <p:sp>
        <p:nvSpPr>
          <p:cNvPr id="45" name="Rounded Rectangle 44"/>
          <p:cNvSpPr/>
          <p:nvPr/>
        </p:nvSpPr>
        <p:spPr>
          <a:xfrm>
            <a:off x="3566160" y="4297679"/>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566160" y="4297679"/>
            <a:ext cx="260604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749040" y="4434840"/>
            <a:ext cx="2286000" cy="228600"/>
          </a:xfrm>
          <a:prstGeom prst="rect">
            <a:avLst/>
          </a:prstGeom>
          <a:noFill/>
        </p:spPr>
        <p:txBody>
          <a:bodyPr wrap="square">
            <a:spAutoFit/>
          </a:bodyPr>
          <a:lstStyle/>
          <a:p>
            <a:pPr algn="l">
              <a:defRPr sz="1300" b="1">
                <a:solidFill>
                  <a:srgbClr val="FFFFFF"/>
                </a:solidFill>
                <a:latin typeface="Calibri"/>
              </a:defRPr>
            </a:pPr>
            <a:r>
              <a:t>OIG Sanctions</a:t>
            </a:r>
          </a:p>
        </p:txBody>
      </p:sp>
      <p:sp>
        <p:nvSpPr>
          <p:cNvPr id="48" name="TextBox 47"/>
          <p:cNvSpPr txBox="1"/>
          <p:nvPr/>
        </p:nvSpPr>
        <p:spPr>
          <a:xfrm>
            <a:off x="3749040" y="4709159"/>
            <a:ext cx="2286000" cy="411480"/>
          </a:xfrm>
          <a:prstGeom prst="rect">
            <a:avLst/>
          </a:prstGeom>
          <a:noFill/>
        </p:spPr>
        <p:txBody>
          <a:bodyPr wrap="square">
            <a:spAutoFit/>
          </a:bodyPr>
          <a:lstStyle/>
          <a:p>
            <a:pPr algn="l">
              <a:defRPr sz="1000" b="0">
                <a:solidFill>
                  <a:srgbClr val="BBBBDD"/>
                </a:solidFill>
                <a:latin typeface="Calibri"/>
              </a:defRPr>
            </a:pPr>
            <a:r>
              <a:t>Office of Inspector General</a:t>
            </a:r>
            <a:br/>
            <a:r>
              <a:t>exclusion list</a:t>
            </a:r>
          </a:p>
        </p:txBody>
      </p:sp>
      <p:sp>
        <p:nvSpPr>
          <p:cNvPr id="49" name="TextBox 48"/>
          <p:cNvSpPr txBox="1"/>
          <p:nvPr/>
        </p:nvSpPr>
        <p:spPr>
          <a:xfrm>
            <a:off x="3749040" y="5212079"/>
            <a:ext cx="731520" cy="137160"/>
          </a:xfrm>
          <a:prstGeom prst="rect">
            <a:avLst/>
          </a:prstGeom>
          <a:noFill/>
        </p:spPr>
        <p:txBody>
          <a:bodyPr wrap="square">
            <a:spAutoFit/>
          </a:bodyPr>
          <a:lstStyle/>
          <a:p>
            <a:pPr algn="l">
              <a:defRPr sz="900" b="1">
                <a:solidFill>
                  <a:srgbClr val="E63946"/>
                </a:solidFill>
                <a:latin typeface="Calibri"/>
              </a:defRPr>
            </a:pPr>
            <a:r>
              <a:t>Requires:</a:t>
            </a:r>
          </a:p>
        </p:txBody>
      </p:sp>
      <p:sp>
        <p:nvSpPr>
          <p:cNvPr id="50" name="TextBox 49"/>
          <p:cNvSpPr txBox="1"/>
          <p:nvPr/>
        </p:nvSpPr>
        <p:spPr>
          <a:xfrm>
            <a:off x="4480560" y="5212079"/>
            <a:ext cx="1554480" cy="411480"/>
          </a:xfrm>
          <a:prstGeom prst="rect">
            <a:avLst/>
          </a:prstGeom>
          <a:noFill/>
        </p:spPr>
        <p:txBody>
          <a:bodyPr wrap="square">
            <a:spAutoFit/>
          </a:bodyPr>
          <a:lstStyle/>
          <a:p>
            <a:pPr algn="l">
              <a:defRPr sz="900" b="0">
                <a:solidFill>
                  <a:srgbClr val="BBBBDD"/>
                </a:solidFill>
                <a:latin typeface="Calibri"/>
              </a:defRPr>
            </a:pPr>
            <a:r>
              <a:t>Provider NPI</a:t>
            </a:r>
            <a:br/>
            <a:r>
              <a:t>+ full name</a:t>
            </a:r>
          </a:p>
        </p:txBody>
      </p:sp>
      <p:sp>
        <p:nvSpPr>
          <p:cNvPr id="51" name="TextBox 50"/>
          <p:cNvSpPr txBox="1"/>
          <p:nvPr/>
        </p:nvSpPr>
        <p:spPr>
          <a:xfrm>
            <a:off x="3749040" y="5714999"/>
            <a:ext cx="731520" cy="137160"/>
          </a:xfrm>
          <a:prstGeom prst="rect">
            <a:avLst/>
          </a:prstGeom>
          <a:noFill/>
        </p:spPr>
        <p:txBody>
          <a:bodyPr wrap="square">
            <a:spAutoFit/>
          </a:bodyPr>
          <a:lstStyle/>
          <a:p>
            <a:pPr algn="l">
              <a:defRPr sz="900" b="1">
                <a:solidFill>
                  <a:srgbClr val="E63946"/>
                </a:solidFill>
                <a:latin typeface="Calibri"/>
              </a:defRPr>
            </a:pPr>
            <a:r>
              <a:t>Source:</a:t>
            </a:r>
          </a:p>
        </p:txBody>
      </p:sp>
      <p:sp>
        <p:nvSpPr>
          <p:cNvPr id="52" name="TextBox 51"/>
          <p:cNvSpPr txBox="1"/>
          <p:nvPr/>
        </p:nvSpPr>
        <p:spPr>
          <a:xfrm>
            <a:off x="4480560" y="5714999"/>
            <a:ext cx="1554480" cy="274320"/>
          </a:xfrm>
          <a:prstGeom prst="rect">
            <a:avLst/>
          </a:prstGeom>
          <a:noFill/>
        </p:spPr>
        <p:txBody>
          <a:bodyPr wrap="square">
            <a:spAutoFit/>
          </a:bodyPr>
          <a:lstStyle/>
          <a:p>
            <a:pPr algn="l">
              <a:defRPr sz="900" b="0">
                <a:solidFill>
                  <a:srgbClr val="BBBBDD"/>
                </a:solidFill>
                <a:latin typeface="Calibri"/>
              </a:defRPr>
            </a:pPr>
            <a:r>
              <a:t>exclusions.oig.hhs.gov</a:t>
            </a:r>
          </a:p>
        </p:txBody>
      </p:sp>
      <p:sp>
        <p:nvSpPr>
          <p:cNvPr id="53" name="Rounded Rectangle 52"/>
          <p:cNvSpPr/>
          <p:nvPr/>
        </p:nvSpPr>
        <p:spPr>
          <a:xfrm>
            <a:off x="6400800" y="4297679"/>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400800" y="4297679"/>
            <a:ext cx="260604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4434840"/>
            <a:ext cx="2286000" cy="228600"/>
          </a:xfrm>
          <a:prstGeom prst="rect">
            <a:avLst/>
          </a:prstGeom>
          <a:noFill/>
        </p:spPr>
        <p:txBody>
          <a:bodyPr wrap="square">
            <a:spAutoFit/>
          </a:bodyPr>
          <a:lstStyle/>
          <a:p>
            <a:pPr algn="l">
              <a:defRPr sz="1300" b="1">
                <a:solidFill>
                  <a:srgbClr val="FFFFFF"/>
                </a:solidFill>
                <a:latin typeface="Calibri"/>
              </a:defRPr>
            </a:pPr>
            <a:r>
              <a:t>SAM.gov Sanctions</a:t>
            </a:r>
          </a:p>
        </p:txBody>
      </p:sp>
      <p:sp>
        <p:nvSpPr>
          <p:cNvPr id="56" name="TextBox 55"/>
          <p:cNvSpPr txBox="1"/>
          <p:nvPr/>
        </p:nvSpPr>
        <p:spPr>
          <a:xfrm>
            <a:off x="6583680" y="4709159"/>
            <a:ext cx="2286000" cy="411480"/>
          </a:xfrm>
          <a:prstGeom prst="rect">
            <a:avLst/>
          </a:prstGeom>
          <a:noFill/>
        </p:spPr>
        <p:txBody>
          <a:bodyPr wrap="square">
            <a:spAutoFit/>
          </a:bodyPr>
          <a:lstStyle/>
          <a:p>
            <a:pPr algn="l">
              <a:defRPr sz="1000" b="0">
                <a:solidFill>
                  <a:srgbClr val="BBBBDD"/>
                </a:solidFill>
                <a:latin typeface="Calibri"/>
              </a:defRPr>
            </a:pPr>
            <a:r>
              <a:t>Federal debarment</a:t>
            </a:r>
            <a:br/>
            <a:r>
              <a:t>and suspension</a:t>
            </a:r>
          </a:p>
        </p:txBody>
      </p:sp>
      <p:sp>
        <p:nvSpPr>
          <p:cNvPr id="57" name="TextBox 56"/>
          <p:cNvSpPr txBox="1"/>
          <p:nvPr/>
        </p:nvSpPr>
        <p:spPr>
          <a:xfrm>
            <a:off x="6583680" y="5212079"/>
            <a:ext cx="731520" cy="137160"/>
          </a:xfrm>
          <a:prstGeom prst="rect">
            <a:avLst/>
          </a:prstGeom>
          <a:noFill/>
        </p:spPr>
        <p:txBody>
          <a:bodyPr wrap="square">
            <a:spAutoFit/>
          </a:bodyPr>
          <a:lstStyle/>
          <a:p>
            <a:pPr algn="l">
              <a:defRPr sz="900" b="1">
                <a:solidFill>
                  <a:srgbClr val="E63946"/>
                </a:solidFill>
                <a:latin typeface="Calibri"/>
              </a:defRPr>
            </a:pPr>
            <a:r>
              <a:t>Requires:</a:t>
            </a:r>
          </a:p>
        </p:txBody>
      </p:sp>
      <p:sp>
        <p:nvSpPr>
          <p:cNvPr id="58" name="TextBox 57"/>
          <p:cNvSpPr txBox="1"/>
          <p:nvPr/>
        </p:nvSpPr>
        <p:spPr>
          <a:xfrm>
            <a:off x="7315200" y="5212079"/>
            <a:ext cx="1554480" cy="411480"/>
          </a:xfrm>
          <a:prstGeom prst="rect">
            <a:avLst/>
          </a:prstGeom>
          <a:noFill/>
        </p:spPr>
        <p:txBody>
          <a:bodyPr wrap="square">
            <a:spAutoFit/>
          </a:bodyPr>
          <a:lstStyle/>
          <a:p>
            <a:pPr algn="l">
              <a:defRPr sz="900" b="0">
                <a:solidFill>
                  <a:srgbClr val="BBBBDD"/>
                </a:solidFill>
                <a:latin typeface="Calibri"/>
              </a:defRPr>
            </a:pPr>
            <a:r>
              <a:t>Provider NPI</a:t>
            </a:r>
          </a:p>
        </p:txBody>
      </p:sp>
      <p:sp>
        <p:nvSpPr>
          <p:cNvPr id="59" name="TextBox 58"/>
          <p:cNvSpPr txBox="1"/>
          <p:nvPr/>
        </p:nvSpPr>
        <p:spPr>
          <a:xfrm>
            <a:off x="6583680" y="5714999"/>
            <a:ext cx="731520" cy="137160"/>
          </a:xfrm>
          <a:prstGeom prst="rect">
            <a:avLst/>
          </a:prstGeom>
          <a:noFill/>
        </p:spPr>
        <p:txBody>
          <a:bodyPr wrap="square">
            <a:spAutoFit/>
          </a:bodyPr>
          <a:lstStyle/>
          <a:p>
            <a:pPr algn="l">
              <a:defRPr sz="900" b="1">
                <a:solidFill>
                  <a:srgbClr val="E63946"/>
                </a:solidFill>
                <a:latin typeface="Calibri"/>
              </a:defRPr>
            </a:pPr>
            <a:r>
              <a:t>Source:</a:t>
            </a:r>
          </a:p>
        </p:txBody>
      </p:sp>
      <p:sp>
        <p:nvSpPr>
          <p:cNvPr id="60" name="TextBox 59"/>
          <p:cNvSpPr txBox="1"/>
          <p:nvPr/>
        </p:nvSpPr>
        <p:spPr>
          <a:xfrm>
            <a:off x="7315200" y="5714999"/>
            <a:ext cx="1554480" cy="274320"/>
          </a:xfrm>
          <a:prstGeom prst="rect">
            <a:avLst/>
          </a:prstGeom>
          <a:noFill/>
        </p:spPr>
        <p:txBody>
          <a:bodyPr wrap="square">
            <a:spAutoFit/>
          </a:bodyPr>
          <a:lstStyle/>
          <a:p>
            <a:pPr algn="l">
              <a:defRPr sz="900" b="0">
                <a:solidFill>
                  <a:srgbClr val="BBBBDD"/>
                </a:solidFill>
                <a:latin typeface="Calibri"/>
              </a:defRPr>
            </a:pPr>
            <a:r>
              <a:t>sam.gov API</a:t>
            </a:r>
          </a:p>
        </p:txBody>
      </p:sp>
      <p:sp>
        <p:nvSpPr>
          <p:cNvPr id="61" name="Rounded Rectangle 60"/>
          <p:cNvSpPr/>
          <p:nvPr/>
        </p:nvSpPr>
        <p:spPr>
          <a:xfrm>
            <a:off x="9235440" y="4297679"/>
            <a:ext cx="2606040" cy="196596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235440" y="4297679"/>
            <a:ext cx="2606040" cy="4572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418320" y="4434840"/>
            <a:ext cx="2286000" cy="228600"/>
          </a:xfrm>
          <a:prstGeom prst="rect">
            <a:avLst/>
          </a:prstGeom>
          <a:noFill/>
        </p:spPr>
        <p:txBody>
          <a:bodyPr wrap="square">
            <a:spAutoFit/>
          </a:bodyPr>
          <a:lstStyle/>
          <a:p>
            <a:pPr algn="l">
              <a:defRPr sz="1300" b="1">
                <a:solidFill>
                  <a:srgbClr val="FFFFFF"/>
                </a:solidFill>
                <a:latin typeface="Calibri"/>
              </a:defRPr>
            </a:pPr>
            <a:r>
              <a:t>NPDB Query</a:t>
            </a:r>
          </a:p>
        </p:txBody>
      </p:sp>
      <p:sp>
        <p:nvSpPr>
          <p:cNvPr id="64" name="TextBox 63"/>
          <p:cNvSpPr txBox="1"/>
          <p:nvPr/>
        </p:nvSpPr>
        <p:spPr>
          <a:xfrm>
            <a:off x="9418320" y="4709159"/>
            <a:ext cx="2286000" cy="411480"/>
          </a:xfrm>
          <a:prstGeom prst="rect">
            <a:avLst/>
          </a:prstGeom>
          <a:noFill/>
        </p:spPr>
        <p:txBody>
          <a:bodyPr wrap="square">
            <a:spAutoFit/>
          </a:bodyPr>
          <a:lstStyle/>
          <a:p>
            <a:pPr algn="l">
              <a:defRPr sz="1000" b="0">
                <a:solidFill>
                  <a:srgbClr val="BBBBDD"/>
                </a:solidFill>
                <a:latin typeface="Calibri"/>
              </a:defRPr>
            </a:pPr>
            <a:r>
              <a:t>Malpractice and</a:t>
            </a:r>
            <a:br/>
            <a:r>
              <a:t>adverse actions</a:t>
            </a:r>
          </a:p>
        </p:txBody>
      </p:sp>
      <p:sp>
        <p:nvSpPr>
          <p:cNvPr id="65" name="TextBox 64"/>
          <p:cNvSpPr txBox="1"/>
          <p:nvPr/>
        </p:nvSpPr>
        <p:spPr>
          <a:xfrm>
            <a:off x="9418320" y="5212079"/>
            <a:ext cx="731520" cy="137160"/>
          </a:xfrm>
          <a:prstGeom prst="rect">
            <a:avLst/>
          </a:prstGeom>
          <a:noFill/>
        </p:spPr>
        <p:txBody>
          <a:bodyPr wrap="square">
            <a:spAutoFit/>
          </a:bodyPr>
          <a:lstStyle/>
          <a:p>
            <a:pPr algn="l">
              <a:defRPr sz="900" b="1">
                <a:solidFill>
                  <a:srgbClr val="F4A261"/>
                </a:solidFill>
                <a:latin typeface="Calibri"/>
              </a:defRPr>
            </a:pPr>
            <a:r>
              <a:t>Requires:</a:t>
            </a:r>
          </a:p>
        </p:txBody>
      </p:sp>
      <p:sp>
        <p:nvSpPr>
          <p:cNvPr id="66" name="TextBox 65"/>
          <p:cNvSpPr txBox="1"/>
          <p:nvPr/>
        </p:nvSpPr>
        <p:spPr>
          <a:xfrm>
            <a:off x="10149840" y="5212079"/>
            <a:ext cx="1554480" cy="411480"/>
          </a:xfrm>
          <a:prstGeom prst="rect">
            <a:avLst/>
          </a:prstGeom>
          <a:noFill/>
        </p:spPr>
        <p:txBody>
          <a:bodyPr wrap="square">
            <a:spAutoFit/>
          </a:bodyPr>
          <a:lstStyle/>
          <a:p>
            <a:pPr algn="l">
              <a:defRPr sz="900" b="0">
                <a:solidFill>
                  <a:srgbClr val="BBBBDD"/>
                </a:solidFill>
                <a:latin typeface="Calibri"/>
              </a:defRPr>
            </a:pPr>
            <a:r>
              <a:t>Name + DOB + NPI</a:t>
            </a:r>
            <a:br/>
            <a:r>
              <a:t>+ license info</a:t>
            </a:r>
          </a:p>
        </p:txBody>
      </p:sp>
      <p:sp>
        <p:nvSpPr>
          <p:cNvPr id="67" name="TextBox 66"/>
          <p:cNvSpPr txBox="1"/>
          <p:nvPr/>
        </p:nvSpPr>
        <p:spPr>
          <a:xfrm>
            <a:off x="9418320" y="5714999"/>
            <a:ext cx="731520" cy="137160"/>
          </a:xfrm>
          <a:prstGeom prst="rect">
            <a:avLst/>
          </a:prstGeom>
          <a:noFill/>
        </p:spPr>
        <p:txBody>
          <a:bodyPr wrap="square">
            <a:spAutoFit/>
          </a:bodyPr>
          <a:lstStyle/>
          <a:p>
            <a:pPr algn="l">
              <a:defRPr sz="900" b="1">
                <a:solidFill>
                  <a:srgbClr val="F4A261"/>
                </a:solidFill>
                <a:latin typeface="Calibri"/>
              </a:defRPr>
            </a:pPr>
            <a:r>
              <a:t>Source:</a:t>
            </a:r>
          </a:p>
        </p:txBody>
      </p:sp>
      <p:sp>
        <p:nvSpPr>
          <p:cNvPr id="68" name="TextBox 67"/>
          <p:cNvSpPr txBox="1"/>
          <p:nvPr/>
        </p:nvSpPr>
        <p:spPr>
          <a:xfrm>
            <a:off x="10149840" y="5714999"/>
            <a:ext cx="1554480" cy="274320"/>
          </a:xfrm>
          <a:prstGeom prst="rect">
            <a:avLst/>
          </a:prstGeom>
          <a:noFill/>
        </p:spPr>
        <p:txBody>
          <a:bodyPr wrap="square">
            <a:spAutoFit/>
          </a:bodyPr>
          <a:lstStyle/>
          <a:p>
            <a:pPr algn="l">
              <a:defRPr sz="900" b="0">
                <a:solidFill>
                  <a:srgbClr val="BBBBDD"/>
                </a:solidFill>
                <a:latin typeface="Calibri"/>
              </a:defRPr>
            </a:pPr>
            <a:r>
              <a:t>NPDB HIQA</a:t>
            </a:r>
          </a:p>
        </p:txBody>
      </p:sp>
      <p:sp>
        <p:nvSpPr>
          <p:cNvPr id="69" name="TextBox 68"/>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VERIFICATION BOTS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Triggering Bots &amp; Reading Results</a:t>
            </a:r>
          </a:p>
        </p:txBody>
      </p:sp>
      <p:sp>
        <p:nvSpPr>
          <p:cNvPr id="4" name="Rounded Rectangle 3"/>
          <p:cNvSpPr/>
          <p:nvPr/>
        </p:nvSpPr>
        <p:spPr>
          <a:xfrm>
            <a:off x="731520" y="1463040"/>
            <a:ext cx="5303520" cy="25603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274320"/>
          </a:xfrm>
          <a:prstGeom prst="rect">
            <a:avLst/>
          </a:prstGeom>
          <a:noFill/>
        </p:spPr>
        <p:txBody>
          <a:bodyPr wrap="square">
            <a:spAutoFit/>
          </a:bodyPr>
          <a:lstStyle/>
          <a:p>
            <a:pPr algn="l">
              <a:defRPr sz="1600" b="1">
                <a:solidFill>
                  <a:srgbClr val="00A3E0"/>
                </a:solidFill>
                <a:latin typeface="Calibri"/>
              </a:defRPr>
            </a:pPr>
            <a:r>
              <a:t>How to Trigger a Bot</a:t>
            </a:r>
          </a:p>
        </p:txBody>
      </p:sp>
      <p:sp>
        <p:nvSpPr>
          <p:cNvPr id="6" name="TextBox 5"/>
          <p:cNvSpPr txBox="1"/>
          <p:nvPr/>
        </p:nvSpPr>
        <p:spPr>
          <a:xfrm>
            <a:off x="1005840" y="1965960"/>
            <a:ext cx="4937760" cy="320040"/>
          </a:xfrm>
          <a:prstGeom prst="rect">
            <a:avLst/>
          </a:prstGeom>
          <a:noFill/>
        </p:spPr>
        <p:txBody>
          <a:bodyPr wrap="square">
            <a:spAutoFit/>
          </a:bodyPr>
          <a:lstStyle/>
          <a:p>
            <a:pPr algn="l">
              <a:defRPr sz="1100" b="0">
                <a:solidFill>
                  <a:srgbClr val="BBBBDD"/>
                </a:solidFill>
                <a:latin typeface="Calibri"/>
              </a:defRPr>
            </a:pPr>
            <a:r>
              <a:t>1. From the provider list, click "Bots" in the Actions column</a:t>
            </a:r>
            <a:br/>
            <a:r>
              <a:t>    — OR go to the provider detail page and click the Bots link</a:t>
            </a:r>
          </a:p>
        </p:txBody>
      </p:sp>
      <p:sp>
        <p:nvSpPr>
          <p:cNvPr id="7" name="TextBox 6"/>
          <p:cNvSpPr txBox="1"/>
          <p:nvPr/>
        </p:nvSpPr>
        <p:spPr>
          <a:xfrm>
            <a:off x="1005840" y="2304288"/>
            <a:ext cx="4937760" cy="320040"/>
          </a:xfrm>
          <a:prstGeom prst="rect">
            <a:avLst/>
          </a:prstGeom>
          <a:noFill/>
        </p:spPr>
        <p:txBody>
          <a:bodyPr wrap="square">
            <a:spAutoFit/>
          </a:bodyPr>
          <a:lstStyle/>
          <a:p>
            <a:pPr algn="l">
              <a:defRPr sz="1100" b="0">
                <a:solidFill>
                  <a:srgbClr val="BBBBDD"/>
                </a:solidFill>
                <a:latin typeface="Calibri"/>
              </a:defRPr>
            </a:pPr>
            <a:r>
              <a:t>2. You see a panel showing ALL available bot types for this provider</a:t>
            </a:r>
          </a:p>
        </p:txBody>
      </p:sp>
      <p:sp>
        <p:nvSpPr>
          <p:cNvPr id="8" name="TextBox 7"/>
          <p:cNvSpPr txBox="1"/>
          <p:nvPr/>
        </p:nvSpPr>
        <p:spPr>
          <a:xfrm>
            <a:off x="1005840" y="2642615"/>
            <a:ext cx="4937760" cy="320040"/>
          </a:xfrm>
          <a:prstGeom prst="rect">
            <a:avLst/>
          </a:prstGeom>
          <a:noFill/>
        </p:spPr>
        <p:txBody>
          <a:bodyPr wrap="square">
            <a:spAutoFit/>
          </a:bodyPr>
          <a:lstStyle/>
          <a:p>
            <a:pPr algn="l">
              <a:defRPr sz="1100" b="0">
                <a:solidFill>
                  <a:srgbClr val="BBBBDD"/>
                </a:solidFill>
                <a:latin typeface="Calibri"/>
              </a:defRPr>
            </a:pPr>
            <a:r>
              <a:t>3. Click "Run Bot" next to the verification you want to run</a:t>
            </a:r>
          </a:p>
        </p:txBody>
      </p:sp>
      <p:sp>
        <p:nvSpPr>
          <p:cNvPr id="9" name="TextBox 8"/>
          <p:cNvSpPr txBox="1"/>
          <p:nvPr/>
        </p:nvSpPr>
        <p:spPr>
          <a:xfrm>
            <a:off x="1005840" y="2980944"/>
            <a:ext cx="4937760" cy="320040"/>
          </a:xfrm>
          <a:prstGeom prst="rect">
            <a:avLst/>
          </a:prstGeom>
          <a:noFill/>
        </p:spPr>
        <p:txBody>
          <a:bodyPr wrap="square">
            <a:spAutoFit/>
          </a:bodyPr>
          <a:lstStyle/>
          <a:p>
            <a:pPr algn="l">
              <a:defRPr sz="1100" b="0">
                <a:solidFill>
                  <a:srgbClr val="BBBBDD"/>
                </a:solidFill>
                <a:latin typeface="Calibri"/>
              </a:defRPr>
            </a:pPr>
            <a:r>
              <a:t>4. The status changes to RUNNING in real time (WebSocket — no refresh needed)</a:t>
            </a:r>
          </a:p>
        </p:txBody>
      </p:sp>
      <p:sp>
        <p:nvSpPr>
          <p:cNvPr id="10" name="TextBox 9"/>
          <p:cNvSpPr txBox="1"/>
          <p:nvPr/>
        </p:nvSpPr>
        <p:spPr>
          <a:xfrm>
            <a:off x="1005840" y="3319272"/>
            <a:ext cx="4937760" cy="320040"/>
          </a:xfrm>
          <a:prstGeom prst="rect">
            <a:avLst/>
          </a:prstGeom>
          <a:noFill/>
        </p:spPr>
        <p:txBody>
          <a:bodyPr wrap="square">
            <a:spAutoFit/>
          </a:bodyPr>
          <a:lstStyle/>
          <a:p>
            <a:pPr algn="l">
              <a:defRPr sz="1100" b="0">
                <a:solidFill>
                  <a:srgbClr val="BBBBDD"/>
                </a:solidFill>
                <a:latin typeface="Calibri"/>
              </a:defRPr>
            </a:pPr>
            <a:r>
              <a:t>5. Wait for completion — typically 30 seconds to 2 minutes per bot</a:t>
            </a:r>
          </a:p>
        </p:txBody>
      </p:sp>
      <p:sp>
        <p:nvSpPr>
          <p:cNvPr id="11" name="TextBox 10"/>
          <p:cNvSpPr txBox="1"/>
          <p:nvPr/>
        </p:nvSpPr>
        <p:spPr>
          <a:xfrm>
            <a:off x="1005840" y="3657600"/>
            <a:ext cx="4937760" cy="320040"/>
          </a:xfrm>
          <a:prstGeom prst="rect">
            <a:avLst/>
          </a:prstGeom>
          <a:noFill/>
        </p:spPr>
        <p:txBody>
          <a:bodyPr wrap="square">
            <a:spAutoFit/>
          </a:bodyPr>
          <a:lstStyle/>
          <a:p>
            <a:pPr algn="l">
              <a:defRPr sz="1100" b="0">
                <a:solidFill>
                  <a:srgbClr val="BBBBDD"/>
                </a:solidFill>
                <a:latin typeface="Calibri"/>
              </a:defRPr>
            </a:pPr>
            <a:r>
              <a:t>6. Result appears on the card: Verified, Failed, or Flagged</a:t>
            </a:r>
          </a:p>
        </p:txBody>
      </p:sp>
      <p:sp>
        <p:nvSpPr>
          <p:cNvPr id="12" name="Rounded Rectangle 11"/>
          <p:cNvSpPr/>
          <p:nvPr/>
        </p:nvSpPr>
        <p:spPr>
          <a:xfrm>
            <a:off x="6400800" y="1463040"/>
            <a:ext cx="5120640" cy="25603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00200"/>
            <a:ext cx="4572000" cy="274320"/>
          </a:xfrm>
          <a:prstGeom prst="rect">
            <a:avLst/>
          </a:prstGeom>
          <a:noFill/>
        </p:spPr>
        <p:txBody>
          <a:bodyPr wrap="square">
            <a:spAutoFit/>
          </a:bodyPr>
          <a:lstStyle/>
          <a:p>
            <a:pPr algn="l">
              <a:defRPr sz="1600" b="1">
                <a:solidFill>
                  <a:srgbClr val="00A3E0"/>
                </a:solidFill>
                <a:latin typeface="Calibri"/>
              </a:defRPr>
            </a:pPr>
            <a:r>
              <a:t>Understanding Bot Results</a:t>
            </a:r>
          </a:p>
        </p:txBody>
      </p:sp>
      <p:sp>
        <p:nvSpPr>
          <p:cNvPr id="14" name="TextBox 13"/>
          <p:cNvSpPr txBox="1"/>
          <p:nvPr/>
        </p:nvSpPr>
        <p:spPr>
          <a:xfrm>
            <a:off x="6675120" y="2011680"/>
            <a:ext cx="4572000" cy="228600"/>
          </a:xfrm>
          <a:prstGeom prst="rect">
            <a:avLst/>
          </a:prstGeom>
          <a:noFill/>
        </p:spPr>
        <p:txBody>
          <a:bodyPr wrap="square">
            <a:spAutoFit/>
          </a:bodyPr>
          <a:lstStyle/>
          <a:p>
            <a:pPr algn="l">
              <a:defRPr sz="1300" b="1">
                <a:solidFill>
                  <a:srgbClr val="00B67A"/>
                </a:solidFill>
                <a:latin typeface="Calibri"/>
              </a:defRPr>
            </a:pPr>
            <a:r>
              <a:t>✓ VERIFIED (Green)</a:t>
            </a:r>
          </a:p>
        </p:txBody>
      </p:sp>
      <p:sp>
        <p:nvSpPr>
          <p:cNvPr id="15" name="TextBox 14"/>
          <p:cNvSpPr txBox="1"/>
          <p:nvPr/>
        </p:nvSpPr>
        <p:spPr>
          <a:xfrm>
            <a:off x="6675120" y="2240280"/>
            <a:ext cx="4572000" cy="502920"/>
          </a:xfrm>
          <a:prstGeom prst="rect">
            <a:avLst/>
          </a:prstGeom>
          <a:noFill/>
        </p:spPr>
        <p:txBody>
          <a:bodyPr wrap="square">
            <a:spAutoFit/>
          </a:bodyPr>
          <a:lstStyle/>
          <a:p>
            <a:pPr algn="l">
              <a:defRPr sz="1000" b="0">
                <a:solidFill>
                  <a:srgbClr val="BBBBDD"/>
                </a:solidFill>
                <a:latin typeface="Calibri"/>
              </a:defRPr>
            </a:pPr>
            <a:r>
              <a:t>Credential confirmed from primary source.</a:t>
            </a:r>
            <a:br/>
            <a:r>
              <a:t>No action needed. Record auto-created.</a:t>
            </a:r>
            <a:br/>
            <a:r>
              <a:t>PDF saved. Checklist updated.</a:t>
            </a:r>
          </a:p>
        </p:txBody>
      </p:sp>
      <p:sp>
        <p:nvSpPr>
          <p:cNvPr id="16" name="TextBox 15"/>
          <p:cNvSpPr txBox="1"/>
          <p:nvPr/>
        </p:nvSpPr>
        <p:spPr>
          <a:xfrm>
            <a:off x="6675120" y="2788920"/>
            <a:ext cx="4572000" cy="228600"/>
          </a:xfrm>
          <a:prstGeom prst="rect">
            <a:avLst/>
          </a:prstGeom>
          <a:noFill/>
        </p:spPr>
        <p:txBody>
          <a:bodyPr wrap="square">
            <a:spAutoFit/>
          </a:bodyPr>
          <a:lstStyle/>
          <a:p>
            <a:pPr algn="l">
              <a:defRPr sz="1300" b="1">
                <a:solidFill>
                  <a:srgbClr val="9999AA"/>
                </a:solidFill>
                <a:latin typeface="Calibri"/>
              </a:defRPr>
            </a:pPr>
            <a:r>
              <a:t>✗ FAILED (Gray)</a:t>
            </a:r>
          </a:p>
        </p:txBody>
      </p:sp>
      <p:sp>
        <p:nvSpPr>
          <p:cNvPr id="17" name="TextBox 16"/>
          <p:cNvSpPr txBox="1"/>
          <p:nvPr/>
        </p:nvSpPr>
        <p:spPr>
          <a:xfrm>
            <a:off x="6675120" y="3017520"/>
            <a:ext cx="4572000" cy="502920"/>
          </a:xfrm>
          <a:prstGeom prst="rect">
            <a:avLst/>
          </a:prstGeom>
          <a:noFill/>
        </p:spPr>
        <p:txBody>
          <a:bodyPr wrap="square">
            <a:spAutoFit/>
          </a:bodyPr>
          <a:lstStyle/>
          <a:p>
            <a:pPr algn="l">
              <a:defRPr sz="1000" b="0">
                <a:solidFill>
                  <a:srgbClr val="BBBBDD"/>
                </a:solidFill>
                <a:latin typeface="Calibri"/>
              </a:defRPr>
            </a:pPr>
            <a:r>
              <a:t>Bot couldn't complete. Common causes:</a:t>
            </a:r>
            <a:br/>
            <a:r>
              <a:t>website down, wrong license number,</a:t>
            </a:r>
            <a:br/>
            <a:r>
              <a:t>missing required data. Fix and re-run.</a:t>
            </a:r>
          </a:p>
        </p:txBody>
      </p:sp>
      <p:sp>
        <p:nvSpPr>
          <p:cNvPr id="18" name="TextBox 17"/>
          <p:cNvSpPr txBox="1"/>
          <p:nvPr/>
        </p:nvSpPr>
        <p:spPr>
          <a:xfrm>
            <a:off x="6675120" y="3566160"/>
            <a:ext cx="4572000" cy="228600"/>
          </a:xfrm>
          <a:prstGeom prst="rect">
            <a:avLst/>
          </a:prstGeom>
          <a:noFill/>
        </p:spPr>
        <p:txBody>
          <a:bodyPr wrap="square">
            <a:spAutoFit/>
          </a:bodyPr>
          <a:lstStyle/>
          <a:p>
            <a:pPr algn="l">
              <a:defRPr sz="1300" b="1">
                <a:solidFill>
                  <a:srgbClr val="E63946"/>
                </a:solidFill>
                <a:latin typeface="Calibri"/>
              </a:defRPr>
            </a:pPr>
            <a:r>
              <a:t>⚠ FLAGGED (Red)</a:t>
            </a:r>
          </a:p>
        </p:txBody>
      </p:sp>
      <p:sp>
        <p:nvSpPr>
          <p:cNvPr id="19" name="TextBox 18"/>
          <p:cNvSpPr txBox="1"/>
          <p:nvPr/>
        </p:nvSpPr>
        <p:spPr>
          <a:xfrm>
            <a:off x="6675120" y="3794760"/>
            <a:ext cx="4572000" cy="502920"/>
          </a:xfrm>
          <a:prstGeom prst="rect">
            <a:avLst/>
          </a:prstGeom>
          <a:noFill/>
        </p:spPr>
        <p:txBody>
          <a:bodyPr wrap="square">
            <a:spAutoFit/>
          </a:bodyPr>
          <a:lstStyle/>
          <a:p>
            <a:pPr algn="l">
              <a:defRPr sz="1000" b="0">
                <a:solidFill>
                  <a:srgbClr val="BBBBDD"/>
                </a:solidFill>
                <a:latin typeface="Calibri"/>
              </a:defRPr>
            </a:pPr>
            <a:r>
              <a:t>Credential has an issue: expired, not found,</a:t>
            </a:r>
            <a:br/>
            <a:r>
              <a:t>or sanction discovered. You MUST investigate,</a:t>
            </a:r>
            <a:br/>
            <a:r>
              <a:t>then acknowledge or escalate.</a:t>
            </a:r>
          </a:p>
        </p:txBody>
      </p:sp>
      <p:sp>
        <p:nvSpPr>
          <p:cNvPr id="20" name="Rounded Rectangle 19"/>
          <p:cNvSpPr/>
          <p:nvPr/>
        </p:nvSpPr>
        <p:spPr>
          <a:xfrm>
            <a:off x="731520" y="4297680"/>
            <a:ext cx="10698480" cy="10972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34840"/>
            <a:ext cx="4572000" cy="274320"/>
          </a:xfrm>
          <a:prstGeom prst="rect">
            <a:avLst/>
          </a:prstGeom>
          <a:noFill/>
        </p:spPr>
        <p:txBody>
          <a:bodyPr wrap="square">
            <a:spAutoFit/>
          </a:bodyPr>
          <a:lstStyle/>
          <a:p>
            <a:pPr algn="l">
              <a:defRPr sz="1500" b="1">
                <a:solidFill>
                  <a:srgbClr val="00B67A"/>
                </a:solidFill>
                <a:latin typeface="Calibri"/>
              </a:defRPr>
            </a:pPr>
            <a:r>
              <a:t>What Every Successful Bot Run Produces</a:t>
            </a:r>
          </a:p>
        </p:txBody>
      </p:sp>
      <p:sp>
        <p:nvSpPr>
          <p:cNvPr id="22" name="TextBox 21"/>
          <p:cNvSpPr txBox="1"/>
          <p:nvPr/>
        </p:nvSpPr>
        <p:spPr>
          <a:xfrm>
            <a:off x="1005840" y="4800600"/>
            <a:ext cx="10058400" cy="201168"/>
          </a:xfrm>
          <a:prstGeom prst="rect">
            <a:avLst/>
          </a:prstGeom>
          <a:noFill/>
        </p:spPr>
        <p:txBody>
          <a:bodyPr wrap="square">
            <a:spAutoFit/>
          </a:bodyPr>
          <a:lstStyle/>
          <a:p>
            <a:pPr algn="l">
              <a:defRPr sz="1100" b="0">
                <a:solidFill>
                  <a:srgbClr val="BBBBDD"/>
                </a:solidFill>
                <a:latin typeface="Calibri"/>
              </a:defRPr>
            </a:pPr>
            <a:r>
              <a:t>1. Timestamped PDF saved to the provider's document folder (Azure Blob Storage)</a:t>
            </a:r>
          </a:p>
        </p:txBody>
      </p:sp>
      <p:sp>
        <p:nvSpPr>
          <p:cNvPr id="23" name="TextBox 22"/>
          <p:cNvSpPr txBox="1"/>
          <p:nvPr/>
        </p:nvSpPr>
        <p:spPr>
          <a:xfrm>
            <a:off x="1005840" y="5029200"/>
            <a:ext cx="10058400" cy="201168"/>
          </a:xfrm>
          <a:prstGeom prst="rect">
            <a:avLst/>
          </a:prstGeom>
          <a:noFill/>
        </p:spPr>
        <p:txBody>
          <a:bodyPr wrap="square">
            <a:spAutoFit/>
          </a:bodyPr>
          <a:lstStyle/>
          <a:p>
            <a:pPr algn="l">
              <a:defRPr sz="1100" b="0">
                <a:solidFill>
                  <a:srgbClr val="BBBBDD"/>
                </a:solidFill>
                <a:latin typeface="Calibri"/>
              </a:defRPr>
            </a:pPr>
            <a:r>
              <a:t>2. VerificationRecord in the database with credential type, status, expiration date, and source URL</a:t>
            </a:r>
          </a:p>
        </p:txBody>
      </p:sp>
      <p:sp>
        <p:nvSpPr>
          <p:cNvPr id="24" name="TextBox 23"/>
          <p:cNvSpPr txBox="1"/>
          <p:nvPr/>
        </p:nvSpPr>
        <p:spPr>
          <a:xfrm>
            <a:off x="1005840" y="5257800"/>
            <a:ext cx="10058400" cy="201168"/>
          </a:xfrm>
          <a:prstGeom prst="rect">
            <a:avLst/>
          </a:prstGeom>
          <a:noFill/>
        </p:spPr>
        <p:txBody>
          <a:bodyPr wrap="square">
            <a:spAutoFit/>
          </a:bodyPr>
          <a:lstStyle/>
          <a:p>
            <a:pPr algn="l">
              <a:defRPr sz="1100" b="0">
                <a:solidFill>
                  <a:srgbClr val="BBBBDD"/>
                </a:solidFill>
                <a:latin typeface="Calibri"/>
              </a:defRPr>
            </a:pPr>
            <a:r>
              <a:t>3. Checklist item automatically updated to 'Received' status</a:t>
            </a:r>
          </a:p>
        </p:txBody>
      </p:sp>
      <p:sp>
        <p:nvSpPr>
          <p:cNvPr id="25" name="TextBox 24"/>
          <p:cNvSpPr txBox="1"/>
          <p:nvPr/>
        </p:nvSpPr>
        <p:spPr>
          <a:xfrm>
            <a:off x="1005840" y="5486400"/>
            <a:ext cx="10058400" cy="201168"/>
          </a:xfrm>
          <a:prstGeom prst="rect">
            <a:avLst/>
          </a:prstGeom>
          <a:noFill/>
        </p:spPr>
        <p:txBody>
          <a:bodyPr wrap="square">
            <a:spAutoFit/>
          </a:bodyPr>
          <a:lstStyle/>
          <a:p>
            <a:pPr algn="l">
              <a:defRPr sz="1100" b="0">
                <a:solidFill>
                  <a:srgbClr val="BBBBDD"/>
                </a:solidFill>
                <a:latin typeface="Calibri"/>
              </a:defRPr>
            </a:pPr>
            <a:r>
              <a:t>4. Audit trail entry with bot type, run time, result, and the user who triggered it</a:t>
            </a:r>
          </a:p>
        </p:txBody>
      </p:sp>
      <p:sp>
        <p:nvSpPr>
          <p:cNvPr id="26" name="Rounded Rectangle 25"/>
          <p:cNvSpPr/>
          <p:nvPr/>
        </p:nvSpPr>
        <p:spPr>
          <a:xfrm>
            <a:off x="731520" y="5577840"/>
            <a:ext cx="10698480" cy="731520"/>
          </a:xfrm>
          <a:prstGeom prst="roundRect">
            <a:avLst/>
          </a:prstGeom>
          <a:solidFill>
            <a:srgbClr val="1A0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669280"/>
            <a:ext cx="10058400" cy="502920"/>
          </a:xfrm>
          <a:prstGeom prst="rect">
            <a:avLst/>
          </a:prstGeom>
          <a:noFill/>
        </p:spPr>
        <p:txBody>
          <a:bodyPr wrap="square">
            <a:spAutoFit/>
          </a:bodyPr>
          <a:lstStyle/>
          <a:p>
            <a:pPr algn="l">
              <a:defRPr sz="1100" b="0">
                <a:solidFill>
                  <a:srgbClr val="BBBBDD"/>
                </a:solidFill>
                <a:latin typeface="Calibri"/>
              </a:defRPr>
            </a:pPr>
            <a:r>
              <a:t>When bots fail: Automatic retry 3 times with exponential backoff (1 min, 2 min, 4 min). After 3 failures, you're notified and can either re-run or fall back to manual verification (upload the result yourself and the system creates the record).</a:t>
            </a:r>
          </a:p>
        </p:txBody>
      </p:sp>
      <p:sp>
        <p:nvSpPr>
          <p:cNvPr id="28" name="TextBox 27"/>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PART 4: ENROLLMENTS &amp; COMPLIANCE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Enrollment Management — Complete Workflow</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555577"/>
                </a:solidFill>
                <a:latin typeface="Calibri"/>
              </a:defRPr>
            </a:pPr>
            <a:r>
              <a:t>After a provider is approved, you enroll them with payers so they can begin seeing patients and generating revenue.</a:t>
            </a:r>
          </a:p>
        </p:txBody>
      </p:sp>
      <p:sp>
        <p:nvSpPr>
          <p:cNvPr id="5" name="Rounded Rectangle 4"/>
          <p:cNvSpPr/>
          <p:nvPr/>
        </p:nvSpPr>
        <p:spPr>
          <a:xfrm>
            <a:off x="731520" y="1737360"/>
            <a:ext cx="34747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347472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3108960" cy="228600"/>
          </a:xfrm>
          <a:prstGeom prst="rect">
            <a:avLst/>
          </a:prstGeom>
          <a:noFill/>
        </p:spPr>
        <p:txBody>
          <a:bodyPr wrap="square">
            <a:spAutoFit/>
          </a:bodyPr>
          <a:lstStyle/>
          <a:p>
            <a:pPr algn="l">
              <a:defRPr sz="1500" b="1">
                <a:solidFill>
                  <a:srgbClr val="00A3E0"/>
                </a:solidFill>
                <a:latin typeface="Calibri"/>
              </a:defRPr>
            </a:pPr>
            <a:r>
              <a:t>Delegated</a:t>
            </a:r>
          </a:p>
        </p:txBody>
      </p:sp>
      <p:sp>
        <p:nvSpPr>
          <p:cNvPr id="8" name="TextBox 7"/>
          <p:cNvSpPr txBox="1"/>
          <p:nvPr/>
        </p:nvSpPr>
        <p:spPr>
          <a:xfrm>
            <a:off x="914400" y="2148840"/>
            <a:ext cx="3108960" cy="411480"/>
          </a:xfrm>
          <a:prstGeom prst="rect">
            <a:avLst/>
          </a:prstGeom>
          <a:noFill/>
        </p:spPr>
        <p:txBody>
          <a:bodyPr wrap="square">
            <a:spAutoFit/>
          </a:bodyPr>
          <a:lstStyle/>
          <a:p>
            <a:pPr algn="l">
              <a:defRPr sz="1000" b="0">
                <a:solidFill>
                  <a:srgbClr val="555577"/>
                </a:solidFill>
                <a:latin typeface="Calibri"/>
              </a:defRPr>
            </a:pPr>
            <a:r>
              <a:t>Essen submits on behalf of the provider using delegated credentialing agreements</a:t>
            </a:r>
          </a:p>
        </p:txBody>
      </p:sp>
      <p:sp>
        <p:nvSpPr>
          <p:cNvPr id="9" name="TextBox 8"/>
          <p:cNvSpPr txBox="1"/>
          <p:nvPr/>
        </p:nvSpPr>
        <p:spPr>
          <a:xfrm>
            <a:off x="914400" y="2651760"/>
            <a:ext cx="3108960" cy="256032"/>
          </a:xfrm>
          <a:prstGeom prst="rect">
            <a:avLst/>
          </a:prstGeom>
          <a:noFill/>
        </p:spPr>
        <p:txBody>
          <a:bodyPr wrap="square">
            <a:spAutoFit/>
          </a:bodyPr>
          <a:lstStyle/>
          <a:p>
            <a:pPr algn="l">
              <a:defRPr sz="1000" b="0">
                <a:solidFill>
                  <a:srgbClr val="1A1A2E"/>
                </a:solidFill>
                <a:latin typeface="Calibri"/>
              </a:defRPr>
            </a:pPr>
            <a:r>
              <a:t>•  UHC / My Practice Profile</a:t>
            </a:r>
          </a:p>
        </p:txBody>
      </p:sp>
      <p:sp>
        <p:nvSpPr>
          <p:cNvPr id="10" name="TextBox 9"/>
          <p:cNvSpPr txBox="1"/>
          <p:nvPr/>
        </p:nvSpPr>
        <p:spPr>
          <a:xfrm>
            <a:off x="914400" y="2944368"/>
            <a:ext cx="3108960" cy="256032"/>
          </a:xfrm>
          <a:prstGeom prst="rect">
            <a:avLst/>
          </a:prstGeom>
          <a:noFill/>
        </p:spPr>
        <p:txBody>
          <a:bodyPr wrap="square">
            <a:spAutoFit/>
          </a:bodyPr>
          <a:lstStyle/>
          <a:p>
            <a:pPr algn="l">
              <a:defRPr sz="1000" b="0">
                <a:solidFill>
                  <a:srgbClr val="1A1A2E"/>
                </a:solidFill>
                <a:latin typeface="Calibri"/>
              </a:defRPr>
            </a:pPr>
            <a:r>
              <a:t>•  Anthem / Availity</a:t>
            </a:r>
          </a:p>
        </p:txBody>
      </p:sp>
      <p:sp>
        <p:nvSpPr>
          <p:cNvPr id="11" name="TextBox 10"/>
          <p:cNvSpPr txBox="1"/>
          <p:nvPr/>
        </p:nvSpPr>
        <p:spPr>
          <a:xfrm>
            <a:off x="914400" y="3236976"/>
            <a:ext cx="3108960" cy="256032"/>
          </a:xfrm>
          <a:prstGeom prst="rect">
            <a:avLst/>
          </a:prstGeom>
          <a:noFill/>
        </p:spPr>
        <p:txBody>
          <a:bodyPr wrap="square">
            <a:spAutoFit/>
          </a:bodyPr>
          <a:lstStyle/>
          <a:p>
            <a:pPr algn="l">
              <a:defRPr sz="1000" b="0">
                <a:solidFill>
                  <a:srgbClr val="1A1A2E"/>
                </a:solidFill>
                <a:latin typeface="Calibri"/>
              </a:defRPr>
            </a:pPr>
            <a:r>
              <a:t>•  MetroPlus / Email roster</a:t>
            </a:r>
          </a:p>
        </p:txBody>
      </p:sp>
      <p:sp>
        <p:nvSpPr>
          <p:cNvPr id="12" name="TextBox 11"/>
          <p:cNvSpPr txBox="1"/>
          <p:nvPr/>
        </p:nvSpPr>
        <p:spPr>
          <a:xfrm>
            <a:off x="914400" y="3529584"/>
            <a:ext cx="3108960" cy="256032"/>
          </a:xfrm>
          <a:prstGeom prst="rect">
            <a:avLst/>
          </a:prstGeom>
          <a:noFill/>
        </p:spPr>
        <p:txBody>
          <a:bodyPr wrap="square">
            <a:spAutoFit/>
          </a:bodyPr>
          <a:lstStyle/>
          <a:p>
            <a:pPr algn="l">
              <a:defRPr sz="1000" b="0">
                <a:solidFill>
                  <a:srgbClr val="1A1A2E"/>
                </a:solidFill>
                <a:latin typeface="Calibri"/>
              </a:defRPr>
            </a:pPr>
            <a:r>
              <a:t>•  Others / FTP + email</a:t>
            </a:r>
          </a:p>
        </p:txBody>
      </p:sp>
      <p:sp>
        <p:nvSpPr>
          <p:cNvPr id="13" name="Rounded Rectangle 12"/>
          <p:cNvSpPr/>
          <p:nvPr/>
        </p:nvSpPr>
        <p:spPr>
          <a:xfrm>
            <a:off x="4480559" y="1737360"/>
            <a:ext cx="34747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59" y="1737360"/>
            <a:ext cx="347472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874519"/>
            <a:ext cx="3108960" cy="228600"/>
          </a:xfrm>
          <a:prstGeom prst="rect">
            <a:avLst/>
          </a:prstGeom>
          <a:noFill/>
        </p:spPr>
        <p:txBody>
          <a:bodyPr wrap="square">
            <a:spAutoFit/>
          </a:bodyPr>
          <a:lstStyle/>
          <a:p>
            <a:pPr algn="l">
              <a:defRPr sz="1500" b="1">
                <a:solidFill>
                  <a:srgbClr val="00B67A"/>
                </a:solidFill>
                <a:latin typeface="Calibri"/>
              </a:defRPr>
            </a:pPr>
            <a:r>
              <a:t>Facility (BTC)</a:t>
            </a:r>
          </a:p>
        </p:txBody>
      </p:sp>
      <p:sp>
        <p:nvSpPr>
          <p:cNvPr id="16" name="TextBox 15"/>
          <p:cNvSpPr txBox="1"/>
          <p:nvPr/>
        </p:nvSpPr>
        <p:spPr>
          <a:xfrm>
            <a:off x="4663440" y="2148840"/>
            <a:ext cx="3108960" cy="411480"/>
          </a:xfrm>
          <a:prstGeom prst="rect">
            <a:avLst/>
          </a:prstGeom>
          <a:noFill/>
        </p:spPr>
        <p:txBody>
          <a:bodyPr wrap="square">
            <a:spAutoFit/>
          </a:bodyPr>
          <a:lstStyle/>
          <a:p>
            <a:pPr algn="l">
              <a:defRPr sz="1000" b="0">
                <a:solidFill>
                  <a:srgbClr val="555577"/>
                </a:solidFill>
                <a:latin typeface="Calibri"/>
              </a:defRPr>
            </a:pPr>
            <a:r>
              <a:t>Behavioral Treatment Center facility-level enrollment</a:t>
            </a:r>
          </a:p>
        </p:txBody>
      </p:sp>
      <p:sp>
        <p:nvSpPr>
          <p:cNvPr id="17" name="TextBox 16"/>
          <p:cNvSpPr txBox="1"/>
          <p:nvPr/>
        </p:nvSpPr>
        <p:spPr>
          <a:xfrm>
            <a:off x="4663440" y="2651760"/>
            <a:ext cx="3108960" cy="256032"/>
          </a:xfrm>
          <a:prstGeom prst="rect">
            <a:avLst/>
          </a:prstGeom>
          <a:noFill/>
        </p:spPr>
        <p:txBody>
          <a:bodyPr wrap="square">
            <a:spAutoFit/>
          </a:bodyPr>
          <a:lstStyle/>
          <a:p>
            <a:pPr algn="l">
              <a:defRPr sz="1000" b="0">
                <a:solidFill>
                  <a:srgbClr val="1A1A2E"/>
                </a:solidFill>
                <a:latin typeface="Calibri"/>
              </a:defRPr>
            </a:pPr>
            <a:r>
              <a:t>•  UBH Optum / My Practice Profile</a:t>
            </a:r>
          </a:p>
        </p:txBody>
      </p:sp>
      <p:sp>
        <p:nvSpPr>
          <p:cNvPr id="18" name="TextBox 17"/>
          <p:cNvSpPr txBox="1"/>
          <p:nvPr/>
        </p:nvSpPr>
        <p:spPr>
          <a:xfrm>
            <a:off x="4663440" y="2944368"/>
            <a:ext cx="3108960" cy="256032"/>
          </a:xfrm>
          <a:prstGeom prst="rect">
            <a:avLst/>
          </a:prstGeom>
          <a:noFill/>
        </p:spPr>
        <p:txBody>
          <a:bodyPr wrap="square">
            <a:spAutoFit/>
          </a:bodyPr>
          <a:lstStyle/>
          <a:p>
            <a:pPr algn="l">
              <a:defRPr sz="1000" b="0">
                <a:solidFill>
                  <a:srgbClr val="1A1A2E"/>
                </a:solidFill>
                <a:latin typeface="Calibri"/>
              </a:defRPr>
            </a:pPr>
            <a:r>
              <a:t>•  VNS / Online form</a:t>
            </a:r>
          </a:p>
        </p:txBody>
      </p:sp>
      <p:sp>
        <p:nvSpPr>
          <p:cNvPr id="19" name="TextBox 18"/>
          <p:cNvSpPr txBox="1"/>
          <p:nvPr/>
        </p:nvSpPr>
        <p:spPr>
          <a:xfrm>
            <a:off x="4663440" y="3236976"/>
            <a:ext cx="3108960" cy="256032"/>
          </a:xfrm>
          <a:prstGeom prst="rect">
            <a:avLst/>
          </a:prstGeom>
          <a:noFill/>
        </p:spPr>
        <p:txBody>
          <a:bodyPr wrap="square">
            <a:spAutoFit/>
          </a:bodyPr>
          <a:lstStyle/>
          <a:p>
            <a:pPr algn="l">
              <a:defRPr sz="1000" b="0">
                <a:solidFill>
                  <a:srgbClr val="1A1A2E"/>
                </a:solidFill>
                <a:latin typeface="Calibri"/>
              </a:defRPr>
            </a:pPr>
            <a:r>
              <a:t>•  Others / Email submission</a:t>
            </a:r>
          </a:p>
        </p:txBody>
      </p:sp>
      <p:sp>
        <p:nvSpPr>
          <p:cNvPr id="20" name="Rounded Rectangle 19"/>
          <p:cNvSpPr/>
          <p:nvPr/>
        </p:nvSpPr>
        <p:spPr>
          <a:xfrm>
            <a:off x="8229600" y="1737360"/>
            <a:ext cx="34747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737360"/>
            <a:ext cx="3474720" cy="457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1874519"/>
            <a:ext cx="3108960" cy="228600"/>
          </a:xfrm>
          <a:prstGeom prst="rect">
            <a:avLst/>
          </a:prstGeom>
          <a:noFill/>
        </p:spPr>
        <p:txBody>
          <a:bodyPr wrap="square">
            <a:spAutoFit/>
          </a:bodyPr>
          <a:lstStyle/>
          <a:p>
            <a:pPr algn="l">
              <a:defRPr sz="1500" b="1">
                <a:solidFill>
                  <a:srgbClr val="FF6B35"/>
                </a:solidFill>
                <a:latin typeface="Calibri"/>
              </a:defRPr>
            </a:pPr>
            <a:r>
              <a:t>Direct</a:t>
            </a:r>
          </a:p>
        </p:txBody>
      </p:sp>
      <p:sp>
        <p:nvSpPr>
          <p:cNvPr id="23" name="TextBox 22"/>
          <p:cNvSpPr txBox="1"/>
          <p:nvPr/>
        </p:nvSpPr>
        <p:spPr>
          <a:xfrm>
            <a:off x="8412480" y="2148840"/>
            <a:ext cx="3108960" cy="411480"/>
          </a:xfrm>
          <a:prstGeom prst="rect">
            <a:avLst/>
          </a:prstGeom>
          <a:noFill/>
        </p:spPr>
        <p:txBody>
          <a:bodyPr wrap="square">
            <a:spAutoFit/>
          </a:bodyPr>
          <a:lstStyle/>
          <a:p>
            <a:pPr algn="l">
              <a:defRPr sz="1000" b="0">
                <a:solidFill>
                  <a:srgbClr val="555577"/>
                </a:solidFill>
                <a:latin typeface="Calibri"/>
              </a:defRPr>
            </a:pPr>
            <a:r>
              <a:t>Provider enrolled directly with the payer, often requiring individual applications</a:t>
            </a:r>
          </a:p>
        </p:txBody>
      </p:sp>
      <p:sp>
        <p:nvSpPr>
          <p:cNvPr id="24" name="TextBox 23"/>
          <p:cNvSpPr txBox="1"/>
          <p:nvPr/>
        </p:nvSpPr>
        <p:spPr>
          <a:xfrm>
            <a:off x="8412480" y="2651760"/>
            <a:ext cx="3108960" cy="256032"/>
          </a:xfrm>
          <a:prstGeom prst="rect">
            <a:avLst/>
          </a:prstGeom>
          <a:noFill/>
        </p:spPr>
        <p:txBody>
          <a:bodyPr wrap="square">
            <a:spAutoFit/>
          </a:bodyPr>
          <a:lstStyle/>
          <a:p>
            <a:pPr algn="l">
              <a:defRPr sz="1000" b="0">
                <a:solidFill>
                  <a:srgbClr val="1A1A2E"/>
                </a:solidFill>
                <a:latin typeface="Calibri"/>
              </a:defRPr>
            </a:pPr>
            <a:r>
              <a:t>•  Archcare / Verity portal</a:t>
            </a:r>
          </a:p>
        </p:txBody>
      </p:sp>
      <p:sp>
        <p:nvSpPr>
          <p:cNvPr id="25" name="TextBox 24"/>
          <p:cNvSpPr txBox="1"/>
          <p:nvPr/>
        </p:nvSpPr>
        <p:spPr>
          <a:xfrm>
            <a:off x="8412480" y="2944368"/>
            <a:ext cx="3108960" cy="256032"/>
          </a:xfrm>
          <a:prstGeom prst="rect">
            <a:avLst/>
          </a:prstGeom>
          <a:noFill/>
        </p:spPr>
        <p:txBody>
          <a:bodyPr wrap="square">
            <a:spAutoFit/>
          </a:bodyPr>
          <a:lstStyle/>
          <a:p>
            <a:pPr algn="l">
              <a:defRPr sz="1000" b="0">
                <a:solidFill>
                  <a:srgbClr val="1A1A2E"/>
                </a:solidFill>
                <a:latin typeface="Calibri"/>
              </a:defRPr>
            </a:pPr>
            <a:r>
              <a:t>•  Carelon / Availity</a:t>
            </a:r>
          </a:p>
        </p:txBody>
      </p:sp>
      <p:sp>
        <p:nvSpPr>
          <p:cNvPr id="26" name="TextBox 25"/>
          <p:cNvSpPr txBox="1"/>
          <p:nvPr/>
        </p:nvSpPr>
        <p:spPr>
          <a:xfrm>
            <a:off x="8412480" y="3236976"/>
            <a:ext cx="3108960" cy="256032"/>
          </a:xfrm>
          <a:prstGeom prst="rect">
            <a:avLst/>
          </a:prstGeom>
          <a:noFill/>
        </p:spPr>
        <p:txBody>
          <a:bodyPr wrap="square">
            <a:spAutoFit/>
          </a:bodyPr>
          <a:lstStyle/>
          <a:p>
            <a:pPr algn="l">
              <a:defRPr sz="1000" b="0">
                <a:solidFill>
                  <a:srgbClr val="1A1A2E"/>
                </a:solidFill>
                <a:latin typeface="Calibri"/>
              </a:defRPr>
            </a:pPr>
            <a:r>
              <a:t>•  EyeMed / EyeMed portal</a:t>
            </a:r>
          </a:p>
        </p:txBody>
      </p:sp>
      <p:sp>
        <p:nvSpPr>
          <p:cNvPr id="27" name="TextBox 26"/>
          <p:cNvSpPr txBox="1"/>
          <p:nvPr/>
        </p:nvSpPr>
        <p:spPr>
          <a:xfrm>
            <a:off x="8412480" y="3529584"/>
            <a:ext cx="3108960" cy="256032"/>
          </a:xfrm>
          <a:prstGeom prst="rect">
            <a:avLst/>
          </a:prstGeom>
          <a:noFill/>
        </p:spPr>
        <p:txBody>
          <a:bodyPr wrap="square">
            <a:spAutoFit/>
          </a:bodyPr>
          <a:lstStyle/>
          <a:p>
            <a:pPr algn="l">
              <a:defRPr sz="1000" b="0">
                <a:solidFill>
                  <a:srgbClr val="1A1A2E"/>
                </a:solidFill>
                <a:latin typeface="Calibri"/>
              </a:defRPr>
            </a:pPr>
            <a:r>
              <a:t>•  Humana, Centerlight / FTP</a:t>
            </a:r>
          </a:p>
        </p:txBody>
      </p:sp>
      <p:sp>
        <p:nvSpPr>
          <p:cNvPr id="28" name="TextBox 27"/>
          <p:cNvSpPr txBox="1"/>
          <p:nvPr/>
        </p:nvSpPr>
        <p:spPr>
          <a:xfrm>
            <a:off x="731520" y="4389120"/>
            <a:ext cx="4572000" cy="274320"/>
          </a:xfrm>
          <a:prstGeom prst="rect">
            <a:avLst/>
          </a:prstGeom>
          <a:noFill/>
        </p:spPr>
        <p:txBody>
          <a:bodyPr wrap="square">
            <a:spAutoFit/>
          </a:bodyPr>
          <a:lstStyle/>
          <a:p>
            <a:pPr algn="l">
              <a:defRPr sz="1500" b="1">
                <a:solidFill>
                  <a:srgbClr val="0B3D91"/>
                </a:solidFill>
                <a:latin typeface="Calibri"/>
              </a:defRPr>
            </a:pPr>
            <a:r>
              <a:t>Enrollment Status Workflow</a:t>
            </a:r>
          </a:p>
        </p:txBody>
      </p:sp>
      <p:sp>
        <p:nvSpPr>
          <p:cNvPr id="29" name="Rounded Rectangle 28"/>
          <p:cNvSpPr/>
          <p:nvPr/>
        </p:nvSpPr>
        <p:spPr>
          <a:xfrm>
            <a:off x="731520" y="4754880"/>
            <a:ext cx="2103120" cy="4114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18888"/>
            <a:ext cx="2103120" cy="274320"/>
          </a:xfrm>
          <a:prstGeom prst="rect">
            <a:avLst/>
          </a:prstGeom>
          <a:noFill/>
        </p:spPr>
        <p:txBody>
          <a:bodyPr wrap="square">
            <a:spAutoFit/>
          </a:bodyPr>
          <a:lstStyle/>
          <a:p>
            <a:pPr algn="ctr">
              <a:defRPr sz="1300" b="1">
                <a:solidFill>
                  <a:srgbClr val="FFFFFF"/>
                </a:solidFill>
                <a:latin typeface="Calibri"/>
              </a:defRPr>
            </a:pPr>
            <a:r>
              <a:t>Draft</a:t>
            </a:r>
          </a:p>
        </p:txBody>
      </p:sp>
      <p:sp>
        <p:nvSpPr>
          <p:cNvPr id="31" name="TextBox 30"/>
          <p:cNvSpPr txBox="1"/>
          <p:nvPr/>
        </p:nvSpPr>
        <p:spPr>
          <a:xfrm>
            <a:off x="2834639" y="4818888"/>
            <a:ext cx="457200" cy="274320"/>
          </a:xfrm>
          <a:prstGeom prst="rect">
            <a:avLst/>
          </a:prstGeom>
          <a:noFill/>
        </p:spPr>
        <p:txBody>
          <a:bodyPr wrap="square">
            <a:spAutoFit/>
          </a:bodyPr>
          <a:lstStyle/>
          <a:p>
            <a:pPr algn="ctr">
              <a:defRPr sz="1600" b="1">
                <a:solidFill>
                  <a:srgbClr val="555577"/>
                </a:solidFill>
                <a:latin typeface="Calibri"/>
              </a:defRPr>
            </a:pPr>
            <a:r>
              <a:t>→</a:t>
            </a:r>
          </a:p>
        </p:txBody>
      </p:sp>
      <p:sp>
        <p:nvSpPr>
          <p:cNvPr id="32" name="Rounded Rectangle 31"/>
          <p:cNvSpPr/>
          <p:nvPr/>
        </p:nvSpPr>
        <p:spPr>
          <a:xfrm>
            <a:off x="3291839" y="4754880"/>
            <a:ext cx="2103120" cy="41148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91839" y="4818888"/>
            <a:ext cx="2103120" cy="274320"/>
          </a:xfrm>
          <a:prstGeom prst="rect">
            <a:avLst/>
          </a:prstGeom>
          <a:noFill/>
        </p:spPr>
        <p:txBody>
          <a:bodyPr wrap="square">
            <a:spAutoFit/>
          </a:bodyPr>
          <a:lstStyle/>
          <a:p>
            <a:pPr algn="ctr">
              <a:defRPr sz="1300" b="1">
                <a:solidFill>
                  <a:srgbClr val="FFFFFF"/>
                </a:solidFill>
                <a:latin typeface="Calibri"/>
              </a:defRPr>
            </a:pPr>
            <a:r>
              <a:t>Submitted</a:t>
            </a:r>
          </a:p>
        </p:txBody>
      </p:sp>
      <p:sp>
        <p:nvSpPr>
          <p:cNvPr id="34" name="TextBox 33"/>
          <p:cNvSpPr txBox="1"/>
          <p:nvPr/>
        </p:nvSpPr>
        <p:spPr>
          <a:xfrm>
            <a:off x="5394959" y="4818888"/>
            <a:ext cx="457200" cy="274320"/>
          </a:xfrm>
          <a:prstGeom prst="rect">
            <a:avLst/>
          </a:prstGeom>
          <a:noFill/>
        </p:spPr>
        <p:txBody>
          <a:bodyPr wrap="square">
            <a:spAutoFit/>
          </a:bodyPr>
          <a:lstStyle/>
          <a:p>
            <a:pPr algn="ctr">
              <a:defRPr sz="1600" b="1">
                <a:solidFill>
                  <a:srgbClr val="555577"/>
                </a:solidFill>
                <a:latin typeface="Calibri"/>
              </a:defRPr>
            </a:pPr>
            <a:r>
              <a:t>→</a:t>
            </a:r>
          </a:p>
        </p:txBody>
      </p:sp>
      <p:sp>
        <p:nvSpPr>
          <p:cNvPr id="35" name="Rounded Rectangle 34"/>
          <p:cNvSpPr/>
          <p:nvPr/>
        </p:nvSpPr>
        <p:spPr>
          <a:xfrm>
            <a:off x="5852159" y="4754880"/>
            <a:ext cx="2103120" cy="411480"/>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59" y="4818888"/>
            <a:ext cx="2103120" cy="274320"/>
          </a:xfrm>
          <a:prstGeom prst="rect">
            <a:avLst/>
          </a:prstGeom>
          <a:noFill/>
        </p:spPr>
        <p:txBody>
          <a:bodyPr wrap="square">
            <a:spAutoFit/>
          </a:bodyPr>
          <a:lstStyle/>
          <a:p>
            <a:pPr algn="ctr">
              <a:defRPr sz="1300" b="1">
                <a:solidFill>
                  <a:srgbClr val="FFFFFF"/>
                </a:solidFill>
                <a:latin typeface="Calibri"/>
              </a:defRPr>
            </a:pPr>
            <a:r>
              <a:t>Pending Payer</a:t>
            </a:r>
          </a:p>
        </p:txBody>
      </p:sp>
      <p:sp>
        <p:nvSpPr>
          <p:cNvPr id="37" name="TextBox 36"/>
          <p:cNvSpPr txBox="1"/>
          <p:nvPr/>
        </p:nvSpPr>
        <p:spPr>
          <a:xfrm>
            <a:off x="7955279" y="4818888"/>
            <a:ext cx="457200" cy="274320"/>
          </a:xfrm>
          <a:prstGeom prst="rect">
            <a:avLst/>
          </a:prstGeom>
          <a:noFill/>
        </p:spPr>
        <p:txBody>
          <a:bodyPr wrap="square">
            <a:spAutoFit/>
          </a:bodyPr>
          <a:lstStyle/>
          <a:p>
            <a:pPr algn="ctr">
              <a:defRPr sz="1600" b="1">
                <a:solidFill>
                  <a:srgbClr val="555577"/>
                </a:solidFill>
                <a:latin typeface="Calibri"/>
              </a:defRPr>
            </a:pPr>
            <a:r>
              <a:t>→</a:t>
            </a:r>
          </a:p>
        </p:txBody>
      </p:sp>
      <p:sp>
        <p:nvSpPr>
          <p:cNvPr id="38" name="Rounded Rectangle 37"/>
          <p:cNvSpPr/>
          <p:nvPr/>
        </p:nvSpPr>
        <p:spPr>
          <a:xfrm>
            <a:off x="8412480" y="4754880"/>
            <a:ext cx="2103120" cy="411480"/>
          </a:xfrm>
          <a:prstGeom prst="round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0" y="4818888"/>
            <a:ext cx="2103120" cy="274320"/>
          </a:xfrm>
          <a:prstGeom prst="rect">
            <a:avLst/>
          </a:prstGeom>
          <a:noFill/>
        </p:spPr>
        <p:txBody>
          <a:bodyPr wrap="square">
            <a:spAutoFit/>
          </a:bodyPr>
          <a:lstStyle/>
          <a:p>
            <a:pPr algn="ctr">
              <a:defRPr sz="1300" b="1">
                <a:solidFill>
                  <a:srgbClr val="FFFFFF"/>
                </a:solidFill>
                <a:latin typeface="Calibri"/>
              </a:defRPr>
            </a:pPr>
            <a:r>
              <a:t>Enrolled</a:t>
            </a:r>
          </a:p>
        </p:txBody>
      </p:sp>
      <p:sp>
        <p:nvSpPr>
          <p:cNvPr id="40" name="TextBox 39"/>
          <p:cNvSpPr txBox="1"/>
          <p:nvPr/>
        </p:nvSpPr>
        <p:spPr>
          <a:xfrm>
            <a:off x="731520" y="5303520"/>
            <a:ext cx="7315200" cy="228600"/>
          </a:xfrm>
          <a:prstGeom prst="rect">
            <a:avLst/>
          </a:prstGeom>
          <a:noFill/>
        </p:spPr>
        <p:txBody>
          <a:bodyPr wrap="square">
            <a:spAutoFit/>
          </a:bodyPr>
          <a:lstStyle/>
          <a:p>
            <a:pPr algn="l">
              <a:defRPr sz="1000" b="0">
                <a:solidFill>
                  <a:srgbClr val="555577"/>
                </a:solidFill>
                <a:latin typeface="Calibri"/>
              </a:defRPr>
            </a:pPr>
            <a:r>
              <a:t>Also possible: Denied (payer rejected) | Error (technical issue) | Withdrawn (pulled back by Essen)</a:t>
            </a:r>
          </a:p>
        </p:txBody>
      </p:sp>
      <p:sp>
        <p:nvSpPr>
          <p:cNvPr id="41" name="Rounded Rectangle 40"/>
          <p:cNvSpPr/>
          <p:nvPr/>
        </p:nvSpPr>
        <p:spPr>
          <a:xfrm>
            <a:off x="731520" y="5669280"/>
            <a:ext cx="10698480" cy="822960"/>
          </a:xfrm>
          <a:prstGeom prst="roundRect">
            <a:avLst/>
          </a:prstGeom>
          <a:solidFill>
            <a:srgbClr val="FEF3E2"/>
          </a:solidFill>
          <a:ln w="127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760720"/>
            <a:ext cx="1828800" cy="274320"/>
          </a:xfrm>
          <a:prstGeom prst="rect">
            <a:avLst/>
          </a:prstGeom>
          <a:noFill/>
        </p:spPr>
        <p:txBody>
          <a:bodyPr wrap="square">
            <a:spAutoFit/>
          </a:bodyPr>
          <a:lstStyle/>
          <a:p>
            <a:pPr algn="l">
              <a:defRPr sz="1400" b="1">
                <a:solidFill>
                  <a:srgbClr val="FF6B35"/>
                </a:solidFill>
                <a:latin typeface="Calibri"/>
              </a:defRPr>
            </a:pPr>
            <a:r>
              <a:t>Follow-Up Cadence</a:t>
            </a:r>
          </a:p>
        </p:txBody>
      </p:sp>
      <p:sp>
        <p:nvSpPr>
          <p:cNvPr id="43" name="TextBox 42"/>
          <p:cNvSpPr txBox="1"/>
          <p:nvPr/>
        </p:nvSpPr>
        <p:spPr>
          <a:xfrm>
            <a:off x="2926080" y="5760720"/>
            <a:ext cx="8229600" cy="594360"/>
          </a:xfrm>
          <a:prstGeom prst="rect">
            <a:avLst/>
          </a:prstGeom>
          <a:noFill/>
        </p:spPr>
        <p:txBody>
          <a:bodyPr wrap="square">
            <a:spAutoFit/>
          </a:bodyPr>
          <a:lstStyle/>
          <a:p>
            <a:pPr algn="l">
              <a:defRPr sz="1100" b="0">
                <a:solidFill>
                  <a:srgbClr val="1A1A2E"/>
                </a:solidFill>
                <a:latin typeface="Calibri"/>
              </a:defRPr>
            </a:pPr>
            <a:r>
              <a:t>Each payer has a configured follow-up cadence. When a follow-up date arrives, you get notified and a task is auto-created. CRITICAL RULE: Always set a Next Follow-Up Date when logging a follow-up. This is the #1 best practice for enrollment tracking.</a:t>
            </a:r>
          </a:p>
        </p:txBody>
      </p:sp>
      <p:sp>
        <p:nvSpPr>
          <p:cNvPr id="44" name="TextBox 43"/>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COMPLIANCE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Expirables Tracking — Never Miss a Renewal</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555577"/>
                </a:solidFill>
                <a:latin typeface="Calibri"/>
              </a:defRPr>
            </a:pPr>
            <a:r>
              <a:t>The system monitors 20+ credential types and alerts you proactively at 90, 60, 30, 14, and 7 days before expiration.</a:t>
            </a:r>
          </a:p>
        </p:txBody>
      </p:sp>
      <p:sp>
        <p:nvSpPr>
          <p:cNvPr id="5" name="Rounded Rectangle 4"/>
          <p:cNvSpPr/>
          <p:nvPr/>
        </p:nvSpPr>
        <p:spPr>
          <a:xfrm>
            <a:off x="731520" y="1828800"/>
            <a:ext cx="5303520" cy="292608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600" b="1">
                <a:solidFill>
                  <a:srgbClr val="0B3D91"/>
                </a:solidFill>
                <a:latin typeface="Calibri"/>
              </a:defRPr>
            </a:pPr>
            <a:r>
              <a:t>Color-Coded Urgency Badges</a:t>
            </a:r>
          </a:p>
        </p:txBody>
      </p:sp>
      <p:sp>
        <p:nvSpPr>
          <p:cNvPr id="7" name="Rounded Rectangle 6"/>
          <p:cNvSpPr/>
          <p:nvPr/>
        </p:nvSpPr>
        <p:spPr>
          <a:xfrm>
            <a:off x="1005840" y="2331720"/>
            <a:ext cx="1188720" cy="36576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77439"/>
            <a:ext cx="1188720" cy="274320"/>
          </a:xfrm>
          <a:prstGeom prst="rect">
            <a:avLst/>
          </a:prstGeom>
          <a:noFill/>
        </p:spPr>
        <p:txBody>
          <a:bodyPr wrap="square">
            <a:spAutoFit/>
          </a:bodyPr>
          <a:lstStyle/>
          <a:p>
            <a:pPr algn="ctr">
              <a:defRPr sz="1000" b="1">
                <a:solidFill>
                  <a:srgbClr val="FFFFFF"/>
                </a:solidFill>
                <a:latin typeface="Calibri"/>
              </a:defRPr>
            </a:pPr>
            <a:r>
              <a:t>EXPIRED</a:t>
            </a:r>
          </a:p>
        </p:txBody>
      </p:sp>
      <p:sp>
        <p:nvSpPr>
          <p:cNvPr id="9" name="TextBox 8"/>
          <p:cNvSpPr txBox="1"/>
          <p:nvPr/>
        </p:nvSpPr>
        <p:spPr>
          <a:xfrm>
            <a:off x="2286000" y="2350008"/>
            <a:ext cx="2743200" cy="182880"/>
          </a:xfrm>
          <a:prstGeom prst="rect">
            <a:avLst/>
          </a:prstGeom>
          <a:noFill/>
        </p:spPr>
        <p:txBody>
          <a:bodyPr wrap="square">
            <a:spAutoFit/>
          </a:bodyPr>
          <a:lstStyle/>
          <a:p>
            <a:pPr algn="l">
              <a:defRPr sz="1000" b="1">
                <a:solidFill>
                  <a:srgbClr val="1A1A2E"/>
                </a:solidFill>
                <a:latin typeface="Calibri"/>
              </a:defRPr>
            </a:pPr>
            <a:r>
              <a:t>Already expired — IMMEDIATE action required</a:t>
            </a:r>
          </a:p>
        </p:txBody>
      </p:sp>
      <p:sp>
        <p:nvSpPr>
          <p:cNvPr id="10" name="TextBox 9"/>
          <p:cNvSpPr txBox="1"/>
          <p:nvPr/>
        </p:nvSpPr>
        <p:spPr>
          <a:xfrm>
            <a:off x="2286000" y="2532888"/>
            <a:ext cx="2743200" cy="182880"/>
          </a:xfrm>
          <a:prstGeom prst="rect">
            <a:avLst/>
          </a:prstGeom>
          <a:noFill/>
        </p:spPr>
        <p:txBody>
          <a:bodyPr wrap="square">
            <a:spAutoFit/>
          </a:bodyPr>
          <a:lstStyle/>
          <a:p>
            <a:pPr algn="l">
              <a:defRPr sz="900" b="0">
                <a:solidFill>
                  <a:srgbClr val="555577"/>
                </a:solidFill>
                <a:latin typeface="Calibri"/>
              </a:defRPr>
            </a:pPr>
            <a:r>
              <a:t>Contact provider. May need to suspend privileges.</a:t>
            </a:r>
          </a:p>
        </p:txBody>
      </p:sp>
      <p:sp>
        <p:nvSpPr>
          <p:cNvPr id="11" name="Rounded Rectangle 10"/>
          <p:cNvSpPr/>
          <p:nvPr/>
        </p:nvSpPr>
        <p:spPr>
          <a:xfrm>
            <a:off x="1005840" y="2834639"/>
            <a:ext cx="1188720" cy="365760"/>
          </a:xfrm>
          <a:prstGeom prst="round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80359"/>
            <a:ext cx="1188720" cy="274320"/>
          </a:xfrm>
          <a:prstGeom prst="rect">
            <a:avLst/>
          </a:prstGeom>
          <a:noFill/>
        </p:spPr>
        <p:txBody>
          <a:bodyPr wrap="square">
            <a:spAutoFit/>
          </a:bodyPr>
          <a:lstStyle/>
          <a:p>
            <a:pPr algn="ctr">
              <a:defRPr sz="1000" b="1">
                <a:solidFill>
                  <a:srgbClr val="FFFFFF"/>
                </a:solidFill>
                <a:latin typeface="Calibri"/>
              </a:defRPr>
            </a:pPr>
            <a:r>
              <a:t>&lt; 14 DAYS</a:t>
            </a:r>
          </a:p>
        </p:txBody>
      </p:sp>
      <p:sp>
        <p:nvSpPr>
          <p:cNvPr id="13" name="TextBox 12"/>
          <p:cNvSpPr txBox="1"/>
          <p:nvPr/>
        </p:nvSpPr>
        <p:spPr>
          <a:xfrm>
            <a:off x="2286000" y="2852927"/>
            <a:ext cx="2743200" cy="182880"/>
          </a:xfrm>
          <a:prstGeom prst="rect">
            <a:avLst/>
          </a:prstGeom>
          <a:noFill/>
        </p:spPr>
        <p:txBody>
          <a:bodyPr wrap="square">
            <a:spAutoFit/>
          </a:bodyPr>
          <a:lstStyle/>
          <a:p>
            <a:pPr algn="l">
              <a:defRPr sz="1000" b="1">
                <a:solidFill>
                  <a:srgbClr val="1A1A2E"/>
                </a:solidFill>
                <a:latin typeface="Calibri"/>
              </a:defRPr>
            </a:pPr>
            <a:r>
              <a:t>Expires within 14 days — URGENT</a:t>
            </a:r>
          </a:p>
        </p:txBody>
      </p:sp>
      <p:sp>
        <p:nvSpPr>
          <p:cNvPr id="14" name="TextBox 13"/>
          <p:cNvSpPr txBox="1"/>
          <p:nvPr/>
        </p:nvSpPr>
        <p:spPr>
          <a:xfrm>
            <a:off x="2286000" y="3035808"/>
            <a:ext cx="2743200" cy="182880"/>
          </a:xfrm>
          <a:prstGeom prst="rect">
            <a:avLst/>
          </a:prstGeom>
          <a:noFill/>
        </p:spPr>
        <p:txBody>
          <a:bodyPr wrap="square">
            <a:spAutoFit/>
          </a:bodyPr>
          <a:lstStyle/>
          <a:p>
            <a:pPr algn="l">
              <a:defRPr sz="900" b="0">
                <a:solidFill>
                  <a:srgbClr val="555577"/>
                </a:solidFill>
                <a:latin typeface="Calibri"/>
              </a:defRPr>
            </a:pPr>
            <a:r>
              <a:t>Send renewal reminder immediately. Escalate if no response.</a:t>
            </a:r>
          </a:p>
        </p:txBody>
      </p:sp>
      <p:sp>
        <p:nvSpPr>
          <p:cNvPr id="15" name="Rounded Rectangle 14"/>
          <p:cNvSpPr/>
          <p:nvPr/>
        </p:nvSpPr>
        <p:spPr>
          <a:xfrm>
            <a:off x="1005840" y="3337560"/>
            <a:ext cx="1188720" cy="36576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383279"/>
            <a:ext cx="1188720" cy="274320"/>
          </a:xfrm>
          <a:prstGeom prst="rect">
            <a:avLst/>
          </a:prstGeom>
          <a:noFill/>
        </p:spPr>
        <p:txBody>
          <a:bodyPr wrap="square">
            <a:spAutoFit/>
          </a:bodyPr>
          <a:lstStyle/>
          <a:p>
            <a:pPr algn="ctr">
              <a:defRPr sz="1000" b="1">
                <a:solidFill>
                  <a:srgbClr val="FFFFFF"/>
                </a:solidFill>
                <a:latin typeface="Calibri"/>
              </a:defRPr>
            </a:pPr>
            <a:r>
              <a:t>&lt; 30 DAYS</a:t>
            </a:r>
          </a:p>
        </p:txBody>
      </p:sp>
      <p:sp>
        <p:nvSpPr>
          <p:cNvPr id="17" name="TextBox 16"/>
          <p:cNvSpPr txBox="1"/>
          <p:nvPr/>
        </p:nvSpPr>
        <p:spPr>
          <a:xfrm>
            <a:off x="2286000" y="3355848"/>
            <a:ext cx="2743200" cy="182880"/>
          </a:xfrm>
          <a:prstGeom prst="rect">
            <a:avLst/>
          </a:prstGeom>
          <a:noFill/>
        </p:spPr>
        <p:txBody>
          <a:bodyPr wrap="square">
            <a:spAutoFit/>
          </a:bodyPr>
          <a:lstStyle/>
          <a:p>
            <a:pPr algn="l">
              <a:defRPr sz="1000" b="1">
                <a:solidFill>
                  <a:srgbClr val="1A1A2E"/>
                </a:solidFill>
                <a:latin typeface="Calibri"/>
              </a:defRPr>
            </a:pPr>
            <a:r>
              <a:t>Expires within 30 days — HIGH PRIORITY</a:t>
            </a:r>
          </a:p>
        </p:txBody>
      </p:sp>
      <p:sp>
        <p:nvSpPr>
          <p:cNvPr id="18" name="TextBox 17"/>
          <p:cNvSpPr txBox="1"/>
          <p:nvPr/>
        </p:nvSpPr>
        <p:spPr>
          <a:xfrm>
            <a:off x="2286000" y="3538728"/>
            <a:ext cx="2743200" cy="182880"/>
          </a:xfrm>
          <a:prstGeom prst="rect">
            <a:avLst/>
          </a:prstGeom>
          <a:noFill/>
        </p:spPr>
        <p:txBody>
          <a:bodyPr wrap="square">
            <a:spAutoFit/>
          </a:bodyPr>
          <a:lstStyle/>
          <a:p>
            <a:pPr algn="l">
              <a:defRPr sz="900" b="0">
                <a:solidFill>
                  <a:srgbClr val="555577"/>
                </a:solidFill>
                <a:latin typeface="Calibri"/>
              </a:defRPr>
            </a:pPr>
            <a:r>
              <a:t>Initiate renewal process. Contact provider.</a:t>
            </a:r>
          </a:p>
        </p:txBody>
      </p:sp>
      <p:sp>
        <p:nvSpPr>
          <p:cNvPr id="19" name="Rounded Rectangle 18"/>
          <p:cNvSpPr/>
          <p:nvPr/>
        </p:nvSpPr>
        <p:spPr>
          <a:xfrm>
            <a:off x="1005840" y="3840480"/>
            <a:ext cx="1188720" cy="365760"/>
          </a:xfrm>
          <a:prstGeom prst="round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886200"/>
            <a:ext cx="1188720" cy="274320"/>
          </a:xfrm>
          <a:prstGeom prst="rect">
            <a:avLst/>
          </a:prstGeom>
          <a:noFill/>
        </p:spPr>
        <p:txBody>
          <a:bodyPr wrap="square">
            <a:spAutoFit/>
          </a:bodyPr>
          <a:lstStyle/>
          <a:p>
            <a:pPr algn="ctr">
              <a:defRPr sz="1000" b="1">
                <a:solidFill>
                  <a:srgbClr val="1A1A2E"/>
                </a:solidFill>
                <a:latin typeface="Calibri"/>
              </a:defRPr>
            </a:pPr>
            <a:r>
              <a:t>&lt; 60 DAYS</a:t>
            </a:r>
          </a:p>
        </p:txBody>
      </p:sp>
      <p:sp>
        <p:nvSpPr>
          <p:cNvPr id="21" name="TextBox 20"/>
          <p:cNvSpPr txBox="1"/>
          <p:nvPr/>
        </p:nvSpPr>
        <p:spPr>
          <a:xfrm>
            <a:off x="2286000" y="3858768"/>
            <a:ext cx="2743200" cy="182880"/>
          </a:xfrm>
          <a:prstGeom prst="rect">
            <a:avLst/>
          </a:prstGeom>
          <a:noFill/>
        </p:spPr>
        <p:txBody>
          <a:bodyPr wrap="square">
            <a:spAutoFit/>
          </a:bodyPr>
          <a:lstStyle/>
          <a:p>
            <a:pPr algn="l">
              <a:defRPr sz="1000" b="1">
                <a:solidFill>
                  <a:srgbClr val="1A1A2E"/>
                </a:solidFill>
                <a:latin typeface="Calibri"/>
              </a:defRPr>
            </a:pPr>
            <a:r>
              <a:t>Expires within 60 days — MONITOR</a:t>
            </a:r>
          </a:p>
        </p:txBody>
      </p:sp>
      <p:sp>
        <p:nvSpPr>
          <p:cNvPr id="22" name="TextBox 21"/>
          <p:cNvSpPr txBox="1"/>
          <p:nvPr/>
        </p:nvSpPr>
        <p:spPr>
          <a:xfrm>
            <a:off x="2286000" y="4041648"/>
            <a:ext cx="2743200" cy="182880"/>
          </a:xfrm>
          <a:prstGeom prst="rect">
            <a:avLst/>
          </a:prstGeom>
          <a:noFill/>
        </p:spPr>
        <p:txBody>
          <a:bodyPr wrap="square">
            <a:spAutoFit/>
          </a:bodyPr>
          <a:lstStyle/>
          <a:p>
            <a:pPr algn="l">
              <a:defRPr sz="900" b="0">
                <a:solidFill>
                  <a:srgbClr val="555577"/>
                </a:solidFill>
                <a:latin typeface="Calibri"/>
              </a:defRPr>
            </a:pPr>
            <a:r>
              <a:t>Send first renewal reminder. Plan ahead.</a:t>
            </a:r>
          </a:p>
        </p:txBody>
      </p:sp>
      <p:sp>
        <p:nvSpPr>
          <p:cNvPr id="23" name="Rounded Rectangle 22"/>
          <p:cNvSpPr/>
          <p:nvPr/>
        </p:nvSpPr>
        <p:spPr>
          <a:xfrm>
            <a:off x="1005840" y="4343400"/>
            <a:ext cx="1188720" cy="365760"/>
          </a:xfrm>
          <a:prstGeom prst="round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389120"/>
            <a:ext cx="1188720" cy="274320"/>
          </a:xfrm>
          <a:prstGeom prst="rect">
            <a:avLst/>
          </a:prstGeom>
          <a:noFill/>
        </p:spPr>
        <p:txBody>
          <a:bodyPr wrap="square">
            <a:spAutoFit/>
          </a:bodyPr>
          <a:lstStyle/>
          <a:p>
            <a:pPr algn="ctr">
              <a:defRPr sz="1000" b="1">
                <a:solidFill>
                  <a:srgbClr val="FFFFFF"/>
                </a:solidFill>
                <a:latin typeface="Calibri"/>
              </a:defRPr>
            </a:pPr>
            <a:r>
              <a:t>60+ DAYS</a:t>
            </a:r>
          </a:p>
        </p:txBody>
      </p:sp>
      <p:sp>
        <p:nvSpPr>
          <p:cNvPr id="25" name="TextBox 24"/>
          <p:cNvSpPr txBox="1"/>
          <p:nvPr/>
        </p:nvSpPr>
        <p:spPr>
          <a:xfrm>
            <a:off x="2286000" y="4361688"/>
            <a:ext cx="2743200" cy="182880"/>
          </a:xfrm>
          <a:prstGeom prst="rect">
            <a:avLst/>
          </a:prstGeom>
          <a:noFill/>
        </p:spPr>
        <p:txBody>
          <a:bodyPr wrap="square">
            <a:spAutoFit/>
          </a:bodyPr>
          <a:lstStyle/>
          <a:p>
            <a:pPr algn="l">
              <a:defRPr sz="1000" b="1">
                <a:solidFill>
                  <a:srgbClr val="1A1A2E"/>
                </a:solidFill>
                <a:latin typeface="Calibri"/>
              </a:defRPr>
            </a:pPr>
            <a:r>
              <a:t>More than 60 days remaining</a:t>
            </a:r>
          </a:p>
        </p:txBody>
      </p:sp>
      <p:sp>
        <p:nvSpPr>
          <p:cNvPr id="26" name="TextBox 25"/>
          <p:cNvSpPr txBox="1"/>
          <p:nvPr/>
        </p:nvSpPr>
        <p:spPr>
          <a:xfrm>
            <a:off x="2286000" y="4544568"/>
            <a:ext cx="2743200" cy="182880"/>
          </a:xfrm>
          <a:prstGeom prst="rect">
            <a:avLst/>
          </a:prstGeom>
          <a:noFill/>
        </p:spPr>
        <p:txBody>
          <a:bodyPr wrap="square">
            <a:spAutoFit/>
          </a:bodyPr>
          <a:lstStyle/>
          <a:p>
            <a:pPr algn="l">
              <a:defRPr sz="900" b="0">
                <a:solidFill>
                  <a:srgbClr val="555577"/>
                </a:solidFill>
                <a:latin typeface="Calibri"/>
              </a:defRPr>
            </a:pPr>
            <a:r>
              <a:t>No action needed. Will appear in future alerts.</a:t>
            </a:r>
          </a:p>
        </p:txBody>
      </p:sp>
      <p:sp>
        <p:nvSpPr>
          <p:cNvPr id="27" name="Rounded Rectangle 26"/>
          <p:cNvSpPr/>
          <p:nvPr/>
        </p:nvSpPr>
        <p:spPr>
          <a:xfrm>
            <a:off x="6400800" y="1828800"/>
            <a:ext cx="5120640" cy="13716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1965960"/>
            <a:ext cx="4572000" cy="274320"/>
          </a:xfrm>
          <a:prstGeom prst="rect">
            <a:avLst/>
          </a:prstGeom>
          <a:noFill/>
        </p:spPr>
        <p:txBody>
          <a:bodyPr wrap="square">
            <a:spAutoFit/>
          </a:bodyPr>
          <a:lstStyle/>
          <a:p>
            <a:pPr algn="l">
              <a:defRPr sz="1500" b="1">
                <a:solidFill>
                  <a:srgbClr val="0B3D91"/>
                </a:solidFill>
                <a:latin typeface="Calibri"/>
              </a:defRPr>
            </a:pPr>
            <a:r>
              <a:t>Where to Find Expirables</a:t>
            </a:r>
          </a:p>
        </p:txBody>
      </p:sp>
      <p:sp>
        <p:nvSpPr>
          <p:cNvPr id="29" name="TextBox 28"/>
          <p:cNvSpPr txBox="1"/>
          <p:nvPr/>
        </p:nvSpPr>
        <p:spPr>
          <a:xfrm>
            <a:off x="6675120" y="2331720"/>
            <a:ext cx="1645920" cy="228600"/>
          </a:xfrm>
          <a:prstGeom prst="rect">
            <a:avLst/>
          </a:prstGeom>
          <a:noFill/>
        </p:spPr>
        <p:txBody>
          <a:bodyPr wrap="square">
            <a:spAutoFit/>
          </a:bodyPr>
          <a:lstStyle/>
          <a:p>
            <a:pPr algn="l">
              <a:defRPr sz="1100" b="1">
                <a:solidFill>
                  <a:srgbClr val="00A3E0"/>
                </a:solidFill>
                <a:latin typeface="Calibri"/>
              </a:defRPr>
            </a:pPr>
            <a:r>
              <a:t>Dashboard</a:t>
            </a:r>
          </a:p>
        </p:txBody>
      </p:sp>
      <p:sp>
        <p:nvSpPr>
          <p:cNvPr id="30" name="TextBox 29"/>
          <p:cNvSpPr txBox="1"/>
          <p:nvPr/>
        </p:nvSpPr>
        <p:spPr>
          <a:xfrm>
            <a:off x="8321040" y="2331720"/>
            <a:ext cx="2926080" cy="228600"/>
          </a:xfrm>
          <a:prstGeom prst="rect">
            <a:avLst/>
          </a:prstGeom>
          <a:noFill/>
        </p:spPr>
        <p:txBody>
          <a:bodyPr wrap="square">
            <a:spAutoFit/>
          </a:bodyPr>
          <a:lstStyle/>
          <a:p>
            <a:pPr algn="l">
              <a:defRPr sz="1000" b="0">
                <a:solidFill>
                  <a:srgbClr val="555577"/>
                </a:solidFill>
                <a:latin typeface="Calibri"/>
              </a:defRPr>
            </a:pPr>
            <a:r>
              <a:t>Urgent Attention section shows next 30 days</a:t>
            </a:r>
          </a:p>
        </p:txBody>
      </p:sp>
      <p:sp>
        <p:nvSpPr>
          <p:cNvPr id="31" name="TextBox 30"/>
          <p:cNvSpPr txBox="1"/>
          <p:nvPr/>
        </p:nvSpPr>
        <p:spPr>
          <a:xfrm>
            <a:off x="6675120" y="2624327"/>
            <a:ext cx="1645920" cy="228600"/>
          </a:xfrm>
          <a:prstGeom prst="rect">
            <a:avLst/>
          </a:prstGeom>
          <a:noFill/>
        </p:spPr>
        <p:txBody>
          <a:bodyPr wrap="square">
            <a:spAutoFit/>
          </a:bodyPr>
          <a:lstStyle/>
          <a:p>
            <a:pPr algn="l">
              <a:defRPr sz="1100" b="1">
                <a:solidFill>
                  <a:srgbClr val="00A3E0"/>
                </a:solidFill>
                <a:latin typeface="Calibri"/>
              </a:defRPr>
            </a:pPr>
            <a:r>
              <a:t>Expirables page</a:t>
            </a:r>
          </a:p>
        </p:txBody>
      </p:sp>
      <p:sp>
        <p:nvSpPr>
          <p:cNvPr id="32" name="TextBox 31"/>
          <p:cNvSpPr txBox="1"/>
          <p:nvPr/>
        </p:nvSpPr>
        <p:spPr>
          <a:xfrm>
            <a:off x="8321040" y="2624327"/>
            <a:ext cx="2926080" cy="228600"/>
          </a:xfrm>
          <a:prstGeom prst="rect">
            <a:avLst/>
          </a:prstGeom>
          <a:noFill/>
        </p:spPr>
        <p:txBody>
          <a:bodyPr wrap="square">
            <a:spAutoFit/>
          </a:bodyPr>
          <a:lstStyle/>
          <a:p>
            <a:pPr algn="l">
              <a:defRPr sz="1000" b="0">
                <a:solidFill>
                  <a:srgbClr val="555577"/>
                </a:solidFill>
                <a:latin typeface="Calibri"/>
              </a:defRPr>
            </a:pPr>
            <a:r>
              <a:t>Left sidebar — all expirables across all providers</a:t>
            </a:r>
          </a:p>
        </p:txBody>
      </p:sp>
      <p:sp>
        <p:nvSpPr>
          <p:cNvPr id="33" name="TextBox 32"/>
          <p:cNvSpPr txBox="1"/>
          <p:nvPr/>
        </p:nvSpPr>
        <p:spPr>
          <a:xfrm>
            <a:off x="6675120" y="2916936"/>
            <a:ext cx="1645920" cy="228600"/>
          </a:xfrm>
          <a:prstGeom prst="rect">
            <a:avLst/>
          </a:prstGeom>
          <a:noFill/>
        </p:spPr>
        <p:txBody>
          <a:bodyPr wrap="square">
            <a:spAutoFit/>
          </a:bodyPr>
          <a:lstStyle/>
          <a:p>
            <a:pPr algn="l">
              <a:defRPr sz="1100" b="1">
                <a:solidFill>
                  <a:srgbClr val="00A3E0"/>
                </a:solidFill>
                <a:latin typeface="Calibri"/>
              </a:defRPr>
            </a:pPr>
            <a:r>
              <a:t>Provider detail</a:t>
            </a:r>
          </a:p>
        </p:txBody>
      </p:sp>
      <p:sp>
        <p:nvSpPr>
          <p:cNvPr id="34" name="TextBox 33"/>
          <p:cNvSpPr txBox="1"/>
          <p:nvPr/>
        </p:nvSpPr>
        <p:spPr>
          <a:xfrm>
            <a:off x="8321040" y="2916936"/>
            <a:ext cx="2926080" cy="228600"/>
          </a:xfrm>
          <a:prstGeom prst="rect">
            <a:avLst/>
          </a:prstGeom>
          <a:noFill/>
        </p:spPr>
        <p:txBody>
          <a:bodyPr wrap="square">
            <a:spAutoFit/>
          </a:bodyPr>
          <a:lstStyle/>
          <a:p>
            <a:pPr algn="l">
              <a:defRPr sz="1000" b="0">
                <a:solidFill>
                  <a:srgbClr val="555577"/>
                </a:solidFill>
                <a:latin typeface="Calibri"/>
              </a:defRPr>
            </a:pPr>
            <a:r>
              <a:t>Expirables tab — all for one specific provider</a:t>
            </a:r>
          </a:p>
        </p:txBody>
      </p:sp>
      <p:sp>
        <p:nvSpPr>
          <p:cNvPr id="35" name="Rounded Rectangle 34"/>
          <p:cNvSpPr/>
          <p:nvPr/>
        </p:nvSpPr>
        <p:spPr>
          <a:xfrm>
            <a:off x="6400800" y="3383280"/>
            <a:ext cx="5120640" cy="13716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0" y="3520440"/>
            <a:ext cx="4572000" cy="274320"/>
          </a:xfrm>
          <a:prstGeom prst="rect">
            <a:avLst/>
          </a:prstGeom>
          <a:noFill/>
        </p:spPr>
        <p:txBody>
          <a:bodyPr wrap="square">
            <a:spAutoFit/>
          </a:bodyPr>
          <a:lstStyle/>
          <a:p>
            <a:pPr algn="l">
              <a:defRPr sz="1500" b="1">
                <a:solidFill>
                  <a:srgbClr val="0B3D91"/>
                </a:solidFill>
                <a:latin typeface="Calibri"/>
              </a:defRPr>
            </a:pPr>
            <a:r>
              <a:t>Renewal Response Steps</a:t>
            </a:r>
          </a:p>
        </p:txBody>
      </p:sp>
      <p:sp>
        <p:nvSpPr>
          <p:cNvPr id="37" name="TextBox 36"/>
          <p:cNvSpPr txBox="1"/>
          <p:nvPr/>
        </p:nvSpPr>
        <p:spPr>
          <a:xfrm>
            <a:off x="6675120" y="3886200"/>
            <a:ext cx="4754880" cy="182880"/>
          </a:xfrm>
          <a:prstGeom prst="rect">
            <a:avLst/>
          </a:prstGeom>
          <a:noFill/>
        </p:spPr>
        <p:txBody>
          <a:bodyPr wrap="square">
            <a:spAutoFit/>
          </a:bodyPr>
          <a:lstStyle/>
          <a:p>
            <a:pPr algn="l">
              <a:defRPr sz="1000" b="0">
                <a:solidFill>
                  <a:srgbClr val="1A1A2E"/>
                </a:solidFill>
                <a:latin typeface="Calibri"/>
              </a:defRPr>
            </a:pPr>
            <a:r>
              <a:t>1. Review alert on Dashboard or Expirables page</a:t>
            </a:r>
          </a:p>
        </p:txBody>
      </p:sp>
      <p:sp>
        <p:nvSpPr>
          <p:cNvPr id="38" name="TextBox 37"/>
          <p:cNvSpPr txBox="1"/>
          <p:nvPr/>
        </p:nvSpPr>
        <p:spPr>
          <a:xfrm>
            <a:off x="6675120" y="4087368"/>
            <a:ext cx="4754880" cy="182880"/>
          </a:xfrm>
          <a:prstGeom prst="rect">
            <a:avLst/>
          </a:prstGeom>
          <a:noFill/>
        </p:spPr>
        <p:txBody>
          <a:bodyPr wrap="square">
            <a:spAutoFit/>
          </a:bodyPr>
          <a:lstStyle/>
          <a:p>
            <a:pPr algn="l">
              <a:defRPr sz="1000" b="0">
                <a:solidFill>
                  <a:srgbClr val="1A1A2E"/>
                </a:solidFill>
                <a:latin typeface="Calibri"/>
              </a:defRPr>
            </a:pPr>
            <a:r>
              <a:t>2. Check: can a bot confirm renewal online?</a:t>
            </a:r>
          </a:p>
        </p:txBody>
      </p:sp>
      <p:sp>
        <p:nvSpPr>
          <p:cNvPr id="39" name="TextBox 38"/>
          <p:cNvSpPr txBox="1"/>
          <p:nvPr/>
        </p:nvSpPr>
        <p:spPr>
          <a:xfrm>
            <a:off x="6675120" y="4288536"/>
            <a:ext cx="4754880" cy="182880"/>
          </a:xfrm>
          <a:prstGeom prst="rect">
            <a:avLst/>
          </a:prstGeom>
          <a:noFill/>
        </p:spPr>
        <p:txBody>
          <a:bodyPr wrap="square">
            <a:spAutoFit/>
          </a:bodyPr>
          <a:lstStyle/>
          <a:p>
            <a:pPr algn="l">
              <a:defRPr sz="1000" b="0">
                <a:solidFill>
                  <a:srgbClr val="1A1A2E"/>
                </a:solidFill>
                <a:latin typeface="Calibri"/>
              </a:defRPr>
            </a:pPr>
            <a:r>
              <a:t>3. If not, contact provider for updated documentation</a:t>
            </a:r>
          </a:p>
        </p:txBody>
      </p:sp>
      <p:sp>
        <p:nvSpPr>
          <p:cNvPr id="40" name="TextBox 39"/>
          <p:cNvSpPr txBox="1"/>
          <p:nvPr/>
        </p:nvSpPr>
        <p:spPr>
          <a:xfrm>
            <a:off x="6675120" y="4489704"/>
            <a:ext cx="4754880" cy="182880"/>
          </a:xfrm>
          <a:prstGeom prst="rect">
            <a:avLst/>
          </a:prstGeom>
          <a:noFill/>
        </p:spPr>
        <p:txBody>
          <a:bodyPr wrap="square">
            <a:spAutoFit/>
          </a:bodyPr>
          <a:lstStyle/>
          <a:p>
            <a:pPr algn="l">
              <a:defRPr sz="1000" b="0">
                <a:solidFill>
                  <a:srgbClr val="1A1A2E"/>
                </a:solidFill>
                <a:latin typeface="Calibri"/>
              </a:defRPr>
            </a:pPr>
            <a:r>
              <a:t>4. Upload renewed document, update expiration date</a:t>
            </a:r>
          </a:p>
        </p:txBody>
      </p:sp>
      <p:sp>
        <p:nvSpPr>
          <p:cNvPr id="41" name="TextBox 40"/>
          <p:cNvSpPr txBox="1"/>
          <p:nvPr/>
        </p:nvSpPr>
        <p:spPr>
          <a:xfrm>
            <a:off x="6675120" y="4690872"/>
            <a:ext cx="4754880" cy="182880"/>
          </a:xfrm>
          <a:prstGeom prst="rect">
            <a:avLst/>
          </a:prstGeom>
          <a:noFill/>
        </p:spPr>
        <p:txBody>
          <a:bodyPr wrap="square">
            <a:spAutoFit/>
          </a:bodyPr>
          <a:lstStyle/>
          <a:p>
            <a:pPr algn="l">
              <a:defRPr sz="1000" b="0">
                <a:solidFill>
                  <a:srgbClr val="1A1A2E"/>
                </a:solidFill>
                <a:latin typeface="Calibri"/>
              </a:defRPr>
            </a:pPr>
            <a:r>
              <a:t>5. Re-run PSV bot if needed to re-verify</a:t>
            </a:r>
          </a:p>
        </p:txBody>
      </p:sp>
      <p:sp>
        <p:nvSpPr>
          <p:cNvPr id="42" name="Rounded Rectangle 41"/>
          <p:cNvSpPr/>
          <p:nvPr/>
        </p:nvSpPr>
        <p:spPr>
          <a:xfrm>
            <a:off x="731520" y="5029200"/>
            <a:ext cx="10698480" cy="12801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166360"/>
            <a:ext cx="4572000" cy="274320"/>
          </a:xfrm>
          <a:prstGeom prst="rect">
            <a:avLst/>
          </a:prstGeom>
          <a:noFill/>
        </p:spPr>
        <p:txBody>
          <a:bodyPr wrap="square">
            <a:spAutoFit/>
          </a:bodyPr>
          <a:lstStyle/>
          <a:p>
            <a:pPr algn="l">
              <a:defRPr sz="1500" b="1">
                <a:solidFill>
                  <a:srgbClr val="0B3D91"/>
                </a:solidFill>
                <a:latin typeface="Calibri"/>
              </a:defRPr>
            </a:pPr>
            <a:r>
              <a:t>Tracked Credential Types (20+)</a:t>
            </a:r>
          </a:p>
        </p:txBody>
      </p:sp>
      <p:sp>
        <p:nvSpPr>
          <p:cNvPr id="44" name="TextBox 43"/>
          <p:cNvSpPr txBox="1"/>
          <p:nvPr/>
        </p:nvSpPr>
        <p:spPr>
          <a:xfrm>
            <a:off x="1005840" y="5486400"/>
            <a:ext cx="1828800" cy="182880"/>
          </a:xfrm>
          <a:prstGeom prst="rect">
            <a:avLst/>
          </a:prstGeom>
          <a:noFill/>
        </p:spPr>
        <p:txBody>
          <a:bodyPr wrap="square">
            <a:spAutoFit/>
          </a:bodyPr>
          <a:lstStyle/>
          <a:p>
            <a:pPr algn="l">
              <a:defRPr sz="900" b="0">
                <a:solidFill>
                  <a:srgbClr val="1A1A2E"/>
                </a:solidFill>
                <a:latin typeface="Calibri"/>
              </a:defRPr>
            </a:pPr>
            <a:r>
              <a:t>State Medical License</a:t>
            </a:r>
          </a:p>
        </p:txBody>
      </p:sp>
      <p:sp>
        <p:nvSpPr>
          <p:cNvPr id="45" name="TextBox 44"/>
          <p:cNvSpPr txBox="1"/>
          <p:nvPr/>
        </p:nvSpPr>
        <p:spPr>
          <a:xfrm>
            <a:off x="2834640" y="5486400"/>
            <a:ext cx="731520" cy="182880"/>
          </a:xfrm>
          <a:prstGeom prst="rect">
            <a:avLst/>
          </a:prstGeom>
          <a:noFill/>
        </p:spPr>
        <p:txBody>
          <a:bodyPr wrap="square">
            <a:spAutoFit/>
          </a:bodyPr>
          <a:lstStyle/>
          <a:p>
            <a:pPr algn="r">
              <a:defRPr sz="900" b="1">
                <a:solidFill>
                  <a:srgbClr val="00A3E0"/>
                </a:solidFill>
                <a:latin typeface="Calibri"/>
              </a:defRPr>
            </a:pPr>
            <a:r>
              <a:t>1-3 yrs</a:t>
            </a:r>
          </a:p>
        </p:txBody>
      </p:sp>
      <p:sp>
        <p:nvSpPr>
          <p:cNvPr id="46" name="TextBox 45"/>
          <p:cNvSpPr txBox="1"/>
          <p:nvPr/>
        </p:nvSpPr>
        <p:spPr>
          <a:xfrm>
            <a:off x="3657600" y="5486400"/>
            <a:ext cx="1828800" cy="182880"/>
          </a:xfrm>
          <a:prstGeom prst="rect">
            <a:avLst/>
          </a:prstGeom>
          <a:noFill/>
        </p:spPr>
        <p:txBody>
          <a:bodyPr wrap="square">
            <a:spAutoFit/>
          </a:bodyPr>
          <a:lstStyle/>
          <a:p>
            <a:pPr algn="l">
              <a:defRPr sz="900" b="0">
                <a:solidFill>
                  <a:srgbClr val="1A1A2E"/>
                </a:solidFill>
                <a:latin typeface="Calibri"/>
              </a:defRPr>
            </a:pPr>
            <a:r>
              <a:t>DEA Certificate</a:t>
            </a:r>
          </a:p>
        </p:txBody>
      </p:sp>
      <p:sp>
        <p:nvSpPr>
          <p:cNvPr id="47" name="TextBox 46"/>
          <p:cNvSpPr txBox="1"/>
          <p:nvPr/>
        </p:nvSpPr>
        <p:spPr>
          <a:xfrm>
            <a:off x="5486400" y="5486400"/>
            <a:ext cx="731520" cy="182880"/>
          </a:xfrm>
          <a:prstGeom prst="rect">
            <a:avLst/>
          </a:prstGeom>
          <a:noFill/>
        </p:spPr>
        <p:txBody>
          <a:bodyPr wrap="square">
            <a:spAutoFit/>
          </a:bodyPr>
          <a:lstStyle/>
          <a:p>
            <a:pPr algn="r">
              <a:defRPr sz="900" b="1">
                <a:solidFill>
                  <a:srgbClr val="00A3E0"/>
                </a:solidFill>
                <a:latin typeface="Calibri"/>
              </a:defRPr>
            </a:pPr>
            <a:r>
              <a:t>3 yrs</a:t>
            </a:r>
          </a:p>
        </p:txBody>
      </p:sp>
      <p:sp>
        <p:nvSpPr>
          <p:cNvPr id="48" name="TextBox 47"/>
          <p:cNvSpPr txBox="1"/>
          <p:nvPr/>
        </p:nvSpPr>
        <p:spPr>
          <a:xfrm>
            <a:off x="6309360" y="5486400"/>
            <a:ext cx="1828800" cy="182880"/>
          </a:xfrm>
          <a:prstGeom prst="rect">
            <a:avLst/>
          </a:prstGeom>
          <a:noFill/>
        </p:spPr>
        <p:txBody>
          <a:bodyPr wrap="square">
            <a:spAutoFit/>
          </a:bodyPr>
          <a:lstStyle/>
          <a:p>
            <a:pPr algn="l">
              <a:defRPr sz="900" b="0">
                <a:solidFill>
                  <a:srgbClr val="1A1A2E"/>
                </a:solidFill>
                <a:latin typeface="Calibri"/>
              </a:defRPr>
            </a:pPr>
            <a:r>
              <a:t>Board Certification</a:t>
            </a:r>
          </a:p>
        </p:txBody>
      </p:sp>
      <p:sp>
        <p:nvSpPr>
          <p:cNvPr id="49" name="TextBox 48"/>
          <p:cNvSpPr txBox="1"/>
          <p:nvPr/>
        </p:nvSpPr>
        <p:spPr>
          <a:xfrm>
            <a:off x="8138160" y="5486400"/>
            <a:ext cx="731520" cy="182880"/>
          </a:xfrm>
          <a:prstGeom prst="rect">
            <a:avLst/>
          </a:prstGeom>
          <a:noFill/>
        </p:spPr>
        <p:txBody>
          <a:bodyPr wrap="square">
            <a:spAutoFit/>
          </a:bodyPr>
          <a:lstStyle/>
          <a:p>
            <a:pPr algn="r">
              <a:defRPr sz="900" b="1">
                <a:solidFill>
                  <a:srgbClr val="00A3E0"/>
                </a:solidFill>
                <a:latin typeface="Calibri"/>
              </a:defRPr>
            </a:pPr>
            <a:r>
              <a:t>7-10 yrs</a:t>
            </a:r>
          </a:p>
        </p:txBody>
      </p:sp>
      <p:sp>
        <p:nvSpPr>
          <p:cNvPr id="50" name="TextBox 49"/>
          <p:cNvSpPr txBox="1"/>
          <p:nvPr/>
        </p:nvSpPr>
        <p:spPr>
          <a:xfrm>
            <a:off x="8961119" y="5486400"/>
            <a:ext cx="1828800" cy="182880"/>
          </a:xfrm>
          <a:prstGeom prst="rect">
            <a:avLst/>
          </a:prstGeom>
          <a:noFill/>
        </p:spPr>
        <p:txBody>
          <a:bodyPr wrap="square">
            <a:spAutoFit/>
          </a:bodyPr>
          <a:lstStyle/>
          <a:p>
            <a:pPr algn="l">
              <a:defRPr sz="900" b="0">
                <a:solidFill>
                  <a:srgbClr val="1A1A2E"/>
                </a:solidFill>
                <a:latin typeface="Calibri"/>
              </a:defRPr>
            </a:pPr>
            <a:r>
              <a:t>Malpractice Insurance</a:t>
            </a:r>
          </a:p>
        </p:txBody>
      </p:sp>
      <p:sp>
        <p:nvSpPr>
          <p:cNvPr id="51" name="TextBox 50"/>
          <p:cNvSpPr txBox="1"/>
          <p:nvPr/>
        </p:nvSpPr>
        <p:spPr>
          <a:xfrm>
            <a:off x="10789919" y="5486400"/>
            <a:ext cx="731520" cy="182880"/>
          </a:xfrm>
          <a:prstGeom prst="rect">
            <a:avLst/>
          </a:prstGeom>
          <a:noFill/>
        </p:spPr>
        <p:txBody>
          <a:bodyPr wrap="square">
            <a:spAutoFit/>
          </a:bodyPr>
          <a:lstStyle/>
          <a:p>
            <a:pPr algn="r">
              <a:defRPr sz="900" b="1">
                <a:solidFill>
                  <a:srgbClr val="00A3E0"/>
                </a:solidFill>
                <a:latin typeface="Calibri"/>
              </a:defRPr>
            </a:pPr>
            <a:r>
              <a:t>Annual</a:t>
            </a:r>
          </a:p>
        </p:txBody>
      </p:sp>
      <p:sp>
        <p:nvSpPr>
          <p:cNvPr id="52" name="TextBox 51"/>
          <p:cNvSpPr txBox="1"/>
          <p:nvPr/>
        </p:nvSpPr>
        <p:spPr>
          <a:xfrm>
            <a:off x="1005840" y="5742432"/>
            <a:ext cx="1828800" cy="182880"/>
          </a:xfrm>
          <a:prstGeom prst="rect">
            <a:avLst/>
          </a:prstGeom>
          <a:noFill/>
        </p:spPr>
        <p:txBody>
          <a:bodyPr wrap="square">
            <a:spAutoFit/>
          </a:bodyPr>
          <a:lstStyle/>
          <a:p>
            <a:pPr algn="l">
              <a:defRPr sz="900" b="0">
                <a:solidFill>
                  <a:srgbClr val="1A1A2E"/>
                </a:solidFill>
                <a:latin typeface="Calibri"/>
              </a:defRPr>
            </a:pPr>
            <a:r>
              <a:t>BLS/ACLS/PALS</a:t>
            </a:r>
          </a:p>
        </p:txBody>
      </p:sp>
      <p:sp>
        <p:nvSpPr>
          <p:cNvPr id="53" name="TextBox 52"/>
          <p:cNvSpPr txBox="1"/>
          <p:nvPr/>
        </p:nvSpPr>
        <p:spPr>
          <a:xfrm>
            <a:off x="2834640" y="5742432"/>
            <a:ext cx="731520" cy="182880"/>
          </a:xfrm>
          <a:prstGeom prst="rect">
            <a:avLst/>
          </a:prstGeom>
          <a:noFill/>
        </p:spPr>
        <p:txBody>
          <a:bodyPr wrap="square">
            <a:spAutoFit/>
          </a:bodyPr>
          <a:lstStyle/>
          <a:p>
            <a:pPr algn="r">
              <a:defRPr sz="900" b="1">
                <a:solidFill>
                  <a:srgbClr val="00A3E0"/>
                </a:solidFill>
                <a:latin typeface="Calibri"/>
              </a:defRPr>
            </a:pPr>
            <a:r>
              <a:t>2 yrs</a:t>
            </a:r>
          </a:p>
        </p:txBody>
      </p:sp>
      <p:sp>
        <p:nvSpPr>
          <p:cNvPr id="54" name="TextBox 53"/>
          <p:cNvSpPr txBox="1"/>
          <p:nvPr/>
        </p:nvSpPr>
        <p:spPr>
          <a:xfrm>
            <a:off x="3657600" y="5742432"/>
            <a:ext cx="1828800" cy="182880"/>
          </a:xfrm>
          <a:prstGeom prst="rect">
            <a:avLst/>
          </a:prstGeom>
          <a:noFill/>
        </p:spPr>
        <p:txBody>
          <a:bodyPr wrap="square">
            <a:spAutoFit/>
          </a:bodyPr>
          <a:lstStyle/>
          <a:p>
            <a:pPr algn="l">
              <a:defRPr sz="900" b="0">
                <a:solidFill>
                  <a:srgbClr val="1A1A2E"/>
                </a:solidFill>
                <a:latin typeface="Calibri"/>
              </a:defRPr>
            </a:pPr>
            <a:r>
              <a:t>CAQH Attestation</a:t>
            </a:r>
          </a:p>
        </p:txBody>
      </p:sp>
      <p:sp>
        <p:nvSpPr>
          <p:cNvPr id="55" name="TextBox 54"/>
          <p:cNvSpPr txBox="1"/>
          <p:nvPr/>
        </p:nvSpPr>
        <p:spPr>
          <a:xfrm>
            <a:off x="5486400" y="5742432"/>
            <a:ext cx="731520" cy="182880"/>
          </a:xfrm>
          <a:prstGeom prst="rect">
            <a:avLst/>
          </a:prstGeom>
          <a:noFill/>
        </p:spPr>
        <p:txBody>
          <a:bodyPr wrap="square">
            <a:spAutoFit/>
          </a:bodyPr>
          <a:lstStyle/>
          <a:p>
            <a:pPr algn="r">
              <a:defRPr sz="900" b="1">
                <a:solidFill>
                  <a:srgbClr val="00A3E0"/>
                </a:solidFill>
                <a:latin typeface="Calibri"/>
              </a:defRPr>
            </a:pPr>
            <a:r>
              <a:t>120 days</a:t>
            </a:r>
          </a:p>
        </p:txBody>
      </p:sp>
      <p:sp>
        <p:nvSpPr>
          <p:cNvPr id="56" name="TextBox 55"/>
          <p:cNvSpPr txBox="1"/>
          <p:nvPr/>
        </p:nvSpPr>
        <p:spPr>
          <a:xfrm>
            <a:off x="6309360" y="5742432"/>
            <a:ext cx="1828800" cy="182880"/>
          </a:xfrm>
          <a:prstGeom prst="rect">
            <a:avLst/>
          </a:prstGeom>
          <a:noFill/>
        </p:spPr>
        <p:txBody>
          <a:bodyPr wrap="square">
            <a:spAutoFit/>
          </a:bodyPr>
          <a:lstStyle/>
          <a:p>
            <a:pPr algn="l">
              <a:defRPr sz="900" b="0">
                <a:solidFill>
                  <a:srgbClr val="1A1A2E"/>
                </a:solidFill>
                <a:latin typeface="Calibri"/>
              </a:defRPr>
            </a:pPr>
            <a:r>
              <a:t>Hospital Privileges</a:t>
            </a:r>
          </a:p>
        </p:txBody>
      </p:sp>
      <p:sp>
        <p:nvSpPr>
          <p:cNvPr id="57" name="TextBox 56"/>
          <p:cNvSpPr txBox="1"/>
          <p:nvPr/>
        </p:nvSpPr>
        <p:spPr>
          <a:xfrm>
            <a:off x="8138160" y="5742432"/>
            <a:ext cx="731520" cy="182880"/>
          </a:xfrm>
          <a:prstGeom prst="rect">
            <a:avLst/>
          </a:prstGeom>
          <a:noFill/>
        </p:spPr>
        <p:txBody>
          <a:bodyPr wrap="square">
            <a:spAutoFit/>
          </a:bodyPr>
          <a:lstStyle/>
          <a:p>
            <a:pPr algn="r">
              <a:defRPr sz="900" b="1">
                <a:solidFill>
                  <a:srgbClr val="00A3E0"/>
                </a:solidFill>
                <a:latin typeface="Calibri"/>
              </a:defRPr>
            </a:pPr>
            <a:r>
              <a:t>2 yrs</a:t>
            </a:r>
          </a:p>
        </p:txBody>
      </p:sp>
      <p:sp>
        <p:nvSpPr>
          <p:cNvPr id="58" name="TextBox 57"/>
          <p:cNvSpPr txBox="1"/>
          <p:nvPr/>
        </p:nvSpPr>
        <p:spPr>
          <a:xfrm>
            <a:off x="8961119" y="5742432"/>
            <a:ext cx="1828800" cy="182880"/>
          </a:xfrm>
          <a:prstGeom prst="rect">
            <a:avLst/>
          </a:prstGeom>
          <a:noFill/>
        </p:spPr>
        <p:txBody>
          <a:bodyPr wrap="square">
            <a:spAutoFit/>
          </a:bodyPr>
          <a:lstStyle/>
          <a:p>
            <a:pPr algn="l">
              <a:defRPr sz="900" b="0">
                <a:solidFill>
                  <a:srgbClr val="1A1A2E"/>
                </a:solidFill>
                <a:latin typeface="Calibri"/>
              </a:defRPr>
            </a:pPr>
            <a:r>
              <a:t>Flu Shot</a:t>
            </a:r>
          </a:p>
        </p:txBody>
      </p:sp>
      <p:sp>
        <p:nvSpPr>
          <p:cNvPr id="59" name="TextBox 58"/>
          <p:cNvSpPr txBox="1"/>
          <p:nvPr/>
        </p:nvSpPr>
        <p:spPr>
          <a:xfrm>
            <a:off x="10789919" y="5742432"/>
            <a:ext cx="731520" cy="182880"/>
          </a:xfrm>
          <a:prstGeom prst="rect">
            <a:avLst/>
          </a:prstGeom>
          <a:noFill/>
        </p:spPr>
        <p:txBody>
          <a:bodyPr wrap="square">
            <a:spAutoFit/>
          </a:bodyPr>
          <a:lstStyle/>
          <a:p>
            <a:pPr algn="r">
              <a:defRPr sz="900" b="1">
                <a:solidFill>
                  <a:srgbClr val="00A3E0"/>
                </a:solidFill>
                <a:latin typeface="Calibri"/>
              </a:defRPr>
            </a:pPr>
            <a:r>
              <a:t>Annual</a:t>
            </a:r>
          </a:p>
        </p:txBody>
      </p:sp>
      <p:sp>
        <p:nvSpPr>
          <p:cNvPr id="60" name="TextBox 59"/>
          <p:cNvSpPr txBox="1"/>
          <p:nvPr/>
        </p:nvSpPr>
        <p:spPr>
          <a:xfrm>
            <a:off x="1005840" y="5998464"/>
            <a:ext cx="1828800" cy="182880"/>
          </a:xfrm>
          <a:prstGeom prst="rect">
            <a:avLst/>
          </a:prstGeom>
          <a:noFill/>
        </p:spPr>
        <p:txBody>
          <a:bodyPr wrap="square">
            <a:spAutoFit/>
          </a:bodyPr>
          <a:lstStyle/>
          <a:p>
            <a:pPr algn="l">
              <a:defRPr sz="900" b="0">
                <a:solidFill>
                  <a:srgbClr val="1A1A2E"/>
                </a:solidFill>
                <a:latin typeface="Calibri"/>
              </a:defRPr>
            </a:pPr>
            <a:r>
              <a:t>Infection Control</a:t>
            </a:r>
          </a:p>
        </p:txBody>
      </p:sp>
      <p:sp>
        <p:nvSpPr>
          <p:cNvPr id="61" name="TextBox 60"/>
          <p:cNvSpPr txBox="1"/>
          <p:nvPr/>
        </p:nvSpPr>
        <p:spPr>
          <a:xfrm>
            <a:off x="2834640" y="5998464"/>
            <a:ext cx="731520" cy="182880"/>
          </a:xfrm>
          <a:prstGeom prst="rect">
            <a:avLst/>
          </a:prstGeom>
          <a:noFill/>
        </p:spPr>
        <p:txBody>
          <a:bodyPr wrap="square">
            <a:spAutoFit/>
          </a:bodyPr>
          <a:lstStyle/>
          <a:p>
            <a:pPr algn="r">
              <a:defRPr sz="900" b="1">
                <a:solidFill>
                  <a:srgbClr val="00A3E0"/>
                </a:solidFill>
                <a:latin typeface="Calibri"/>
              </a:defRPr>
            </a:pPr>
            <a:r>
              <a:t>1-2 yrs</a:t>
            </a:r>
          </a:p>
        </p:txBody>
      </p:sp>
      <p:sp>
        <p:nvSpPr>
          <p:cNvPr id="62" name="TextBox 61"/>
          <p:cNvSpPr txBox="1"/>
          <p:nvPr/>
        </p:nvSpPr>
        <p:spPr>
          <a:xfrm>
            <a:off x="3657600" y="5998464"/>
            <a:ext cx="1828800" cy="182880"/>
          </a:xfrm>
          <a:prstGeom prst="rect">
            <a:avLst/>
          </a:prstGeom>
          <a:noFill/>
        </p:spPr>
        <p:txBody>
          <a:bodyPr wrap="square">
            <a:spAutoFit/>
          </a:bodyPr>
          <a:lstStyle/>
          <a:p>
            <a:pPr algn="l">
              <a:defRPr sz="900" b="0">
                <a:solidFill>
                  <a:srgbClr val="1A1A2E"/>
                </a:solidFill>
                <a:latin typeface="Calibri"/>
              </a:defRPr>
            </a:pPr>
            <a:r>
              <a:t>Government ID</a:t>
            </a:r>
          </a:p>
        </p:txBody>
      </p:sp>
      <p:sp>
        <p:nvSpPr>
          <p:cNvPr id="63" name="TextBox 62"/>
          <p:cNvSpPr txBox="1"/>
          <p:nvPr/>
        </p:nvSpPr>
        <p:spPr>
          <a:xfrm>
            <a:off x="5486400" y="5998464"/>
            <a:ext cx="731520" cy="182880"/>
          </a:xfrm>
          <a:prstGeom prst="rect">
            <a:avLst/>
          </a:prstGeom>
          <a:noFill/>
        </p:spPr>
        <p:txBody>
          <a:bodyPr wrap="square">
            <a:spAutoFit/>
          </a:bodyPr>
          <a:lstStyle/>
          <a:p>
            <a:pPr algn="r">
              <a:defRPr sz="900" b="1">
                <a:solidFill>
                  <a:srgbClr val="00A3E0"/>
                </a:solidFill>
                <a:latin typeface="Calibri"/>
              </a:defRPr>
            </a:pPr>
            <a:r>
              <a:t>Varies</a:t>
            </a:r>
          </a:p>
        </p:txBody>
      </p:sp>
      <p:sp>
        <p:nvSpPr>
          <p:cNvPr id="64" name="TextBox 63"/>
          <p:cNvSpPr txBox="1"/>
          <p:nvPr/>
        </p:nvSpPr>
        <p:spPr>
          <a:xfrm>
            <a:off x="6309360" y="5998464"/>
            <a:ext cx="1828800" cy="182880"/>
          </a:xfrm>
          <a:prstGeom prst="rect">
            <a:avLst/>
          </a:prstGeom>
          <a:noFill/>
        </p:spPr>
        <p:txBody>
          <a:bodyPr wrap="square">
            <a:spAutoFit/>
          </a:bodyPr>
          <a:lstStyle/>
          <a:p>
            <a:pPr algn="l">
              <a:defRPr sz="900" b="0">
                <a:solidFill>
                  <a:srgbClr val="1A1A2E"/>
                </a:solidFill>
                <a:latin typeface="Calibri"/>
              </a:defRPr>
            </a:pPr>
            <a:r>
              <a:t>Medicaid Revalidation</a:t>
            </a:r>
          </a:p>
        </p:txBody>
      </p:sp>
      <p:sp>
        <p:nvSpPr>
          <p:cNvPr id="65" name="TextBox 64"/>
          <p:cNvSpPr txBox="1"/>
          <p:nvPr/>
        </p:nvSpPr>
        <p:spPr>
          <a:xfrm>
            <a:off x="8138160" y="5998464"/>
            <a:ext cx="731520" cy="182880"/>
          </a:xfrm>
          <a:prstGeom prst="rect">
            <a:avLst/>
          </a:prstGeom>
          <a:noFill/>
        </p:spPr>
        <p:txBody>
          <a:bodyPr wrap="square">
            <a:spAutoFit/>
          </a:bodyPr>
          <a:lstStyle/>
          <a:p>
            <a:pPr algn="r">
              <a:defRPr sz="900" b="1">
                <a:solidFill>
                  <a:srgbClr val="00A3E0"/>
                </a:solidFill>
                <a:latin typeface="Calibri"/>
              </a:defRPr>
            </a:pPr>
            <a:r>
              <a:t>5 yrs</a:t>
            </a:r>
          </a:p>
        </p:txBody>
      </p:sp>
      <p:sp>
        <p:nvSpPr>
          <p:cNvPr id="66" name="TextBox 65"/>
          <p:cNvSpPr txBox="1"/>
          <p:nvPr/>
        </p:nvSpPr>
        <p:spPr>
          <a:xfrm>
            <a:off x="8961119" y="5998464"/>
            <a:ext cx="1828800" cy="182880"/>
          </a:xfrm>
          <a:prstGeom prst="rect">
            <a:avLst/>
          </a:prstGeom>
          <a:noFill/>
        </p:spPr>
        <p:txBody>
          <a:bodyPr wrap="square">
            <a:spAutoFit/>
          </a:bodyPr>
          <a:lstStyle/>
          <a:p>
            <a:pPr algn="l">
              <a:defRPr sz="900" b="0">
                <a:solidFill>
                  <a:srgbClr val="1A1A2E"/>
                </a:solidFill>
                <a:latin typeface="Calibri"/>
              </a:defRPr>
            </a:pPr>
            <a:r>
              <a:t>Medicare Revalidation</a:t>
            </a:r>
          </a:p>
        </p:txBody>
      </p:sp>
      <p:sp>
        <p:nvSpPr>
          <p:cNvPr id="67" name="TextBox 66"/>
          <p:cNvSpPr txBox="1"/>
          <p:nvPr/>
        </p:nvSpPr>
        <p:spPr>
          <a:xfrm>
            <a:off x="10789919" y="5998464"/>
            <a:ext cx="731520" cy="182880"/>
          </a:xfrm>
          <a:prstGeom prst="rect">
            <a:avLst/>
          </a:prstGeom>
          <a:noFill/>
        </p:spPr>
        <p:txBody>
          <a:bodyPr wrap="square">
            <a:spAutoFit/>
          </a:bodyPr>
          <a:lstStyle/>
          <a:p>
            <a:pPr algn="r">
              <a:defRPr sz="900" b="1">
                <a:solidFill>
                  <a:srgbClr val="00A3E0"/>
                </a:solidFill>
                <a:latin typeface="Calibri"/>
              </a:defRPr>
            </a:pPr>
            <a:r>
              <a:t>5 yrs</a:t>
            </a:r>
          </a:p>
        </p:txBody>
      </p:sp>
      <p:sp>
        <p:nvSpPr>
          <p:cNvPr id="68" name="TextBox 67"/>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PART 5: COMMITTEE &amp; ADMIN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Committee Review &amp; Approvals</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BBBBDD"/>
                </a:solidFill>
                <a:latin typeface="Calibri"/>
              </a:defRPr>
            </a:pPr>
            <a:r>
              <a:t>The credentialing committee is the final gate. Only the Manager can approve, deny, or defer a provider.</a:t>
            </a:r>
          </a:p>
        </p:txBody>
      </p:sp>
      <p:sp>
        <p:nvSpPr>
          <p:cNvPr id="5" name="Rounded Rectangle 4"/>
          <p:cNvSpPr/>
          <p:nvPr/>
        </p:nvSpPr>
        <p:spPr>
          <a:xfrm>
            <a:off x="731520" y="1828800"/>
            <a:ext cx="5303520" cy="292608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500" b="1">
                <a:solidFill>
                  <a:srgbClr val="00A3E0"/>
                </a:solidFill>
                <a:latin typeface="Calibri"/>
              </a:defRPr>
            </a:pPr>
            <a:r>
              <a:t>Creating a Committee Session (Managers)</a:t>
            </a:r>
          </a:p>
        </p:txBody>
      </p:sp>
      <p:sp>
        <p:nvSpPr>
          <p:cNvPr id="7" name="TextBox 6"/>
          <p:cNvSpPr txBox="1"/>
          <p:nvPr/>
        </p:nvSpPr>
        <p:spPr>
          <a:xfrm>
            <a:off x="1005840" y="2286000"/>
            <a:ext cx="1463040" cy="228600"/>
          </a:xfrm>
          <a:prstGeom prst="rect">
            <a:avLst/>
          </a:prstGeom>
          <a:noFill/>
        </p:spPr>
        <p:txBody>
          <a:bodyPr wrap="square">
            <a:spAutoFit/>
          </a:bodyPr>
          <a:lstStyle/>
          <a:p>
            <a:pPr algn="l">
              <a:defRPr sz="1100" b="1">
                <a:solidFill>
                  <a:srgbClr val="00A3E0"/>
                </a:solidFill>
                <a:latin typeface="Calibri"/>
              </a:defRPr>
            </a:pPr>
            <a:r>
              <a:t>1. Navigate</a:t>
            </a:r>
          </a:p>
        </p:txBody>
      </p:sp>
      <p:sp>
        <p:nvSpPr>
          <p:cNvPr id="8" name="TextBox 7"/>
          <p:cNvSpPr txBox="1"/>
          <p:nvPr/>
        </p:nvSpPr>
        <p:spPr>
          <a:xfrm>
            <a:off x="2468880" y="2286000"/>
            <a:ext cx="3200400" cy="320040"/>
          </a:xfrm>
          <a:prstGeom prst="rect">
            <a:avLst/>
          </a:prstGeom>
          <a:noFill/>
        </p:spPr>
        <p:txBody>
          <a:bodyPr wrap="square">
            <a:spAutoFit/>
          </a:bodyPr>
          <a:lstStyle/>
          <a:p>
            <a:pPr algn="l">
              <a:defRPr sz="1000" b="0">
                <a:solidFill>
                  <a:srgbClr val="BBBBDD"/>
                </a:solidFill>
                <a:latin typeface="Calibri"/>
              </a:defRPr>
            </a:pPr>
            <a:r>
              <a:t>Click Committee in the sidebar. View the queue of providers at COMMITTEE_READY status.</a:t>
            </a:r>
          </a:p>
        </p:txBody>
      </p:sp>
      <p:sp>
        <p:nvSpPr>
          <p:cNvPr id="9" name="TextBox 8"/>
          <p:cNvSpPr txBox="1"/>
          <p:nvPr/>
        </p:nvSpPr>
        <p:spPr>
          <a:xfrm>
            <a:off x="1005840" y="2670048"/>
            <a:ext cx="1463040" cy="228600"/>
          </a:xfrm>
          <a:prstGeom prst="rect">
            <a:avLst/>
          </a:prstGeom>
          <a:noFill/>
        </p:spPr>
        <p:txBody>
          <a:bodyPr wrap="square">
            <a:spAutoFit/>
          </a:bodyPr>
          <a:lstStyle/>
          <a:p>
            <a:pPr algn="l">
              <a:defRPr sz="1100" b="1">
                <a:solidFill>
                  <a:srgbClr val="00A3E0"/>
                </a:solidFill>
                <a:latin typeface="Calibri"/>
              </a:defRPr>
            </a:pPr>
            <a:r>
              <a:t>2. New Session</a:t>
            </a:r>
          </a:p>
        </p:txBody>
      </p:sp>
      <p:sp>
        <p:nvSpPr>
          <p:cNvPr id="10" name="TextBox 9"/>
          <p:cNvSpPr txBox="1"/>
          <p:nvPr/>
        </p:nvSpPr>
        <p:spPr>
          <a:xfrm>
            <a:off x="2468880" y="2670048"/>
            <a:ext cx="3200400" cy="320040"/>
          </a:xfrm>
          <a:prstGeom prst="rect">
            <a:avLst/>
          </a:prstGeom>
          <a:noFill/>
        </p:spPr>
        <p:txBody>
          <a:bodyPr wrap="square">
            <a:spAutoFit/>
          </a:bodyPr>
          <a:lstStyle/>
          <a:p>
            <a:pPr algn="l">
              <a:defRPr sz="1000" b="0">
                <a:solidFill>
                  <a:srgbClr val="BBBBDD"/>
                </a:solidFill>
                <a:latin typeface="Calibri"/>
              </a:defRPr>
            </a:pPr>
            <a:r>
              <a:t>Click "+ New Session." Enter the Session Date (required), Session Type (Regular, Special, or Credentials), and any Notes.</a:t>
            </a:r>
          </a:p>
        </p:txBody>
      </p:sp>
      <p:sp>
        <p:nvSpPr>
          <p:cNvPr id="11" name="TextBox 10"/>
          <p:cNvSpPr txBox="1"/>
          <p:nvPr/>
        </p:nvSpPr>
        <p:spPr>
          <a:xfrm>
            <a:off x="1005840" y="3054096"/>
            <a:ext cx="1463040" cy="228600"/>
          </a:xfrm>
          <a:prstGeom prst="rect">
            <a:avLst/>
          </a:prstGeom>
          <a:noFill/>
        </p:spPr>
        <p:txBody>
          <a:bodyPr wrap="square">
            <a:spAutoFit/>
          </a:bodyPr>
          <a:lstStyle/>
          <a:p>
            <a:pPr algn="l">
              <a:defRPr sz="1100" b="1">
                <a:solidFill>
                  <a:srgbClr val="00A3E0"/>
                </a:solidFill>
                <a:latin typeface="Calibri"/>
              </a:defRPr>
            </a:pPr>
            <a:r>
              <a:t>3. Add Providers</a:t>
            </a:r>
          </a:p>
        </p:txBody>
      </p:sp>
      <p:sp>
        <p:nvSpPr>
          <p:cNvPr id="12" name="TextBox 11"/>
          <p:cNvSpPr txBox="1"/>
          <p:nvPr/>
        </p:nvSpPr>
        <p:spPr>
          <a:xfrm>
            <a:off x="2468880" y="3054096"/>
            <a:ext cx="3200400" cy="320040"/>
          </a:xfrm>
          <a:prstGeom prst="rect">
            <a:avLst/>
          </a:prstGeom>
          <a:noFill/>
        </p:spPr>
        <p:txBody>
          <a:bodyPr wrap="square">
            <a:spAutoFit/>
          </a:bodyPr>
          <a:lstStyle/>
          <a:p>
            <a:pPr algn="l">
              <a:defRPr sz="1000" b="0">
                <a:solidFill>
                  <a:srgbClr val="BBBBDD"/>
                </a:solidFill>
                <a:latin typeface="Calibri"/>
              </a:defRPr>
            </a:pPr>
            <a:r>
              <a:t>From the committee queue, select providers to add to this session. You can reorder the agenda.</a:t>
            </a:r>
          </a:p>
        </p:txBody>
      </p:sp>
      <p:sp>
        <p:nvSpPr>
          <p:cNvPr id="13" name="TextBox 12"/>
          <p:cNvSpPr txBox="1"/>
          <p:nvPr/>
        </p:nvSpPr>
        <p:spPr>
          <a:xfrm>
            <a:off x="1005840" y="3438144"/>
            <a:ext cx="1463040" cy="228600"/>
          </a:xfrm>
          <a:prstGeom prst="rect">
            <a:avLst/>
          </a:prstGeom>
          <a:noFill/>
        </p:spPr>
        <p:txBody>
          <a:bodyPr wrap="square">
            <a:spAutoFit/>
          </a:bodyPr>
          <a:lstStyle/>
          <a:p>
            <a:pPr algn="l">
              <a:defRPr sz="1100" b="1">
                <a:solidFill>
                  <a:srgbClr val="00A3E0"/>
                </a:solidFill>
                <a:latin typeface="Calibri"/>
              </a:defRPr>
            </a:pPr>
            <a:r>
              <a:t>4. Generate Agenda</a:t>
            </a:r>
          </a:p>
        </p:txBody>
      </p:sp>
      <p:sp>
        <p:nvSpPr>
          <p:cNvPr id="14" name="TextBox 13"/>
          <p:cNvSpPr txBox="1"/>
          <p:nvPr/>
        </p:nvSpPr>
        <p:spPr>
          <a:xfrm>
            <a:off x="2468880" y="3438144"/>
            <a:ext cx="3200400" cy="320040"/>
          </a:xfrm>
          <a:prstGeom prst="rect">
            <a:avLst/>
          </a:prstGeom>
          <a:noFill/>
        </p:spPr>
        <p:txBody>
          <a:bodyPr wrap="square">
            <a:spAutoFit/>
          </a:bodyPr>
          <a:lstStyle/>
          <a:p>
            <a:pPr algn="l">
              <a:defRPr sz="1000" b="0">
                <a:solidFill>
                  <a:srgbClr val="BBBBDD"/>
                </a:solidFill>
                <a:latin typeface="Calibri"/>
              </a:defRPr>
            </a:pPr>
            <a:r>
              <a:t>The system auto-generates a PDF agenda with provider summary sheets for each provider on the session.</a:t>
            </a:r>
          </a:p>
        </p:txBody>
      </p:sp>
      <p:sp>
        <p:nvSpPr>
          <p:cNvPr id="15" name="TextBox 14"/>
          <p:cNvSpPr txBox="1"/>
          <p:nvPr/>
        </p:nvSpPr>
        <p:spPr>
          <a:xfrm>
            <a:off x="1005840" y="3822191"/>
            <a:ext cx="1463040" cy="228600"/>
          </a:xfrm>
          <a:prstGeom prst="rect">
            <a:avLst/>
          </a:prstGeom>
          <a:noFill/>
        </p:spPr>
        <p:txBody>
          <a:bodyPr wrap="square">
            <a:spAutoFit/>
          </a:bodyPr>
          <a:lstStyle/>
          <a:p>
            <a:pPr algn="l">
              <a:defRPr sz="1100" b="1">
                <a:solidFill>
                  <a:srgbClr val="00A3E0"/>
                </a:solidFill>
                <a:latin typeface="Calibri"/>
              </a:defRPr>
            </a:pPr>
            <a:r>
              <a:t>5. Distribute</a:t>
            </a:r>
          </a:p>
        </p:txBody>
      </p:sp>
      <p:sp>
        <p:nvSpPr>
          <p:cNvPr id="16" name="TextBox 15"/>
          <p:cNvSpPr txBox="1"/>
          <p:nvPr/>
        </p:nvSpPr>
        <p:spPr>
          <a:xfrm>
            <a:off x="2468880" y="3822191"/>
            <a:ext cx="3200400" cy="320040"/>
          </a:xfrm>
          <a:prstGeom prst="rect">
            <a:avLst/>
          </a:prstGeom>
          <a:noFill/>
        </p:spPr>
        <p:txBody>
          <a:bodyPr wrap="square">
            <a:spAutoFit/>
          </a:bodyPr>
          <a:lstStyle/>
          <a:p>
            <a:pPr algn="l">
              <a:defRPr sz="1000" b="0">
                <a:solidFill>
                  <a:srgbClr val="BBBBDD"/>
                </a:solidFill>
                <a:latin typeface="Calibri"/>
              </a:defRPr>
            </a:pPr>
            <a:r>
              <a:t>Send the agenda to all committee members via the platform (email with PDF attachment).</a:t>
            </a:r>
          </a:p>
        </p:txBody>
      </p:sp>
      <p:sp>
        <p:nvSpPr>
          <p:cNvPr id="17" name="TextBox 16"/>
          <p:cNvSpPr txBox="1"/>
          <p:nvPr/>
        </p:nvSpPr>
        <p:spPr>
          <a:xfrm>
            <a:off x="1005840" y="4206240"/>
            <a:ext cx="1463040" cy="228600"/>
          </a:xfrm>
          <a:prstGeom prst="rect">
            <a:avLst/>
          </a:prstGeom>
          <a:noFill/>
        </p:spPr>
        <p:txBody>
          <a:bodyPr wrap="square">
            <a:spAutoFit/>
          </a:bodyPr>
          <a:lstStyle/>
          <a:p>
            <a:pPr algn="l">
              <a:defRPr sz="1100" b="1">
                <a:solidFill>
                  <a:srgbClr val="00A3E0"/>
                </a:solidFill>
                <a:latin typeface="Calibri"/>
              </a:defRPr>
            </a:pPr>
            <a:r>
              <a:t>6. Conduct Session</a:t>
            </a:r>
          </a:p>
        </p:txBody>
      </p:sp>
      <p:sp>
        <p:nvSpPr>
          <p:cNvPr id="18" name="TextBox 17"/>
          <p:cNvSpPr txBox="1"/>
          <p:nvPr/>
        </p:nvSpPr>
        <p:spPr>
          <a:xfrm>
            <a:off x="2468880" y="4206240"/>
            <a:ext cx="3200400" cy="320040"/>
          </a:xfrm>
          <a:prstGeom prst="rect">
            <a:avLst/>
          </a:prstGeom>
          <a:noFill/>
        </p:spPr>
        <p:txBody>
          <a:bodyPr wrap="square">
            <a:spAutoFit/>
          </a:bodyPr>
          <a:lstStyle/>
          <a:p>
            <a:pPr algn="l">
              <a:defRPr sz="1000" b="0">
                <a:solidFill>
                  <a:srgbClr val="BBBBDD"/>
                </a:solidFill>
                <a:latin typeface="Calibri"/>
              </a:defRPr>
            </a:pPr>
            <a:r>
              <a:t>During the meeting, record decisions for each provider using the action buttons.</a:t>
            </a:r>
          </a:p>
        </p:txBody>
      </p:sp>
      <p:sp>
        <p:nvSpPr>
          <p:cNvPr id="19" name="Rounded Rectangle 18"/>
          <p:cNvSpPr/>
          <p:nvPr/>
        </p:nvSpPr>
        <p:spPr>
          <a:xfrm>
            <a:off x="6400800" y="1828800"/>
            <a:ext cx="5120640" cy="18288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965960"/>
            <a:ext cx="4572000" cy="274320"/>
          </a:xfrm>
          <a:prstGeom prst="rect">
            <a:avLst/>
          </a:prstGeom>
          <a:noFill/>
        </p:spPr>
        <p:txBody>
          <a:bodyPr wrap="square">
            <a:spAutoFit/>
          </a:bodyPr>
          <a:lstStyle/>
          <a:p>
            <a:pPr algn="l">
              <a:defRPr sz="1500" b="1">
                <a:solidFill>
                  <a:srgbClr val="00A3E0"/>
                </a:solidFill>
                <a:latin typeface="Calibri"/>
              </a:defRPr>
            </a:pPr>
            <a:r>
              <a:t>Committee Decisions</a:t>
            </a:r>
          </a:p>
        </p:txBody>
      </p:sp>
      <p:sp>
        <p:nvSpPr>
          <p:cNvPr id="21" name="TextBox 20"/>
          <p:cNvSpPr txBox="1"/>
          <p:nvPr/>
        </p:nvSpPr>
        <p:spPr>
          <a:xfrm>
            <a:off x="6675120" y="2331720"/>
            <a:ext cx="1280160" cy="182880"/>
          </a:xfrm>
          <a:prstGeom prst="rect">
            <a:avLst/>
          </a:prstGeom>
          <a:noFill/>
        </p:spPr>
        <p:txBody>
          <a:bodyPr wrap="square">
            <a:spAutoFit/>
          </a:bodyPr>
          <a:lstStyle/>
          <a:p>
            <a:pPr algn="l">
              <a:defRPr sz="1300" b="1">
                <a:solidFill>
                  <a:srgbClr val="00B67A"/>
                </a:solidFill>
                <a:latin typeface="Calibri"/>
              </a:defRPr>
            </a:pPr>
            <a:r>
              <a:t>APPROVE</a:t>
            </a:r>
          </a:p>
        </p:txBody>
      </p:sp>
      <p:sp>
        <p:nvSpPr>
          <p:cNvPr id="22" name="TextBox 21"/>
          <p:cNvSpPr txBox="1"/>
          <p:nvPr/>
        </p:nvSpPr>
        <p:spPr>
          <a:xfrm>
            <a:off x="7955279" y="2331720"/>
            <a:ext cx="3291840" cy="365760"/>
          </a:xfrm>
          <a:prstGeom prst="rect">
            <a:avLst/>
          </a:prstGeom>
          <a:noFill/>
        </p:spPr>
        <p:txBody>
          <a:bodyPr wrap="square">
            <a:spAutoFit/>
          </a:bodyPr>
          <a:lstStyle/>
          <a:p>
            <a:pPr algn="l">
              <a:defRPr sz="1000" b="0">
                <a:solidFill>
                  <a:srgbClr val="BBBBDD"/>
                </a:solidFill>
                <a:latin typeface="Calibri"/>
              </a:defRPr>
            </a:pPr>
            <a:r>
              <a:t>Provider moves to APPROVED.</a:t>
            </a:r>
            <a:br/>
            <a:r>
              <a:t>Approval date stamped. Enrollment begins.</a:t>
            </a:r>
          </a:p>
        </p:txBody>
      </p:sp>
      <p:sp>
        <p:nvSpPr>
          <p:cNvPr id="23" name="TextBox 22"/>
          <p:cNvSpPr txBox="1"/>
          <p:nvPr/>
        </p:nvSpPr>
        <p:spPr>
          <a:xfrm>
            <a:off x="6675120" y="2770632"/>
            <a:ext cx="1280160" cy="182880"/>
          </a:xfrm>
          <a:prstGeom prst="rect">
            <a:avLst/>
          </a:prstGeom>
          <a:noFill/>
        </p:spPr>
        <p:txBody>
          <a:bodyPr wrap="square">
            <a:spAutoFit/>
          </a:bodyPr>
          <a:lstStyle/>
          <a:p>
            <a:pPr algn="l">
              <a:defRPr sz="1300" b="1">
                <a:solidFill>
                  <a:srgbClr val="E63946"/>
                </a:solidFill>
                <a:latin typeface="Calibri"/>
              </a:defRPr>
            </a:pPr>
            <a:r>
              <a:t>DENY</a:t>
            </a:r>
          </a:p>
        </p:txBody>
      </p:sp>
      <p:sp>
        <p:nvSpPr>
          <p:cNvPr id="24" name="TextBox 23"/>
          <p:cNvSpPr txBox="1"/>
          <p:nvPr/>
        </p:nvSpPr>
        <p:spPr>
          <a:xfrm>
            <a:off x="7955279" y="2770632"/>
            <a:ext cx="3291840" cy="365760"/>
          </a:xfrm>
          <a:prstGeom prst="rect">
            <a:avLst/>
          </a:prstGeom>
          <a:noFill/>
        </p:spPr>
        <p:txBody>
          <a:bodyPr wrap="square">
            <a:spAutoFit/>
          </a:bodyPr>
          <a:lstStyle/>
          <a:p>
            <a:pPr algn="l">
              <a:defRPr sz="1000" b="0">
                <a:solidFill>
                  <a:srgbClr val="BBBBDD"/>
                </a:solidFill>
                <a:latin typeface="Calibri"/>
              </a:defRPr>
            </a:pPr>
            <a:r>
              <a:t>Provider moves to DENIED. Application closed.</a:t>
            </a:r>
            <a:br/>
            <a:r>
              <a:t>Reason REQUIRED (saved to audit trail).</a:t>
            </a:r>
          </a:p>
        </p:txBody>
      </p:sp>
      <p:sp>
        <p:nvSpPr>
          <p:cNvPr id="25" name="TextBox 24"/>
          <p:cNvSpPr txBox="1"/>
          <p:nvPr/>
        </p:nvSpPr>
        <p:spPr>
          <a:xfrm>
            <a:off x="6675120" y="3209544"/>
            <a:ext cx="1280160" cy="182880"/>
          </a:xfrm>
          <a:prstGeom prst="rect">
            <a:avLst/>
          </a:prstGeom>
          <a:noFill/>
        </p:spPr>
        <p:txBody>
          <a:bodyPr wrap="square">
            <a:spAutoFit/>
          </a:bodyPr>
          <a:lstStyle/>
          <a:p>
            <a:pPr algn="l">
              <a:defRPr sz="1300" b="1">
                <a:solidFill>
                  <a:srgbClr val="F4A261"/>
                </a:solidFill>
                <a:latin typeface="Calibri"/>
              </a:defRPr>
            </a:pPr>
            <a:r>
              <a:t>DEFER</a:t>
            </a:r>
          </a:p>
        </p:txBody>
      </p:sp>
      <p:sp>
        <p:nvSpPr>
          <p:cNvPr id="26" name="TextBox 25"/>
          <p:cNvSpPr txBox="1"/>
          <p:nvPr/>
        </p:nvSpPr>
        <p:spPr>
          <a:xfrm>
            <a:off x="7955279" y="3209544"/>
            <a:ext cx="3291840" cy="365760"/>
          </a:xfrm>
          <a:prstGeom prst="rect">
            <a:avLst/>
          </a:prstGeom>
          <a:noFill/>
        </p:spPr>
        <p:txBody>
          <a:bodyPr wrap="square">
            <a:spAutoFit/>
          </a:bodyPr>
          <a:lstStyle/>
          <a:p>
            <a:pPr algn="l">
              <a:defRPr sz="1000" b="0">
                <a:solidFill>
                  <a:srgbClr val="BBBBDD"/>
                </a:solidFill>
                <a:latin typeface="Calibri"/>
              </a:defRPr>
            </a:pPr>
            <a:r>
              <a:t>Provider returns to COMMITTEE_READY.</a:t>
            </a:r>
            <a:br/>
            <a:r>
              <a:t>Reason REQUIRED. Needs additional work.</a:t>
            </a:r>
          </a:p>
        </p:txBody>
      </p:sp>
      <p:sp>
        <p:nvSpPr>
          <p:cNvPr id="27" name="Rounded Rectangle 26"/>
          <p:cNvSpPr/>
          <p:nvPr/>
        </p:nvSpPr>
        <p:spPr>
          <a:xfrm>
            <a:off x="6400800" y="3840480"/>
            <a:ext cx="5120640" cy="9144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3931920"/>
            <a:ext cx="4572000" cy="228600"/>
          </a:xfrm>
          <a:prstGeom prst="rect">
            <a:avLst/>
          </a:prstGeom>
          <a:noFill/>
        </p:spPr>
        <p:txBody>
          <a:bodyPr wrap="square">
            <a:spAutoFit/>
          </a:bodyPr>
          <a:lstStyle/>
          <a:p>
            <a:pPr algn="l">
              <a:defRPr sz="1400" b="1">
                <a:solidFill>
                  <a:srgbClr val="F4A261"/>
                </a:solidFill>
                <a:latin typeface="Calibri"/>
              </a:defRPr>
            </a:pPr>
            <a:r>
              <a:t>Committee Member View (Read-Only)</a:t>
            </a:r>
          </a:p>
        </p:txBody>
      </p:sp>
      <p:sp>
        <p:nvSpPr>
          <p:cNvPr id="29" name="TextBox 28"/>
          <p:cNvSpPr txBox="1"/>
          <p:nvPr/>
        </p:nvSpPr>
        <p:spPr>
          <a:xfrm>
            <a:off x="6675120" y="4206240"/>
            <a:ext cx="4754880" cy="457200"/>
          </a:xfrm>
          <a:prstGeom prst="rect">
            <a:avLst/>
          </a:prstGeom>
          <a:noFill/>
        </p:spPr>
        <p:txBody>
          <a:bodyPr wrap="square">
            <a:spAutoFit/>
          </a:bodyPr>
          <a:lstStyle/>
          <a:p>
            <a:pPr algn="l">
              <a:defRPr sz="1000" b="0">
                <a:solidFill>
                  <a:srgbClr val="BBBBDD"/>
                </a:solidFill>
                <a:latin typeface="Calibri"/>
              </a:defRPr>
            </a:pPr>
            <a:r>
              <a:t>✓ View session agendas  ✓ Read summary sheets  ✓ Submit votes with comments</a:t>
            </a:r>
            <a:br/>
            <a:r>
              <a:t>✗ Cannot create sessions  ✗ Cannot access other modules</a:t>
            </a:r>
          </a:p>
        </p:txBody>
      </p:sp>
      <p:sp>
        <p:nvSpPr>
          <p:cNvPr id="30" name="Rounded Rectangle 29"/>
          <p:cNvSpPr/>
          <p:nvPr/>
        </p:nvSpPr>
        <p:spPr>
          <a:xfrm>
            <a:off x="731520" y="5029200"/>
            <a:ext cx="10698480" cy="118872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166360"/>
            <a:ext cx="4572000" cy="274320"/>
          </a:xfrm>
          <a:prstGeom prst="rect">
            <a:avLst/>
          </a:prstGeom>
          <a:noFill/>
        </p:spPr>
        <p:txBody>
          <a:bodyPr wrap="square">
            <a:spAutoFit/>
          </a:bodyPr>
          <a:lstStyle/>
          <a:p>
            <a:pPr algn="l">
              <a:defRPr sz="1500" b="1">
                <a:solidFill>
                  <a:srgbClr val="00B67A"/>
                </a:solidFill>
                <a:latin typeface="Calibri"/>
              </a:defRPr>
            </a:pPr>
            <a:r>
              <a:t>Auto-Generated Committee Materials</a:t>
            </a:r>
          </a:p>
        </p:txBody>
      </p:sp>
      <p:sp>
        <p:nvSpPr>
          <p:cNvPr id="32" name="TextBox 31"/>
          <p:cNvSpPr txBox="1"/>
          <p:nvPr/>
        </p:nvSpPr>
        <p:spPr>
          <a:xfrm>
            <a:off x="1005840" y="5486400"/>
            <a:ext cx="1645920" cy="182880"/>
          </a:xfrm>
          <a:prstGeom prst="rect">
            <a:avLst/>
          </a:prstGeom>
          <a:noFill/>
        </p:spPr>
        <p:txBody>
          <a:bodyPr wrap="square">
            <a:spAutoFit/>
          </a:bodyPr>
          <a:lstStyle/>
          <a:p>
            <a:pPr algn="l">
              <a:defRPr sz="1100" b="1">
                <a:solidFill>
                  <a:srgbClr val="00A3E0"/>
                </a:solidFill>
                <a:latin typeface="Calibri"/>
              </a:defRPr>
            </a:pPr>
            <a:r>
              <a:t>Provider Summary Sheet</a:t>
            </a:r>
          </a:p>
        </p:txBody>
      </p:sp>
      <p:sp>
        <p:nvSpPr>
          <p:cNvPr id="33" name="TextBox 32"/>
          <p:cNvSpPr txBox="1"/>
          <p:nvPr/>
        </p:nvSpPr>
        <p:spPr>
          <a:xfrm>
            <a:off x="1005840" y="5715000"/>
            <a:ext cx="3200400" cy="365760"/>
          </a:xfrm>
          <a:prstGeom prst="rect">
            <a:avLst/>
          </a:prstGeom>
          <a:noFill/>
        </p:spPr>
        <p:txBody>
          <a:bodyPr wrap="square">
            <a:spAutoFit/>
          </a:bodyPr>
          <a:lstStyle/>
          <a:p>
            <a:pPr algn="l">
              <a:defRPr sz="900" b="0">
                <a:solidFill>
                  <a:srgbClr val="BBBBDD"/>
                </a:solidFill>
                <a:latin typeface="Calibri"/>
              </a:defRPr>
            </a:pPr>
            <a:r>
              <a:t>Comprehensive PDF with verified credentials, checklist status, attestation responses, and flagged items</a:t>
            </a:r>
          </a:p>
        </p:txBody>
      </p:sp>
      <p:sp>
        <p:nvSpPr>
          <p:cNvPr id="34" name="TextBox 33"/>
          <p:cNvSpPr txBox="1"/>
          <p:nvPr/>
        </p:nvSpPr>
        <p:spPr>
          <a:xfrm>
            <a:off x="4572000" y="5486400"/>
            <a:ext cx="1645920" cy="182880"/>
          </a:xfrm>
          <a:prstGeom prst="rect">
            <a:avLst/>
          </a:prstGeom>
          <a:noFill/>
        </p:spPr>
        <p:txBody>
          <a:bodyPr wrap="square">
            <a:spAutoFit/>
          </a:bodyPr>
          <a:lstStyle/>
          <a:p>
            <a:pPr algn="l">
              <a:defRPr sz="1100" b="1">
                <a:solidFill>
                  <a:srgbClr val="00A3E0"/>
                </a:solidFill>
                <a:latin typeface="Calibri"/>
              </a:defRPr>
            </a:pPr>
            <a:r>
              <a:t>Committee Agenda</a:t>
            </a:r>
          </a:p>
        </p:txBody>
      </p:sp>
      <p:sp>
        <p:nvSpPr>
          <p:cNvPr id="35" name="TextBox 34"/>
          <p:cNvSpPr txBox="1"/>
          <p:nvPr/>
        </p:nvSpPr>
        <p:spPr>
          <a:xfrm>
            <a:off x="4572000" y="5715000"/>
            <a:ext cx="3200400" cy="365760"/>
          </a:xfrm>
          <a:prstGeom prst="rect">
            <a:avLst/>
          </a:prstGeom>
          <a:noFill/>
        </p:spPr>
        <p:txBody>
          <a:bodyPr wrap="square">
            <a:spAutoFit/>
          </a:bodyPr>
          <a:lstStyle/>
          <a:p>
            <a:pPr algn="l">
              <a:defRPr sz="900" b="0">
                <a:solidFill>
                  <a:srgbClr val="BBBBDD"/>
                </a:solidFill>
                <a:latin typeface="Calibri"/>
              </a:defRPr>
            </a:pPr>
            <a:r>
              <a:t>Session-level PDF listing all providers under review with condensed credential summaries</a:t>
            </a:r>
          </a:p>
        </p:txBody>
      </p:sp>
      <p:sp>
        <p:nvSpPr>
          <p:cNvPr id="36" name="TextBox 35"/>
          <p:cNvSpPr txBox="1"/>
          <p:nvPr/>
        </p:nvSpPr>
        <p:spPr>
          <a:xfrm>
            <a:off x="8138160" y="5486400"/>
            <a:ext cx="1645920" cy="182880"/>
          </a:xfrm>
          <a:prstGeom prst="rect">
            <a:avLst/>
          </a:prstGeom>
          <a:noFill/>
        </p:spPr>
        <p:txBody>
          <a:bodyPr wrap="square">
            <a:spAutoFit/>
          </a:bodyPr>
          <a:lstStyle/>
          <a:p>
            <a:pPr algn="l">
              <a:defRPr sz="1100" b="1">
                <a:solidFill>
                  <a:srgbClr val="00A3E0"/>
                </a:solidFill>
                <a:latin typeface="Calibri"/>
              </a:defRPr>
            </a:pPr>
            <a:r>
              <a:t>Audit Trail</a:t>
            </a:r>
          </a:p>
        </p:txBody>
      </p:sp>
      <p:sp>
        <p:nvSpPr>
          <p:cNvPr id="37" name="TextBox 36"/>
          <p:cNvSpPr txBox="1"/>
          <p:nvPr/>
        </p:nvSpPr>
        <p:spPr>
          <a:xfrm>
            <a:off x="8138160" y="5715000"/>
            <a:ext cx="3200400" cy="365760"/>
          </a:xfrm>
          <a:prstGeom prst="rect">
            <a:avLst/>
          </a:prstGeom>
          <a:noFill/>
        </p:spPr>
        <p:txBody>
          <a:bodyPr wrap="square">
            <a:spAutoFit/>
          </a:bodyPr>
          <a:lstStyle/>
          <a:p>
            <a:pPr algn="l">
              <a:defRPr sz="900" b="0">
                <a:solidFill>
                  <a:srgbClr val="BBBBDD"/>
                </a:solidFill>
                <a:latin typeface="Calibri"/>
              </a:defRPr>
            </a:pPr>
            <a:r>
              <a:t>Every decision (approve/deny/defer) logged with committee member name, timestamp, and reason</a:t>
            </a:r>
          </a:p>
        </p:txBody>
      </p:sp>
      <p:sp>
        <p:nvSpPr>
          <p:cNvPr id="38" name="TextBox 37"/>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ADDITIONAL MODULES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600" b="1">
                <a:solidFill>
                  <a:srgbClr val="1A1A2E"/>
                </a:solidFill>
                <a:latin typeface="Calibri"/>
              </a:defRPr>
            </a:pPr>
            <a:r>
              <a:t>Sanctions, NPDB, Medicaid &amp; Hospital Privileges</a:t>
            </a:r>
          </a:p>
        </p:txBody>
      </p:sp>
      <p:sp>
        <p:nvSpPr>
          <p:cNvPr id="4" name="Rounded Rectangle 3"/>
          <p:cNvSpPr/>
          <p:nvPr/>
        </p:nvSpPr>
        <p:spPr>
          <a:xfrm>
            <a:off x="731520" y="1463040"/>
            <a:ext cx="53035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54864" cy="237744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72768"/>
            <a:ext cx="4754880" cy="274320"/>
          </a:xfrm>
          <a:prstGeom prst="rect">
            <a:avLst/>
          </a:prstGeom>
          <a:noFill/>
        </p:spPr>
        <p:txBody>
          <a:bodyPr wrap="square">
            <a:spAutoFit/>
          </a:bodyPr>
          <a:lstStyle/>
          <a:p>
            <a:pPr algn="l">
              <a:defRPr sz="1400" b="1">
                <a:solidFill>
                  <a:srgbClr val="E63946"/>
                </a:solidFill>
                <a:latin typeface="Calibri"/>
              </a:defRPr>
            </a:pPr>
            <a:r>
              <a:t>Sanctions Checking (OIG &amp; SAM.gov)</a:t>
            </a:r>
          </a:p>
        </p:txBody>
      </p:sp>
      <p:sp>
        <p:nvSpPr>
          <p:cNvPr id="7" name="TextBox 6"/>
          <p:cNvSpPr txBox="1"/>
          <p:nvPr/>
        </p:nvSpPr>
        <p:spPr>
          <a:xfrm>
            <a:off x="1005840" y="1901952"/>
            <a:ext cx="4754880" cy="228600"/>
          </a:xfrm>
          <a:prstGeom prst="rect">
            <a:avLst/>
          </a:prstGeom>
          <a:noFill/>
        </p:spPr>
        <p:txBody>
          <a:bodyPr wrap="square">
            <a:spAutoFit/>
          </a:bodyPr>
          <a:lstStyle/>
          <a:p>
            <a:pPr algn="l">
              <a:defRPr sz="1000" b="0">
                <a:solidFill>
                  <a:srgbClr val="1A1A2E"/>
                </a:solidFill>
                <a:latin typeface="Calibri"/>
              </a:defRPr>
            </a:pPr>
            <a:r>
              <a:t>•  OIG checks the List of Excluded Individuals/Entities (LEIE)</a:t>
            </a:r>
          </a:p>
        </p:txBody>
      </p:sp>
      <p:sp>
        <p:nvSpPr>
          <p:cNvPr id="8" name="TextBox 7"/>
          <p:cNvSpPr txBox="1"/>
          <p:nvPr/>
        </p:nvSpPr>
        <p:spPr>
          <a:xfrm>
            <a:off x="1005840" y="2157984"/>
            <a:ext cx="4754880" cy="228600"/>
          </a:xfrm>
          <a:prstGeom prst="rect">
            <a:avLst/>
          </a:prstGeom>
          <a:noFill/>
        </p:spPr>
        <p:txBody>
          <a:bodyPr wrap="square">
            <a:spAutoFit/>
          </a:bodyPr>
          <a:lstStyle/>
          <a:p>
            <a:pPr algn="l">
              <a:defRPr sz="1000" b="0">
                <a:solidFill>
                  <a:srgbClr val="1A1A2E"/>
                </a:solidFill>
                <a:latin typeface="Calibri"/>
              </a:defRPr>
            </a:pPr>
            <a:r>
              <a:t>•  SAM.gov checks federal debarment and suspension</a:t>
            </a:r>
          </a:p>
        </p:txBody>
      </p:sp>
      <p:sp>
        <p:nvSpPr>
          <p:cNvPr id="9" name="TextBox 8"/>
          <p:cNvSpPr txBox="1"/>
          <p:nvPr/>
        </p:nvSpPr>
        <p:spPr>
          <a:xfrm>
            <a:off x="1005840" y="2414016"/>
            <a:ext cx="4754880" cy="228600"/>
          </a:xfrm>
          <a:prstGeom prst="rect">
            <a:avLst/>
          </a:prstGeom>
          <a:noFill/>
        </p:spPr>
        <p:txBody>
          <a:bodyPr wrap="square">
            <a:spAutoFit/>
          </a:bodyPr>
          <a:lstStyle/>
          <a:p>
            <a:pPr algn="l">
              <a:defRPr sz="1000" b="0">
                <a:solidFill>
                  <a:srgbClr val="1A1A2E"/>
                </a:solidFill>
                <a:latin typeface="Calibri"/>
              </a:defRPr>
            </a:pPr>
            <a:r>
              <a:t>•  Runs automatically on pipeline entry + monthly for all providers</a:t>
            </a:r>
          </a:p>
        </p:txBody>
      </p:sp>
      <p:sp>
        <p:nvSpPr>
          <p:cNvPr id="10" name="TextBox 9"/>
          <p:cNvSpPr txBox="1"/>
          <p:nvPr/>
        </p:nvSpPr>
        <p:spPr>
          <a:xfrm>
            <a:off x="1005840" y="2670048"/>
            <a:ext cx="4754880" cy="228600"/>
          </a:xfrm>
          <a:prstGeom prst="rect">
            <a:avLst/>
          </a:prstGeom>
          <a:noFill/>
        </p:spPr>
        <p:txBody>
          <a:bodyPr wrap="square">
            <a:spAutoFit/>
          </a:bodyPr>
          <a:lstStyle/>
          <a:p>
            <a:pPr algn="l">
              <a:defRPr sz="1000" b="0">
                <a:solidFill>
                  <a:srgbClr val="1A1A2E"/>
                </a:solidFill>
                <a:latin typeface="Calibri"/>
              </a:defRPr>
            </a:pPr>
            <a:r>
              <a:t>•  On-demand checks triggered by any staff member</a:t>
            </a:r>
          </a:p>
        </p:txBody>
      </p:sp>
      <p:sp>
        <p:nvSpPr>
          <p:cNvPr id="11" name="TextBox 10"/>
          <p:cNvSpPr txBox="1"/>
          <p:nvPr/>
        </p:nvSpPr>
        <p:spPr>
          <a:xfrm>
            <a:off x="1005840" y="2926080"/>
            <a:ext cx="4754880" cy="228600"/>
          </a:xfrm>
          <a:prstGeom prst="rect">
            <a:avLst/>
          </a:prstGeom>
          <a:noFill/>
        </p:spPr>
        <p:txBody>
          <a:bodyPr wrap="square">
            <a:spAutoFit/>
          </a:bodyPr>
          <a:lstStyle/>
          <a:p>
            <a:pPr algn="l">
              <a:defRPr sz="1000" b="0">
                <a:solidFill>
                  <a:srgbClr val="1A1A2E"/>
                </a:solidFill>
                <a:latin typeface="Calibri"/>
              </a:defRPr>
            </a:pPr>
            <a:r>
              <a:t>•  HARD STOP if exclusion found — provider cannot be approved</a:t>
            </a:r>
          </a:p>
        </p:txBody>
      </p:sp>
      <p:sp>
        <p:nvSpPr>
          <p:cNvPr id="12" name="TextBox 11"/>
          <p:cNvSpPr txBox="1"/>
          <p:nvPr/>
        </p:nvSpPr>
        <p:spPr>
          <a:xfrm>
            <a:off x="1005840" y="3182112"/>
            <a:ext cx="4754880" cy="228600"/>
          </a:xfrm>
          <a:prstGeom prst="rect">
            <a:avLst/>
          </a:prstGeom>
          <a:noFill/>
        </p:spPr>
        <p:txBody>
          <a:bodyPr wrap="square">
            <a:spAutoFit/>
          </a:bodyPr>
          <a:lstStyle/>
          <a:p>
            <a:pPr algn="l">
              <a:defRPr sz="1000" b="0">
                <a:solidFill>
                  <a:srgbClr val="1A1A2E"/>
                </a:solidFill>
                <a:latin typeface="Calibri"/>
              </a:defRPr>
            </a:pPr>
            <a:r>
              <a:t>•  Credentialing Manager alerted immediately</a:t>
            </a:r>
          </a:p>
        </p:txBody>
      </p:sp>
      <p:sp>
        <p:nvSpPr>
          <p:cNvPr id="13" name="TextBox 12"/>
          <p:cNvSpPr txBox="1"/>
          <p:nvPr/>
        </p:nvSpPr>
        <p:spPr>
          <a:xfrm>
            <a:off x="1005840" y="3438144"/>
            <a:ext cx="4754880" cy="228600"/>
          </a:xfrm>
          <a:prstGeom prst="rect">
            <a:avLst/>
          </a:prstGeom>
          <a:noFill/>
        </p:spPr>
        <p:txBody>
          <a:bodyPr wrap="square">
            <a:spAutoFit/>
          </a:bodyPr>
          <a:lstStyle/>
          <a:p>
            <a:pPr algn="l">
              <a:defRPr sz="1000" b="0">
                <a:solidFill>
                  <a:srgbClr val="1A1A2E"/>
                </a:solidFill>
                <a:latin typeface="Calibri"/>
              </a:defRPr>
            </a:pPr>
            <a:r>
              <a:t>•  Must be reviewed: confirmed (deny) or cleared (false positive)</a:t>
            </a:r>
          </a:p>
        </p:txBody>
      </p:sp>
      <p:sp>
        <p:nvSpPr>
          <p:cNvPr id="14" name="Rounded Rectangle 13"/>
          <p:cNvSpPr/>
          <p:nvPr/>
        </p:nvSpPr>
        <p:spPr>
          <a:xfrm>
            <a:off x="6400800" y="1463040"/>
            <a:ext cx="53035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463040"/>
            <a:ext cx="54864" cy="237744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572768"/>
            <a:ext cx="4754880" cy="274320"/>
          </a:xfrm>
          <a:prstGeom prst="rect">
            <a:avLst/>
          </a:prstGeom>
          <a:noFill/>
        </p:spPr>
        <p:txBody>
          <a:bodyPr wrap="square">
            <a:spAutoFit/>
          </a:bodyPr>
          <a:lstStyle/>
          <a:p>
            <a:pPr algn="l">
              <a:defRPr sz="1400" b="1">
                <a:solidFill>
                  <a:srgbClr val="F4A261"/>
                </a:solidFill>
                <a:latin typeface="Calibri"/>
              </a:defRPr>
            </a:pPr>
            <a:r>
              <a:t>NPDB (National Practitioner Data Bank)</a:t>
            </a:r>
          </a:p>
        </p:txBody>
      </p:sp>
      <p:sp>
        <p:nvSpPr>
          <p:cNvPr id="17" name="TextBox 16"/>
          <p:cNvSpPr txBox="1"/>
          <p:nvPr/>
        </p:nvSpPr>
        <p:spPr>
          <a:xfrm>
            <a:off x="6675120" y="1901952"/>
            <a:ext cx="4754880" cy="228600"/>
          </a:xfrm>
          <a:prstGeom prst="rect">
            <a:avLst/>
          </a:prstGeom>
          <a:noFill/>
        </p:spPr>
        <p:txBody>
          <a:bodyPr wrap="square">
            <a:spAutoFit/>
          </a:bodyPr>
          <a:lstStyle/>
          <a:p>
            <a:pPr algn="l">
              <a:defRPr sz="1000" b="0">
                <a:solidFill>
                  <a:srgbClr val="1A1A2E"/>
                </a:solidFill>
                <a:latin typeface="Calibri"/>
              </a:defRPr>
            </a:pPr>
            <a:r>
              <a:t>•  Checks for malpractice payments and adverse actions</a:t>
            </a:r>
          </a:p>
        </p:txBody>
      </p:sp>
      <p:sp>
        <p:nvSpPr>
          <p:cNvPr id="18" name="TextBox 17"/>
          <p:cNvSpPr txBox="1"/>
          <p:nvPr/>
        </p:nvSpPr>
        <p:spPr>
          <a:xfrm>
            <a:off x="6675120" y="2157984"/>
            <a:ext cx="4754880" cy="228600"/>
          </a:xfrm>
          <a:prstGeom prst="rect">
            <a:avLst/>
          </a:prstGeom>
          <a:noFill/>
        </p:spPr>
        <p:txBody>
          <a:bodyPr wrap="square">
            <a:spAutoFit/>
          </a:bodyPr>
          <a:lstStyle/>
          <a:p>
            <a:pPr algn="l">
              <a:defRPr sz="1000" b="0">
                <a:solidFill>
                  <a:srgbClr val="1A1A2E"/>
                </a:solidFill>
                <a:latin typeface="Calibri"/>
              </a:defRPr>
            </a:pPr>
            <a:r>
              <a:t>•  Initial query during PSV process for every provider</a:t>
            </a:r>
          </a:p>
        </p:txBody>
      </p:sp>
      <p:sp>
        <p:nvSpPr>
          <p:cNvPr id="19" name="TextBox 18"/>
          <p:cNvSpPr txBox="1"/>
          <p:nvPr/>
        </p:nvSpPr>
        <p:spPr>
          <a:xfrm>
            <a:off x="6675120" y="2414016"/>
            <a:ext cx="4754880" cy="228600"/>
          </a:xfrm>
          <a:prstGeom prst="rect">
            <a:avLst/>
          </a:prstGeom>
          <a:noFill/>
        </p:spPr>
        <p:txBody>
          <a:bodyPr wrap="square">
            <a:spAutoFit/>
          </a:bodyPr>
          <a:lstStyle/>
          <a:p>
            <a:pPr algn="l">
              <a:defRPr sz="1000" b="0">
                <a:solidFill>
                  <a:srgbClr val="1A1A2E"/>
                </a:solidFill>
                <a:latin typeface="Calibri"/>
              </a:defRPr>
            </a:pPr>
            <a:r>
              <a:t>•  Continuous query enrollment for ongoing monitoring</a:t>
            </a:r>
          </a:p>
        </p:txBody>
      </p:sp>
      <p:sp>
        <p:nvSpPr>
          <p:cNvPr id="20" name="TextBox 19"/>
          <p:cNvSpPr txBox="1"/>
          <p:nvPr/>
        </p:nvSpPr>
        <p:spPr>
          <a:xfrm>
            <a:off x="6675120" y="2670048"/>
            <a:ext cx="4754880" cy="228600"/>
          </a:xfrm>
          <a:prstGeom prst="rect">
            <a:avLst/>
          </a:prstGeom>
          <a:noFill/>
        </p:spPr>
        <p:txBody>
          <a:bodyPr wrap="square">
            <a:spAutoFit/>
          </a:bodyPr>
          <a:lstStyle/>
          <a:p>
            <a:pPr algn="l">
              <a:defRPr sz="1000" b="0">
                <a:solidFill>
                  <a:srgbClr val="1A1A2E"/>
                </a:solidFill>
                <a:latin typeface="Calibri"/>
              </a:defRPr>
            </a:pPr>
            <a:r>
              <a:t>•  Results RESTRICTED to Managers and Admins only</a:t>
            </a:r>
          </a:p>
        </p:txBody>
      </p:sp>
      <p:sp>
        <p:nvSpPr>
          <p:cNvPr id="21" name="TextBox 20"/>
          <p:cNvSpPr txBox="1"/>
          <p:nvPr/>
        </p:nvSpPr>
        <p:spPr>
          <a:xfrm>
            <a:off x="6675120" y="2926080"/>
            <a:ext cx="4754880" cy="228600"/>
          </a:xfrm>
          <a:prstGeom prst="rect">
            <a:avLst/>
          </a:prstGeom>
          <a:noFill/>
        </p:spPr>
        <p:txBody>
          <a:bodyPr wrap="square">
            <a:spAutoFit/>
          </a:bodyPr>
          <a:lstStyle/>
          <a:p>
            <a:pPr algn="l">
              <a:defRPr sz="1000" b="0">
                <a:solidFill>
                  <a:srgbClr val="1A1A2E"/>
                </a:solidFill>
                <a:latin typeface="Calibri"/>
              </a:defRPr>
            </a:pPr>
            <a:r>
              <a:t>•  Legal requirement: 45 CFR Part 60 confidentiality</a:t>
            </a:r>
          </a:p>
        </p:txBody>
      </p:sp>
      <p:sp>
        <p:nvSpPr>
          <p:cNvPr id="22" name="TextBox 21"/>
          <p:cNvSpPr txBox="1"/>
          <p:nvPr/>
        </p:nvSpPr>
        <p:spPr>
          <a:xfrm>
            <a:off x="6675120" y="3182112"/>
            <a:ext cx="4754880" cy="228600"/>
          </a:xfrm>
          <a:prstGeom prst="rect">
            <a:avLst/>
          </a:prstGeom>
          <a:noFill/>
        </p:spPr>
        <p:txBody>
          <a:bodyPr wrap="square">
            <a:spAutoFit/>
          </a:bodyPr>
          <a:lstStyle/>
          <a:p>
            <a:pPr algn="l">
              <a:defRPr sz="1000" b="0">
                <a:solidFill>
                  <a:srgbClr val="1A1A2E"/>
                </a:solidFill>
                <a:latin typeface="Calibri"/>
              </a:defRPr>
            </a:pPr>
            <a:r>
              <a:t>•  Adverse reports block committee advancement until reviewed</a:t>
            </a:r>
          </a:p>
        </p:txBody>
      </p:sp>
      <p:sp>
        <p:nvSpPr>
          <p:cNvPr id="23" name="TextBox 22"/>
          <p:cNvSpPr txBox="1"/>
          <p:nvPr/>
        </p:nvSpPr>
        <p:spPr>
          <a:xfrm>
            <a:off x="6675120" y="3438144"/>
            <a:ext cx="4754880" cy="228600"/>
          </a:xfrm>
          <a:prstGeom prst="rect">
            <a:avLst/>
          </a:prstGeom>
          <a:noFill/>
        </p:spPr>
        <p:txBody>
          <a:bodyPr wrap="square">
            <a:spAutoFit/>
          </a:bodyPr>
          <a:lstStyle/>
          <a:p>
            <a:pPr algn="l">
              <a:defRPr sz="1000" b="0">
                <a:solidFill>
                  <a:srgbClr val="1A1A2E"/>
                </a:solidFill>
                <a:latin typeface="Calibri"/>
              </a:defRPr>
            </a:pPr>
            <a:r>
              <a:t>•  Manager must acknowledge and document findings</a:t>
            </a:r>
          </a:p>
        </p:txBody>
      </p:sp>
      <p:sp>
        <p:nvSpPr>
          <p:cNvPr id="24" name="Rounded Rectangle 23"/>
          <p:cNvSpPr/>
          <p:nvPr/>
        </p:nvSpPr>
        <p:spPr>
          <a:xfrm>
            <a:off x="731520" y="4023360"/>
            <a:ext cx="53035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023360"/>
            <a:ext cx="54864" cy="237744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133088"/>
            <a:ext cx="4754880" cy="274320"/>
          </a:xfrm>
          <a:prstGeom prst="rect">
            <a:avLst/>
          </a:prstGeom>
          <a:noFill/>
        </p:spPr>
        <p:txBody>
          <a:bodyPr wrap="square">
            <a:spAutoFit/>
          </a:bodyPr>
          <a:lstStyle/>
          <a:p>
            <a:pPr algn="l">
              <a:defRPr sz="1400" b="1">
                <a:solidFill>
                  <a:srgbClr val="00A3E0"/>
                </a:solidFill>
                <a:latin typeface="Calibri"/>
              </a:defRPr>
            </a:pPr>
            <a:r>
              <a:t>NY Medicaid &amp; ETIN Enrollment</a:t>
            </a:r>
          </a:p>
        </p:txBody>
      </p:sp>
      <p:sp>
        <p:nvSpPr>
          <p:cNvPr id="27" name="TextBox 26"/>
          <p:cNvSpPr txBox="1"/>
          <p:nvPr/>
        </p:nvSpPr>
        <p:spPr>
          <a:xfrm>
            <a:off x="1005840" y="4462272"/>
            <a:ext cx="4754880" cy="228600"/>
          </a:xfrm>
          <a:prstGeom prst="rect">
            <a:avLst/>
          </a:prstGeom>
          <a:noFill/>
        </p:spPr>
        <p:txBody>
          <a:bodyPr wrap="square">
            <a:spAutoFit/>
          </a:bodyPr>
          <a:lstStyle/>
          <a:p>
            <a:pPr algn="l">
              <a:defRPr sz="1000" b="0">
                <a:solidFill>
                  <a:srgbClr val="1A1A2E"/>
                </a:solidFill>
                <a:latin typeface="Calibri"/>
              </a:defRPr>
            </a:pPr>
            <a:r>
              <a:t>•  Manages enrollment via eMedNY system</a:t>
            </a:r>
          </a:p>
        </p:txBody>
      </p:sp>
      <p:sp>
        <p:nvSpPr>
          <p:cNvPr id="28" name="TextBox 27"/>
          <p:cNvSpPr txBox="1"/>
          <p:nvPr/>
        </p:nvSpPr>
        <p:spPr>
          <a:xfrm>
            <a:off x="1005840" y="4718304"/>
            <a:ext cx="4754880" cy="228600"/>
          </a:xfrm>
          <a:prstGeom prst="rect">
            <a:avLst/>
          </a:prstGeom>
          <a:noFill/>
        </p:spPr>
        <p:txBody>
          <a:bodyPr wrap="square">
            <a:spAutoFit/>
          </a:bodyPr>
          <a:lstStyle/>
          <a:p>
            <a:pPr algn="l">
              <a:defRPr sz="1000" b="0">
                <a:solidFill>
                  <a:srgbClr val="1A1A2E"/>
                </a:solidFill>
                <a:latin typeface="Calibri"/>
              </a:defRPr>
            </a:pPr>
            <a:r>
              <a:t>•  Navigate to Medicaid in sidebar, click + New Enrollment</a:t>
            </a:r>
          </a:p>
        </p:txBody>
      </p:sp>
      <p:sp>
        <p:nvSpPr>
          <p:cNvPr id="29" name="TextBox 28"/>
          <p:cNvSpPr txBox="1"/>
          <p:nvPr/>
        </p:nvSpPr>
        <p:spPr>
          <a:xfrm>
            <a:off x="1005840" y="4974336"/>
            <a:ext cx="4754880" cy="228600"/>
          </a:xfrm>
          <a:prstGeom prst="rect">
            <a:avLst/>
          </a:prstGeom>
          <a:noFill/>
        </p:spPr>
        <p:txBody>
          <a:bodyPr wrap="square">
            <a:spAutoFit/>
          </a:bodyPr>
          <a:lstStyle/>
          <a:p>
            <a:pPr algn="l">
              <a:defRPr sz="1000" b="0">
                <a:solidFill>
                  <a:srgbClr val="1A1A2E"/>
                </a:solidFill>
                <a:latin typeface="Calibri"/>
              </a:defRPr>
            </a:pPr>
            <a:r>
              <a:t>•  Status flow: Pending → In Process → Enrolled → Revalidation Due</a:t>
            </a:r>
          </a:p>
        </p:txBody>
      </p:sp>
      <p:sp>
        <p:nvSpPr>
          <p:cNvPr id="30" name="TextBox 29"/>
          <p:cNvSpPr txBox="1"/>
          <p:nvPr/>
        </p:nvSpPr>
        <p:spPr>
          <a:xfrm>
            <a:off x="1005840" y="5230368"/>
            <a:ext cx="4754880" cy="228600"/>
          </a:xfrm>
          <a:prstGeom prst="rect">
            <a:avLst/>
          </a:prstGeom>
          <a:noFill/>
        </p:spPr>
        <p:txBody>
          <a:bodyPr wrap="square">
            <a:spAutoFit/>
          </a:bodyPr>
          <a:lstStyle/>
          <a:p>
            <a:pPr algn="l">
              <a:defRPr sz="1000" b="0">
                <a:solidFill>
                  <a:srgbClr val="1A1A2E"/>
                </a:solidFill>
                <a:latin typeface="Calibri"/>
              </a:defRPr>
            </a:pPr>
            <a:r>
              <a:t>•  ETIN (Enrollment Tracking ID Number) recorded on profile</a:t>
            </a:r>
          </a:p>
        </p:txBody>
      </p:sp>
      <p:sp>
        <p:nvSpPr>
          <p:cNvPr id="31" name="TextBox 30"/>
          <p:cNvSpPr txBox="1"/>
          <p:nvPr/>
        </p:nvSpPr>
        <p:spPr>
          <a:xfrm>
            <a:off x="1005840" y="5486400"/>
            <a:ext cx="4754880" cy="228600"/>
          </a:xfrm>
          <a:prstGeom prst="rect">
            <a:avLst/>
          </a:prstGeom>
          <a:noFill/>
        </p:spPr>
        <p:txBody>
          <a:bodyPr wrap="square">
            <a:spAutoFit/>
          </a:bodyPr>
          <a:lstStyle/>
          <a:p>
            <a:pPr algn="l">
              <a:defRPr sz="1000" b="0">
                <a:solidFill>
                  <a:srgbClr val="1A1A2E"/>
                </a:solidFill>
                <a:latin typeface="Calibri"/>
              </a:defRPr>
            </a:pPr>
            <a:r>
              <a:t>•  Bot-assisted submission via eMedNY portal</a:t>
            </a:r>
          </a:p>
        </p:txBody>
      </p:sp>
      <p:sp>
        <p:nvSpPr>
          <p:cNvPr id="32" name="TextBox 31"/>
          <p:cNvSpPr txBox="1"/>
          <p:nvPr/>
        </p:nvSpPr>
        <p:spPr>
          <a:xfrm>
            <a:off x="1005840" y="5742432"/>
            <a:ext cx="4754880" cy="228600"/>
          </a:xfrm>
          <a:prstGeom prst="rect">
            <a:avLst/>
          </a:prstGeom>
          <a:noFill/>
        </p:spPr>
        <p:txBody>
          <a:bodyPr wrap="square">
            <a:spAutoFit/>
          </a:bodyPr>
          <a:lstStyle/>
          <a:p>
            <a:pPr algn="l">
              <a:defRPr sz="1000" b="0">
                <a:solidFill>
                  <a:srgbClr val="1A1A2E"/>
                </a:solidFill>
                <a:latin typeface="Calibri"/>
              </a:defRPr>
            </a:pPr>
            <a:r>
              <a:t>•  Revalidation dates tracked as expirables (5-year cycle)</a:t>
            </a:r>
          </a:p>
        </p:txBody>
      </p:sp>
      <p:sp>
        <p:nvSpPr>
          <p:cNvPr id="33" name="TextBox 32"/>
          <p:cNvSpPr txBox="1"/>
          <p:nvPr/>
        </p:nvSpPr>
        <p:spPr>
          <a:xfrm>
            <a:off x="1005840" y="5998464"/>
            <a:ext cx="4754880" cy="228600"/>
          </a:xfrm>
          <a:prstGeom prst="rect">
            <a:avLst/>
          </a:prstGeom>
          <a:noFill/>
        </p:spPr>
        <p:txBody>
          <a:bodyPr wrap="square">
            <a:spAutoFit/>
          </a:bodyPr>
          <a:lstStyle/>
          <a:p>
            <a:pPr algn="l">
              <a:defRPr sz="1000" b="0">
                <a:solidFill>
                  <a:srgbClr val="1A1A2E"/>
                </a:solidFill>
                <a:latin typeface="Calibri"/>
              </a:defRPr>
            </a:pPr>
            <a:r>
              <a:t>•  Alerts sent before revalidation deadline</a:t>
            </a:r>
          </a:p>
        </p:txBody>
      </p:sp>
      <p:sp>
        <p:nvSpPr>
          <p:cNvPr id="34" name="Rounded Rectangle 33"/>
          <p:cNvSpPr/>
          <p:nvPr/>
        </p:nvSpPr>
        <p:spPr>
          <a:xfrm>
            <a:off x="6400800" y="4023360"/>
            <a:ext cx="530352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4023360"/>
            <a:ext cx="54864" cy="237744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0" y="4133088"/>
            <a:ext cx="4754880" cy="274320"/>
          </a:xfrm>
          <a:prstGeom prst="rect">
            <a:avLst/>
          </a:prstGeom>
          <a:noFill/>
        </p:spPr>
        <p:txBody>
          <a:bodyPr wrap="square">
            <a:spAutoFit/>
          </a:bodyPr>
          <a:lstStyle/>
          <a:p>
            <a:pPr algn="l">
              <a:defRPr sz="1400" b="1">
                <a:solidFill>
                  <a:srgbClr val="00B67A"/>
                </a:solidFill>
                <a:latin typeface="Calibri"/>
              </a:defRPr>
            </a:pPr>
            <a:r>
              <a:t>Hospital Privileges</a:t>
            </a:r>
          </a:p>
        </p:txBody>
      </p:sp>
      <p:sp>
        <p:nvSpPr>
          <p:cNvPr id="37" name="TextBox 36"/>
          <p:cNvSpPr txBox="1"/>
          <p:nvPr/>
        </p:nvSpPr>
        <p:spPr>
          <a:xfrm>
            <a:off x="6675120" y="4462272"/>
            <a:ext cx="4754880" cy="228600"/>
          </a:xfrm>
          <a:prstGeom prst="rect">
            <a:avLst/>
          </a:prstGeom>
          <a:noFill/>
        </p:spPr>
        <p:txBody>
          <a:bodyPr wrap="square">
            <a:spAutoFit/>
          </a:bodyPr>
          <a:lstStyle/>
          <a:p>
            <a:pPr algn="l">
              <a:defRPr sz="1000" b="0">
                <a:solidFill>
                  <a:srgbClr val="1A1A2E"/>
                </a:solidFill>
                <a:latin typeface="Calibri"/>
              </a:defRPr>
            </a:pPr>
            <a:r>
              <a:t>•  Track privilege applications at all facilities</a:t>
            </a:r>
          </a:p>
        </p:txBody>
      </p:sp>
      <p:sp>
        <p:nvSpPr>
          <p:cNvPr id="38" name="TextBox 37"/>
          <p:cNvSpPr txBox="1"/>
          <p:nvPr/>
        </p:nvSpPr>
        <p:spPr>
          <a:xfrm>
            <a:off x="6675120" y="4718304"/>
            <a:ext cx="4754880" cy="228600"/>
          </a:xfrm>
          <a:prstGeom prst="rect">
            <a:avLst/>
          </a:prstGeom>
          <a:noFill/>
        </p:spPr>
        <p:txBody>
          <a:bodyPr wrap="square">
            <a:spAutoFit/>
          </a:bodyPr>
          <a:lstStyle/>
          <a:p>
            <a:pPr algn="l">
              <a:defRPr sz="1000" b="0">
                <a:solidFill>
                  <a:srgbClr val="1A1A2E"/>
                </a:solidFill>
                <a:latin typeface="Calibri"/>
              </a:defRPr>
            </a:pPr>
            <a:r>
              <a:t>•  Go to provider detail → Hospital Privileges section</a:t>
            </a:r>
          </a:p>
        </p:txBody>
      </p:sp>
      <p:sp>
        <p:nvSpPr>
          <p:cNvPr id="39" name="TextBox 38"/>
          <p:cNvSpPr txBox="1"/>
          <p:nvPr/>
        </p:nvSpPr>
        <p:spPr>
          <a:xfrm>
            <a:off x="6675120" y="4974336"/>
            <a:ext cx="4754880" cy="228600"/>
          </a:xfrm>
          <a:prstGeom prst="rect">
            <a:avLst/>
          </a:prstGeom>
          <a:noFill/>
        </p:spPr>
        <p:txBody>
          <a:bodyPr wrap="square">
            <a:spAutoFit/>
          </a:bodyPr>
          <a:lstStyle/>
          <a:p>
            <a:pPr algn="l">
              <a:defRPr sz="1000" b="0">
                <a:solidFill>
                  <a:srgbClr val="1A1A2E"/>
                </a:solidFill>
                <a:latin typeface="Calibri"/>
              </a:defRPr>
            </a:pPr>
            <a:r>
              <a:t>•  Click + Add Privilege: facility, type, dates, status</a:t>
            </a:r>
          </a:p>
        </p:txBody>
      </p:sp>
      <p:sp>
        <p:nvSpPr>
          <p:cNvPr id="40" name="TextBox 39"/>
          <p:cNvSpPr txBox="1"/>
          <p:nvPr/>
        </p:nvSpPr>
        <p:spPr>
          <a:xfrm>
            <a:off x="6675120" y="5230368"/>
            <a:ext cx="4754880" cy="228600"/>
          </a:xfrm>
          <a:prstGeom prst="rect">
            <a:avLst/>
          </a:prstGeom>
          <a:noFill/>
        </p:spPr>
        <p:txBody>
          <a:bodyPr wrap="square">
            <a:spAutoFit/>
          </a:bodyPr>
          <a:lstStyle/>
          <a:p>
            <a:pPr algn="l">
              <a:defRPr sz="1000" b="0">
                <a:solidFill>
                  <a:srgbClr val="1A1A2E"/>
                </a:solidFill>
                <a:latin typeface="Calibri"/>
              </a:defRPr>
            </a:pPr>
            <a:r>
              <a:t>•  Status flow: Applied → Pending Review → Approved</a:t>
            </a:r>
          </a:p>
        </p:txBody>
      </p:sp>
      <p:sp>
        <p:nvSpPr>
          <p:cNvPr id="41" name="TextBox 40"/>
          <p:cNvSpPr txBox="1"/>
          <p:nvPr/>
        </p:nvSpPr>
        <p:spPr>
          <a:xfrm>
            <a:off x="6675120" y="5486400"/>
            <a:ext cx="4754880" cy="228600"/>
          </a:xfrm>
          <a:prstGeom prst="rect">
            <a:avLst/>
          </a:prstGeom>
          <a:noFill/>
        </p:spPr>
        <p:txBody>
          <a:bodyPr wrap="square">
            <a:spAutoFit/>
          </a:bodyPr>
          <a:lstStyle/>
          <a:p>
            <a:pPr algn="l">
              <a:defRPr sz="1000" b="0">
                <a:solidFill>
                  <a:srgbClr val="1A1A2E"/>
                </a:solidFill>
                <a:latin typeface="Calibri"/>
              </a:defRPr>
            </a:pPr>
            <a:r>
              <a:t>•  Appointment/re-appointment letters uploaded as documents</a:t>
            </a:r>
          </a:p>
        </p:txBody>
      </p:sp>
      <p:sp>
        <p:nvSpPr>
          <p:cNvPr id="42" name="TextBox 41"/>
          <p:cNvSpPr txBox="1"/>
          <p:nvPr/>
        </p:nvSpPr>
        <p:spPr>
          <a:xfrm>
            <a:off x="6675120" y="5742432"/>
            <a:ext cx="4754880" cy="228600"/>
          </a:xfrm>
          <a:prstGeom prst="rect">
            <a:avLst/>
          </a:prstGeom>
          <a:noFill/>
        </p:spPr>
        <p:txBody>
          <a:bodyPr wrap="square">
            <a:spAutoFit/>
          </a:bodyPr>
          <a:lstStyle/>
          <a:p>
            <a:pPr algn="l">
              <a:defRPr sz="1000" b="0">
                <a:solidFill>
                  <a:srgbClr val="1A1A2E"/>
                </a:solidFill>
                <a:latin typeface="Calibri"/>
              </a:defRPr>
            </a:pPr>
            <a:r>
              <a:t>•  Renewals tracked as expirables (typically 2-year cycle)</a:t>
            </a:r>
          </a:p>
        </p:txBody>
      </p:sp>
      <p:sp>
        <p:nvSpPr>
          <p:cNvPr id="43" name="TextBox 42"/>
          <p:cNvSpPr txBox="1"/>
          <p:nvPr/>
        </p:nvSpPr>
        <p:spPr>
          <a:xfrm>
            <a:off x="6675120" y="5998464"/>
            <a:ext cx="4754880" cy="228600"/>
          </a:xfrm>
          <a:prstGeom prst="rect">
            <a:avLst/>
          </a:prstGeom>
          <a:noFill/>
        </p:spPr>
        <p:txBody>
          <a:bodyPr wrap="square">
            <a:spAutoFit/>
          </a:bodyPr>
          <a:lstStyle/>
          <a:p>
            <a:pPr algn="l">
              <a:defRPr sz="1000" b="0">
                <a:solidFill>
                  <a:srgbClr val="1A1A2E"/>
                </a:solidFill>
                <a:latin typeface="Calibri"/>
              </a:defRPr>
            </a:pPr>
            <a:r>
              <a:t>•  Alerts sent before re-appointment deadline</a:t>
            </a:r>
          </a:p>
        </p:txBody>
      </p:sp>
      <p:sp>
        <p:nvSpPr>
          <p:cNvPr id="44" name="TextBox 43"/>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SYSTEM ADMINISTRATION</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600" b="1">
                <a:solidFill>
                  <a:srgbClr val="1A1A2E"/>
                </a:solidFill>
                <a:latin typeface="Calibri"/>
              </a:defRPr>
            </a:pPr>
            <a:r>
              <a:t>Admin Panel — Users, Configuration &amp; Settings</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555577"/>
                </a:solidFill>
                <a:latin typeface="Calibri"/>
              </a:defRPr>
            </a:pPr>
            <a:r>
              <a:t>Admin role required. These functions manage the platform itself — users, provider types, and system configuration.</a:t>
            </a:r>
          </a:p>
        </p:txBody>
      </p:sp>
      <p:sp>
        <p:nvSpPr>
          <p:cNvPr id="5" name="Rounded Rectangle 4"/>
          <p:cNvSpPr/>
          <p:nvPr/>
        </p:nvSpPr>
        <p:spPr>
          <a:xfrm>
            <a:off x="731520" y="173736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54864" cy="228600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47088"/>
            <a:ext cx="4754880" cy="274320"/>
          </a:xfrm>
          <a:prstGeom prst="rect">
            <a:avLst/>
          </a:prstGeom>
          <a:noFill/>
        </p:spPr>
        <p:txBody>
          <a:bodyPr wrap="square">
            <a:spAutoFit/>
          </a:bodyPr>
          <a:lstStyle/>
          <a:p>
            <a:pPr algn="l">
              <a:defRPr sz="1500" b="1">
                <a:solidFill>
                  <a:srgbClr val="0B3D91"/>
                </a:solidFill>
                <a:latin typeface="Calibri"/>
              </a:defRPr>
            </a:pPr>
            <a:r>
              <a:t>User Management</a:t>
            </a:r>
          </a:p>
        </p:txBody>
      </p:sp>
      <p:sp>
        <p:nvSpPr>
          <p:cNvPr id="8" name="TextBox 7"/>
          <p:cNvSpPr txBox="1"/>
          <p:nvPr/>
        </p:nvSpPr>
        <p:spPr>
          <a:xfrm>
            <a:off x="1005840" y="2176272"/>
            <a:ext cx="4754880" cy="246888"/>
          </a:xfrm>
          <a:prstGeom prst="rect">
            <a:avLst/>
          </a:prstGeom>
          <a:noFill/>
        </p:spPr>
        <p:txBody>
          <a:bodyPr wrap="square">
            <a:spAutoFit/>
          </a:bodyPr>
          <a:lstStyle/>
          <a:p>
            <a:pPr algn="l">
              <a:defRPr sz="1100" b="0">
                <a:solidFill>
                  <a:srgbClr val="1A1A2E"/>
                </a:solidFill>
                <a:latin typeface="Calibri"/>
              </a:defRPr>
            </a:pPr>
            <a:r>
              <a:t>•  Admin → Users: View all staff accounts</a:t>
            </a:r>
          </a:p>
        </p:txBody>
      </p:sp>
      <p:sp>
        <p:nvSpPr>
          <p:cNvPr id="9" name="TextBox 8"/>
          <p:cNvSpPr txBox="1"/>
          <p:nvPr/>
        </p:nvSpPr>
        <p:spPr>
          <a:xfrm>
            <a:off x="1005840" y="2450591"/>
            <a:ext cx="4754880" cy="246888"/>
          </a:xfrm>
          <a:prstGeom prst="rect">
            <a:avLst/>
          </a:prstGeom>
          <a:noFill/>
        </p:spPr>
        <p:txBody>
          <a:bodyPr wrap="square">
            <a:spAutoFit/>
          </a:bodyPr>
          <a:lstStyle/>
          <a:p>
            <a:pPr algn="l">
              <a:defRPr sz="1100" b="0">
                <a:solidFill>
                  <a:srgbClr val="1A1A2E"/>
                </a:solidFill>
                <a:latin typeface="Calibri"/>
              </a:defRPr>
            </a:pPr>
            <a:r>
              <a:t>•  "+ Invite User": Enter @essenmed.com email, display name, and role</a:t>
            </a:r>
          </a:p>
        </p:txBody>
      </p:sp>
      <p:sp>
        <p:nvSpPr>
          <p:cNvPr id="10" name="TextBox 9"/>
          <p:cNvSpPr txBox="1"/>
          <p:nvPr/>
        </p:nvSpPr>
        <p:spPr>
          <a:xfrm>
            <a:off x="1005840" y="2724912"/>
            <a:ext cx="4754880" cy="246888"/>
          </a:xfrm>
          <a:prstGeom prst="rect">
            <a:avLst/>
          </a:prstGeom>
          <a:noFill/>
        </p:spPr>
        <p:txBody>
          <a:bodyPr wrap="square">
            <a:spAutoFit/>
          </a:bodyPr>
          <a:lstStyle/>
          <a:p>
            <a:pPr algn="l">
              <a:defRPr sz="1100" b="0">
                <a:solidFill>
                  <a:srgbClr val="1A1A2E"/>
                </a:solidFill>
                <a:latin typeface="Calibri"/>
              </a:defRPr>
            </a:pPr>
            <a:r>
              <a:t>•  Edit: Change name or role (takes effect immediately)</a:t>
            </a:r>
          </a:p>
        </p:txBody>
      </p:sp>
      <p:sp>
        <p:nvSpPr>
          <p:cNvPr id="11" name="TextBox 10"/>
          <p:cNvSpPr txBox="1"/>
          <p:nvPr/>
        </p:nvSpPr>
        <p:spPr>
          <a:xfrm>
            <a:off x="1005840" y="2999232"/>
            <a:ext cx="4754880" cy="246888"/>
          </a:xfrm>
          <a:prstGeom prst="rect">
            <a:avLst/>
          </a:prstGeom>
          <a:noFill/>
        </p:spPr>
        <p:txBody>
          <a:bodyPr wrap="square">
            <a:spAutoFit/>
          </a:bodyPr>
          <a:lstStyle/>
          <a:p>
            <a:pPr algn="l">
              <a:defRPr sz="1100" b="0">
                <a:solidFill>
                  <a:srgbClr val="1A1A2E"/>
                </a:solidFill>
                <a:latin typeface="Calibri"/>
              </a:defRPr>
            </a:pPr>
            <a:r>
              <a:t>•  Deactivate: User instantly loses access (can be reactivated later)</a:t>
            </a:r>
          </a:p>
        </p:txBody>
      </p:sp>
      <p:sp>
        <p:nvSpPr>
          <p:cNvPr id="12" name="TextBox 11"/>
          <p:cNvSpPr txBox="1"/>
          <p:nvPr/>
        </p:nvSpPr>
        <p:spPr>
          <a:xfrm>
            <a:off x="1005840" y="3273552"/>
            <a:ext cx="4754880" cy="246888"/>
          </a:xfrm>
          <a:prstGeom prst="rect">
            <a:avLst/>
          </a:prstGeom>
          <a:noFill/>
        </p:spPr>
        <p:txBody>
          <a:bodyPr wrap="square">
            <a:spAutoFit/>
          </a:bodyPr>
          <a:lstStyle/>
          <a:p>
            <a:pPr algn="l">
              <a:defRPr sz="1100" b="0">
                <a:solidFill>
                  <a:srgbClr val="1A1A2E"/>
                </a:solidFill>
                <a:latin typeface="Calibri"/>
              </a:defRPr>
            </a:pPr>
            <a:r>
              <a:t>•  You cannot deactivate your own account</a:t>
            </a:r>
          </a:p>
        </p:txBody>
      </p:sp>
      <p:sp>
        <p:nvSpPr>
          <p:cNvPr id="13" name="TextBox 12"/>
          <p:cNvSpPr txBox="1"/>
          <p:nvPr/>
        </p:nvSpPr>
        <p:spPr>
          <a:xfrm>
            <a:off x="1005840" y="3547872"/>
            <a:ext cx="4754880" cy="246888"/>
          </a:xfrm>
          <a:prstGeom prst="rect">
            <a:avLst/>
          </a:prstGeom>
          <a:noFill/>
        </p:spPr>
        <p:txBody>
          <a:bodyPr wrap="square">
            <a:spAutoFit/>
          </a:bodyPr>
          <a:lstStyle/>
          <a:p>
            <a:pPr algn="l">
              <a:defRPr sz="1100" b="0">
                <a:solidFill>
                  <a:srgbClr val="1A1A2E"/>
                </a:solidFill>
                <a:latin typeface="Calibri"/>
              </a:defRPr>
            </a:pPr>
            <a:r>
              <a:t>•  User is matched to Azure AD identity on first login</a:t>
            </a:r>
          </a:p>
        </p:txBody>
      </p:sp>
      <p:sp>
        <p:nvSpPr>
          <p:cNvPr id="14" name="Rounded Rectangle 13"/>
          <p:cNvSpPr/>
          <p:nvPr/>
        </p:nvSpPr>
        <p:spPr>
          <a:xfrm>
            <a:off x="6400800" y="173736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37360"/>
            <a:ext cx="54864" cy="22860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847088"/>
            <a:ext cx="4754880" cy="274320"/>
          </a:xfrm>
          <a:prstGeom prst="rect">
            <a:avLst/>
          </a:prstGeom>
          <a:noFill/>
        </p:spPr>
        <p:txBody>
          <a:bodyPr wrap="square">
            <a:spAutoFit/>
          </a:bodyPr>
          <a:lstStyle/>
          <a:p>
            <a:pPr algn="l">
              <a:defRPr sz="1500" b="1">
                <a:solidFill>
                  <a:srgbClr val="00B67A"/>
                </a:solidFill>
                <a:latin typeface="Calibri"/>
              </a:defRPr>
            </a:pPr>
            <a:r>
              <a:t>Provider Type Configuration</a:t>
            </a:r>
          </a:p>
        </p:txBody>
      </p:sp>
      <p:sp>
        <p:nvSpPr>
          <p:cNvPr id="17" name="TextBox 16"/>
          <p:cNvSpPr txBox="1"/>
          <p:nvPr/>
        </p:nvSpPr>
        <p:spPr>
          <a:xfrm>
            <a:off x="6675120" y="2176272"/>
            <a:ext cx="4754880" cy="246888"/>
          </a:xfrm>
          <a:prstGeom prst="rect">
            <a:avLst/>
          </a:prstGeom>
          <a:noFill/>
        </p:spPr>
        <p:txBody>
          <a:bodyPr wrap="square">
            <a:spAutoFit/>
          </a:bodyPr>
          <a:lstStyle/>
          <a:p>
            <a:pPr algn="l">
              <a:defRPr sz="1100" b="0">
                <a:solidFill>
                  <a:srgbClr val="1A1A2E"/>
                </a:solidFill>
                <a:latin typeface="Calibri"/>
              </a:defRPr>
            </a:pPr>
            <a:r>
              <a:t>•  Admin → Provider Types: View and manage types</a:t>
            </a:r>
          </a:p>
        </p:txBody>
      </p:sp>
      <p:sp>
        <p:nvSpPr>
          <p:cNvPr id="18" name="TextBox 17"/>
          <p:cNvSpPr txBox="1"/>
          <p:nvPr/>
        </p:nvSpPr>
        <p:spPr>
          <a:xfrm>
            <a:off x="6675120" y="2450591"/>
            <a:ext cx="4754880" cy="246888"/>
          </a:xfrm>
          <a:prstGeom prst="rect">
            <a:avLst/>
          </a:prstGeom>
          <a:noFill/>
        </p:spPr>
        <p:txBody>
          <a:bodyPr wrap="square">
            <a:spAutoFit/>
          </a:bodyPr>
          <a:lstStyle/>
          <a:p>
            <a:pPr algn="l">
              <a:defRPr sz="1100" b="0">
                <a:solidFill>
                  <a:srgbClr val="1A1A2E"/>
                </a:solidFill>
                <a:latin typeface="Calibri"/>
              </a:defRPr>
            </a:pPr>
            <a:r>
              <a:t>•  Default types: MD, DO, PA, NP, LCSW, LMHC</a:t>
            </a:r>
          </a:p>
        </p:txBody>
      </p:sp>
      <p:sp>
        <p:nvSpPr>
          <p:cNvPr id="19" name="TextBox 18"/>
          <p:cNvSpPr txBox="1"/>
          <p:nvPr/>
        </p:nvSpPr>
        <p:spPr>
          <a:xfrm>
            <a:off x="6675120" y="2724912"/>
            <a:ext cx="4754880" cy="246888"/>
          </a:xfrm>
          <a:prstGeom prst="rect">
            <a:avLst/>
          </a:prstGeom>
          <a:noFill/>
        </p:spPr>
        <p:txBody>
          <a:bodyPr wrap="square">
            <a:spAutoFit/>
          </a:bodyPr>
          <a:lstStyle/>
          <a:p>
            <a:pPr algn="l">
              <a:defRPr sz="1100" b="0">
                <a:solidFill>
                  <a:srgbClr val="1A1A2E"/>
                </a:solidFill>
                <a:latin typeface="Calibri"/>
              </a:defRPr>
            </a:pPr>
            <a:r>
              <a:t>•  Add new types without code changes</a:t>
            </a:r>
          </a:p>
        </p:txBody>
      </p:sp>
      <p:sp>
        <p:nvSpPr>
          <p:cNvPr id="20" name="TextBox 19"/>
          <p:cNvSpPr txBox="1"/>
          <p:nvPr/>
        </p:nvSpPr>
        <p:spPr>
          <a:xfrm>
            <a:off x="6675120" y="2999232"/>
            <a:ext cx="4754880" cy="246888"/>
          </a:xfrm>
          <a:prstGeom prst="rect">
            <a:avLst/>
          </a:prstGeom>
          <a:noFill/>
        </p:spPr>
        <p:txBody>
          <a:bodyPr wrap="square">
            <a:spAutoFit/>
          </a:bodyPr>
          <a:lstStyle/>
          <a:p>
            <a:pPr algn="l">
              <a:defRPr sz="1100" b="0">
                <a:solidFill>
                  <a:srgbClr val="1A1A2E"/>
                </a:solidFill>
                <a:latin typeface="Calibri"/>
              </a:defRPr>
            </a:pPr>
            <a:r>
              <a:t>•  For each type, set each document as Required / Conditional / Not Applicable</a:t>
            </a:r>
          </a:p>
        </p:txBody>
      </p:sp>
      <p:sp>
        <p:nvSpPr>
          <p:cNvPr id="21" name="TextBox 20"/>
          <p:cNvSpPr txBox="1"/>
          <p:nvPr/>
        </p:nvSpPr>
        <p:spPr>
          <a:xfrm>
            <a:off x="6675120" y="3273552"/>
            <a:ext cx="4754880" cy="246888"/>
          </a:xfrm>
          <a:prstGeom prst="rect">
            <a:avLst/>
          </a:prstGeom>
          <a:noFill/>
        </p:spPr>
        <p:txBody>
          <a:bodyPr wrap="square">
            <a:spAutoFit/>
          </a:bodyPr>
          <a:lstStyle/>
          <a:p>
            <a:pPr algn="l">
              <a:defRPr sz="1100" b="0">
                <a:solidFill>
                  <a:srgbClr val="1A1A2E"/>
                </a:solidFill>
                <a:latin typeface="Calibri"/>
              </a:defRPr>
            </a:pPr>
            <a:r>
              <a:t>•  Changes affect NEW providers immediately</a:t>
            </a:r>
          </a:p>
        </p:txBody>
      </p:sp>
      <p:sp>
        <p:nvSpPr>
          <p:cNvPr id="22" name="TextBox 21"/>
          <p:cNvSpPr txBox="1"/>
          <p:nvPr/>
        </p:nvSpPr>
        <p:spPr>
          <a:xfrm>
            <a:off x="6675120" y="3547872"/>
            <a:ext cx="4754880" cy="246888"/>
          </a:xfrm>
          <a:prstGeom prst="rect">
            <a:avLst/>
          </a:prstGeom>
          <a:noFill/>
        </p:spPr>
        <p:txBody>
          <a:bodyPr wrap="square">
            <a:spAutoFit/>
          </a:bodyPr>
          <a:lstStyle/>
          <a:p>
            <a:pPr algn="l">
              <a:defRPr sz="1100" b="0">
                <a:solidFill>
                  <a:srgbClr val="1A1A2E"/>
                </a:solidFill>
                <a:latin typeface="Calibri"/>
              </a:defRPr>
            </a:pPr>
            <a:r>
              <a:t>•  This is how the checklist knows what documents to require</a:t>
            </a:r>
          </a:p>
        </p:txBody>
      </p:sp>
      <p:sp>
        <p:nvSpPr>
          <p:cNvPr id="23" name="Rounded Rectangle 22"/>
          <p:cNvSpPr/>
          <p:nvPr/>
        </p:nvSpPr>
        <p:spPr>
          <a:xfrm>
            <a:off x="731520" y="420624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206240"/>
            <a:ext cx="54864" cy="2286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315968"/>
            <a:ext cx="4754880" cy="274320"/>
          </a:xfrm>
          <a:prstGeom prst="rect">
            <a:avLst/>
          </a:prstGeom>
          <a:noFill/>
        </p:spPr>
        <p:txBody>
          <a:bodyPr wrap="square">
            <a:spAutoFit/>
          </a:bodyPr>
          <a:lstStyle/>
          <a:p>
            <a:pPr algn="l">
              <a:defRPr sz="1500" b="1">
                <a:solidFill>
                  <a:srgbClr val="FF6B35"/>
                </a:solidFill>
                <a:latin typeface="Calibri"/>
              </a:defRPr>
            </a:pPr>
            <a:r>
              <a:t>System Settings</a:t>
            </a:r>
          </a:p>
        </p:txBody>
      </p:sp>
      <p:sp>
        <p:nvSpPr>
          <p:cNvPr id="26" name="TextBox 25"/>
          <p:cNvSpPr txBox="1"/>
          <p:nvPr/>
        </p:nvSpPr>
        <p:spPr>
          <a:xfrm>
            <a:off x="1005840" y="4645152"/>
            <a:ext cx="4754880" cy="246888"/>
          </a:xfrm>
          <a:prstGeom prst="rect">
            <a:avLst/>
          </a:prstGeom>
          <a:noFill/>
        </p:spPr>
        <p:txBody>
          <a:bodyPr wrap="square">
            <a:spAutoFit/>
          </a:bodyPr>
          <a:lstStyle/>
          <a:p>
            <a:pPr algn="l">
              <a:defRPr sz="1100" b="0">
                <a:solidFill>
                  <a:srgbClr val="1A1A2E"/>
                </a:solidFill>
                <a:latin typeface="Calibri"/>
              </a:defRPr>
            </a:pPr>
            <a:r>
              <a:t>•  Admin → Settings: Configure platform behavior</a:t>
            </a:r>
          </a:p>
        </p:txBody>
      </p:sp>
      <p:sp>
        <p:nvSpPr>
          <p:cNvPr id="27" name="TextBox 26"/>
          <p:cNvSpPr txBox="1"/>
          <p:nvPr/>
        </p:nvSpPr>
        <p:spPr>
          <a:xfrm>
            <a:off x="1005840" y="4919472"/>
            <a:ext cx="4754880" cy="246888"/>
          </a:xfrm>
          <a:prstGeom prst="rect">
            <a:avLst/>
          </a:prstGeom>
          <a:noFill/>
        </p:spPr>
        <p:txBody>
          <a:bodyPr wrap="square">
            <a:spAutoFit/>
          </a:bodyPr>
          <a:lstStyle/>
          <a:p>
            <a:pPr algn="l">
              <a:defRPr sz="1100" b="0">
                <a:solidFill>
                  <a:srgbClr val="1A1A2E"/>
                </a:solidFill>
                <a:latin typeface="Calibri"/>
              </a:defRPr>
            </a:pPr>
            <a:r>
              <a:t>•  Notification thresholds (when alerts fire)</a:t>
            </a:r>
          </a:p>
        </p:txBody>
      </p:sp>
      <p:sp>
        <p:nvSpPr>
          <p:cNvPr id="28" name="TextBox 27"/>
          <p:cNvSpPr txBox="1"/>
          <p:nvPr/>
        </p:nvSpPr>
        <p:spPr>
          <a:xfrm>
            <a:off x="1005840" y="5193792"/>
            <a:ext cx="4754880" cy="246888"/>
          </a:xfrm>
          <a:prstGeom prst="rect">
            <a:avLst/>
          </a:prstGeom>
          <a:noFill/>
        </p:spPr>
        <p:txBody>
          <a:bodyPr wrap="square">
            <a:spAutoFit/>
          </a:bodyPr>
          <a:lstStyle/>
          <a:p>
            <a:pPr algn="l">
              <a:defRPr sz="1100" b="0">
                <a:solidFill>
                  <a:srgbClr val="1A1A2E"/>
                </a:solidFill>
                <a:latin typeface="Calibri"/>
              </a:defRPr>
            </a:pPr>
            <a:r>
              <a:t>•  Email templates for outreach communications</a:t>
            </a:r>
          </a:p>
        </p:txBody>
      </p:sp>
      <p:sp>
        <p:nvSpPr>
          <p:cNvPr id="29" name="TextBox 28"/>
          <p:cNvSpPr txBox="1"/>
          <p:nvPr/>
        </p:nvSpPr>
        <p:spPr>
          <a:xfrm>
            <a:off x="1005840" y="5468112"/>
            <a:ext cx="4754880" cy="246888"/>
          </a:xfrm>
          <a:prstGeom prst="rect">
            <a:avLst/>
          </a:prstGeom>
          <a:noFill/>
        </p:spPr>
        <p:txBody>
          <a:bodyPr wrap="square">
            <a:spAutoFit/>
          </a:bodyPr>
          <a:lstStyle/>
          <a:p>
            <a:pPr algn="l">
              <a:defRPr sz="1100" b="0">
                <a:solidFill>
                  <a:srgbClr val="1A1A2E"/>
                </a:solidFill>
                <a:latin typeface="Calibri"/>
              </a:defRPr>
            </a:pPr>
            <a:r>
              <a:t>•  Follow-up cadence defaults per payer</a:t>
            </a:r>
          </a:p>
        </p:txBody>
      </p:sp>
      <p:sp>
        <p:nvSpPr>
          <p:cNvPr id="30" name="TextBox 29"/>
          <p:cNvSpPr txBox="1"/>
          <p:nvPr/>
        </p:nvSpPr>
        <p:spPr>
          <a:xfrm>
            <a:off x="1005840" y="5742432"/>
            <a:ext cx="4754880" cy="246888"/>
          </a:xfrm>
          <a:prstGeom prst="rect">
            <a:avLst/>
          </a:prstGeom>
          <a:noFill/>
        </p:spPr>
        <p:txBody>
          <a:bodyPr wrap="square">
            <a:spAutoFit/>
          </a:bodyPr>
          <a:lstStyle/>
          <a:p>
            <a:pPr algn="l">
              <a:defRPr sz="1100" b="0">
                <a:solidFill>
                  <a:srgbClr val="1A1A2E"/>
                </a:solidFill>
                <a:latin typeface="Calibri"/>
              </a:defRPr>
            </a:pPr>
            <a:r>
              <a:t>•  Bot retry and schedule configuration</a:t>
            </a:r>
          </a:p>
        </p:txBody>
      </p:sp>
      <p:sp>
        <p:nvSpPr>
          <p:cNvPr id="31" name="TextBox 30"/>
          <p:cNvSpPr txBox="1"/>
          <p:nvPr/>
        </p:nvSpPr>
        <p:spPr>
          <a:xfrm>
            <a:off x="1005840" y="6016752"/>
            <a:ext cx="4754880" cy="246888"/>
          </a:xfrm>
          <a:prstGeom prst="rect">
            <a:avLst/>
          </a:prstGeom>
          <a:noFill/>
        </p:spPr>
        <p:txBody>
          <a:bodyPr wrap="square">
            <a:spAutoFit/>
          </a:bodyPr>
          <a:lstStyle/>
          <a:p>
            <a:pPr algn="l">
              <a:defRPr sz="1100" b="0">
                <a:solidFill>
                  <a:srgbClr val="1A1A2E"/>
                </a:solidFill>
                <a:latin typeface="Calibri"/>
              </a:defRPr>
            </a:pPr>
            <a:r>
              <a:t>•  System-wide parameters and feature flags</a:t>
            </a:r>
          </a:p>
        </p:txBody>
      </p:sp>
      <p:sp>
        <p:nvSpPr>
          <p:cNvPr id="32" name="Rounded Rectangle 31"/>
          <p:cNvSpPr/>
          <p:nvPr/>
        </p:nvSpPr>
        <p:spPr>
          <a:xfrm>
            <a:off x="6400800" y="4206240"/>
            <a:ext cx="5303520" cy="2286000"/>
          </a:xfrm>
          <a:prstGeom prst="roundRect">
            <a:avLst/>
          </a:prstGeom>
          <a:solidFill>
            <a:srgbClr val="FFFFFF"/>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4206240"/>
            <a:ext cx="54864" cy="22860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0" y="4315968"/>
            <a:ext cx="4754880" cy="274320"/>
          </a:xfrm>
          <a:prstGeom prst="rect">
            <a:avLst/>
          </a:prstGeom>
          <a:noFill/>
        </p:spPr>
        <p:txBody>
          <a:bodyPr wrap="square">
            <a:spAutoFit/>
          </a:bodyPr>
          <a:lstStyle/>
          <a:p>
            <a:pPr algn="l">
              <a:defRPr sz="1500" b="1">
                <a:solidFill>
                  <a:srgbClr val="E63946"/>
                </a:solidFill>
                <a:latin typeface="Calibri"/>
              </a:defRPr>
            </a:pPr>
            <a:r>
              <a:t>Audit &amp; Monitoring</a:t>
            </a:r>
          </a:p>
        </p:txBody>
      </p:sp>
      <p:sp>
        <p:nvSpPr>
          <p:cNvPr id="35" name="TextBox 34"/>
          <p:cNvSpPr txBox="1"/>
          <p:nvPr/>
        </p:nvSpPr>
        <p:spPr>
          <a:xfrm>
            <a:off x="6675120" y="4645152"/>
            <a:ext cx="4754880" cy="246888"/>
          </a:xfrm>
          <a:prstGeom prst="rect">
            <a:avLst/>
          </a:prstGeom>
          <a:noFill/>
        </p:spPr>
        <p:txBody>
          <a:bodyPr wrap="square">
            <a:spAutoFit/>
          </a:bodyPr>
          <a:lstStyle/>
          <a:p>
            <a:pPr algn="l">
              <a:defRPr sz="1100" b="0">
                <a:solidFill>
                  <a:srgbClr val="1A1A2E"/>
                </a:solidFill>
                <a:latin typeface="Calibri"/>
              </a:defRPr>
            </a:pPr>
            <a:r>
              <a:t>•  System-wide audit trail (all modules, all users)</a:t>
            </a:r>
          </a:p>
        </p:txBody>
      </p:sp>
      <p:sp>
        <p:nvSpPr>
          <p:cNvPr id="36" name="TextBox 35"/>
          <p:cNvSpPr txBox="1"/>
          <p:nvPr/>
        </p:nvSpPr>
        <p:spPr>
          <a:xfrm>
            <a:off x="6675120" y="4919472"/>
            <a:ext cx="4754880" cy="246888"/>
          </a:xfrm>
          <a:prstGeom prst="rect">
            <a:avLst/>
          </a:prstGeom>
          <a:noFill/>
        </p:spPr>
        <p:txBody>
          <a:bodyPr wrap="square">
            <a:spAutoFit/>
          </a:bodyPr>
          <a:lstStyle/>
          <a:p>
            <a:pPr algn="l">
              <a:defRPr sz="1100" b="0">
                <a:solidFill>
                  <a:srgbClr val="1A1A2E"/>
                </a:solidFill>
                <a:latin typeface="Calibri"/>
              </a:defRPr>
            </a:pPr>
            <a:r>
              <a:t>•  Integration health dashboard (21 external systems)</a:t>
            </a:r>
          </a:p>
        </p:txBody>
      </p:sp>
      <p:sp>
        <p:nvSpPr>
          <p:cNvPr id="37" name="TextBox 36"/>
          <p:cNvSpPr txBox="1"/>
          <p:nvPr/>
        </p:nvSpPr>
        <p:spPr>
          <a:xfrm>
            <a:off x="6675120" y="5193792"/>
            <a:ext cx="4754880" cy="246888"/>
          </a:xfrm>
          <a:prstGeom prst="rect">
            <a:avLst/>
          </a:prstGeom>
          <a:noFill/>
        </p:spPr>
        <p:txBody>
          <a:bodyPr wrap="square">
            <a:spAutoFit/>
          </a:bodyPr>
          <a:lstStyle/>
          <a:p>
            <a:pPr algn="l">
              <a:defRPr sz="1100" b="0">
                <a:solidFill>
                  <a:srgbClr val="1A1A2E"/>
                </a:solidFill>
                <a:latin typeface="Calibri"/>
              </a:defRPr>
            </a:pPr>
            <a:r>
              <a:t>•  Bot queue depth and success rates</a:t>
            </a:r>
          </a:p>
        </p:txBody>
      </p:sp>
      <p:sp>
        <p:nvSpPr>
          <p:cNvPr id="38" name="TextBox 37"/>
          <p:cNvSpPr txBox="1"/>
          <p:nvPr/>
        </p:nvSpPr>
        <p:spPr>
          <a:xfrm>
            <a:off x="6675120" y="5468112"/>
            <a:ext cx="4754880" cy="246888"/>
          </a:xfrm>
          <a:prstGeom prst="rect">
            <a:avLst/>
          </a:prstGeom>
          <a:noFill/>
        </p:spPr>
        <p:txBody>
          <a:bodyPr wrap="square">
            <a:spAutoFit/>
          </a:bodyPr>
          <a:lstStyle/>
          <a:p>
            <a:pPr algn="l">
              <a:defRPr sz="1100" b="0">
                <a:solidFill>
                  <a:srgbClr val="1A1A2E"/>
                </a:solidFill>
                <a:latin typeface="Calibri"/>
              </a:defRPr>
            </a:pPr>
            <a:r>
              <a:t>•  Error rate monitoring per integration</a:t>
            </a:r>
          </a:p>
        </p:txBody>
      </p:sp>
      <p:sp>
        <p:nvSpPr>
          <p:cNvPr id="39" name="TextBox 38"/>
          <p:cNvSpPr txBox="1"/>
          <p:nvPr/>
        </p:nvSpPr>
        <p:spPr>
          <a:xfrm>
            <a:off x="6675120" y="5742432"/>
            <a:ext cx="4754880" cy="246888"/>
          </a:xfrm>
          <a:prstGeom prst="rect">
            <a:avLst/>
          </a:prstGeom>
          <a:noFill/>
        </p:spPr>
        <p:txBody>
          <a:bodyPr wrap="square">
            <a:spAutoFit/>
          </a:bodyPr>
          <a:lstStyle/>
          <a:p>
            <a:pPr algn="l">
              <a:defRPr sz="1100" b="0">
                <a:solidFill>
                  <a:srgbClr val="1A1A2E"/>
                </a:solidFill>
                <a:latin typeface="Calibri"/>
              </a:defRPr>
            </a:pPr>
            <a:r>
              <a:t>•  Credential rotation alerts for Key Vault secrets</a:t>
            </a:r>
          </a:p>
        </p:txBody>
      </p:sp>
      <p:sp>
        <p:nvSpPr>
          <p:cNvPr id="40" name="TextBox 39"/>
          <p:cNvSpPr txBox="1"/>
          <p:nvPr/>
        </p:nvSpPr>
        <p:spPr>
          <a:xfrm>
            <a:off x="6675120" y="6016752"/>
            <a:ext cx="4754880" cy="246888"/>
          </a:xfrm>
          <a:prstGeom prst="rect">
            <a:avLst/>
          </a:prstGeom>
          <a:noFill/>
        </p:spPr>
        <p:txBody>
          <a:bodyPr wrap="square">
            <a:spAutoFit/>
          </a:bodyPr>
          <a:lstStyle/>
          <a:p>
            <a:pPr algn="l">
              <a:defRPr sz="1100" b="0">
                <a:solidFill>
                  <a:srgbClr val="1A1A2E"/>
                </a:solidFill>
                <a:latin typeface="Calibri"/>
              </a:defRPr>
            </a:pPr>
            <a:r>
              <a:t>•  Disk space and container health checks</a:t>
            </a:r>
          </a:p>
        </p:txBody>
      </p:sp>
      <p:sp>
        <p:nvSpPr>
          <p:cNvPr id="41" name="TextBox 40"/>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PROVIDER EXPERIENCE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The Provider Self-Service Portal</a:t>
            </a:r>
          </a:p>
        </p:txBody>
      </p:sp>
      <p:sp>
        <p:nvSpPr>
          <p:cNvPr id="4" name="TextBox 3"/>
          <p:cNvSpPr txBox="1"/>
          <p:nvPr/>
        </p:nvSpPr>
        <p:spPr>
          <a:xfrm>
            <a:off x="731520" y="1280160"/>
            <a:ext cx="9144000" cy="320040"/>
          </a:xfrm>
          <a:prstGeom prst="rect">
            <a:avLst/>
          </a:prstGeom>
          <a:noFill/>
        </p:spPr>
        <p:txBody>
          <a:bodyPr wrap="square">
            <a:spAutoFit/>
          </a:bodyPr>
          <a:lstStyle/>
          <a:p>
            <a:pPr algn="l">
              <a:defRPr sz="1400" b="0">
                <a:solidFill>
                  <a:srgbClr val="555577"/>
                </a:solidFill>
                <a:latin typeface="Calibri"/>
              </a:defRPr>
            </a:pPr>
            <a:r>
              <a:t>Providers (external users) complete their credentialing application through a dedicated, simplified portal.</a:t>
            </a:r>
          </a:p>
        </p:txBody>
      </p:sp>
      <p:sp>
        <p:nvSpPr>
          <p:cNvPr id="5" name="Rounded Rectangle 4"/>
          <p:cNvSpPr/>
          <p:nvPr/>
        </p:nvSpPr>
        <p:spPr>
          <a:xfrm>
            <a:off x="731520" y="1828800"/>
            <a:ext cx="5303520" cy="32004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4572000" cy="274320"/>
          </a:xfrm>
          <a:prstGeom prst="rect">
            <a:avLst/>
          </a:prstGeom>
          <a:noFill/>
        </p:spPr>
        <p:txBody>
          <a:bodyPr wrap="square">
            <a:spAutoFit/>
          </a:bodyPr>
          <a:lstStyle/>
          <a:p>
            <a:pPr algn="l">
              <a:defRPr sz="1600" b="1">
                <a:solidFill>
                  <a:srgbClr val="00B67A"/>
                </a:solidFill>
                <a:latin typeface="Calibri"/>
              </a:defRPr>
            </a:pPr>
            <a:r>
              <a:t>What Providers Can Do</a:t>
            </a:r>
          </a:p>
        </p:txBody>
      </p:sp>
      <p:sp>
        <p:nvSpPr>
          <p:cNvPr id="7" name="TextBox 6"/>
          <p:cNvSpPr txBox="1"/>
          <p:nvPr/>
        </p:nvSpPr>
        <p:spPr>
          <a:xfrm>
            <a:off x="1005840" y="2331720"/>
            <a:ext cx="4937760" cy="274320"/>
          </a:xfrm>
          <a:prstGeom prst="rect">
            <a:avLst/>
          </a:prstGeom>
          <a:noFill/>
        </p:spPr>
        <p:txBody>
          <a:bodyPr wrap="square">
            <a:spAutoFit/>
          </a:bodyPr>
          <a:lstStyle/>
          <a:p>
            <a:pPr algn="l">
              <a:defRPr sz="1000" b="0">
                <a:solidFill>
                  <a:srgbClr val="1A1A2E"/>
                </a:solidFill>
                <a:latin typeface="Calibri"/>
              </a:defRPr>
            </a:pPr>
            <a:r>
              <a:t>✓  Complete the multi-section application form (personal info, licenses, education, work history, attestation questions)</a:t>
            </a:r>
          </a:p>
        </p:txBody>
      </p:sp>
      <p:sp>
        <p:nvSpPr>
          <p:cNvPr id="8" name="TextBox 7"/>
          <p:cNvSpPr txBox="1"/>
          <p:nvPr/>
        </p:nvSpPr>
        <p:spPr>
          <a:xfrm>
            <a:off x="1005840" y="2642615"/>
            <a:ext cx="4937760" cy="274320"/>
          </a:xfrm>
          <a:prstGeom prst="rect">
            <a:avLst/>
          </a:prstGeom>
          <a:noFill/>
        </p:spPr>
        <p:txBody>
          <a:bodyPr wrap="square">
            <a:spAutoFit/>
          </a:bodyPr>
          <a:lstStyle/>
          <a:p>
            <a:pPr algn="l">
              <a:defRPr sz="1000" b="0">
                <a:solidFill>
                  <a:srgbClr val="1A1A2E"/>
                </a:solidFill>
                <a:latin typeface="Calibri"/>
              </a:defRPr>
            </a:pPr>
            <a:r>
              <a:t>✓  Upload credential documents via drag-and-drop interface</a:t>
            </a:r>
          </a:p>
        </p:txBody>
      </p:sp>
      <p:sp>
        <p:nvSpPr>
          <p:cNvPr id="9" name="TextBox 8"/>
          <p:cNvSpPr txBox="1"/>
          <p:nvPr/>
        </p:nvSpPr>
        <p:spPr>
          <a:xfrm>
            <a:off x="1005840" y="2953512"/>
            <a:ext cx="4937760" cy="274320"/>
          </a:xfrm>
          <a:prstGeom prst="rect">
            <a:avLst/>
          </a:prstGeom>
          <a:noFill/>
        </p:spPr>
        <p:txBody>
          <a:bodyPr wrap="square">
            <a:spAutoFit/>
          </a:bodyPr>
          <a:lstStyle/>
          <a:p>
            <a:pPr algn="l">
              <a:defRPr sz="1000" b="0">
                <a:solidFill>
                  <a:srgbClr val="1A1A2E"/>
                </a:solidFill>
                <a:latin typeface="Calibri"/>
              </a:defRPr>
            </a:pPr>
            <a:r>
              <a:t>✓  View their document checklist with real-time completion percentage</a:t>
            </a:r>
          </a:p>
        </p:txBody>
      </p:sp>
      <p:sp>
        <p:nvSpPr>
          <p:cNvPr id="10" name="TextBox 9"/>
          <p:cNvSpPr txBox="1"/>
          <p:nvPr/>
        </p:nvSpPr>
        <p:spPr>
          <a:xfrm>
            <a:off x="1005840" y="3264408"/>
            <a:ext cx="4937760" cy="274320"/>
          </a:xfrm>
          <a:prstGeom prst="rect">
            <a:avLst/>
          </a:prstGeom>
          <a:noFill/>
        </p:spPr>
        <p:txBody>
          <a:bodyPr wrap="square">
            <a:spAutoFit/>
          </a:bodyPr>
          <a:lstStyle/>
          <a:p>
            <a:pPr algn="l">
              <a:defRPr sz="1000" b="0">
                <a:solidFill>
                  <a:srgbClr val="1A1A2E"/>
                </a:solidFill>
                <a:latin typeface="Calibri"/>
              </a:defRPr>
            </a:pPr>
            <a:r>
              <a:t>✓  Review and correct data auto-filled from CAQH, iCIMS, or photo ID OCR</a:t>
            </a:r>
          </a:p>
        </p:txBody>
      </p:sp>
      <p:sp>
        <p:nvSpPr>
          <p:cNvPr id="11" name="TextBox 10"/>
          <p:cNvSpPr txBox="1"/>
          <p:nvPr/>
        </p:nvSpPr>
        <p:spPr>
          <a:xfrm>
            <a:off x="1005840" y="3575304"/>
            <a:ext cx="4937760" cy="274320"/>
          </a:xfrm>
          <a:prstGeom prst="rect">
            <a:avLst/>
          </a:prstGeom>
          <a:noFill/>
        </p:spPr>
        <p:txBody>
          <a:bodyPr wrap="square">
            <a:spAutoFit/>
          </a:bodyPr>
          <a:lstStyle/>
          <a:p>
            <a:pPr algn="l">
              <a:defRPr sz="1000" b="0">
                <a:solidFill>
                  <a:srgbClr val="1A1A2E"/>
                </a:solidFill>
                <a:latin typeface="Calibri"/>
              </a:defRPr>
            </a:pPr>
            <a:r>
              <a:t>✓  Track their application status (progress through stages)</a:t>
            </a:r>
          </a:p>
        </p:txBody>
      </p:sp>
      <p:sp>
        <p:nvSpPr>
          <p:cNvPr id="12" name="TextBox 11"/>
          <p:cNvSpPr txBox="1"/>
          <p:nvPr/>
        </p:nvSpPr>
        <p:spPr>
          <a:xfrm>
            <a:off x="1005840" y="3886200"/>
            <a:ext cx="4937760" cy="274320"/>
          </a:xfrm>
          <a:prstGeom prst="rect">
            <a:avLst/>
          </a:prstGeom>
          <a:noFill/>
        </p:spPr>
        <p:txBody>
          <a:bodyPr wrap="square">
            <a:spAutoFit/>
          </a:bodyPr>
          <a:lstStyle/>
          <a:p>
            <a:pPr algn="l">
              <a:defRPr sz="1000" b="0">
                <a:solidFill>
                  <a:srgbClr val="1A1A2E"/>
                </a:solidFill>
                <a:latin typeface="Calibri"/>
              </a:defRPr>
            </a:pPr>
            <a:r>
              <a:t>✓  Complete the electronic attestation and e-signature</a:t>
            </a:r>
          </a:p>
        </p:txBody>
      </p:sp>
      <p:sp>
        <p:nvSpPr>
          <p:cNvPr id="13" name="TextBox 12"/>
          <p:cNvSpPr txBox="1"/>
          <p:nvPr/>
        </p:nvSpPr>
        <p:spPr>
          <a:xfrm>
            <a:off x="1005840" y="4197096"/>
            <a:ext cx="4937760" cy="274320"/>
          </a:xfrm>
          <a:prstGeom prst="rect">
            <a:avLst/>
          </a:prstGeom>
          <a:noFill/>
        </p:spPr>
        <p:txBody>
          <a:bodyPr wrap="square">
            <a:spAutoFit/>
          </a:bodyPr>
          <a:lstStyle/>
          <a:p>
            <a:pPr algn="l">
              <a:defRPr sz="1000" b="0">
                <a:solidFill>
                  <a:srgbClr val="1A1A2E"/>
                </a:solidFill>
                <a:latin typeface="Calibri"/>
              </a:defRPr>
            </a:pPr>
            <a:r>
              <a:t>✓  Receive and respond to follow-up communications from Essen staff</a:t>
            </a:r>
          </a:p>
        </p:txBody>
      </p:sp>
      <p:sp>
        <p:nvSpPr>
          <p:cNvPr id="14" name="TextBox 13"/>
          <p:cNvSpPr txBox="1"/>
          <p:nvPr/>
        </p:nvSpPr>
        <p:spPr>
          <a:xfrm>
            <a:off x="1005840" y="4507992"/>
            <a:ext cx="4937760" cy="274320"/>
          </a:xfrm>
          <a:prstGeom prst="rect">
            <a:avLst/>
          </a:prstGeom>
          <a:noFill/>
        </p:spPr>
        <p:txBody>
          <a:bodyPr wrap="square">
            <a:spAutoFit/>
          </a:bodyPr>
          <a:lstStyle/>
          <a:p>
            <a:pPr algn="l">
              <a:defRPr sz="1000" b="0">
                <a:solidFill>
                  <a:srgbClr val="1A1A2E"/>
                </a:solidFill>
                <a:latin typeface="Calibri"/>
              </a:defRPr>
            </a:pPr>
            <a:r>
              <a:t>✓  Save progress and return later (auto-save every 60 seconds)</a:t>
            </a:r>
          </a:p>
        </p:txBody>
      </p:sp>
      <p:sp>
        <p:nvSpPr>
          <p:cNvPr id="15" name="Rounded Rectangle 14"/>
          <p:cNvSpPr/>
          <p:nvPr/>
        </p:nvSpPr>
        <p:spPr>
          <a:xfrm>
            <a:off x="6400800" y="1828800"/>
            <a:ext cx="5120640" cy="1828800"/>
          </a:xfrm>
          <a:prstGeom prst="roundRect">
            <a:avLst/>
          </a:prstGeom>
          <a:solidFill>
            <a:srgbClr val="FDECEC"/>
          </a:solidFill>
          <a:ln w="127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965960"/>
            <a:ext cx="4572000" cy="274320"/>
          </a:xfrm>
          <a:prstGeom prst="rect">
            <a:avLst/>
          </a:prstGeom>
          <a:noFill/>
        </p:spPr>
        <p:txBody>
          <a:bodyPr wrap="square">
            <a:spAutoFit/>
          </a:bodyPr>
          <a:lstStyle/>
          <a:p>
            <a:pPr algn="l">
              <a:defRPr sz="1600" b="1">
                <a:solidFill>
                  <a:srgbClr val="E63946"/>
                </a:solidFill>
                <a:latin typeface="Calibri"/>
              </a:defRPr>
            </a:pPr>
            <a:r>
              <a:t>What Providers CANNOT Do</a:t>
            </a:r>
          </a:p>
        </p:txBody>
      </p:sp>
      <p:sp>
        <p:nvSpPr>
          <p:cNvPr id="17" name="TextBox 16"/>
          <p:cNvSpPr txBox="1"/>
          <p:nvPr/>
        </p:nvSpPr>
        <p:spPr>
          <a:xfrm>
            <a:off x="6675120" y="2331720"/>
            <a:ext cx="4754880" cy="246888"/>
          </a:xfrm>
          <a:prstGeom prst="rect">
            <a:avLst/>
          </a:prstGeom>
          <a:noFill/>
        </p:spPr>
        <p:txBody>
          <a:bodyPr wrap="square">
            <a:spAutoFit/>
          </a:bodyPr>
          <a:lstStyle/>
          <a:p>
            <a:pPr algn="l">
              <a:defRPr sz="1100" b="0">
                <a:solidFill>
                  <a:srgbClr val="1A1A2E"/>
                </a:solidFill>
                <a:latin typeface="Calibri"/>
              </a:defRPr>
            </a:pPr>
            <a:r>
              <a:t>✗  View any other provider's data — strict isolation</a:t>
            </a:r>
          </a:p>
        </p:txBody>
      </p:sp>
      <p:sp>
        <p:nvSpPr>
          <p:cNvPr id="18" name="TextBox 17"/>
          <p:cNvSpPr txBox="1"/>
          <p:nvPr/>
        </p:nvSpPr>
        <p:spPr>
          <a:xfrm>
            <a:off x="6675120" y="2606039"/>
            <a:ext cx="4754880" cy="246888"/>
          </a:xfrm>
          <a:prstGeom prst="rect">
            <a:avLst/>
          </a:prstGeom>
          <a:noFill/>
        </p:spPr>
        <p:txBody>
          <a:bodyPr wrap="square">
            <a:spAutoFit/>
          </a:bodyPr>
          <a:lstStyle/>
          <a:p>
            <a:pPr algn="l">
              <a:defRPr sz="1100" b="0">
                <a:solidFill>
                  <a:srgbClr val="1A1A2E"/>
                </a:solidFill>
                <a:latin typeface="Calibri"/>
              </a:defRPr>
            </a:pPr>
            <a:r>
              <a:t>✗  Access any staff-facing dashboard or module</a:t>
            </a:r>
          </a:p>
        </p:txBody>
      </p:sp>
      <p:sp>
        <p:nvSpPr>
          <p:cNvPr id="19" name="TextBox 18"/>
          <p:cNvSpPr txBox="1"/>
          <p:nvPr/>
        </p:nvSpPr>
        <p:spPr>
          <a:xfrm>
            <a:off x="6675120" y="2880360"/>
            <a:ext cx="4754880" cy="246888"/>
          </a:xfrm>
          <a:prstGeom prst="rect">
            <a:avLst/>
          </a:prstGeom>
          <a:noFill/>
        </p:spPr>
        <p:txBody>
          <a:bodyPr wrap="square">
            <a:spAutoFit/>
          </a:bodyPr>
          <a:lstStyle/>
          <a:p>
            <a:pPr algn="l">
              <a:defRPr sz="1100" b="0">
                <a:solidFill>
                  <a:srgbClr val="1A1A2E"/>
                </a:solidFill>
                <a:latin typeface="Calibri"/>
              </a:defRPr>
            </a:pPr>
            <a:r>
              <a:t>✗  View internal notes or task assignments</a:t>
            </a:r>
          </a:p>
        </p:txBody>
      </p:sp>
      <p:sp>
        <p:nvSpPr>
          <p:cNvPr id="20" name="TextBox 19"/>
          <p:cNvSpPr txBox="1"/>
          <p:nvPr/>
        </p:nvSpPr>
        <p:spPr>
          <a:xfrm>
            <a:off x="6675120" y="3154679"/>
            <a:ext cx="4754880" cy="246888"/>
          </a:xfrm>
          <a:prstGeom prst="rect">
            <a:avLst/>
          </a:prstGeom>
          <a:noFill/>
        </p:spPr>
        <p:txBody>
          <a:bodyPr wrap="square">
            <a:spAutoFit/>
          </a:bodyPr>
          <a:lstStyle/>
          <a:p>
            <a:pPr algn="l">
              <a:defRPr sz="1100" b="0">
                <a:solidFill>
                  <a:srgbClr val="1A1A2E"/>
                </a:solidFill>
                <a:latin typeface="Calibri"/>
              </a:defRPr>
            </a:pPr>
            <a:r>
              <a:t>✗  Trigger bot verifications</a:t>
            </a:r>
          </a:p>
        </p:txBody>
      </p:sp>
      <p:sp>
        <p:nvSpPr>
          <p:cNvPr id="21" name="TextBox 20"/>
          <p:cNvSpPr txBox="1"/>
          <p:nvPr/>
        </p:nvSpPr>
        <p:spPr>
          <a:xfrm>
            <a:off x="6675120" y="3429000"/>
            <a:ext cx="4754880" cy="246888"/>
          </a:xfrm>
          <a:prstGeom prst="rect">
            <a:avLst/>
          </a:prstGeom>
          <a:noFill/>
        </p:spPr>
        <p:txBody>
          <a:bodyPr wrap="square">
            <a:spAutoFit/>
          </a:bodyPr>
          <a:lstStyle/>
          <a:p>
            <a:pPr algn="l">
              <a:defRPr sz="1100" b="0">
                <a:solidFill>
                  <a:srgbClr val="1A1A2E"/>
                </a:solidFill>
                <a:latin typeface="Calibri"/>
              </a:defRPr>
            </a:pPr>
            <a:r>
              <a:t>✗  See audit trail or communication logs</a:t>
            </a:r>
          </a:p>
        </p:txBody>
      </p:sp>
      <p:sp>
        <p:nvSpPr>
          <p:cNvPr id="22" name="Rounded Rectangle 21"/>
          <p:cNvSpPr/>
          <p:nvPr/>
        </p:nvSpPr>
        <p:spPr>
          <a:xfrm>
            <a:off x="6400800" y="3840480"/>
            <a:ext cx="5120640" cy="237744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977639"/>
            <a:ext cx="4572000" cy="274320"/>
          </a:xfrm>
          <a:prstGeom prst="rect">
            <a:avLst/>
          </a:prstGeom>
          <a:noFill/>
        </p:spPr>
        <p:txBody>
          <a:bodyPr wrap="square">
            <a:spAutoFit/>
          </a:bodyPr>
          <a:lstStyle/>
          <a:p>
            <a:pPr algn="l">
              <a:defRPr sz="1500" b="1">
                <a:solidFill>
                  <a:srgbClr val="0B3D91"/>
                </a:solidFill>
                <a:latin typeface="Calibri"/>
              </a:defRPr>
            </a:pPr>
            <a:r>
              <a:t>Application Form Sections (11 sections)</a:t>
            </a:r>
          </a:p>
        </p:txBody>
      </p:sp>
      <p:sp>
        <p:nvSpPr>
          <p:cNvPr id="24" name="TextBox 23"/>
          <p:cNvSpPr txBox="1"/>
          <p:nvPr/>
        </p:nvSpPr>
        <p:spPr>
          <a:xfrm>
            <a:off x="6675120" y="4343400"/>
            <a:ext cx="2377440" cy="228600"/>
          </a:xfrm>
          <a:prstGeom prst="rect">
            <a:avLst/>
          </a:prstGeom>
          <a:noFill/>
        </p:spPr>
        <p:txBody>
          <a:bodyPr wrap="square">
            <a:spAutoFit/>
          </a:bodyPr>
          <a:lstStyle/>
          <a:p>
            <a:pPr algn="l">
              <a:defRPr sz="1000" b="0">
                <a:solidFill>
                  <a:srgbClr val="1A1A2E"/>
                </a:solidFill>
                <a:latin typeface="Calibri"/>
              </a:defRPr>
            </a:pPr>
            <a:r>
              <a:t>1. Personal Information</a:t>
            </a:r>
          </a:p>
        </p:txBody>
      </p:sp>
      <p:sp>
        <p:nvSpPr>
          <p:cNvPr id="25" name="TextBox 24"/>
          <p:cNvSpPr txBox="1"/>
          <p:nvPr/>
        </p:nvSpPr>
        <p:spPr>
          <a:xfrm>
            <a:off x="9235440" y="4343400"/>
            <a:ext cx="2377440" cy="228600"/>
          </a:xfrm>
          <a:prstGeom prst="rect">
            <a:avLst/>
          </a:prstGeom>
          <a:noFill/>
        </p:spPr>
        <p:txBody>
          <a:bodyPr wrap="square">
            <a:spAutoFit/>
          </a:bodyPr>
          <a:lstStyle/>
          <a:p>
            <a:pPr algn="l">
              <a:defRPr sz="1000" b="0">
                <a:solidFill>
                  <a:srgbClr val="1A1A2E"/>
                </a:solidFill>
                <a:latin typeface="Calibri"/>
              </a:defRPr>
            </a:pPr>
            <a:r>
              <a:t>2. Contact Information</a:t>
            </a:r>
          </a:p>
        </p:txBody>
      </p:sp>
      <p:sp>
        <p:nvSpPr>
          <p:cNvPr id="26" name="TextBox 25"/>
          <p:cNvSpPr txBox="1"/>
          <p:nvPr/>
        </p:nvSpPr>
        <p:spPr>
          <a:xfrm>
            <a:off x="6675120" y="4617720"/>
            <a:ext cx="2377440" cy="228600"/>
          </a:xfrm>
          <a:prstGeom prst="rect">
            <a:avLst/>
          </a:prstGeom>
          <a:noFill/>
        </p:spPr>
        <p:txBody>
          <a:bodyPr wrap="square">
            <a:spAutoFit/>
          </a:bodyPr>
          <a:lstStyle/>
          <a:p>
            <a:pPr algn="l">
              <a:defRPr sz="1000" b="0">
                <a:solidFill>
                  <a:srgbClr val="1A1A2E"/>
                </a:solidFill>
                <a:latin typeface="Calibri"/>
              </a:defRPr>
            </a:pPr>
            <a:r>
              <a:t>3. Professional Identifiers (NPI, DEA, licenses)</a:t>
            </a:r>
          </a:p>
        </p:txBody>
      </p:sp>
      <p:sp>
        <p:nvSpPr>
          <p:cNvPr id="27" name="TextBox 26"/>
          <p:cNvSpPr txBox="1"/>
          <p:nvPr/>
        </p:nvSpPr>
        <p:spPr>
          <a:xfrm>
            <a:off x="9235440" y="4617720"/>
            <a:ext cx="2377440" cy="228600"/>
          </a:xfrm>
          <a:prstGeom prst="rect">
            <a:avLst/>
          </a:prstGeom>
          <a:noFill/>
        </p:spPr>
        <p:txBody>
          <a:bodyPr wrap="square">
            <a:spAutoFit/>
          </a:bodyPr>
          <a:lstStyle/>
          <a:p>
            <a:pPr algn="l">
              <a:defRPr sz="1000" b="0">
                <a:solidFill>
                  <a:srgbClr val="1A1A2E"/>
                </a:solidFill>
                <a:latin typeface="Calibri"/>
              </a:defRPr>
            </a:pPr>
            <a:r>
              <a:t>4. Education &amp; Training</a:t>
            </a:r>
          </a:p>
        </p:txBody>
      </p:sp>
      <p:sp>
        <p:nvSpPr>
          <p:cNvPr id="28" name="TextBox 27"/>
          <p:cNvSpPr txBox="1"/>
          <p:nvPr/>
        </p:nvSpPr>
        <p:spPr>
          <a:xfrm>
            <a:off x="6675120" y="4892040"/>
            <a:ext cx="2377440" cy="228600"/>
          </a:xfrm>
          <a:prstGeom prst="rect">
            <a:avLst/>
          </a:prstGeom>
          <a:noFill/>
        </p:spPr>
        <p:txBody>
          <a:bodyPr wrap="square">
            <a:spAutoFit/>
          </a:bodyPr>
          <a:lstStyle/>
          <a:p>
            <a:pPr algn="l">
              <a:defRPr sz="1000" b="0">
                <a:solidFill>
                  <a:srgbClr val="1A1A2E"/>
                </a:solidFill>
                <a:latin typeface="Calibri"/>
              </a:defRPr>
            </a:pPr>
            <a:r>
              <a:t>5. Board Certification</a:t>
            </a:r>
          </a:p>
        </p:txBody>
      </p:sp>
      <p:sp>
        <p:nvSpPr>
          <p:cNvPr id="29" name="TextBox 28"/>
          <p:cNvSpPr txBox="1"/>
          <p:nvPr/>
        </p:nvSpPr>
        <p:spPr>
          <a:xfrm>
            <a:off x="9235440" y="4892040"/>
            <a:ext cx="2377440" cy="228600"/>
          </a:xfrm>
          <a:prstGeom prst="rect">
            <a:avLst/>
          </a:prstGeom>
          <a:noFill/>
        </p:spPr>
        <p:txBody>
          <a:bodyPr wrap="square">
            <a:spAutoFit/>
          </a:bodyPr>
          <a:lstStyle/>
          <a:p>
            <a:pPr algn="l">
              <a:defRPr sz="1000" b="0">
                <a:solidFill>
                  <a:srgbClr val="1A1A2E"/>
                </a:solidFill>
                <a:latin typeface="Calibri"/>
              </a:defRPr>
            </a:pPr>
            <a:r>
              <a:t>6. Work History</a:t>
            </a:r>
          </a:p>
        </p:txBody>
      </p:sp>
      <p:sp>
        <p:nvSpPr>
          <p:cNvPr id="30" name="TextBox 29"/>
          <p:cNvSpPr txBox="1"/>
          <p:nvPr/>
        </p:nvSpPr>
        <p:spPr>
          <a:xfrm>
            <a:off x="6675120" y="5166360"/>
            <a:ext cx="2377440" cy="228600"/>
          </a:xfrm>
          <a:prstGeom prst="rect">
            <a:avLst/>
          </a:prstGeom>
          <a:noFill/>
        </p:spPr>
        <p:txBody>
          <a:bodyPr wrap="square">
            <a:spAutoFit/>
          </a:bodyPr>
          <a:lstStyle/>
          <a:p>
            <a:pPr algn="l">
              <a:defRPr sz="1000" b="0">
                <a:solidFill>
                  <a:srgbClr val="1A1A2E"/>
                </a:solidFill>
                <a:latin typeface="Calibri"/>
              </a:defRPr>
            </a:pPr>
            <a:r>
              <a:t>7. Malpractice Insurance</a:t>
            </a:r>
          </a:p>
        </p:txBody>
      </p:sp>
      <p:sp>
        <p:nvSpPr>
          <p:cNvPr id="31" name="TextBox 30"/>
          <p:cNvSpPr txBox="1"/>
          <p:nvPr/>
        </p:nvSpPr>
        <p:spPr>
          <a:xfrm>
            <a:off x="9235440" y="5166360"/>
            <a:ext cx="2377440" cy="228600"/>
          </a:xfrm>
          <a:prstGeom prst="rect">
            <a:avLst/>
          </a:prstGeom>
          <a:noFill/>
        </p:spPr>
        <p:txBody>
          <a:bodyPr wrap="square">
            <a:spAutoFit/>
          </a:bodyPr>
          <a:lstStyle/>
          <a:p>
            <a:pPr algn="l">
              <a:defRPr sz="1000" b="0">
                <a:solidFill>
                  <a:srgbClr val="1A1A2E"/>
                </a:solidFill>
                <a:latin typeface="Calibri"/>
              </a:defRPr>
            </a:pPr>
            <a:r>
              <a:t>8. Hospital Affiliations</a:t>
            </a:r>
          </a:p>
        </p:txBody>
      </p:sp>
      <p:sp>
        <p:nvSpPr>
          <p:cNvPr id="32" name="TextBox 31"/>
          <p:cNvSpPr txBox="1"/>
          <p:nvPr/>
        </p:nvSpPr>
        <p:spPr>
          <a:xfrm>
            <a:off x="6675120" y="5440680"/>
            <a:ext cx="2377440" cy="228600"/>
          </a:xfrm>
          <a:prstGeom prst="rect">
            <a:avLst/>
          </a:prstGeom>
          <a:noFill/>
        </p:spPr>
        <p:txBody>
          <a:bodyPr wrap="square">
            <a:spAutoFit/>
          </a:bodyPr>
          <a:lstStyle/>
          <a:p>
            <a:pPr algn="l">
              <a:defRPr sz="1000" b="0">
                <a:solidFill>
                  <a:srgbClr val="1A1A2E"/>
                </a:solidFill>
                <a:latin typeface="Calibri"/>
              </a:defRPr>
            </a:pPr>
            <a:r>
              <a:t>9. Licenses &amp; Registrations</a:t>
            </a:r>
          </a:p>
        </p:txBody>
      </p:sp>
      <p:sp>
        <p:nvSpPr>
          <p:cNvPr id="33" name="TextBox 32"/>
          <p:cNvSpPr txBox="1"/>
          <p:nvPr/>
        </p:nvSpPr>
        <p:spPr>
          <a:xfrm>
            <a:off x="9235440" y="5440680"/>
            <a:ext cx="2377440" cy="228600"/>
          </a:xfrm>
          <a:prstGeom prst="rect">
            <a:avLst/>
          </a:prstGeom>
          <a:noFill/>
        </p:spPr>
        <p:txBody>
          <a:bodyPr wrap="square">
            <a:spAutoFit/>
          </a:bodyPr>
          <a:lstStyle/>
          <a:p>
            <a:pPr algn="l">
              <a:defRPr sz="1000" b="0">
                <a:solidFill>
                  <a:srgbClr val="1A1A2E"/>
                </a:solidFill>
                <a:latin typeface="Calibri"/>
              </a:defRPr>
            </a:pPr>
            <a:r>
              <a:t>10. Attestation Questions</a:t>
            </a:r>
          </a:p>
        </p:txBody>
      </p:sp>
      <p:sp>
        <p:nvSpPr>
          <p:cNvPr id="34" name="TextBox 33"/>
          <p:cNvSpPr txBox="1"/>
          <p:nvPr/>
        </p:nvSpPr>
        <p:spPr>
          <a:xfrm>
            <a:off x="6675120" y="5715000"/>
            <a:ext cx="2377440" cy="228600"/>
          </a:xfrm>
          <a:prstGeom prst="rect">
            <a:avLst/>
          </a:prstGeom>
          <a:noFill/>
        </p:spPr>
        <p:txBody>
          <a:bodyPr wrap="square">
            <a:spAutoFit/>
          </a:bodyPr>
          <a:lstStyle/>
          <a:p>
            <a:pPr algn="l">
              <a:defRPr sz="1000" b="0">
                <a:solidFill>
                  <a:srgbClr val="1A1A2E"/>
                </a:solidFill>
                <a:latin typeface="Calibri"/>
              </a:defRPr>
            </a:pPr>
            <a:r>
              <a:t>11. Attestation &amp; E-Signature</a:t>
            </a:r>
          </a:p>
        </p:txBody>
      </p:sp>
      <p:sp>
        <p:nvSpPr>
          <p:cNvPr id="35" name="Rounded Rectangle 34"/>
          <p:cNvSpPr/>
          <p:nvPr/>
        </p:nvSpPr>
        <p:spPr>
          <a:xfrm>
            <a:off x="731520" y="5303520"/>
            <a:ext cx="5303520" cy="914400"/>
          </a:xfrm>
          <a:prstGeom prst="roundRect">
            <a:avLst/>
          </a:prstGeom>
          <a:solidFill>
            <a:srgbClr val="E8F4FB"/>
          </a:solidFill>
          <a:ln w="127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394960"/>
            <a:ext cx="4572000" cy="228600"/>
          </a:xfrm>
          <a:prstGeom prst="rect">
            <a:avLst/>
          </a:prstGeom>
          <a:noFill/>
        </p:spPr>
        <p:txBody>
          <a:bodyPr wrap="square">
            <a:spAutoFit/>
          </a:bodyPr>
          <a:lstStyle/>
          <a:p>
            <a:pPr algn="l">
              <a:defRPr sz="1400" b="1">
                <a:solidFill>
                  <a:srgbClr val="00A3E0"/>
                </a:solidFill>
                <a:latin typeface="Calibri"/>
              </a:defRPr>
            </a:pPr>
            <a:r>
              <a:t>Document OCR Auto-Fill</a:t>
            </a:r>
          </a:p>
        </p:txBody>
      </p:sp>
      <p:sp>
        <p:nvSpPr>
          <p:cNvPr id="37" name="TextBox 36"/>
          <p:cNvSpPr txBox="1"/>
          <p:nvPr/>
        </p:nvSpPr>
        <p:spPr>
          <a:xfrm>
            <a:off x="1005840" y="5669280"/>
            <a:ext cx="4937760" cy="411480"/>
          </a:xfrm>
          <a:prstGeom prst="rect">
            <a:avLst/>
          </a:prstGeom>
          <a:noFill/>
        </p:spPr>
        <p:txBody>
          <a:bodyPr wrap="square">
            <a:spAutoFit/>
          </a:bodyPr>
          <a:lstStyle/>
          <a:p>
            <a:pPr algn="l">
              <a:defRPr sz="1000" b="0">
                <a:solidFill>
                  <a:srgbClr val="1A1A2E"/>
                </a:solidFill>
                <a:latin typeface="Calibri"/>
              </a:defRPr>
            </a:pPr>
            <a:r>
              <a:t>When providers upload documents, Azure AI extracts data automatically (name, license #, expiration, etc.) and pre-fills the corresponding form fields. Fields show 'auto-filled from document' indicator.</a:t>
            </a:r>
          </a:p>
        </p:txBody>
      </p:sp>
      <p:sp>
        <p:nvSpPr>
          <p:cNvPr id="38" name="TextBox 37"/>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BBBBDD"/>
                </a:solidFill>
                <a:latin typeface="Calibri"/>
              </a:defRPr>
            </a:pPr>
            <a:r>
              <a:t>BEST PRACTICES</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FFFFFF"/>
                </a:solidFill>
                <a:latin typeface="Calibri"/>
              </a:defRPr>
            </a:pPr>
            <a:r>
              <a:t>Tips for Daily Success</a:t>
            </a:r>
          </a:p>
        </p:txBody>
      </p:sp>
      <p:sp>
        <p:nvSpPr>
          <p:cNvPr id="4" name="Rounded Rectangle 3"/>
          <p:cNvSpPr/>
          <p:nvPr/>
        </p:nvSpPr>
        <p:spPr>
          <a:xfrm>
            <a:off x="731520" y="146304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3474720" cy="45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3108960" cy="228600"/>
          </a:xfrm>
          <a:prstGeom prst="rect">
            <a:avLst/>
          </a:prstGeom>
          <a:noFill/>
        </p:spPr>
        <p:txBody>
          <a:bodyPr wrap="square">
            <a:spAutoFit/>
          </a:bodyPr>
          <a:lstStyle/>
          <a:p>
            <a:pPr algn="l">
              <a:defRPr sz="1400" b="1">
                <a:solidFill>
                  <a:srgbClr val="00A3E0"/>
                </a:solidFill>
                <a:latin typeface="Calibri"/>
              </a:defRPr>
            </a:pPr>
            <a:r>
              <a:t>Morning Routine</a:t>
            </a:r>
          </a:p>
        </p:txBody>
      </p:sp>
      <p:sp>
        <p:nvSpPr>
          <p:cNvPr id="7" name="TextBox 6"/>
          <p:cNvSpPr txBox="1"/>
          <p:nvPr/>
        </p:nvSpPr>
        <p:spPr>
          <a:xfrm>
            <a:off x="914400" y="1920240"/>
            <a:ext cx="3108960" cy="274320"/>
          </a:xfrm>
          <a:prstGeom prst="rect">
            <a:avLst/>
          </a:prstGeom>
          <a:noFill/>
        </p:spPr>
        <p:txBody>
          <a:bodyPr wrap="square">
            <a:spAutoFit/>
          </a:bodyPr>
          <a:lstStyle/>
          <a:p>
            <a:pPr algn="l">
              <a:defRPr sz="1000" b="0">
                <a:solidFill>
                  <a:srgbClr val="BBBBDD"/>
                </a:solidFill>
                <a:latin typeface="Calibri"/>
              </a:defRPr>
            </a:pPr>
            <a:r>
              <a:t>•  Check Dashboard first thing every day</a:t>
            </a:r>
          </a:p>
        </p:txBody>
      </p:sp>
      <p:sp>
        <p:nvSpPr>
          <p:cNvPr id="8" name="TextBox 7"/>
          <p:cNvSpPr txBox="1"/>
          <p:nvPr/>
        </p:nvSpPr>
        <p:spPr>
          <a:xfrm>
            <a:off x="914400" y="2240280"/>
            <a:ext cx="3108960" cy="274320"/>
          </a:xfrm>
          <a:prstGeom prst="rect">
            <a:avLst/>
          </a:prstGeom>
          <a:noFill/>
        </p:spPr>
        <p:txBody>
          <a:bodyPr wrap="square">
            <a:spAutoFit/>
          </a:bodyPr>
          <a:lstStyle/>
          <a:p>
            <a:pPr algn="l">
              <a:defRPr sz="1000" b="0">
                <a:solidFill>
                  <a:srgbClr val="BBBBDD"/>
                </a:solidFill>
                <a:latin typeface="Calibri"/>
              </a:defRPr>
            </a:pPr>
            <a:r>
              <a:t>•  Process Urgent Attention items (red) first</a:t>
            </a:r>
          </a:p>
        </p:txBody>
      </p:sp>
      <p:sp>
        <p:nvSpPr>
          <p:cNvPr id="9" name="TextBox 8"/>
          <p:cNvSpPr txBox="1"/>
          <p:nvPr/>
        </p:nvSpPr>
        <p:spPr>
          <a:xfrm>
            <a:off x="914400" y="2560320"/>
            <a:ext cx="3108960" cy="274320"/>
          </a:xfrm>
          <a:prstGeom prst="rect">
            <a:avLst/>
          </a:prstGeom>
          <a:noFill/>
        </p:spPr>
        <p:txBody>
          <a:bodyPr wrap="square">
            <a:spAutoFit/>
          </a:bodyPr>
          <a:lstStyle/>
          <a:p>
            <a:pPr algn="l">
              <a:defRPr sz="1000" b="0">
                <a:solidFill>
                  <a:srgbClr val="BBBBDD"/>
                </a:solidFill>
                <a:latin typeface="Calibri"/>
              </a:defRPr>
            </a:pPr>
            <a:r>
              <a:t>•  Review My Tasks — tackle what's due today</a:t>
            </a:r>
          </a:p>
        </p:txBody>
      </p:sp>
      <p:sp>
        <p:nvSpPr>
          <p:cNvPr id="10" name="TextBox 9"/>
          <p:cNvSpPr txBox="1"/>
          <p:nvPr/>
        </p:nvSpPr>
        <p:spPr>
          <a:xfrm>
            <a:off x="914400" y="2880360"/>
            <a:ext cx="3108960" cy="274320"/>
          </a:xfrm>
          <a:prstGeom prst="rect">
            <a:avLst/>
          </a:prstGeom>
          <a:noFill/>
        </p:spPr>
        <p:txBody>
          <a:bodyPr wrap="square">
            <a:spAutoFit/>
          </a:bodyPr>
          <a:lstStyle/>
          <a:p>
            <a:pPr algn="l">
              <a:defRPr sz="1000" b="0">
                <a:solidFill>
                  <a:srgbClr val="BBBBDD"/>
                </a:solidFill>
                <a:latin typeface="Calibri"/>
              </a:defRPr>
            </a:pPr>
            <a:r>
              <a:t>•  Scan Pipeline for bottlenecks</a:t>
            </a:r>
          </a:p>
        </p:txBody>
      </p:sp>
      <p:sp>
        <p:nvSpPr>
          <p:cNvPr id="11" name="TextBox 10"/>
          <p:cNvSpPr txBox="1"/>
          <p:nvPr/>
        </p:nvSpPr>
        <p:spPr>
          <a:xfrm>
            <a:off x="914400" y="3200400"/>
            <a:ext cx="3108960" cy="274320"/>
          </a:xfrm>
          <a:prstGeom prst="rect">
            <a:avLst/>
          </a:prstGeom>
          <a:noFill/>
        </p:spPr>
        <p:txBody>
          <a:bodyPr wrap="square">
            <a:spAutoFit/>
          </a:bodyPr>
          <a:lstStyle/>
          <a:p>
            <a:pPr algn="l">
              <a:defRPr sz="1000" b="0">
                <a:solidFill>
                  <a:srgbClr val="BBBBDD"/>
                </a:solidFill>
                <a:latin typeface="Calibri"/>
              </a:defRPr>
            </a:pPr>
            <a:r>
              <a:t>•  This takes 5 minutes and prevents surprises</a:t>
            </a:r>
          </a:p>
        </p:txBody>
      </p:sp>
      <p:sp>
        <p:nvSpPr>
          <p:cNvPr id="12" name="Rounded Rectangle 11"/>
          <p:cNvSpPr/>
          <p:nvPr/>
        </p:nvSpPr>
        <p:spPr>
          <a:xfrm>
            <a:off x="4480559" y="146304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463040"/>
            <a:ext cx="3474720" cy="4572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600200"/>
            <a:ext cx="3108960" cy="228600"/>
          </a:xfrm>
          <a:prstGeom prst="rect">
            <a:avLst/>
          </a:prstGeom>
          <a:noFill/>
        </p:spPr>
        <p:txBody>
          <a:bodyPr wrap="square">
            <a:spAutoFit/>
          </a:bodyPr>
          <a:lstStyle/>
          <a:p>
            <a:pPr algn="l">
              <a:defRPr sz="1400" b="1">
                <a:solidFill>
                  <a:srgbClr val="00B67A"/>
                </a:solidFill>
                <a:latin typeface="Calibri"/>
              </a:defRPr>
            </a:pPr>
            <a:r>
              <a:t>Provider Records</a:t>
            </a:r>
          </a:p>
        </p:txBody>
      </p:sp>
      <p:sp>
        <p:nvSpPr>
          <p:cNvPr id="15" name="TextBox 14"/>
          <p:cNvSpPr txBox="1"/>
          <p:nvPr/>
        </p:nvSpPr>
        <p:spPr>
          <a:xfrm>
            <a:off x="4663440" y="1920240"/>
            <a:ext cx="3108960" cy="274320"/>
          </a:xfrm>
          <a:prstGeom prst="rect">
            <a:avLst/>
          </a:prstGeom>
          <a:noFill/>
        </p:spPr>
        <p:txBody>
          <a:bodyPr wrap="square">
            <a:spAutoFit/>
          </a:bodyPr>
          <a:lstStyle/>
          <a:p>
            <a:pPr algn="l">
              <a:defRPr sz="1000" b="0">
                <a:solidFill>
                  <a:srgbClr val="BBBBDD"/>
                </a:solidFill>
                <a:latin typeface="Calibri"/>
              </a:defRPr>
            </a:pPr>
            <a:r>
              <a:t>•  Advance status as soon as criteria are met</a:t>
            </a:r>
          </a:p>
        </p:txBody>
      </p:sp>
      <p:sp>
        <p:nvSpPr>
          <p:cNvPr id="16" name="TextBox 15"/>
          <p:cNvSpPr txBox="1"/>
          <p:nvPr/>
        </p:nvSpPr>
        <p:spPr>
          <a:xfrm>
            <a:off x="4663440" y="2240280"/>
            <a:ext cx="3108960" cy="274320"/>
          </a:xfrm>
          <a:prstGeom prst="rect">
            <a:avLst/>
          </a:prstGeom>
          <a:noFill/>
        </p:spPr>
        <p:txBody>
          <a:bodyPr wrap="square">
            <a:spAutoFit/>
          </a:bodyPr>
          <a:lstStyle/>
          <a:p>
            <a:pPr algn="l">
              <a:defRPr sz="1000" b="0">
                <a:solidFill>
                  <a:srgbClr val="BBBBDD"/>
                </a:solidFill>
                <a:latin typeface="Calibri"/>
              </a:defRPr>
            </a:pPr>
            <a:r>
              <a:t>•  Don't let providers sit in the wrong stage</a:t>
            </a:r>
          </a:p>
        </p:txBody>
      </p:sp>
      <p:sp>
        <p:nvSpPr>
          <p:cNvPr id="17" name="TextBox 16"/>
          <p:cNvSpPr txBox="1"/>
          <p:nvPr/>
        </p:nvSpPr>
        <p:spPr>
          <a:xfrm>
            <a:off x="4663440" y="2560320"/>
            <a:ext cx="3108960" cy="274320"/>
          </a:xfrm>
          <a:prstGeom prst="rect">
            <a:avLst/>
          </a:prstGeom>
          <a:noFill/>
        </p:spPr>
        <p:txBody>
          <a:bodyPr wrap="square">
            <a:spAutoFit/>
          </a:bodyPr>
          <a:lstStyle/>
          <a:p>
            <a:pPr algn="l">
              <a:defRPr sz="1000" b="0">
                <a:solidFill>
                  <a:srgbClr val="BBBBDD"/>
                </a:solidFill>
                <a:latin typeface="Calibri"/>
              </a:defRPr>
            </a:pPr>
            <a:r>
              <a:t>•  Use Internal Notes for context that doesn't fit fields</a:t>
            </a:r>
          </a:p>
        </p:txBody>
      </p:sp>
      <p:sp>
        <p:nvSpPr>
          <p:cNvPr id="18" name="TextBox 17"/>
          <p:cNvSpPr txBox="1"/>
          <p:nvPr/>
        </p:nvSpPr>
        <p:spPr>
          <a:xfrm>
            <a:off x="4663440" y="2880360"/>
            <a:ext cx="3108960" cy="274320"/>
          </a:xfrm>
          <a:prstGeom prst="rect">
            <a:avLst/>
          </a:prstGeom>
          <a:noFill/>
        </p:spPr>
        <p:txBody>
          <a:bodyPr wrap="square">
            <a:spAutoFit/>
          </a:bodyPr>
          <a:lstStyle/>
          <a:p>
            <a:pPr algn="l">
              <a:defRPr sz="1000" b="0">
                <a:solidFill>
                  <a:srgbClr val="BBBBDD"/>
                </a:solidFill>
                <a:latin typeface="Calibri"/>
              </a:defRPr>
            </a:pPr>
            <a:r>
              <a:t>•  Notes visible to staff, never to providers</a:t>
            </a:r>
          </a:p>
        </p:txBody>
      </p:sp>
      <p:sp>
        <p:nvSpPr>
          <p:cNvPr id="19" name="TextBox 18"/>
          <p:cNvSpPr txBox="1"/>
          <p:nvPr/>
        </p:nvSpPr>
        <p:spPr>
          <a:xfrm>
            <a:off x="4663440" y="3200400"/>
            <a:ext cx="3108960" cy="274320"/>
          </a:xfrm>
          <a:prstGeom prst="rect">
            <a:avLst/>
          </a:prstGeom>
          <a:noFill/>
        </p:spPr>
        <p:txBody>
          <a:bodyPr wrap="square">
            <a:spAutoFit/>
          </a:bodyPr>
          <a:lstStyle/>
          <a:p>
            <a:pPr algn="l">
              <a:defRPr sz="1000" b="0">
                <a:solidFill>
                  <a:srgbClr val="BBBBDD"/>
                </a:solidFill>
                <a:latin typeface="Calibri"/>
              </a:defRPr>
            </a:pPr>
            <a:r>
              <a:t>•  Every edit is tracked in the audit trail</a:t>
            </a:r>
          </a:p>
        </p:txBody>
      </p:sp>
      <p:sp>
        <p:nvSpPr>
          <p:cNvPr id="20" name="Rounded Rectangle 19"/>
          <p:cNvSpPr/>
          <p:nvPr/>
        </p:nvSpPr>
        <p:spPr>
          <a:xfrm>
            <a:off x="8229600" y="146304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463040"/>
            <a:ext cx="3474720" cy="457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1600200"/>
            <a:ext cx="3108960" cy="228600"/>
          </a:xfrm>
          <a:prstGeom prst="rect">
            <a:avLst/>
          </a:prstGeom>
          <a:noFill/>
        </p:spPr>
        <p:txBody>
          <a:bodyPr wrap="square">
            <a:spAutoFit/>
          </a:bodyPr>
          <a:lstStyle/>
          <a:p>
            <a:pPr algn="l">
              <a:defRPr sz="1400" b="1">
                <a:solidFill>
                  <a:srgbClr val="FF6B35"/>
                </a:solidFill>
                <a:latin typeface="Calibri"/>
              </a:defRPr>
            </a:pPr>
            <a:r>
              <a:t>Follow-Up Discipline</a:t>
            </a:r>
          </a:p>
        </p:txBody>
      </p:sp>
      <p:sp>
        <p:nvSpPr>
          <p:cNvPr id="23" name="TextBox 22"/>
          <p:cNvSpPr txBox="1"/>
          <p:nvPr/>
        </p:nvSpPr>
        <p:spPr>
          <a:xfrm>
            <a:off x="8412480" y="1920240"/>
            <a:ext cx="3108960" cy="274320"/>
          </a:xfrm>
          <a:prstGeom prst="rect">
            <a:avLst/>
          </a:prstGeom>
          <a:noFill/>
        </p:spPr>
        <p:txBody>
          <a:bodyPr wrap="square">
            <a:spAutoFit/>
          </a:bodyPr>
          <a:lstStyle/>
          <a:p>
            <a:pPr algn="l">
              <a:defRPr sz="1000" b="0">
                <a:solidFill>
                  <a:srgbClr val="BBBBDD"/>
                </a:solidFill>
                <a:latin typeface="Calibri"/>
              </a:defRPr>
            </a:pPr>
            <a:r>
              <a:t>•  ALWAYS set a Next Follow-Up Date</a:t>
            </a:r>
          </a:p>
        </p:txBody>
      </p:sp>
      <p:sp>
        <p:nvSpPr>
          <p:cNvPr id="24" name="TextBox 23"/>
          <p:cNvSpPr txBox="1"/>
          <p:nvPr/>
        </p:nvSpPr>
        <p:spPr>
          <a:xfrm>
            <a:off x="8412480" y="2240280"/>
            <a:ext cx="3108960" cy="274320"/>
          </a:xfrm>
          <a:prstGeom prst="rect">
            <a:avLst/>
          </a:prstGeom>
          <a:noFill/>
        </p:spPr>
        <p:txBody>
          <a:bodyPr wrap="square">
            <a:spAutoFit/>
          </a:bodyPr>
          <a:lstStyle/>
          <a:p>
            <a:pPr algn="l">
              <a:defRPr sz="1000" b="0">
                <a:solidFill>
                  <a:srgbClr val="BBBBDD"/>
                </a:solidFill>
                <a:latin typeface="Calibri"/>
              </a:defRPr>
            </a:pPr>
            <a:r>
              <a:t>•  This is the #1 most important habit to build</a:t>
            </a:r>
          </a:p>
        </p:txBody>
      </p:sp>
      <p:sp>
        <p:nvSpPr>
          <p:cNvPr id="25" name="TextBox 24"/>
          <p:cNvSpPr txBox="1"/>
          <p:nvPr/>
        </p:nvSpPr>
        <p:spPr>
          <a:xfrm>
            <a:off x="8412480" y="2560320"/>
            <a:ext cx="3108960" cy="274320"/>
          </a:xfrm>
          <a:prstGeom prst="rect">
            <a:avLst/>
          </a:prstGeom>
          <a:noFill/>
        </p:spPr>
        <p:txBody>
          <a:bodyPr wrap="square">
            <a:spAutoFit/>
          </a:bodyPr>
          <a:lstStyle/>
          <a:p>
            <a:pPr algn="l">
              <a:defRPr sz="1000" b="0">
                <a:solidFill>
                  <a:srgbClr val="BBBBDD"/>
                </a:solidFill>
                <a:latin typeface="Calibri"/>
              </a:defRPr>
            </a:pPr>
            <a:r>
              <a:t>•  Payer says '2 weeks'? Set date for 2 weeks out</a:t>
            </a:r>
          </a:p>
        </p:txBody>
      </p:sp>
      <p:sp>
        <p:nvSpPr>
          <p:cNvPr id="26" name="TextBox 25"/>
          <p:cNvSpPr txBox="1"/>
          <p:nvPr/>
        </p:nvSpPr>
        <p:spPr>
          <a:xfrm>
            <a:off x="8412480" y="2880360"/>
            <a:ext cx="3108960" cy="274320"/>
          </a:xfrm>
          <a:prstGeom prst="rect">
            <a:avLst/>
          </a:prstGeom>
          <a:noFill/>
        </p:spPr>
        <p:txBody>
          <a:bodyPr wrap="square">
            <a:spAutoFit/>
          </a:bodyPr>
          <a:lstStyle/>
          <a:p>
            <a:pPr algn="l">
              <a:defRPr sz="1000" b="0">
                <a:solidFill>
                  <a:srgbClr val="BBBBDD"/>
                </a:solidFill>
                <a:latin typeface="Calibri"/>
              </a:defRPr>
            </a:pPr>
            <a:r>
              <a:t>•  The system reminds you automatically</a:t>
            </a:r>
          </a:p>
        </p:txBody>
      </p:sp>
      <p:sp>
        <p:nvSpPr>
          <p:cNvPr id="27" name="TextBox 26"/>
          <p:cNvSpPr txBox="1"/>
          <p:nvPr/>
        </p:nvSpPr>
        <p:spPr>
          <a:xfrm>
            <a:off x="8412480" y="3200400"/>
            <a:ext cx="3108960" cy="274320"/>
          </a:xfrm>
          <a:prstGeom prst="rect">
            <a:avLst/>
          </a:prstGeom>
          <a:noFill/>
        </p:spPr>
        <p:txBody>
          <a:bodyPr wrap="square">
            <a:spAutoFit/>
          </a:bodyPr>
          <a:lstStyle/>
          <a:p>
            <a:pPr algn="l">
              <a:defRPr sz="1000" b="0">
                <a:solidFill>
                  <a:srgbClr val="BBBBDD"/>
                </a:solidFill>
                <a:latin typeface="Calibri"/>
              </a:defRPr>
            </a:pPr>
            <a:r>
              <a:t>•  No follow-up date = enrollment falls off radar</a:t>
            </a:r>
          </a:p>
        </p:txBody>
      </p:sp>
      <p:sp>
        <p:nvSpPr>
          <p:cNvPr id="28" name="Rounded Rectangle 27"/>
          <p:cNvSpPr/>
          <p:nvPr/>
        </p:nvSpPr>
        <p:spPr>
          <a:xfrm>
            <a:off x="731520" y="402336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4023360"/>
            <a:ext cx="3474720" cy="4572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160520"/>
            <a:ext cx="3108960" cy="228600"/>
          </a:xfrm>
          <a:prstGeom prst="rect">
            <a:avLst/>
          </a:prstGeom>
          <a:noFill/>
        </p:spPr>
        <p:txBody>
          <a:bodyPr wrap="square">
            <a:spAutoFit/>
          </a:bodyPr>
          <a:lstStyle/>
          <a:p>
            <a:pPr algn="l">
              <a:defRPr sz="1400" b="1">
                <a:solidFill>
                  <a:srgbClr val="0B3D91"/>
                </a:solidFill>
                <a:latin typeface="Calibri"/>
              </a:defRPr>
            </a:pPr>
            <a:r>
              <a:t>Task Hygiene</a:t>
            </a:r>
          </a:p>
        </p:txBody>
      </p:sp>
      <p:sp>
        <p:nvSpPr>
          <p:cNvPr id="31" name="TextBox 30"/>
          <p:cNvSpPr txBox="1"/>
          <p:nvPr/>
        </p:nvSpPr>
        <p:spPr>
          <a:xfrm>
            <a:off x="914400" y="4480560"/>
            <a:ext cx="3108960" cy="274320"/>
          </a:xfrm>
          <a:prstGeom prst="rect">
            <a:avLst/>
          </a:prstGeom>
          <a:noFill/>
        </p:spPr>
        <p:txBody>
          <a:bodyPr wrap="square">
            <a:spAutoFit/>
          </a:bodyPr>
          <a:lstStyle/>
          <a:p>
            <a:pPr algn="l">
              <a:defRPr sz="1000" b="0">
                <a:solidFill>
                  <a:srgbClr val="BBBBDD"/>
                </a:solidFill>
                <a:latin typeface="Calibri"/>
              </a:defRPr>
            </a:pPr>
            <a:r>
              <a:t>•  Close tasks promptly when completed</a:t>
            </a:r>
          </a:p>
        </p:txBody>
      </p:sp>
      <p:sp>
        <p:nvSpPr>
          <p:cNvPr id="32" name="TextBox 31"/>
          <p:cNvSpPr txBox="1"/>
          <p:nvPr/>
        </p:nvSpPr>
        <p:spPr>
          <a:xfrm>
            <a:off x="914400" y="4800600"/>
            <a:ext cx="3108960" cy="274320"/>
          </a:xfrm>
          <a:prstGeom prst="rect">
            <a:avLst/>
          </a:prstGeom>
          <a:noFill/>
        </p:spPr>
        <p:txBody>
          <a:bodyPr wrap="square">
            <a:spAutoFit/>
          </a:bodyPr>
          <a:lstStyle/>
          <a:p>
            <a:pPr algn="l">
              <a:defRPr sz="1000" b="0">
                <a:solidFill>
                  <a:srgbClr val="BBBBDD"/>
                </a:solidFill>
                <a:latin typeface="Calibri"/>
              </a:defRPr>
            </a:pPr>
            <a:r>
              <a:t>•  Create specific tasks, not vague ones</a:t>
            </a:r>
          </a:p>
        </p:txBody>
      </p:sp>
      <p:sp>
        <p:nvSpPr>
          <p:cNvPr id="33" name="TextBox 32"/>
          <p:cNvSpPr txBox="1"/>
          <p:nvPr/>
        </p:nvSpPr>
        <p:spPr>
          <a:xfrm>
            <a:off x="914400" y="5120640"/>
            <a:ext cx="3108960" cy="274320"/>
          </a:xfrm>
          <a:prstGeom prst="rect">
            <a:avLst/>
          </a:prstGeom>
          <a:noFill/>
        </p:spPr>
        <p:txBody>
          <a:bodyPr wrap="square">
            <a:spAutoFit/>
          </a:bodyPr>
          <a:lstStyle/>
          <a:p>
            <a:pPr algn="l">
              <a:defRPr sz="1000" b="0">
                <a:solidFill>
                  <a:srgbClr val="BBBBDD"/>
                </a:solidFill>
                <a:latin typeface="Calibri"/>
              </a:defRPr>
            </a:pPr>
            <a:r>
              <a:t>•  Assign to the right person</a:t>
            </a:r>
          </a:p>
        </p:txBody>
      </p:sp>
      <p:sp>
        <p:nvSpPr>
          <p:cNvPr id="34" name="TextBox 33"/>
          <p:cNvSpPr txBox="1"/>
          <p:nvPr/>
        </p:nvSpPr>
        <p:spPr>
          <a:xfrm>
            <a:off x="914400" y="5440680"/>
            <a:ext cx="3108960" cy="274320"/>
          </a:xfrm>
          <a:prstGeom prst="rect">
            <a:avLst/>
          </a:prstGeom>
          <a:noFill/>
        </p:spPr>
        <p:txBody>
          <a:bodyPr wrap="square">
            <a:spAutoFit/>
          </a:bodyPr>
          <a:lstStyle/>
          <a:p>
            <a:pPr algn="l">
              <a:defRPr sz="1000" b="0">
                <a:solidFill>
                  <a:srgbClr val="BBBBDD"/>
                </a:solidFill>
                <a:latin typeface="Calibri"/>
              </a:defRPr>
            </a:pPr>
            <a:r>
              <a:t>•  High = blocks progress, Med = routine, Low = info</a:t>
            </a:r>
          </a:p>
        </p:txBody>
      </p:sp>
      <p:sp>
        <p:nvSpPr>
          <p:cNvPr id="35" name="TextBox 34"/>
          <p:cNvSpPr txBox="1"/>
          <p:nvPr/>
        </p:nvSpPr>
        <p:spPr>
          <a:xfrm>
            <a:off x="914400" y="5760720"/>
            <a:ext cx="3108960" cy="274320"/>
          </a:xfrm>
          <a:prstGeom prst="rect">
            <a:avLst/>
          </a:prstGeom>
          <a:noFill/>
        </p:spPr>
        <p:txBody>
          <a:bodyPr wrap="square">
            <a:spAutoFit/>
          </a:bodyPr>
          <a:lstStyle/>
          <a:p>
            <a:pPr algn="l">
              <a:defRPr sz="1000" b="0">
                <a:solidFill>
                  <a:srgbClr val="BBBBDD"/>
                </a:solidFill>
                <a:latin typeface="Calibri"/>
              </a:defRPr>
            </a:pPr>
            <a:r>
              <a:t>•  Overdue tasks escalate to Manager automatically</a:t>
            </a:r>
          </a:p>
        </p:txBody>
      </p:sp>
      <p:sp>
        <p:nvSpPr>
          <p:cNvPr id="36" name="Rounded Rectangle 35"/>
          <p:cNvSpPr/>
          <p:nvPr/>
        </p:nvSpPr>
        <p:spPr>
          <a:xfrm>
            <a:off x="4480559" y="402336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80559" y="4023360"/>
            <a:ext cx="3474720" cy="457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63440" y="4160520"/>
            <a:ext cx="3108960" cy="228600"/>
          </a:xfrm>
          <a:prstGeom prst="rect">
            <a:avLst/>
          </a:prstGeom>
          <a:noFill/>
        </p:spPr>
        <p:txBody>
          <a:bodyPr wrap="square">
            <a:spAutoFit/>
          </a:bodyPr>
          <a:lstStyle/>
          <a:p>
            <a:pPr algn="l">
              <a:defRPr sz="1400" b="1">
                <a:solidFill>
                  <a:srgbClr val="E63946"/>
                </a:solidFill>
                <a:latin typeface="Calibri"/>
              </a:defRPr>
            </a:pPr>
            <a:r>
              <a:t>Bot Verification</a:t>
            </a:r>
          </a:p>
        </p:txBody>
      </p:sp>
      <p:sp>
        <p:nvSpPr>
          <p:cNvPr id="39" name="TextBox 38"/>
          <p:cNvSpPr txBox="1"/>
          <p:nvPr/>
        </p:nvSpPr>
        <p:spPr>
          <a:xfrm>
            <a:off x="4663440" y="4480560"/>
            <a:ext cx="3108960" cy="274320"/>
          </a:xfrm>
          <a:prstGeom prst="rect">
            <a:avLst/>
          </a:prstGeom>
          <a:noFill/>
        </p:spPr>
        <p:txBody>
          <a:bodyPr wrap="square">
            <a:spAutoFit/>
          </a:bodyPr>
          <a:lstStyle/>
          <a:p>
            <a:pPr algn="l">
              <a:defRPr sz="1000" b="0">
                <a:solidFill>
                  <a:srgbClr val="BBBBDD"/>
                </a:solidFill>
                <a:latin typeface="Calibri"/>
              </a:defRPr>
            </a:pPr>
            <a:r>
              <a:t>•  Run ALL bots BEFORE marking Committee Ready</a:t>
            </a:r>
          </a:p>
        </p:txBody>
      </p:sp>
      <p:sp>
        <p:nvSpPr>
          <p:cNvPr id="40" name="TextBox 39"/>
          <p:cNvSpPr txBox="1"/>
          <p:nvPr/>
        </p:nvSpPr>
        <p:spPr>
          <a:xfrm>
            <a:off x="4663440" y="4800600"/>
            <a:ext cx="3108960" cy="274320"/>
          </a:xfrm>
          <a:prstGeom prst="rect">
            <a:avLst/>
          </a:prstGeom>
          <a:noFill/>
        </p:spPr>
        <p:txBody>
          <a:bodyPr wrap="square">
            <a:spAutoFit/>
          </a:bodyPr>
          <a:lstStyle/>
          <a:p>
            <a:pPr algn="l">
              <a:defRPr sz="1000" b="0">
                <a:solidFill>
                  <a:srgbClr val="BBBBDD"/>
                </a:solidFill>
                <a:latin typeface="Calibri"/>
              </a:defRPr>
            </a:pPr>
            <a:r>
              <a:t>•  If bot fails, check data first (wrong license #?)</a:t>
            </a:r>
          </a:p>
        </p:txBody>
      </p:sp>
      <p:sp>
        <p:nvSpPr>
          <p:cNvPr id="41" name="TextBox 40"/>
          <p:cNvSpPr txBox="1"/>
          <p:nvPr/>
        </p:nvSpPr>
        <p:spPr>
          <a:xfrm>
            <a:off x="4663440" y="5120640"/>
            <a:ext cx="3108960" cy="274320"/>
          </a:xfrm>
          <a:prstGeom prst="rect">
            <a:avLst/>
          </a:prstGeom>
          <a:noFill/>
        </p:spPr>
        <p:txBody>
          <a:bodyPr wrap="square">
            <a:spAutoFit/>
          </a:bodyPr>
          <a:lstStyle/>
          <a:p>
            <a:pPr algn="l">
              <a:defRPr sz="1000" b="0">
                <a:solidFill>
                  <a:srgbClr val="BBBBDD"/>
                </a:solidFill>
                <a:latin typeface="Calibri"/>
              </a:defRPr>
            </a:pPr>
            <a:r>
              <a:t>•  If flagged, investigate before acknowledging</a:t>
            </a:r>
          </a:p>
        </p:txBody>
      </p:sp>
      <p:sp>
        <p:nvSpPr>
          <p:cNvPr id="42" name="TextBox 41"/>
          <p:cNvSpPr txBox="1"/>
          <p:nvPr/>
        </p:nvSpPr>
        <p:spPr>
          <a:xfrm>
            <a:off x="4663440" y="5440680"/>
            <a:ext cx="3108960" cy="274320"/>
          </a:xfrm>
          <a:prstGeom prst="rect">
            <a:avLst/>
          </a:prstGeom>
          <a:noFill/>
        </p:spPr>
        <p:txBody>
          <a:bodyPr wrap="square">
            <a:spAutoFit/>
          </a:bodyPr>
          <a:lstStyle/>
          <a:p>
            <a:pPr algn="l">
              <a:defRPr sz="1000" b="0">
                <a:solidFill>
                  <a:srgbClr val="BBBBDD"/>
                </a:solidFill>
                <a:latin typeface="Calibri"/>
              </a:defRPr>
            </a:pPr>
            <a:r>
              <a:t>•  PDFs auto-saved — don't re-upload manually</a:t>
            </a:r>
          </a:p>
        </p:txBody>
      </p:sp>
      <p:sp>
        <p:nvSpPr>
          <p:cNvPr id="43" name="TextBox 42"/>
          <p:cNvSpPr txBox="1"/>
          <p:nvPr/>
        </p:nvSpPr>
        <p:spPr>
          <a:xfrm>
            <a:off x="4663440" y="5760720"/>
            <a:ext cx="3108960" cy="274320"/>
          </a:xfrm>
          <a:prstGeom prst="rect">
            <a:avLst/>
          </a:prstGeom>
          <a:noFill/>
        </p:spPr>
        <p:txBody>
          <a:bodyPr wrap="square">
            <a:spAutoFit/>
          </a:bodyPr>
          <a:lstStyle/>
          <a:p>
            <a:pPr algn="l">
              <a:defRPr sz="1000" b="0">
                <a:solidFill>
                  <a:srgbClr val="BBBBDD"/>
                </a:solidFill>
                <a:latin typeface="Calibri"/>
              </a:defRPr>
            </a:pPr>
            <a:r>
              <a:t>•  Manual fallback: upload result yourself if bot can't</a:t>
            </a:r>
          </a:p>
        </p:txBody>
      </p:sp>
      <p:sp>
        <p:nvSpPr>
          <p:cNvPr id="44" name="Rounded Rectangle 43"/>
          <p:cNvSpPr/>
          <p:nvPr/>
        </p:nvSpPr>
        <p:spPr>
          <a:xfrm>
            <a:off x="8229600" y="4023360"/>
            <a:ext cx="3474720" cy="22860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29600" y="4023360"/>
            <a:ext cx="3474720" cy="4572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12480" y="4160520"/>
            <a:ext cx="3108960" cy="228600"/>
          </a:xfrm>
          <a:prstGeom prst="rect">
            <a:avLst/>
          </a:prstGeom>
          <a:noFill/>
        </p:spPr>
        <p:txBody>
          <a:bodyPr wrap="square">
            <a:spAutoFit/>
          </a:bodyPr>
          <a:lstStyle/>
          <a:p>
            <a:pPr algn="l">
              <a:defRPr sz="1400" b="1">
                <a:solidFill>
                  <a:srgbClr val="F4A261"/>
                </a:solidFill>
                <a:latin typeface="Calibri"/>
              </a:defRPr>
            </a:pPr>
            <a:r>
              <a:t>Committee Prep</a:t>
            </a:r>
          </a:p>
        </p:txBody>
      </p:sp>
      <p:sp>
        <p:nvSpPr>
          <p:cNvPr id="47" name="TextBox 46"/>
          <p:cNvSpPr txBox="1"/>
          <p:nvPr/>
        </p:nvSpPr>
        <p:spPr>
          <a:xfrm>
            <a:off x="8412480" y="4480560"/>
            <a:ext cx="3108960" cy="274320"/>
          </a:xfrm>
          <a:prstGeom prst="rect">
            <a:avLst/>
          </a:prstGeom>
          <a:noFill/>
        </p:spPr>
        <p:txBody>
          <a:bodyPr wrap="square">
            <a:spAutoFit/>
          </a:bodyPr>
          <a:lstStyle/>
          <a:p>
            <a:pPr algn="l">
              <a:defRPr sz="1000" b="0">
                <a:solidFill>
                  <a:srgbClr val="BBBBDD"/>
                </a:solidFill>
                <a:latin typeface="Calibri"/>
              </a:defRPr>
            </a:pPr>
            <a:r>
              <a:t>•  All PSV verifications complete before session</a:t>
            </a:r>
          </a:p>
        </p:txBody>
      </p:sp>
      <p:sp>
        <p:nvSpPr>
          <p:cNvPr id="48" name="TextBox 47"/>
          <p:cNvSpPr txBox="1"/>
          <p:nvPr/>
        </p:nvSpPr>
        <p:spPr>
          <a:xfrm>
            <a:off x="8412480" y="4800600"/>
            <a:ext cx="3108960" cy="274320"/>
          </a:xfrm>
          <a:prstGeom prst="rect">
            <a:avLst/>
          </a:prstGeom>
          <a:noFill/>
        </p:spPr>
        <p:txBody>
          <a:bodyPr wrap="square">
            <a:spAutoFit/>
          </a:bodyPr>
          <a:lstStyle/>
          <a:p>
            <a:pPr algn="l">
              <a:defRPr sz="1000" b="0">
                <a:solidFill>
                  <a:srgbClr val="BBBBDD"/>
                </a:solidFill>
                <a:latin typeface="Calibri"/>
              </a:defRPr>
            </a:pPr>
            <a:r>
              <a:t>•  Review auto-generated summary sheet for accuracy</a:t>
            </a:r>
          </a:p>
        </p:txBody>
      </p:sp>
      <p:sp>
        <p:nvSpPr>
          <p:cNvPr id="49" name="TextBox 48"/>
          <p:cNvSpPr txBox="1"/>
          <p:nvPr/>
        </p:nvSpPr>
        <p:spPr>
          <a:xfrm>
            <a:off x="8412480" y="5120640"/>
            <a:ext cx="3108960" cy="274320"/>
          </a:xfrm>
          <a:prstGeom prst="rect">
            <a:avLst/>
          </a:prstGeom>
          <a:noFill/>
        </p:spPr>
        <p:txBody>
          <a:bodyPr wrap="square">
            <a:spAutoFit/>
          </a:bodyPr>
          <a:lstStyle/>
          <a:p>
            <a:pPr algn="l">
              <a:defRPr sz="1000" b="0">
                <a:solidFill>
                  <a:srgbClr val="BBBBDD"/>
                </a:solidFill>
                <a:latin typeface="Calibri"/>
              </a:defRPr>
            </a:pPr>
            <a:r>
              <a:t>•  Add context notes committee should know</a:t>
            </a:r>
          </a:p>
        </p:txBody>
      </p:sp>
      <p:sp>
        <p:nvSpPr>
          <p:cNvPr id="50" name="TextBox 49"/>
          <p:cNvSpPr txBox="1"/>
          <p:nvPr/>
        </p:nvSpPr>
        <p:spPr>
          <a:xfrm>
            <a:off x="8412480" y="5440680"/>
            <a:ext cx="3108960" cy="274320"/>
          </a:xfrm>
          <a:prstGeom prst="rect">
            <a:avLst/>
          </a:prstGeom>
          <a:noFill/>
        </p:spPr>
        <p:txBody>
          <a:bodyPr wrap="square">
            <a:spAutoFit/>
          </a:bodyPr>
          <a:lstStyle/>
          <a:p>
            <a:pPr algn="l">
              <a:defRPr sz="1000" b="0">
                <a:solidFill>
                  <a:srgbClr val="BBBBDD"/>
                </a:solidFill>
                <a:latin typeface="Calibri"/>
              </a:defRPr>
            </a:pPr>
            <a:r>
              <a:t>•  Ensure no unacknowledged flags remain</a:t>
            </a:r>
          </a:p>
        </p:txBody>
      </p:sp>
      <p:sp>
        <p:nvSpPr>
          <p:cNvPr id="51" name="TextBox 50"/>
          <p:cNvSpPr txBox="1"/>
          <p:nvPr/>
        </p:nvSpPr>
        <p:spPr>
          <a:xfrm>
            <a:off x="8412480" y="5760720"/>
            <a:ext cx="3108960" cy="274320"/>
          </a:xfrm>
          <a:prstGeom prst="rect">
            <a:avLst/>
          </a:prstGeom>
          <a:noFill/>
        </p:spPr>
        <p:txBody>
          <a:bodyPr wrap="square">
            <a:spAutoFit/>
          </a:bodyPr>
          <a:lstStyle/>
          <a:p>
            <a:pPr algn="l">
              <a:defRPr sz="1000" b="0">
                <a:solidFill>
                  <a:srgbClr val="BBBBDD"/>
                </a:solidFill>
                <a:latin typeface="Calibri"/>
              </a:defRPr>
            </a:pPr>
            <a:r>
              <a:t>•  Distribute agenda at least 48 hours before session</a:t>
            </a:r>
          </a:p>
        </p:txBody>
      </p:sp>
      <p:sp>
        <p:nvSpPr>
          <p:cNvPr id="52" name="TextBox 51"/>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REFERENCE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Troubleshooting Common Issues</a:t>
            </a:r>
          </a:p>
        </p:txBody>
      </p:sp>
      <p:sp>
        <p:nvSpPr>
          <p:cNvPr id="4" name="Rounded Rectangle 3"/>
          <p:cNvSpPr/>
          <p:nvPr/>
        </p:nvSpPr>
        <p:spPr>
          <a:xfrm>
            <a:off x="731520" y="137160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4846320" cy="228600"/>
          </a:xfrm>
          <a:prstGeom prst="rect">
            <a:avLst/>
          </a:prstGeom>
          <a:noFill/>
        </p:spPr>
        <p:txBody>
          <a:bodyPr wrap="square">
            <a:spAutoFit/>
          </a:bodyPr>
          <a:lstStyle/>
          <a:p>
            <a:pPr algn="l">
              <a:defRPr sz="1300" b="1">
                <a:solidFill>
                  <a:srgbClr val="E63946"/>
                </a:solidFill>
                <a:latin typeface="Calibri"/>
              </a:defRPr>
            </a:pPr>
            <a:r>
              <a:t>I can't log in</a:t>
            </a:r>
          </a:p>
        </p:txBody>
      </p:sp>
      <p:sp>
        <p:nvSpPr>
          <p:cNvPr id="6" name="TextBox 5"/>
          <p:cNvSpPr txBox="1"/>
          <p:nvPr/>
        </p:nvSpPr>
        <p:spPr>
          <a:xfrm>
            <a:off x="960120" y="1737360"/>
            <a:ext cx="4846320" cy="201168"/>
          </a:xfrm>
          <a:prstGeom prst="rect">
            <a:avLst/>
          </a:prstGeom>
          <a:noFill/>
        </p:spPr>
        <p:txBody>
          <a:bodyPr wrap="square">
            <a:spAutoFit/>
          </a:bodyPr>
          <a:lstStyle/>
          <a:p>
            <a:pPr algn="l">
              <a:defRPr sz="1000" b="0">
                <a:solidFill>
                  <a:srgbClr val="1A1A2E"/>
                </a:solidFill>
                <a:latin typeface="Calibri"/>
              </a:defRPr>
            </a:pPr>
            <a:r>
              <a:t>•  Verify you're using your @essenmed.com email (not personal)</a:t>
            </a:r>
          </a:p>
        </p:txBody>
      </p:sp>
      <p:sp>
        <p:nvSpPr>
          <p:cNvPr id="7" name="TextBox 6"/>
          <p:cNvSpPr txBox="1"/>
          <p:nvPr/>
        </p:nvSpPr>
        <p:spPr>
          <a:xfrm>
            <a:off x="960120" y="1956815"/>
            <a:ext cx="4846320" cy="201168"/>
          </a:xfrm>
          <a:prstGeom prst="rect">
            <a:avLst/>
          </a:prstGeom>
          <a:noFill/>
        </p:spPr>
        <p:txBody>
          <a:bodyPr wrap="square">
            <a:spAutoFit/>
          </a:bodyPr>
          <a:lstStyle/>
          <a:p>
            <a:pPr algn="l">
              <a:defRPr sz="1000" b="0">
                <a:solidFill>
                  <a:srgbClr val="1A1A2E"/>
                </a:solidFill>
                <a:latin typeface="Calibri"/>
              </a:defRPr>
            </a:pPr>
            <a:r>
              <a:t>•  Complete MFA if prompted (approve Microsoft Authenticator notification)</a:t>
            </a:r>
          </a:p>
        </p:txBody>
      </p:sp>
      <p:sp>
        <p:nvSpPr>
          <p:cNvPr id="8" name="TextBox 7"/>
          <p:cNvSpPr txBox="1"/>
          <p:nvPr/>
        </p:nvSpPr>
        <p:spPr>
          <a:xfrm>
            <a:off x="960120" y="2176272"/>
            <a:ext cx="4846320" cy="201168"/>
          </a:xfrm>
          <a:prstGeom prst="rect">
            <a:avLst/>
          </a:prstGeom>
          <a:noFill/>
        </p:spPr>
        <p:txBody>
          <a:bodyPr wrap="square">
            <a:spAutoFit/>
          </a:bodyPr>
          <a:lstStyle/>
          <a:p>
            <a:pPr algn="l">
              <a:defRPr sz="1000" b="0">
                <a:solidFill>
                  <a:srgbClr val="1A1A2E"/>
                </a:solidFill>
                <a:latin typeface="Calibri"/>
              </a:defRPr>
            </a:pPr>
            <a:r>
              <a:t>•  If 'Contact your administrator' appears — your account hasn't been created. Ask Admin.</a:t>
            </a:r>
          </a:p>
        </p:txBody>
      </p:sp>
      <p:sp>
        <p:nvSpPr>
          <p:cNvPr id="9" name="TextBox 8"/>
          <p:cNvSpPr txBox="1"/>
          <p:nvPr/>
        </p:nvSpPr>
        <p:spPr>
          <a:xfrm>
            <a:off x="960120" y="2395728"/>
            <a:ext cx="4846320" cy="201168"/>
          </a:xfrm>
          <a:prstGeom prst="rect">
            <a:avLst/>
          </a:prstGeom>
          <a:noFill/>
        </p:spPr>
        <p:txBody>
          <a:bodyPr wrap="square">
            <a:spAutoFit/>
          </a:bodyPr>
          <a:lstStyle/>
          <a:p>
            <a:pPr algn="l">
              <a:defRPr sz="1000" b="0">
                <a:solidFill>
                  <a:srgbClr val="1A1A2E"/>
                </a:solidFill>
                <a:latin typeface="Calibri"/>
              </a:defRPr>
            </a:pPr>
            <a:r>
              <a:t>•  Clear browser cache and cookies, then try again</a:t>
            </a:r>
          </a:p>
        </p:txBody>
      </p:sp>
      <p:sp>
        <p:nvSpPr>
          <p:cNvPr id="10" name="TextBox 9"/>
          <p:cNvSpPr txBox="1"/>
          <p:nvPr/>
        </p:nvSpPr>
        <p:spPr>
          <a:xfrm>
            <a:off x="960120" y="2615184"/>
            <a:ext cx="4846320" cy="201168"/>
          </a:xfrm>
          <a:prstGeom prst="rect">
            <a:avLst/>
          </a:prstGeom>
          <a:noFill/>
        </p:spPr>
        <p:txBody>
          <a:bodyPr wrap="square">
            <a:spAutoFit/>
          </a:bodyPr>
          <a:lstStyle/>
          <a:p>
            <a:pPr algn="l">
              <a:defRPr sz="1000" b="0">
                <a:solidFill>
                  <a:srgbClr val="1A1A2E"/>
                </a:solidFill>
                <a:latin typeface="Calibri"/>
              </a:defRPr>
            </a:pPr>
            <a:r>
              <a:t>•  Try a different browser (Chrome recommended)</a:t>
            </a:r>
          </a:p>
        </p:txBody>
      </p:sp>
      <p:sp>
        <p:nvSpPr>
          <p:cNvPr id="11" name="Rounded Rectangle 10"/>
          <p:cNvSpPr/>
          <p:nvPr/>
        </p:nvSpPr>
        <p:spPr>
          <a:xfrm>
            <a:off x="6400800" y="137160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463040"/>
            <a:ext cx="4846320" cy="228600"/>
          </a:xfrm>
          <a:prstGeom prst="rect">
            <a:avLst/>
          </a:prstGeom>
          <a:noFill/>
        </p:spPr>
        <p:txBody>
          <a:bodyPr wrap="square">
            <a:spAutoFit/>
          </a:bodyPr>
          <a:lstStyle/>
          <a:p>
            <a:pPr algn="l">
              <a:defRPr sz="1300" b="1">
                <a:solidFill>
                  <a:srgbClr val="E63946"/>
                </a:solidFill>
                <a:latin typeface="Calibri"/>
              </a:defRPr>
            </a:pPr>
            <a:r>
              <a:t>I can't see a provider or module</a:t>
            </a:r>
          </a:p>
        </p:txBody>
      </p:sp>
      <p:sp>
        <p:nvSpPr>
          <p:cNvPr id="13" name="TextBox 12"/>
          <p:cNvSpPr txBox="1"/>
          <p:nvPr/>
        </p:nvSpPr>
        <p:spPr>
          <a:xfrm>
            <a:off x="6629400" y="1737360"/>
            <a:ext cx="4846320" cy="201168"/>
          </a:xfrm>
          <a:prstGeom prst="rect">
            <a:avLst/>
          </a:prstGeom>
          <a:noFill/>
        </p:spPr>
        <p:txBody>
          <a:bodyPr wrap="square">
            <a:spAutoFit/>
          </a:bodyPr>
          <a:lstStyle/>
          <a:p>
            <a:pPr algn="l">
              <a:defRPr sz="1000" b="0">
                <a:solidFill>
                  <a:srgbClr val="1A1A2E"/>
                </a:solidFill>
                <a:latin typeface="Calibri"/>
              </a:defRPr>
            </a:pPr>
            <a:r>
              <a:t>•  Your role may not have access — check the Roles slide</a:t>
            </a:r>
          </a:p>
        </p:txBody>
      </p:sp>
      <p:sp>
        <p:nvSpPr>
          <p:cNvPr id="14" name="TextBox 13"/>
          <p:cNvSpPr txBox="1"/>
          <p:nvPr/>
        </p:nvSpPr>
        <p:spPr>
          <a:xfrm>
            <a:off x="6629400" y="1956815"/>
            <a:ext cx="4846320" cy="201168"/>
          </a:xfrm>
          <a:prstGeom prst="rect">
            <a:avLst/>
          </a:prstGeom>
          <a:noFill/>
        </p:spPr>
        <p:txBody>
          <a:bodyPr wrap="square">
            <a:spAutoFit/>
          </a:bodyPr>
          <a:lstStyle/>
          <a:p>
            <a:pPr algn="l">
              <a:defRPr sz="1000" b="0">
                <a:solidFill>
                  <a:srgbClr val="1A1A2E"/>
                </a:solidFill>
                <a:latin typeface="Calibri"/>
              </a:defRPr>
            </a:pPr>
            <a:r>
              <a:t>•  Specialists can see all providers; Committee Members cannot</a:t>
            </a:r>
          </a:p>
        </p:txBody>
      </p:sp>
      <p:sp>
        <p:nvSpPr>
          <p:cNvPr id="15" name="TextBox 14"/>
          <p:cNvSpPr txBox="1"/>
          <p:nvPr/>
        </p:nvSpPr>
        <p:spPr>
          <a:xfrm>
            <a:off x="6629400" y="2176272"/>
            <a:ext cx="4846320" cy="201168"/>
          </a:xfrm>
          <a:prstGeom prst="rect">
            <a:avLst/>
          </a:prstGeom>
          <a:noFill/>
        </p:spPr>
        <p:txBody>
          <a:bodyPr wrap="square">
            <a:spAutoFit/>
          </a:bodyPr>
          <a:lstStyle/>
          <a:p>
            <a:pPr algn="l">
              <a:defRPr sz="1000" b="0">
                <a:solidFill>
                  <a:srgbClr val="1A1A2E"/>
                </a:solidFill>
                <a:latin typeface="Calibri"/>
              </a:defRPr>
            </a:pPr>
            <a:r>
              <a:t>•  Admin modules only visible to Admin-role users</a:t>
            </a:r>
          </a:p>
        </p:txBody>
      </p:sp>
      <p:sp>
        <p:nvSpPr>
          <p:cNvPr id="16" name="TextBox 15"/>
          <p:cNvSpPr txBox="1"/>
          <p:nvPr/>
        </p:nvSpPr>
        <p:spPr>
          <a:xfrm>
            <a:off x="6629400" y="2395728"/>
            <a:ext cx="4846320" cy="201168"/>
          </a:xfrm>
          <a:prstGeom prst="rect">
            <a:avLst/>
          </a:prstGeom>
          <a:noFill/>
        </p:spPr>
        <p:txBody>
          <a:bodyPr wrap="square">
            <a:spAutoFit/>
          </a:bodyPr>
          <a:lstStyle/>
          <a:p>
            <a:pPr algn="l">
              <a:defRPr sz="1000" b="0">
                <a:solidFill>
                  <a:srgbClr val="1A1A2E"/>
                </a:solidFill>
                <a:latin typeface="Calibri"/>
              </a:defRPr>
            </a:pPr>
            <a:r>
              <a:t>•  Ask your Admin to verify your role assignment</a:t>
            </a:r>
          </a:p>
        </p:txBody>
      </p:sp>
      <p:sp>
        <p:nvSpPr>
          <p:cNvPr id="17" name="Rounded Rectangle 16"/>
          <p:cNvSpPr/>
          <p:nvPr/>
        </p:nvSpPr>
        <p:spPr>
          <a:xfrm>
            <a:off x="731520" y="310896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200400"/>
            <a:ext cx="4846320" cy="228600"/>
          </a:xfrm>
          <a:prstGeom prst="rect">
            <a:avLst/>
          </a:prstGeom>
          <a:noFill/>
        </p:spPr>
        <p:txBody>
          <a:bodyPr wrap="square">
            <a:spAutoFit/>
          </a:bodyPr>
          <a:lstStyle/>
          <a:p>
            <a:pPr algn="l">
              <a:defRPr sz="1300" b="1">
                <a:solidFill>
                  <a:srgbClr val="E63946"/>
                </a:solidFill>
                <a:latin typeface="Calibri"/>
              </a:defRPr>
            </a:pPr>
            <a:r>
              <a:t>A bot failed after 3 retries</a:t>
            </a:r>
          </a:p>
        </p:txBody>
      </p:sp>
      <p:sp>
        <p:nvSpPr>
          <p:cNvPr id="19" name="TextBox 18"/>
          <p:cNvSpPr txBox="1"/>
          <p:nvPr/>
        </p:nvSpPr>
        <p:spPr>
          <a:xfrm>
            <a:off x="960120" y="3474720"/>
            <a:ext cx="4846320" cy="201168"/>
          </a:xfrm>
          <a:prstGeom prst="rect">
            <a:avLst/>
          </a:prstGeom>
          <a:noFill/>
        </p:spPr>
        <p:txBody>
          <a:bodyPr wrap="square">
            <a:spAutoFit/>
          </a:bodyPr>
          <a:lstStyle/>
          <a:p>
            <a:pPr algn="l">
              <a:defRPr sz="1000" b="0">
                <a:solidFill>
                  <a:srgbClr val="1A1A2E"/>
                </a:solidFill>
                <a:latin typeface="Calibri"/>
              </a:defRPr>
            </a:pPr>
            <a:r>
              <a:t>•  Check the error message on the bot card for specific details</a:t>
            </a:r>
          </a:p>
        </p:txBody>
      </p:sp>
      <p:sp>
        <p:nvSpPr>
          <p:cNvPr id="20" name="TextBox 19"/>
          <p:cNvSpPr txBox="1"/>
          <p:nvPr/>
        </p:nvSpPr>
        <p:spPr>
          <a:xfrm>
            <a:off x="960120" y="3694176"/>
            <a:ext cx="4846320" cy="201168"/>
          </a:xfrm>
          <a:prstGeom prst="rect">
            <a:avLst/>
          </a:prstGeom>
          <a:noFill/>
        </p:spPr>
        <p:txBody>
          <a:bodyPr wrap="square">
            <a:spAutoFit/>
          </a:bodyPr>
          <a:lstStyle/>
          <a:p>
            <a:pPr algn="l">
              <a:defRPr sz="1000" b="0">
                <a:solidFill>
                  <a:srgbClr val="1A1A2E"/>
                </a:solidFill>
                <a:latin typeface="Calibri"/>
              </a:defRPr>
            </a:pPr>
            <a:r>
              <a:t>•  Common causes: incorrect license #, website temporarily down, missing data</a:t>
            </a:r>
          </a:p>
        </p:txBody>
      </p:sp>
      <p:sp>
        <p:nvSpPr>
          <p:cNvPr id="21" name="TextBox 20"/>
          <p:cNvSpPr txBox="1"/>
          <p:nvPr/>
        </p:nvSpPr>
        <p:spPr>
          <a:xfrm>
            <a:off x="960120" y="3913631"/>
            <a:ext cx="4846320" cy="201168"/>
          </a:xfrm>
          <a:prstGeom prst="rect">
            <a:avLst/>
          </a:prstGeom>
          <a:noFill/>
        </p:spPr>
        <p:txBody>
          <a:bodyPr wrap="square">
            <a:spAutoFit/>
          </a:bodyPr>
          <a:lstStyle/>
          <a:p>
            <a:pPr algn="l">
              <a:defRPr sz="1000" b="0">
                <a:solidFill>
                  <a:srgbClr val="1A1A2E"/>
                </a:solidFill>
                <a:latin typeface="Calibri"/>
              </a:defRPr>
            </a:pPr>
            <a:r>
              <a:t>•  Fix the underlying data issue on the provider's profile, then re-run</a:t>
            </a:r>
          </a:p>
        </p:txBody>
      </p:sp>
      <p:sp>
        <p:nvSpPr>
          <p:cNvPr id="22" name="TextBox 21"/>
          <p:cNvSpPr txBox="1"/>
          <p:nvPr/>
        </p:nvSpPr>
        <p:spPr>
          <a:xfrm>
            <a:off x="960120" y="4133087"/>
            <a:ext cx="4846320" cy="201168"/>
          </a:xfrm>
          <a:prstGeom prst="rect">
            <a:avLst/>
          </a:prstGeom>
          <a:noFill/>
        </p:spPr>
        <p:txBody>
          <a:bodyPr wrap="square">
            <a:spAutoFit/>
          </a:bodyPr>
          <a:lstStyle/>
          <a:p>
            <a:pPr algn="l">
              <a:defRPr sz="1000" b="0">
                <a:solidFill>
                  <a:srgbClr val="1A1A2E"/>
                </a:solidFill>
                <a:latin typeface="Calibri"/>
              </a:defRPr>
            </a:pPr>
            <a:r>
              <a:t>•  If the external website is down, wait and try again later</a:t>
            </a:r>
          </a:p>
        </p:txBody>
      </p:sp>
      <p:sp>
        <p:nvSpPr>
          <p:cNvPr id="23" name="TextBox 22"/>
          <p:cNvSpPr txBox="1"/>
          <p:nvPr/>
        </p:nvSpPr>
        <p:spPr>
          <a:xfrm>
            <a:off x="960120" y="4352544"/>
            <a:ext cx="4846320" cy="201168"/>
          </a:xfrm>
          <a:prstGeom prst="rect">
            <a:avLst/>
          </a:prstGeom>
          <a:noFill/>
        </p:spPr>
        <p:txBody>
          <a:bodyPr wrap="square">
            <a:spAutoFit/>
          </a:bodyPr>
          <a:lstStyle/>
          <a:p>
            <a:pPr algn="l">
              <a:defRPr sz="1000" b="0">
                <a:solidFill>
                  <a:srgbClr val="1A1A2E"/>
                </a:solidFill>
                <a:latin typeface="Calibri"/>
              </a:defRPr>
            </a:pPr>
            <a:r>
              <a:t>•  Manual fallback: verify yourself and upload the result</a:t>
            </a:r>
          </a:p>
        </p:txBody>
      </p:sp>
      <p:sp>
        <p:nvSpPr>
          <p:cNvPr id="24" name="Rounded Rectangle 23"/>
          <p:cNvSpPr/>
          <p:nvPr/>
        </p:nvSpPr>
        <p:spPr>
          <a:xfrm>
            <a:off x="6400800" y="310896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3200400"/>
            <a:ext cx="4846320" cy="228600"/>
          </a:xfrm>
          <a:prstGeom prst="rect">
            <a:avLst/>
          </a:prstGeom>
          <a:noFill/>
        </p:spPr>
        <p:txBody>
          <a:bodyPr wrap="square">
            <a:spAutoFit/>
          </a:bodyPr>
          <a:lstStyle/>
          <a:p>
            <a:pPr algn="l">
              <a:defRPr sz="1300" b="1">
                <a:solidFill>
                  <a:srgbClr val="E63946"/>
                </a:solidFill>
                <a:latin typeface="Calibri"/>
              </a:defRPr>
            </a:pPr>
            <a:r>
              <a:t>I made a mistake (wrong status or data)</a:t>
            </a:r>
          </a:p>
        </p:txBody>
      </p:sp>
      <p:sp>
        <p:nvSpPr>
          <p:cNvPr id="26" name="TextBox 25"/>
          <p:cNvSpPr txBox="1"/>
          <p:nvPr/>
        </p:nvSpPr>
        <p:spPr>
          <a:xfrm>
            <a:off x="6629400" y="3474720"/>
            <a:ext cx="4846320" cy="201168"/>
          </a:xfrm>
          <a:prstGeom prst="rect">
            <a:avLst/>
          </a:prstGeom>
          <a:noFill/>
        </p:spPr>
        <p:txBody>
          <a:bodyPr wrap="square">
            <a:spAutoFit/>
          </a:bodyPr>
          <a:lstStyle/>
          <a:p>
            <a:pPr algn="l">
              <a:defRPr sz="1000" b="0">
                <a:solidFill>
                  <a:srgbClr val="1A1A2E"/>
                </a:solidFill>
                <a:latin typeface="Calibri"/>
              </a:defRPr>
            </a:pPr>
            <a:r>
              <a:t>•  Most actions can be corrected by editing the record</a:t>
            </a:r>
          </a:p>
        </p:txBody>
      </p:sp>
      <p:sp>
        <p:nvSpPr>
          <p:cNvPr id="27" name="TextBox 26"/>
          <p:cNvSpPr txBox="1"/>
          <p:nvPr/>
        </p:nvSpPr>
        <p:spPr>
          <a:xfrm>
            <a:off x="6629400" y="3694176"/>
            <a:ext cx="4846320" cy="201168"/>
          </a:xfrm>
          <a:prstGeom prst="rect">
            <a:avLst/>
          </a:prstGeom>
          <a:noFill/>
        </p:spPr>
        <p:txBody>
          <a:bodyPr wrap="square">
            <a:spAutoFit/>
          </a:bodyPr>
          <a:lstStyle/>
          <a:p>
            <a:pPr algn="l">
              <a:defRPr sz="1000" b="0">
                <a:solidFill>
                  <a:srgbClr val="1A1A2E"/>
                </a:solidFill>
                <a:latin typeface="Calibri"/>
              </a:defRPr>
            </a:pPr>
            <a:r>
              <a:t>•  Status changes follow strict rules — you may need Manager to override</a:t>
            </a:r>
          </a:p>
        </p:txBody>
      </p:sp>
      <p:sp>
        <p:nvSpPr>
          <p:cNvPr id="28" name="TextBox 27"/>
          <p:cNvSpPr txBox="1"/>
          <p:nvPr/>
        </p:nvSpPr>
        <p:spPr>
          <a:xfrm>
            <a:off x="6629400" y="3913631"/>
            <a:ext cx="4846320" cy="201168"/>
          </a:xfrm>
          <a:prstGeom prst="rect">
            <a:avLst/>
          </a:prstGeom>
          <a:noFill/>
        </p:spPr>
        <p:txBody>
          <a:bodyPr wrap="square">
            <a:spAutoFit/>
          </a:bodyPr>
          <a:lstStyle/>
          <a:p>
            <a:pPr algn="l">
              <a:defRPr sz="1000" b="0">
                <a:solidFill>
                  <a:srgbClr val="1A1A2E"/>
                </a:solidFill>
                <a:latin typeface="Calibri"/>
              </a:defRPr>
            </a:pPr>
            <a:r>
              <a:t>•  All original values are preserved in the audit trail</a:t>
            </a:r>
          </a:p>
        </p:txBody>
      </p:sp>
      <p:sp>
        <p:nvSpPr>
          <p:cNvPr id="29" name="TextBox 28"/>
          <p:cNvSpPr txBox="1"/>
          <p:nvPr/>
        </p:nvSpPr>
        <p:spPr>
          <a:xfrm>
            <a:off x="6629400" y="4133087"/>
            <a:ext cx="4846320" cy="201168"/>
          </a:xfrm>
          <a:prstGeom prst="rect">
            <a:avLst/>
          </a:prstGeom>
          <a:noFill/>
        </p:spPr>
        <p:txBody>
          <a:bodyPr wrap="square">
            <a:spAutoFit/>
          </a:bodyPr>
          <a:lstStyle/>
          <a:p>
            <a:pPr algn="l">
              <a:defRPr sz="1000" b="0">
                <a:solidFill>
                  <a:srgbClr val="1A1A2E"/>
                </a:solidFill>
                <a:latin typeface="Calibri"/>
              </a:defRPr>
            </a:pPr>
            <a:r>
              <a:t>•  Contact your Manager for status reversals</a:t>
            </a:r>
          </a:p>
        </p:txBody>
      </p:sp>
      <p:sp>
        <p:nvSpPr>
          <p:cNvPr id="30" name="Rounded Rectangle 29"/>
          <p:cNvSpPr/>
          <p:nvPr/>
        </p:nvSpPr>
        <p:spPr>
          <a:xfrm>
            <a:off x="731520" y="484632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937759"/>
            <a:ext cx="4846320" cy="228600"/>
          </a:xfrm>
          <a:prstGeom prst="rect">
            <a:avLst/>
          </a:prstGeom>
          <a:noFill/>
        </p:spPr>
        <p:txBody>
          <a:bodyPr wrap="square">
            <a:spAutoFit/>
          </a:bodyPr>
          <a:lstStyle/>
          <a:p>
            <a:pPr algn="l">
              <a:defRPr sz="1300" b="1">
                <a:solidFill>
                  <a:srgbClr val="E63946"/>
                </a:solidFill>
                <a:latin typeface="Calibri"/>
              </a:defRPr>
            </a:pPr>
            <a:r>
              <a:t>The page is loading slowly or errors appear</a:t>
            </a:r>
          </a:p>
        </p:txBody>
      </p:sp>
      <p:sp>
        <p:nvSpPr>
          <p:cNvPr id="32" name="TextBox 31"/>
          <p:cNvSpPr txBox="1"/>
          <p:nvPr/>
        </p:nvSpPr>
        <p:spPr>
          <a:xfrm>
            <a:off x="960120" y="5212080"/>
            <a:ext cx="4846320" cy="201168"/>
          </a:xfrm>
          <a:prstGeom prst="rect">
            <a:avLst/>
          </a:prstGeom>
          <a:noFill/>
        </p:spPr>
        <p:txBody>
          <a:bodyPr wrap="square">
            <a:spAutoFit/>
          </a:bodyPr>
          <a:lstStyle/>
          <a:p>
            <a:pPr algn="l">
              <a:defRPr sz="1000" b="0">
                <a:solidFill>
                  <a:srgbClr val="1A1A2E"/>
                </a:solidFill>
                <a:latin typeface="Calibri"/>
              </a:defRPr>
            </a:pPr>
            <a:r>
              <a:t>•  Check your internet connection (try loading another site)</a:t>
            </a:r>
          </a:p>
        </p:txBody>
      </p:sp>
      <p:sp>
        <p:nvSpPr>
          <p:cNvPr id="33" name="TextBox 32"/>
          <p:cNvSpPr txBox="1"/>
          <p:nvPr/>
        </p:nvSpPr>
        <p:spPr>
          <a:xfrm>
            <a:off x="960120" y="5431536"/>
            <a:ext cx="4846320" cy="201168"/>
          </a:xfrm>
          <a:prstGeom prst="rect">
            <a:avLst/>
          </a:prstGeom>
          <a:noFill/>
        </p:spPr>
        <p:txBody>
          <a:bodyPr wrap="square">
            <a:spAutoFit/>
          </a:bodyPr>
          <a:lstStyle/>
          <a:p>
            <a:pPr algn="l">
              <a:defRPr sz="1000" b="0">
                <a:solidFill>
                  <a:srgbClr val="1A1A2E"/>
                </a:solidFill>
                <a:latin typeface="Calibri"/>
              </a:defRPr>
            </a:pPr>
            <a:r>
              <a:t>•  Refresh the page (Ctrl+R or Cmd+R)</a:t>
            </a:r>
          </a:p>
        </p:txBody>
      </p:sp>
      <p:sp>
        <p:nvSpPr>
          <p:cNvPr id="34" name="TextBox 33"/>
          <p:cNvSpPr txBox="1"/>
          <p:nvPr/>
        </p:nvSpPr>
        <p:spPr>
          <a:xfrm>
            <a:off x="960120" y="5650992"/>
            <a:ext cx="4846320" cy="201168"/>
          </a:xfrm>
          <a:prstGeom prst="rect">
            <a:avLst/>
          </a:prstGeom>
          <a:noFill/>
        </p:spPr>
        <p:txBody>
          <a:bodyPr wrap="square">
            <a:spAutoFit/>
          </a:bodyPr>
          <a:lstStyle/>
          <a:p>
            <a:pPr algn="l">
              <a:defRPr sz="1000" b="0">
                <a:solidFill>
                  <a:srgbClr val="1A1A2E"/>
                </a:solidFill>
                <a:latin typeface="Calibri"/>
              </a:defRPr>
            </a:pPr>
            <a:r>
              <a:t>•  Clear your browser cache and try again</a:t>
            </a:r>
          </a:p>
        </p:txBody>
      </p:sp>
      <p:sp>
        <p:nvSpPr>
          <p:cNvPr id="35" name="TextBox 34"/>
          <p:cNvSpPr txBox="1"/>
          <p:nvPr/>
        </p:nvSpPr>
        <p:spPr>
          <a:xfrm>
            <a:off x="960120" y="5870448"/>
            <a:ext cx="4846320" cy="201168"/>
          </a:xfrm>
          <a:prstGeom prst="rect">
            <a:avLst/>
          </a:prstGeom>
          <a:noFill/>
        </p:spPr>
        <p:txBody>
          <a:bodyPr wrap="square">
            <a:spAutoFit/>
          </a:bodyPr>
          <a:lstStyle/>
          <a:p>
            <a:pPr algn="l">
              <a:defRPr sz="1000" b="0">
                <a:solidFill>
                  <a:srgbClr val="1A1A2E"/>
                </a:solidFill>
                <a:latin typeface="Calibri"/>
              </a:defRPr>
            </a:pPr>
            <a:r>
              <a:t>•  If persistent, contact IT — the server may need attention</a:t>
            </a:r>
          </a:p>
        </p:txBody>
      </p:sp>
      <p:sp>
        <p:nvSpPr>
          <p:cNvPr id="36" name="Rounded Rectangle 35"/>
          <p:cNvSpPr/>
          <p:nvPr/>
        </p:nvSpPr>
        <p:spPr>
          <a:xfrm>
            <a:off x="6400800" y="4846320"/>
            <a:ext cx="5303520" cy="16002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4937759"/>
            <a:ext cx="4846320" cy="228600"/>
          </a:xfrm>
          <a:prstGeom prst="rect">
            <a:avLst/>
          </a:prstGeom>
          <a:noFill/>
        </p:spPr>
        <p:txBody>
          <a:bodyPr wrap="square">
            <a:spAutoFit/>
          </a:bodyPr>
          <a:lstStyle/>
          <a:p>
            <a:pPr algn="l">
              <a:defRPr sz="1300" b="1">
                <a:solidFill>
                  <a:srgbClr val="E63946"/>
                </a:solidFill>
                <a:latin typeface="Calibri"/>
              </a:defRPr>
            </a:pPr>
            <a:r>
              <a:t>Provider says their invitation link expired</a:t>
            </a:r>
          </a:p>
        </p:txBody>
      </p:sp>
      <p:sp>
        <p:nvSpPr>
          <p:cNvPr id="38" name="TextBox 37"/>
          <p:cNvSpPr txBox="1"/>
          <p:nvPr/>
        </p:nvSpPr>
        <p:spPr>
          <a:xfrm>
            <a:off x="6629400" y="5212080"/>
            <a:ext cx="4846320" cy="201168"/>
          </a:xfrm>
          <a:prstGeom prst="rect">
            <a:avLst/>
          </a:prstGeom>
          <a:noFill/>
        </p:spPr>
        <p:txBody>
          <a:bodyPr wrap="square">
            <a:spAutoFit/>
          </a:bodyPr>
          <a:lstStyle/>
          <a:p>
            <a:pPr algn="l">
              <a:defRPr sz="1000" b="0">
                <a:solidFill>
                  <a:srgbClr val="1A1A2E"/>
                </a:solidFill>
                <a:latin typeface="Calibri"/>
              </a:defRPr>
            </a:pPr>
            <a:r>
              <a:t>•  Links expire after 72 hours for security</a:t>
            </a:r>
          </a:p>
        </p:txBody>
      </p:sp>
      <p:sp>
        <p:nvSpPr>
          <p:cNvPr id="39" name="TextBox 38"/>
          <p:cNvSpPr txBox="1"/>
          <p:nvPr/>
        </p:nvSpPr>
        <p:spPr>
          <a:xfrm>
            <a:off x="6629400" y="5431536"/>
            <a:ext cx="4846320" cy="201168"/>
          </a:xfrm>
          <a:prstGeom prst="rect">
            <a:avLst/>
          </a:prstGeom>
          <a:noFill/>
        </p:spPr>
        <p:txBody>
          <a:bodyPr wrap="square">
            <a:spAutoFit/>
          </a:bodyPr>
          <a:lstStyle/>
          <a:p>
            <a:pPr algn="l">
              <a:defRPr sz="1000" b="0">
                <a:solidFill>
                  <a:srgbClr val="1A1A2E"/>
                </a:solidFill>
                <a:latin typeface="Calibri"/>
              </a:defRPr>
            </a:pPr>
            <a:r>
              <a:t>•  Go to the provider's profile and resend the invitation</a:t>
            </a:r>
          </a:p>
        </p:txBody>
      </p:sp>
      <p:sp>
        <p:nvSpPr>
          <p:cNvPr id="40" name="TextBox 39"/>
          <p:cNvSpPr txBox="1"/>
          <p:nvPr/>
        </p:nvSpPr>
        <p:spPr>
          <a:xfrm>
            <a:off x="6629400" y="5650992"/>
            <a:ext cx="4846320" cy="201168"/>
          </a:xfrm>
          <a:prstGeom prst="rect">
            <a:avLst/>
          </a:prstGeom>
          <a:noFill/>
        </p:spPr>
        <p:txBody>
          <a:bodyPr wrap="square">
            <a:spAutoFit/>
          </a:bodyPr>
          <a:lstStyle/>
          <a:p>
            <a:pPr algn="l">
              <a:defRPr sz="1000" b="0">
                <a:solidFill>
                  <a:srgbClr val="1A1A2E"/>
                </a:solidFill>
                <a:latin typeface="Calibri"/>
              </a:defRPr>
            </a:pPr>
            <a:r>
              <a:t>•  The old link becomes invalid; only the new one works</a:t>
            </a:r>
          </a:p>
        </p:txBody>
      </p:sp>
      <p:sp>
        <p:nvSpPr>
          <p:cNvPr id="41" name="TextBox 40"/>
          <p:cNvSpPr txBox="1"/>
          <p:nvPr/>
        </p:nvSpPr>
        <p:spPr>
          <a:xfrm>
            <a:off x="6629400" y="5870448"/>
            <a:ext cx="4846320" cy="201168"/>
          </a:xfrm>
          <a:prstGeom prst="rect">
            <a:avLst/>
          </a:prstGeom>
          <a:noFill/>
        </p:spPr>
        <p:txBody>
          <a:bodyPr wrap="square">
            <a:spAutoFit/>
          </a:bodyPr>
          <a:lstStyle/>
          <a:p>
            <a:pPr algn="l">
              <a:defRPr sz="1000" b="0">
                <a:solidFill>
                  <a:srgbClr val="1A1A2E"/>
                </a:solidFill>
                <a:latin typeface="Calibri"/>
              </a:defRPr>
            </a:pPr>
            <a:r>
              <a:t>•  The provider gets a new email with a fresh link</a:t>
            </a:r>
          </a:p>
        </p:txBody>
      </p:sp>
      <p:sp>
        <p:nvSpPr>
          <p:cNvPr id="42" name="TextBox 41"/>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REFERENCE</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Glossary of Key Terms</a:t>
            </a:r>
          </a:p>
        </p:txBody>
      </p:sp>
      <p:sp>
        <p:nvSpPr>
          <p:cNvPr id="4" name="TextBox 3"/>
          <p:cNvSpPr txBox="1"/>
          <p:nvPr/>
        </p:nvSpPr>
        <p:spPr>
          <a:xfrm>
            <a:off x="914400" y="1371600"/>
            <a:ext cx="1097280" cy="228600"/>
          </a:xfrm>
          <a:prstGeom prst="rect">
            <a:avLst/>
          </a:prstGeom>
          <a:noFill/>
        </p:spPr>
        <p:txBody>
          <a:bodyPr wrap="square">
            <a:spAutoFit/>
          </a:bodyPr>
          <a:lstStyle/>
          <a:p>
            <a:pPr algn="l">
              <a:defRPr sz="1200" b="1">
                <a:solidFill>
                  <a:srgbClr val="00A3E0"/>
                </a:solidFill>
                <a:latin typeface="Calibri"/>
              </a:defRPr>
            </a:pPr>
            <a:r>
              <a:t>CAQH</a:t>
            </a:r>
          </a:p>
        </p:txBody>
      </p:sp>
      <p:sp>
        <p:nvSpPr>
          <p:cNvPr id="5" name="TextBox 4"/>
          <p:cNvSpPr txBox="1"/>
          <p:nvPr/>
        </p:nvSpPr>
        <p:spPr>
          <a:xfrm>
            <a:off x="2011680" y="1371600"/>
            <a:ext cx="4206240" cy="548640"/>
          </a:xfrm>
          <a:prstGeom prst="rect">
            <a:avLst/>
          </a:prstGeom>
          <a:noFill/>
        </p:spPr>
        <p:txBody>
          <a:bodyPr wrap="square">
            <a:spAutoFit/>
          </a:bodyPr>
          <a:lstStyle/>
          <a:p>
            <a:pPr algn="l">
              <a:defRPr sz="1000" b="0">
                <a:solidFill>
                  <a:srgbClr val="1A1A2E"/>
                </a:solidFill>
                <a:latin typeface="Calibri"/>
              </a:defRPr>
            </a:pPr>
            <a:r>
              <a:t>Council for Affordable Quality Healthcare — industry provider data repository that stores demographics and credentials</a:t>
            </a:r>
          </a:p>
        </p:txBody>
      </p:sp>
      <p:sp>
        <p:nvSpPr>
          <p:cNvPr id="6" name="TextBox 5"/>
          <p:cNvSpPr txBox="1"/>
          <p:nvPr/>
        </p:nvSpPr>
        <p:spPr>
          <a:xfrm>
            <a:off x="6583680" y="1371600"/>
            <a:ext cx="1097280" cy="228600"/>
          </a:xfrm>
          <a:prstGeom prst="rect">
            <a:avLst/>
          </a:prstGeom>
          <a:noFill/>
        </p:spPr>
        <p:txBody>
          <a:bodyPr wrap="square">
            <a:spAutoFit/>
          </a:bodyPr>
          <a:lstStyle/>
          <a:p>
            <a:pPr algn="l">
              <a:defRPr sz="1200" b="1">
                <a:solidFill>
                  <a:srgbClr val="00A3E0"/>
                </a:solidFill>
                <a:latin typeface="Calibri"/>
              </a:defRPr>
            </a:pPr>
            <a:r>
              <a:t>Committee</a:t>
            </a:r>
          </a:p>
        </p:txBody>
      </p:sp>
      <p:sp>
        <p:nvSpPr>
          <p:cNvPr id="7" name="TextBox 6"/>
          <p:cNvSpPr txBox="1"/>
          <p:nvPr/>
        </p:nvSpPr>
        <p:spPr>
          <a:xfrm>
            <a:off x="7680960" y="1371600"/>
            <a:ext cx="4206240" cy="548640"/>
          </a:xfrm>
          <a:prstGeom prst="rect">
            <a:avLst/>
          </a:prstGeom>
          <a:noFill/>
        </p:spPr>
        <p:txBody>
          <a:bodyPr wrap="square">
            <a:spAutoFit/>
          </a:bodyPr>
          <a:lstStyle/>
          <a:p>
            <a:pPr algn="l">
              <a:defRPr sz="1000" b="0">
                <a:solidFill>
                  <a:srgbClr val="1A1A2E"/>
                </a:solidFill>
                <a:latin typeface="Calibri"/>
              </a:defRPr>
            </a:pPr>
            <a:r>
              <a:t>Credentialing committee — group of Medical Directors and members that reviews and formally approves/denies providers</a:t>
            </a:r>
          </a:p>
        </p:txBody>
      </p:sp>
      <p:sp>
        <p:nvSpPr>
          <p:cNvPr id="8" name="TextBox 7"/>
          <p:cNvSpPr txBox="1"/>
          <p:nvPr/>
        </p:nvSpPr>
        <p:spPr>
          <a:xfrm>
            <a:off x="914400" y="2011680"/>
            <a:ext cx="1097280" cy="228600"/>
          </a:xfrm>
          <a:prstGeom prst="rect">
            <a:avLst/>
          </a:prstGeom>
          <a:noFill/>
        </p:spPr>
        <p:txBody>
          <a:bodyPr wrap="square">
            <a:spAutoFit/>
          </a:bodyPr>
          <a:lstStyle/>
          <a:p>
            <a:pPr algn="l">
              <a:defRPr sz="1200" b="1">
                <a:solidFill>
                  <a:srgbClr val="00A3E0"/>
                </a:solidFill>
                <a:latin typeface="Calibri"/>
              </a:defRPr>
            </a:pPr>
            <a:r>
              <a:t>DEA</a:t>
            </a:r>
          </a:p>
        </p:txBody>
      </p:sp>
      <p:sp>
        <p:nvSpPr>
          <p:cNvPr id="9" name="TextBox 8"/>
          <p:cNvSpPr txBox="1"/>
          <p:nvPr/>
        </p:nvSpPr>
        <p:spPr>
          <a:xfrm>
            <a:off x="2011680" y="2011680"/>
            <a:ext cx="4206240" cy="548640"/>
          </a:xfrm>
          <a:prstGeom prst="rect">
            <a:avLst/>
          </a:prstGeom>
          <a:noFill/>
        </p:spPr>
        <p:txBody>
          <a:bodyPr wrap="square">
            <a:spAutoFit/>
          </a:bodyPr>
          <a:lstStyle/>
          <a:p>
            <a:pPr algn="l">
              <a:defRPr sz="1000" b="0">
                <a:solidFill>
                  <a:srgbClr val="1A1A2E"/>
                </a:solidFill>
                <a:latin typeface="Calibri"/>
              </a:defRPr>
            </a:pPr>
            <a:r>
              <a:t>Drug Enforcement Administration — federal registration required for providers who prescribe controlled substances</a:t>
            </a:r>
          </a:p>
        </p:txBody>
      </p:sp>
      <p:sp>
        <p:nvSpPr>
          <p:cNvPr id="10" name="TextBox 9"/>
          <p:cNvSpPr txBox="1"/>
          <p:nvPr/>
        </p:nvSpPr>
        <p:spPr>
          <a:xfrm>
            <a:off x="6583680" y="2011680"/>
            <a:ext cx="1097280" cy="228600"/>
          </a:xfrm>
          <a:prstGeom prst="rect">
            <a:avLst/>
          </a:prstGeom>
          <a:noFill/>
        </p:spPr>
        <p:txBody>
          <a:bodyPr wrap="square">
            <a:spAutoFit/>
          </a:bodyPr>
          <a:lstStyle/>
          <a:p>
            <a:pPr algn="l">
              <a:defRPr sz="1200" b="1">
                <a:solidFill>
                  <a:srgbClr val="00A3E0"/>
                </a:solidFill>
                <a:latin typeface="Calibri"/>
              </a:defRPr>
            </a:pPr>
            <a:r>
              <a:t>ETIN</a:t>
            </a:r>
          </a:p>
        </p:txBody>
      </p:sp>
      <p:sp>
        <p:nvSpPr>
          <p:cNvPr id="11" name="TextBox 10"/>
          <p:cNvSpPr txBox="1"/>
          <p:nvPr/>
        </p:nvSpPr>
        <p:spPr>
          <a:xfrm>
            <a:off x="7680960" y="2011680"/>
            <a:ext cx="4206240" cy="548640"/>
          </a:xfrm>
          <a:prstGeom prst="rect">
            <a:avLst/>
          </a:prstGeom>
          <a:noFill/>
        </p:spPr>
        <p:txBody>
          <a:bodyPr wrap="square">
            <a:spAutoFit/>
          </a:bodyPr>
          <a:lstStyle/>
          <a:p>
            <a:pPr algn="l">
              <a:defRPr sz="1000" b="0">
                <a:solidFill>
                  <a:srgbClr val="1A1A2E"/>
                </a:solidFill>
                <a:latin typeface="Calibri"/>
              </a:defRPr>
            </a:pPr>
            <a:r>
              <a:t>Enrollment Tracking Identification Number — used for tracking NY Medicaid provider affiliation</a:t>
            </a:r>
          </a:p>
        </p:txBody>
      </p:sp>
      <p:sp>
        <p:nvSpPr>
          <p:cNvPr id="12" name="TextBox 11"/>
          <p:cNvSpPr txBox="1"/>
          <p:nvPr/>
        </p:nvSpPr>
        <p:spPr>
          <a:xfrm>
            <a:off x="914400" y="2651760"/>
            <a:ext cx="1097280" cy="228600"/>
          </a:xfrm>
          <a:prstGeom prst="rect">
            <a:avLst/>
          </a:prstGeom>
          <a:noFill/>
        </p:spPr>
        <p:txBody>
          <a:bodyPr wrap="square">
            <a:spAutoFit/>
          </a:bodyPr>
          <a:lstStyle/>
          <a:p>
            <a:pPr algn="l">
              <a:defRPr sz="1200" b="1">
                <a:solidFill>
                  <a:srgbClr val="00A3E0"/>
                </a:solidFill>
                <a:latin typeface="Calibri"/>
              </a:defRPr>
            </a:pPr>
            <a:r>
              <a:t>Expirable</a:t>
            </a:r>
          </a:p>
        </p:txBody>
      </p:sp>
      <p:sp>
        <p:nvSpPr>
          <p:cNvPr id="13" name="TextBox 12"/>
          <p:cNvSpPr txBox="1"/>
          <p:nvPr/>
        </p:nvSpPr>
        <p:spPr>
          <a:xfrm>
            <a:off x="2011680" y="2651760"/>
            <a:ext cx="4206240" cy="548640"/>
          </a:xfrm>
          <a:prstGeom prst="rect">
            <a:avLst/>
          </a:prstGeom>
          <a:noFill/>
        </p:spPr>
        <p:txBody>
          <a:bodyPr wrap="square">
            <a:spAutoFit/>
          </a:bodyPr>
          <a:lstStyle/>
          <a:p>
            <a:pPr algn="l">
              <a:defRPr sz="1000" b="0">
                <a:solidFill>
                  <a:srgbClr val="1A1A2E"/>
                </a:solidFill>
                <a:latin typeface="Calibri"/>
              </a:defRPr>
            </a:pPr>
            <a:r>
              <a:t>Any credential or certification with an expiration date that requires periodic renewal monitoring</a:t>
            </a:r>
          </a:p>
        </p:txBody>
      </p:sp>
      <p:sp>
        <p:nvSpPr>
          <p:cNvPr id="14" name="TextBox 13"/>
          <p:cNvSpPr txBox="1"/>
          <p:nvPr/>
        </p:nvSpPr>
        <p:spPr>
          <a:xfrm>
            <a:off x="6583680" y="2651760"/>
            <a:ext cx="1097280" cy="228600"/>
          </a:xfrm>
          <a:prstGeom prst="rect">
            <a:avLst/>
          </a:prstGeom>
          <a:noFill/>
        </p:spPr>
        <p:txBody>
          <a:bodyPr wrap="square">
            <a:spAutoFit/>
          </a:bodyPr>
          <a:lstStyle/>
          <a:p>
            <a:pPr algn="l">
              <a:defRPr sz="1200" b="1">
                <a:solidFill>
                  <a:srgbClr val="00A3E0"/>
                </a:solidFill>
                <a:latin typeface="Calibri"/>
              </a:defRPr>
            </a:pPr>
            <a:r>
              <a:t>NPI</a:t>
            </a:r>
          </a:p>
        </p:txBody>
      </p:sp>
      <p:sp>
        <p:nvSpPr>
          <p:cNvPr id="15" name="TextBox 14"/>
          <p:cNvSpPr txBox="1"/>
          <p:nvPr/>
        </p:nvSpPr>
        <p:spPr>
          <a:xfrm>
            <a:off x="7680960" y="2651760"/>
            <a:ext cx="4206240" cy="548640"/>
          </a:xfrm>
          <a:prstGeom prst="rect">
            <a:avLst/>
          </a:prstGeom>
          <a:noFill/>
        </p:spPr>
        <p:txBody>
          <a:bodyPr wrap="square">
            <a:spAutoFit/>
          </a:bodyPr>
          <a:lstStyle/>
          <a:p>
            <a:pPr algn="l">
              <a:defRPr sz="1000" b="0">
                <a:solidFill>
                  <a:srgbClr val="1A1A2E"/>
                </a:solidFill>
                <a:latin typeface="Calibri"/>
              </a:defRPr>
            </a:pPr>
            <a:r>
              <a:t>National Provider Identifier — unique 10-digit number assigned to every US healthcare provider</a:t>
            </a:r>
          </a:p>
        </p:txBody>
      </p:sp>
      <p:sp>
        <p:nvSpPr>
          <p:cNvPr id="16" name="TextBox 15"/>
          <p:cNvSpPr txBox="1"/>
          <p:nvPr/>
        </p:nvSpPr>
        <p:spPr>
          <a:xfrm>
            <a:off x="914400" y="3291839"/>
            <a:ext cx="1097280" cy="228600"/>
          </a:xfrm>
          <a:prstGeom prst="rect">
            <a:avLst/>
          </a:prstGeom>
          <a:noFill/>
        </p:spPr>
        <p:txBody>
          <a:bodyPr wrap="square">
            <a:spAutoFit/>
          </a:bodyPr>
          <a:lstStyle/>
          <a:p>
            <a:pPr algn="l">
              <a:defRPr sz="1200" b="1">
                <a:solidFill>
                  <a:srgbClr val="00A3E0"/>
                </a:solidFill>
                <a:latin typeface="Calibri"/>
              </a:defRPr>
            </a:pPr>
            <a:r>
              <a:t>NPDB</a:t>
            </a:r>
          </a:p>
        </p:txBody>
      </p:sp>
      <p:sp>
        <p:nvSpPr>
          <p:cNvPr id="17" name="TextBox 16"/>
          <p:cNvSpPr txBox="1"/>
          <p:nvPr/>
        </p:nvSpPr>
        <p:spPr>
          <a:xfrm>
            <a:off x="2011680" y="3291839"/>
            <a:ext cx="4206240" cy="548640"/>
          </a:xfrm>
          <a:prstGeom prst="rect">
            <a:avLst/>
          </a:prstGeom>
          <a:noFill/>
        </p:spPr>
        <p:txBody>
          <a:bodyPr wrap="square">
            <a:spAutoFit/>
          </a:bodyPr>
          <a:lstStyle/>
          <a:p>
            <a:pPr algn="l">
              <a:defRPr sz="1000" b="0">
                <a:solidFill>
                  <a:srgbClr val="1A1A2E"/>
                </a:solidFill>
                <a:latin typeface="Calibri"/>
              </a:defRPr>
            </a:pPr>
            <a:r>
              <a:t>National Practitioner Data Bank — confidential repository of malpractice payments and adverse professional actions</a:t>
            </a:r>
          </a:p>
        </p:txBody>
      </p:sp>
      <p:sp>
        <p:nvSpPr>
          <p:cNvPr id="18" name="TextBox 17"/>
          <p:cNvSpPr txBox="1"/>
          <p:nvPr/>
        </p:nvSpPr>
        <p:spPr>
          <a:xfrm>
            <a:off x="6583680" y="3291839"/>
            <a:ext cx="1097280" cy="228600"/>
          </a:xfrm>
          <a:prstGeom prst="rect">
            <a:avLst/>
          </a:prstGeom>
          <a:noFill/>
        </p:spPr>
        <p:txBody>
          <a:bodyPr wrap="square">
            <a:spAutoFit/>
          </a:bodyPr>
          <a:lstStyle/>
          <a:p>
            <a:pPr algn="l">
              <a:defRPr sz="1200" b="1">
                <a:solidFill>
                  <a:srgbClr val="00A3E0"/>
                </a:solidFill>
                <a:latin typeface="Calibri"/>
              </a:defRPr>
            </a:pPr>
            <a:r>
              <a:t>OIG</a:t>
            </a:r>
          </a:p>
        </p:txBody>
      </p:sp>
      <p:sp>
        <p:nvSpPr>
          <p:cNvPr id="19" name="TextBox 18"/>
          <p:cNvSpPr txBox="1"/>
          <p:nvPr/>
        </p:nvSpPr>
        <p:spPr>
          <a:xfrm>
            <a:off x="7680960" y="3291839"/>
            <a:ext cx="4206240" cy="548640"/>
          </a:xfrm>
          <a:prstGeom prst="rect">
            <a:avLst/>
          </a:prstGeom>
          <a:noFill/>
        </p:spPr>
        <p:txBody>
          <a:bodyPr wrap="square">
            <a:spAutoFit/>
          </a:bodyPr>
          <a:lstStyle/>
          <a:p>
            <a:pPr algn="l">
              <a:defRPr sz="1000" b="0">
                <a:solidFill>
                  <a:srgbClr val="1A1A2E"/>
                </a:solidFill>
                <a:latin typeface="Calibri"/>
              </a:defRPr>
            </a:pPr>
            <a:r>
              <a:t>Office of Inspector General — federal agency that maintains the List of Excluded Individuals/Entities (LEIE)</a:t>
            </a:r>
          </a:p>
        </p:txBody>
      </p:sp>
      <p:sp>
        <p:nvSpPr>
          <p:cNvPr id="20" name="TextBox 19"/>
          <p:cNvSpPr txBox="1"/>
          <p:nvPr/>
        </p:nvSpPr>
        <p:spPr>
          <a:xfrm>
            <a:off x="914400" y="3931920"/>
            <a:ext cx="1097280" cy="228600"/>
          </a:xfrm>
          <a:prstGeom prst="rect">
            <a:avLst/>
          </a:prstGeom>
          <a:noFill/>
        </p:spPr>
        <p:txBody>
          <a:bodyPr wrap="square">
            <a:spAutoFit/>
          </a:bodyPr>
          <a:lstStyle/>
          <a:p>
            <a:pPr algn="l">
              <a:defRPr sz="1200" b="1">
                <a:solidFill>
                  <a:srgbClr val="00A3E0"/>
                </a:solidFill>
                <a:latin typeface="Calibri"/>
              </a:defRPr>
            </a:pPr>
            <a:r>
              <a:t>PARCS</a:t>
            </a:r>
          </a:p>
        </p:txBody>
      </p:sp>
      <p:sp>
        <p:nvSpPr>
          <p:cNvPr id="21" name="TextBox 20"/>
          <p:cNvSpPr txBox="1"/>
          <p:nvPr/>
        </p:nvSpPr>
        <p:spPr>
          <a:xfrm>
            <a:off x="2011680" y="3931920"/>
            <a:ext cx="4206240" cy="548640"/>
          </a:xfrm>
          <a:prstGeom prst="rect">
            <a:avLst/>
          </a:prstGeom>
          <a:noFill/>
        </p:spPr>
        <p:txBody>
          <a:bodyPr wrap="square">
            <a:spAutoFit/>
          </a:bodyPr>
          <a:lstStyle/>
          <a:p>
            <a:pPr algn="l">
              <a:defRPr sz="1000" b="0">
                <a:solidFill>
                  <a:srgbClr val="1A1A2E"/>
                </a:solidFill>
                <a:latin typeface="Calibri"/>
              </a:defRPr>
            </a:pPr>
            <a:r>
              <a:t>Previous credentialing system at Essen — being replaced by this platform</a:t>
            </a:r>
          </a:p>
        </p:txBody>
      </p:sp>
      <p:sp>
        <p:nvSpPr>
          <p:cNvPr id="22" name="TextBox 21"/>
          <p:cNvSpPr txBox="1"/>
          <p:nvPr/>
        </p:nvSpPr>
        <p:spPr>
          <a:xfrm>
            <a:off x="6583680" y="3931920"/>
            <a:ext cx="1097280" cy="228600"/>
          </a:xfrm>
          <a:prstGeom prst="rect">
            <a:avLst/>
          </a:prstGeom>
          <a:noFill/>
        </p:spPr>
        <p:txBody>
          <a:bodyPr wrap="square">
            <a:spAutoFit/>
          </a:bodyPr>
          <a:lstStyle/>
          <a:p>
            <a:pPr algn="l">
              <a:defRPr sz="1200" b="1">
                <a:solidFill>
                  <a:srgbClr val="00A3E0"/>
                </a:solidFill>
                <a:latin typeface="Calibri"/>
              </a:defRPr>
            </a:pPr>
            <a:r>
              <a:t>PSV</a:t>
            </a:r>
          </a:p>
        </p:txBody>
      </p:sp>
      <p:sp>
        <p:nvSpPr>
          <p:cNvPr id="23" name="TextBox 22"/>
          <p:cNvSpPr txBox="1"/>
          <p:nvPr/>
        </p:nvSpPr>
        <p:spPr>
          <a:xfrm>
            <a:off x="7680960" y="3931920"/>
            <a:ext cx="4206240" cy="548640"/>
          </a:xfrm>
          <a:prstGeom prst="rect">
            <a:avLst/>
          </a:prstGeom>
          <a:noFill/>
        </p:spPr>
        <p:txBody>
          <a:bodyPr wrap="square">
            <a:spAutoFit/>
          </a:bodyPr>
          <a:lstStyle/>
          <a:p>
            <a:pPr algn="l">
              <a:defRPr sz="1000" b="0">
                <a:solidFill>
                  <a:srgbClr val="1A1A2E"/>
                </a:solidFill>
                <a:latin typeface="Calibri"/>
              </a:defRPr>
            </a:pPr>
            <a:r>
              <a:t>Primary Source Verification — the process of verifying a credential directly from the issuing authority</a:t>
            </a:r>
          </a:p>
        </p:txBody>
      </p:sp>
      <p:sp>
        <p:nvSpPr>
          <p:cNvPr id="24" name="TextBox 23"/>
          <p:cNvSpPr txBox="1"/>
          <p:nvPr/>
        </p:nvSpPr>
        <p:spPr>
          <a:xfrm>
            <a:off x="914400" y="4572000"/>
            <a:ext cx="1097280" cy="228600"/>
          </a:xfrm>
          <a:prstGeom prst="rect">
            <a:avLst/>
          </a:prstGeom>
          <a:noFill/>
        </p:spPr>
        <p:txBody>
          <a:bodyPr wrap="square">
            <a:spAutoFit/>
          </a:bodyPr>
          <a:lstStyle/>
          <a:p>
            <a:pPr algn="l">
              <a:defRPr sz="1200" b="1">
                <a:solidFill>
                  <a:srgbClr val="00A3E0"/>
                </a:solidFill>
                <a:latin typeface="Calibri"/>
              </a:defRPr>
            </a:pPr>
            <a:r>
              <a:t>SAM.gov</a:t>
            </a:r>
          </a:p>
        </p:txBody>
      </p:sp>
      <p:sp>
        <p:nvSpPr>
          <p:cNvPr id="25" name="TextBox 24"/>
          <p:cNvSpPr txBox="1"/>
          <p:nvPr/>
        </p:nvSpPr>
        <p:spPr>
          <a:xfrm>
            <a:off x="2011680" y="4572000"/>
            <a:ext cx="4206240" cy="548640"/>
          </a:xfrm>
          <a:prstGeom prst="rect">
            <a:avLst/>
          </a:prstGeom>
          <a:noFill/>
        </p:spPr>
        <p:txBody>
          <a:bodyPr wrap="square">
            <a:spAutoFit/>
          </a:bodyPr>
          <a:lstStyle/>
          <a:p>
            <a:pPr algn="l">
              <a:defRPr sz="1000" b="0">
                <a:solidFill>
                  <a:srgbClr val="1A1A2E"/>
                </a:solidFill>
                <a:latin typeface="Calibri"/>
              </a:defRPr>
            </a:pPr>
            <a:r>
              <a:t>System for Award Management — federal database of entities excluded from government programs</a:t>
            </a:r>
          </a:p>
        </p:txBody>
      </p:sp>
      <p:sp>
        <p:nvSpPr>
          <p:cNvPr id="26" name="TextBox 25"/>
          <p:cNvSpPr txBox="1"/>
          <p:nvPr/>
        </p:nvSpPr>
        <p:spPr>
          <a:xfrm>
            <a:off x="6583680" y="4572000"/>
            <a:ext cx="1097280" cy="228600"/>
          </a:xfrm>
          <a:prstGeom prst="rect">
            <a:avLst/>
          </a:prstGeom>
          <a:noFill/>
        </p:spPr>
        <p:txBody>
          <a:bodyPr wrap="square">
            <a:spAutoFit/>
          </a:bodyPr>
          <a:lstStyle/>
          <a:p>
            <a:pPr algn="l">
              <a:defRPr sz="1200" b="1">
                <a:solidFill>
                  <a:srgbClr val="00A3E0"/>
                </a:solidFill>
                <a:latin typeface="Calibri"/>
              </a:defRPr>
            </a:pPr>
            <a:r>
              <a:t>SSO</a:t>
            </a:r>
          </a:p>
        </p:txBody>
      </p:sp>
      <p:sp>
        <p:nvSpPr>
          <p:cNvPr id="27" name="TextBox 26"/>
          <p:cNvSpPr txBox="1"/>
          <p:nvPr/>
        </p:nvSpPr>
        <p:spPr>
          <a:xfrm>
            <a:off x="7680960" y="4572000"/>
            <a:ext cx="4206240" cy="548640"/>
          </a:xfrm>
          <a:prstGeom prst="rect">
            <a:avLst/>
          </a:prstGeom>
          <a:noFill/>
        </p:spPr>
        <p:txBody>
          <a:bodyPr wrap="square">
            <a:spAutoFit/>
          </a:bodyPr>
          <a:lstStyle/>
          <a:p>
            <a:pPr algn="l">
              <a:defRPr sz="1000" b="0">
                <a:solidFill>
                  <a:srgbClr val="1A1A2E"/>
                </a:solidFill>
                <a:latin typeface="Calibri"/>
              </a:defRPr>
            </a:pPr>
            <a:r>
              <a:t>Single Sign-On — using one set of credentials (Azure AD) to access multiple applications</a:t>
            </a:r>
          </a:p>
        </p:txBody>
      </p:sp>
      <p:sp>
        <p:nvSpPr>
          <p:cNvPr id="28" name="TextBox 27"/>
          <p:cNvSpPr txBox="1"/>
          <p:nvPr/>
        </p:nvSpPr>
        <p:spPr>
          <a:xfrm>
            <a:off x="914400" y="5212079"/>
            <a:ext cx="1097280" cy="228600"/>
          </a:xfrm>
          <a:prstGeom prst="rect">
            <a:avLst/>
          </a:prstGeom>
          <a:noFill/>
        </p:spPr>
        <p:txBody>
          <a:bodyPr wrap="square">
            <a:spAutoFit/>
          </a:bodyPr>
          <a:lstStyle/>
          <a:p>
            <a:pPr algn="l">
              <a:defRPr sz="1200" b="1">
                <a:solidFill>
                  <a:srgbClr val="00A3E0"/>
                </a:solidFill>
                <a:latin typeface="Calibri"/>
              </a:defRPr>
            </a:pPr>
            <a:r>
              <a:t>TOTP</a:t>
            </a:r>
          </a:p>
        </p:txBody>
      </p:sp>
      <p:sp>
        <p:nvSpPr>
          <p:cNvPr id="29" name="TextBox 28"/>
          <p:cNvSpPr txBox="1"/>
          <p:nvPr/>
        </p:nvSpPr>
        <p:spPr>
          <a:xfrm>
            <a:off x="2011680" y="5212079"/>
            <a:ext cx="4206240" cy="548640"/>
          </a:xfrm>
          <a:prstGeom prst="rect">
            <a:avLst/>
          </a:prstGeom>
          <a:noFill/>
        </p:spPr>
        <p:txBody>
          <a:bodyPr wrap="square">
            <a:spAutoFit/>
          </a:bodyPr>
          <a:lstStyle/>
          <a:p>
            <a:pPr algn="l">
              <a:defRPr sz="1000" b="0">
                <a:solidFill>
                  <a:srgbClr val="1A1A2E"/>
                </a:solidFill>
                <a:latin typeface="Calibri"/>
              </a:defRPr>
            </a:pPr>
            <a:r>
              <a:t>Time-based One-Time Password — 6-digit code used for automated DEA MFA during bot verification</a:t>
            </a:r>
          </a:p>
        </p:txBody>
      </p:sp>
      <p:sp>
        <p:nvSpPr>
          <p:cNvPr id="30" name="TextBox 29"/>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spAutoFit/>
          </a:bodyPr>
          <a:lstStyle/>
          <a:p>
            <a:pPr algn="l">
              <a:defRPr sz="1100" b="1">
                <a:solidFill>
                  <a:srgbClr val="00A3E0"/>
                </a:solidFill>
                <a:latin typeface="Calibri"/>
              </a:defRPr>
            </a:pPr>
            <a:r>
              <a:t>SUPPORT</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800" b="1">
                <a:solidFill>
                  <a:srgbClr val="1A1A2E"/>
                </a:solidFill>
                <a:latin typeface="Calibri"/>
              </a:defRPr>
            </a:pPr>
            <a:r>
              <a:t>Getting Help &amp; Support Contacts</a:t>
            </a:r>
          </a:p>
        </p:txBody>
      </p:sp>
      <p:sp>
        <p:nvSpPr>
          <p:cNvPr id="4" name="Rounded Rectangle 3"/>
          <p:cNvSpPr/>
          <p:nvPr/>
        </p:nvSpPr>
        <p:spPr>
          <a:xfrm>
            <a:off x="731520" y="1463040"/>
            <a:ext cx="530352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274320"/>
          </a:xfrm>
          <a:prstGeom prst="rect">
            <a:avLst/>
          </a:prstGeom>
          <a:noFill/>
        </p:spPr>
        <p:txBody>
          <a:bodyPr wrap="square">
            <a:spAutoFit/>
          </a:bodyPr>
          <a:lstStyle/>
          <a:p>
            <a:pPr algn="l">
              <a:defRPr sz="1600" b="1">
                <a:solidFill>
                  <a:srgbClr val="0B3D91"/>
                </a:solidFill>
                <a:latin typeface="Calibri"/>
              </a:defRPr>
            </a:pPr>
            <a:r>
              <a:t>Before You Call for Help</a:t>
            </a:r>
          </a:p>
        </p:txBody>
      </p:sp>
      <p:sp>
        <p:nvSpPr>
          <p:cNvPr id="6" name="TextBox 5"/>
          <p:cNvSpPr txBox="1"/>
          <p:nvPr/>
        </p:nvSpPr>
        <p:spPr>
          <a:xfrm>
            <a:off x="1005840" y="1965960"/>
            <a:ext cx="1828800" cy="228600"/>
          </a:xfrm>
          <a:prstGeom prst="rect">
            <a:avLst/>
          </a:prstGeom>
          <a:noFill/>
        </p:spPr>
        <p:txBody>
          <a:bodyPr wrap="square">
            <a:spAutoFit/>
          </a:bodyPr>
          <a:lstStyle/>
          <a:p>
            <a:pPr algn="l">
              <a:defRPr sz="1100" b="1">
                <a:solidFill>
                  <a:srgbClr val="00A3E0"/>
                </a:solidFill>
                <a:latin typeface="Calibri"/>
              </a:defRPr>
            </a:pPr>
            <a:r>
              <a:t>1. Check the training guide</a:t>
            </a:r>
          </a:p>
        </p:txBody>
      </p:sp>
      <p:sp>
        <p:nvSpPr>
          <p:cNvPr id="7" name="TextBox 6"/>
          <p:cNvSpPr txBox="1"/>
          <p:nvPr/>
        </p:nvSpPr>
        <p:spPr>
          <a:xfrm>
            <a:off x="2834640" y="1965960"/>
            <a:ext cx="2926080" cy="228600"/>
          </a:xfrm>
          <a:prstGeom prst="rect">
            <a:avLst/>
          </a:prstGeom>
          <a:noFill/>
        </p:spPr>
        <p:txBody>
          <a:bodyPr wrap="square">
            <a:spAutoFit/>
          </a:bodyPr>
          <a:lstStyle/>
          <a:p>
            <a:pPr algn="l">
              <a:defRPr sz="1000" b="0">
                <a:solidFill>
                  <a:srgbClr val="555577"/>
                </a:solidFill>
                <a:latin typeface="Calibri"/>
              </a:defRPr>
            </a:pPr>
            <a:r>
              <a:t>docs/user-training.md covers every workflow in detail</a:t>
            </a:r>
          </a:p>
        </p:txBody>
      </p:sp>
      <p:sp>
        <p:nvSpPr>
          <p:cNvPr id="8" name="TextBox 7"/>
          <p:cNvSpPr txBox="1"/>
          <p:nvPr/>
        </p:nvSpPr>
        <p:spPr>
          <a:xfrm>
            <a:off x="1005840" y="2377440"/>
            <a:ext cx="1828800" cy="228600"/>
          </a:xfrm>
          <a:prstGeom prst="rect">
            <a:avLst/>
          </a:prstGeom>
          <a:noFill/>
        </p:spPr>
        <p:txBody>
          <a:bodyPr wrap="square">
            <a:spAutoFit/>
          </a:bodyPr>
          <a:lstStyle/>
          <a:p>
            <a:pPr algn="l">
              <a:defRPr sz="1100" b="1">
                <a:solidFill>
                  <a:srgbClr val="00A3E0"/>
                </a:solidFill>
                <a:latin typeface="Calibri"/>
              </a:defRPr>
            </a:pPr>
            <a:r>
              <a:t>2. Ask a colleague</a:t>
            </a:r>
          </a:p>
        </p:txBody>
      </p:sp>
      <p:sp>
        <p:nvSpPr>
          <p:cNvPr id="9" name="TextBox 8"/>
          <p:cNvSpPr txBox="1"/>
          <p:nvPr/>
        </p:nvSpPr>
        <p:spPr>
          <a:xfrm>
            <a:off x="2834640" y="2377440"/>
            <a:ext cx="2926080" cy="228600"/>
          </a:xfrm>
          <a:prstGeom prst="rect">
            <a:avLst/>
          </a:prstGeom>
          <a:noFill/>
        </p:spPr>
        <p:txBody>
          <a:bodyPr wrap="square">
            <a:spAutoFit/>
          </a:bodyPr>
          <a:lstStyle/>
          <a:p>
            <a:pPr algn="l">
              <a:defRPr sz="1000" b="0">
                <a:solidFill>
                  <a:srgbClr val="555577"/>
                </a:solidFill>
                <a:latin typeface="Calibri"/>
              </a:defRPr>
            </a:pPr>
            <a:r>
              <a:t>They may have encountered the same issue and know the fix</a:t>
            </a:r>
          </a:p>
        </p:txBody>
      </p:sp>
      <p:sp>
        <p:nvSpPr>
          <p:cNvPr id="10" name="TextBox 9"/>
          <p:cNvSpPr txBox="1"/>
          <p:nvPr/>
        </p:nvSpPr>
        <p:spPr>
          <a:xfrm>
            <a:off x="1005840" y="2788920"/>
            <a:ext cx="1828800" cy="228600"/>
          </a:xfrm>
          <a:prstGeom prst="rect">
            <a:avLst/>
          </a:prstGeom>
          <a:noFill/>
        </p:spPr>
        <p:txBody>
          <a:bodyPr wrap="square">
            <a:spAutoFit/>
          </a:bodyPr>
          <a:lstStyle/>
          <a:p>
            <a:pPr algn="l">
              <a:defRPr sz="1100" b="1">
                <a:solidFill>
                  <a:srgbClr val="00A3E0"/>
                </a:solidFill>
                <a:latin typeface="Calibri"/>
              </a:defRPr>
            </a:pPr>
            <a:r>
              <a:t>3. Check this slide deck</a:t>
            </a:r>
          </a:p>
        </p:txBody>
      </p:sp>
      <p:sp>
        <p:nvSpPr>
          <p:cNvPr id="11" name="TextBox 10"/>
          <p:cNvSpPr txBox="1"/>
          <p:nvPr/>
        </p:nvSpPr>
        <p:spPr>
          <a:xfrm>
            <a:off x="2834640" y="2788920"/>
            <a:ext cx="2926080" cy="228600"/>
          </a:xfrm>
          <a:prstGeom prst="rect">
            <a:avLst/>
          </a:prstGeom>
          <a:noFill/>
        </p:spPr>
        <p:txBody>
          <a:bodyPr wrap="square">
            <a:spAutoFit/>
          </a:bodyPr>
          <a:lstStyle/>
          <a:p>
            <a:pPr algn="l">
              <a:defRPr sz="1000" b="0">
                <a:solidFill>
                  <a:srgbClr val="555577"/>
                </a:solidFill>
                <a:latin typeface="Calibri"/>
              </a:defRPr>
            </a:pPr>
            <a:r>
              <a:t>Troubleshooting slides cover the most common issues</a:t>
            </a:r>
          </a:p>
        </p:txBody>
      </p:sp>
      <p:sp>
        <p:nvSpPr>
          <p:cNvPr id="12" name="TextBox 11"/>
          <p:cNvSpPr txBox="1"/>
          <p:nvPr/>
        </p:nvSpPr>
        <p:spPr>
          <a:xfrm>
            <a:off x="1005840" y="3200400"/>
            <a:ext cx="1828800" cy="228600"/>
          </a:xfrm>
          <a:prstGeom prst="rect">
            <a:avLst/>
          </a:prstGeom>
          <a:noFill/>
        </p:spPr>
        <p:txBody>
          <a:bodyPr wrap="square">
            <a:spAutoFit/>
          </a:bodyPr>
          <a:lstStyle/>
          <a:p>
            <a:pPr algn="l">
              <a:defRPr sz="1100" b="1">
                <a:solidFill>
                  <a:srgbClr val="00A3E0"/>
                </a:solidFill>
                <a:latin typeface="Calibri"/>
              </a:defRPr>
            </a:pPr>
            <a:r>
              <a:t>4. Review the glossary</a:t>
            </a:r>
          </a:p>
        </p:txBody>
      </p:sp>
      <p:sp>
        <p:nvSpPr>
          <p:cNvPr id="13" name="TextBox 12"/>
          <p:cNvSpPr txBox="1"/>
          <p:nvPr/>
        </p:nvSpPr>
        <p:spPr>
          <a:xfrm>
            <a:off x="2834640" y="3200400"/>
            <a:ext cx="2926080" cy="228600"/>
          </a:xfrm>
          <a:prstGeom prst="rect">
            <a:avLst/>
          </a:prstGeom>
          <a:noFill/>
        </p:spPr>
        <p:txBody>
          <a:bodyPr wrap="square">
            <a:spAutoFit/>
          </a:bodyPr>
          <a:lstStyle/>
          <a:p>
            <a:pPr algn="l">
              <a:defRPr sz="1000" b="0">
                <a:solidFill>
                  <a:srgbClr val="555577"/>
                </a:solidFill>
                <a:latin typeface="Calibri"/>
              </a:defRPr>
            </a:pPr>
            <a:r>
              <a:t>If the issue is a term or concept you don't understand</a:t>
            </a:r>
          </a:p>
        </p:txBody>
      </p:sp>
      <p:sp>
        <p:nvSpPr>
          <p:cNvPr id="14" name="Rounded Rectangle 13"/>
          <p:cNvSpPr/>
          <p:nvPr/>
        </p:nvSpPr>
        <p:spPr>
          <a:xfrm>
            <a:off x="6400800" y="1463040"/>
            <a:ext cx="5120640" cy="228600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600200"/>
            <a:ext cx="4572000" cy="274320"/>
          </a:xfrm>
          <a:prstGeom prst="rect">
            <a:avLst/>
          </a:prstGeom>
          <a:noFill/>
        </p:spPr>
        <p:txBody>
          <a:bodyPr wrap="square">
            <a:spAutoFit/>
          </a:bodyPr>
          <a:lstStyle/>
          <a:p>
            <a:pPr algn="l">
              <a:defRPr sz="1600" b="1">
                <a:solidFill>
                  <a:srgbClr val="0B3D91"/>
                </a:solidFill>
                <a:latin typeface="Calibri"/>
              </a:defRPr>
            </a:pPr>
            <a:r>
              <a:t>Support Contacts</a:t>
            </a:r>
          </a:p>
        </p:txBody>
      </p:sp>
      <p:sp>
        <p:nvSpPr>
          <p:cNvPr id="16" name="TextBox 15"/>
          <p:cNvSpPr txBox="1"/>
          <p:nvPr/>
        </p:nvSpPr>
        <p:spPr>
          <a:xfrm>
            <a:off x="6675120" y="1965960"/>
            <a:ext cx="1554480" cy="182880"/>
          </a:xfrm>
          <a:prstGeom prst="rect">
            <a:avLst/>
          </a:prstGeom>
          <a:noFill/>
        </p:spPr>
        <p:txBody>
          <a:bodyPr wrap="square">
            <a:spAutoFit/>
          </a:bodyPr>
          <a:lstStyle/>
          <a:p>
            <a:pPr algn="l">
              <a:defRPr sz="1100" b="1">
                <a:solidFill>
                  <a:srgbClr val="1A1A2E"/>
                </a:solidFill>
                <a:latin typeface="Calibri"/>
              </a:defRPr>
            </a:pPr>
            <a:r>
              <a:t>Workflow Questions</a:t>
            </a:r>
          </a:p>
        </p:txBody>
      </p:sp>
      <p:sp>
        <p:nvSpPr>
          <p:cNvPr id="17" name="TextBox 16"/>
          <p:cNvSpPr txBox="1"/>
          <p:nvPr/>
        </p:nvSpPr>
        <p:spPr>
          <a:xfrm>
            <a:off x="8229600" y="1965960"/>
            <a:ext cx="3017520" cy="182880"/>
          </a:xfrm>
          <a:prstGeom prst="rect">
            <a:avLst/>
          </a:prstGeom>
          <a:noFill/>
        </p:spPr>
        <p:txBody>
          <a:bodyPr wrap="square">
            <a:spAutoFit/>
          </a:bodyPr>
          <a:lstStyle/>
          <a:p>
            <a:pPr algn="l">
              <a:defRPr sz="1100" b="1">
                <a:solidFill>
                  <a:srgbClr val="00A3E0"/>
                </a:solidFill>
                <a:latin typeface="Calibri"/>
              </a:defRPr>
            </a:pPr>
            <a:r>
              <a:t>Your Credentialing Manager</a:t>
            </a:r>
          </a:p>
        </p:txBody>
      </p:sp>
      <p:sp>
        <p:nvSpPr>
          <p:cNvPr id="18" name="TextBox 17"/>
          <p:cNvSpPr txBox="1"/>
          <p:nvPr/>
        </p:nvSpPr>
        <p:spPr>
          <a:xfrm>
            <a:off x="6675120" y="2148840"/>
            <a:ext cx="4572000" cy="274320"/>
          </a:xfrm>
          <a:prstGeom prst="rect">
            <a:avLst/>
          </a:prstGeom>
          <a:noFill/>
        </p:spPr>
        <p:txBody>
          <a:bodyPr wrap="square">
            <a:spAutoFit/>
          </a:bodyPr>
          <a:lstStyle/>
          <a:p>
            <a:pPr algn="l">
              <a:defRPr sz="900" b="0">
                <a:solidFill>
                  <a:srgbClr val="555577"/>
                </a:solidFill>
                <a:latin typeface="Calibri"/>
              </a:defRPr>
            </a:pPr>
            <a:r>
              <a:t>• How do I handle this scenario?</a:t>
            </a:r>
            <a:br/>
            <a:r>
              <a:t>• What's the process for X?</a:t>
            </a:r>
          </a:p>
        </p:txBody>
      </p:sp>
      <p:sp>
        <p:nvSpPr>
          <p:cNvPr id="19" name="TextBox 18"/>
          <p:cNvSpPr txBox="1"/>
          <p:nvPr/>
        </p:nvSpPr>
        <p:spPr>
          <a:xfrm>
            <a:off x="6675120" y="2468880"/>
            <a:ext cx="1554480" cy="182880"/>
          </a:xfrm>
          <a:prstGeom prst="rect">
            <a:avLst/>
          </a:prstGeom>
          <a:noFill/>
        </p:spPr>
        <p:txBody>
          <a:bodyPr wrap="square">
            <a:spAutoFit/>
          </a:bodyPr>
          <a:lstStyle/>
          <a:p>
            <a:pPr algn="l">
              <a:defRPr sz="1100" b="1">
                <a:solidFill>
                  <a:srgbClr val="1A1A2E"/>
                </a:solidFill>
                <a:latin typeface="Calibri"/>
              </a:defRPr>
            </a:pPr>
            <a:r>
              <a:t>Technical Issues</a:t>
            </a:r>
          </a:p>
        </p:txBody>
      </p:sp>
      <p:sp>
        <p:nvSpPr>
          <p:cNvPr id="20" name="TextBox 19"/>
          <p:cNvSpPr txBox="1"/>
          <p:nvPr/>
        </p:nvSpPr>
        <p:spPr>
          <a:xfrm>
            <a:off x="8229600" y="2468880"/>
            <a:ext cx="3017520" cy="182880"/>
          </a:xfrm>
          <a:prstGeom prst="rect">
            <a:avLst/>
          </a:prstGeom>
          <a:noFill/>
        </p:spPr>
        <p:txBody>
          <a:bodyPr wrap="square">
            <a:spAutoFit/>
          </a:bodyPr>
          <a:lstStyle/>
          <a:p>
            <a:pPr algn="l">
              <a:defRPr sz="1100" b="1">
                <a:solidFill>
                  <a:srgbClr val="00A3E0"/>
                </a:solidFill>
                <a:latin typeface="Calibri"/>
              </a:defRPr>
            </a:pPr>
            <a:r>
              <a:t>IT Help Desk / Dev Team</a:t>
            </a:r>
          </a:p>
        </p:txBody>
      </p:sp>
      <p:sp>
        <p:nvSpPr>
          <p:cNvPr id="21" name="TextBox 20"/>
          <p:cNvSpPr txBox="1"/>
          <p:nvPr/>
        </p:nvSpPr>
        <p:spPr>
          <a:xfrm>
            <a:off x="6675120" y="2651760"/>
            <a:ext cx="4572000" cy="274320"/>
          </a:xfrm>
          <a:prstGeom prst="rect">
            <a:avLst/>
          </a:prstGeom>
          <a:noFill/>
        </p:spPr>
        <p:txBody>
          <a:bodyPr wrap="square">
            <a:spAutoFit/>
          </a:bodyPr>
          <a:lstStyle/>
          <a:p>
            <a:pPr algn="l">
              <a:defRPr sz="900" b="0">
                <a:solidFill>
                  <a:srgbClr val="555577"/>
                </a:solidFill>
                <a:latin typeface="Calibri"/>
              </a:defRPr>
            </a:pPr>
            <a:r>
              <a:t>• System errors, bugs</a:t>
            </a:r>
            <a:br/>
            <a:r>
              <a:t>• Pages not loading</a:t>
            </a:r>
          </a:p>
        </p:txBody>
      </p:sp>
      <p:sp>
        <p:nvSpPr>
          <p:cNvPr id="22" name="TextBox 21"/>
          <p:cNvSpPr txBox="1"/>
          <p:nvPr/>
        </p:nvSpPr>
        <p:spPr>
          <a:xfrm>
            <a:off x="6675120" y="2971800"/>
            <a:ext cx="1554480" cy="182880"/>
          </a:xfrm>
          <a:prstGeom prst="rect">
            <a:avLst/>
          </a:prstGeom>
          <a:noFill/>
        </p:spPr>
        <p:txBody>
          <a:bodyPr wrap="square">
            <a:spAutoFit/>
          </a:bodyPr>
          <a:lstStyle/>
          <a:p>
            <a:pPr algn="l">
              <a:defRPr sz="1100" b="1">
                <a:solidFill>
                  <a:srgbClr val="1A1A2E"/>
                </a:solidFill>
                <a:latin typeface="Calibri"/>
              </a:defRPr>
            </a:pPr>
            <a:r>
              <a:t>Account Issues</a:t>
            </a:r>
          </a:p>
        </p:txBody>
      </p:sp>
      <p:sp>
        <p:nvSpPr>
          <p:cNvPr id="23" name="TextBox 22"/>
          <p:cNvSpPr txBox="1"/>
          <p:nvPr/>
        </p:nvSpPr>
        <p:spPr>
          <a:xfrm>
            <a:off x="8229600" y="2971800"/>
            <a:ext cx="3017520" cy="182880"/>
          </a:xfrm>
          <a:prstGeom prst="rect">
            <a:avLst/>
          </a:prstGeom>
          <a:noFill/>
        </p:spPr>
        <p:txBody>
          <a:bodyPr wrap="square">
            <a:spAutoFit/>
          </a:bodyPr>
          <a:lstStyle/>
          <a:p>
            <a:pPr algn="l">
              <a:defRPr sz="1100" b="1">
                <a:solidFill>
                  <a:srgbClr val="00A3E0"/>
                </a:solidFill>
                <a:latin typeface="Calibri"/>
              </a:defRPr>
            </a:pPr>
            <a:r>
              <a:t>System Admin</a:t>
            </a:r>
          </a:p>
        </p:txBody>
      </p:sp>
      <p:sp>
        <p:nvSpPr>
          <p:cNvPr id="24" name="TextBox 23"/>
          <p:cNvSpPr txBox="1"/>
          <p:nvPr/>
        </p:nvSpPr>
        <p:spPr>
          <a:xfrm>
            <a:off x="6675120" y="3154680"/>
            <a:ext cx="4572000" cy="274320"/>
          </a:xfrm>
          <a:prstGeom prst="rect">
            <a:avLst/>
          </a:prstGeom>
          <a:noFill/>
        </p:spPr>
        <p:txBody>
          <a:bodyPr wrap="square">
            <a:spAutoFit/>
          </a:bodyPr>
          <a:lstStyle/>
          <a:p>
            <a:pPr algn="l">
              <a:defRPr sz="900" b="0">
                <a:solidFill>
                  <a:srgbClr val="555577"/>
                </a:solidFill>
                <a:latin typeface="Calibri"/>
              </a:defRPr>
            </a:pPr>
            <a:r>
              <a:t>• Can't log in</a:t>
            </a:r>
            <a:br/>
            <a:r>
              <a:t>• Wrong role assigned</a:t>
            </a:r>
          </a:p>
        </p:txBody>
      </p:sp>
      <p:sp>
        <p:nvSpPr>
          <p:cNvPr id="25" name="TextBox 24"/>
          <p:cNvSpPr txBox="1"/>
          <p:nvPr/>
        </p:nvSpPr>
        <p:spPr>
          <a:xfrm>
            <a:off x="6675120" y="3474720"/>
            <a:ext cx="1554480" cy="182880"/>
          </a:xfrm>
          <a:prstGeom prst="rect">
            <a:avLst/>
          </a:prstGeom>
          <a:noFill/>
        </p:spPr>
        <p:txBody>
          <a:bodyPr wrap="square">
            <a:spAutoFit/>
          </a:bodyPr>
          <a:lstStyle/>
          <a:p>
            <a:pPr algn="l">
              <a:defRPr sz="1100" b="1">
                <a:solidFill>
                  <a:srgbClr val="1A1A2E"/>
                </a:solidFill>
                <a:latin typeface="Calibri"/>
              </a:defRPr>
            </a:pPr>
            <a:r>
              <a:t>Training Requests</a:t>
            </a:r>
          </a:p>
        </p:txBody>
      </p:sp>
      <p:sp>
        <p:nvSpPr>
          <p:cNvPr id="26" name="TextBox 25"/>
          <p:cNvSpPr txBox="1"/>
          <p:nvPr/>
        </p:nvSpPr>
        <p:spPr>
          <a:xfrm>
            <a:off x="8229600" y="3474720"/>
            <a:ext cx="3017520" cy="182880"/>
          </a:xfrm>
          <a:prstGeom prst="rect">
            <a:avLst/>
          </a:prstGeom>
          <a:noFill/>
        </p:spPr>
        <p:txBody>
          <a:bodyPr wrap="square">
            <a:spAutoFit/>
          </a:bodyPr>
          <a:lstStyle/>
          <a:p>
            <a:pPr algn="l">
              <a:defRPr sz="1100" b="1">
                <a:solidFill>
                  <a:srgbClr val="00A3E0"/>
                </a:solidFill>
                <a:latin typeface="Calibri"/>
              </a:defRPr>
            </a:pPr>
            <a:r>
              <a:t>Training Lead</a:t>
            </a:r>
          </a:p>
        </p:txBody>
      </p:sp>
      <p:sp>
        <p:nvSpPr>
          <p:cNvPr id="27" name="TextBox 26"/>
          <p:cNvSpPr txBox="1"/>
          <p:nvPr/>
        </p:nvSpPr>
        <p:spPr>
          <a:xfrm>
            <a:off x="6675120" y="3657600"/>
            <a:ext cx="4572000" cy="274320"/>
          </a:xfrm>
          <a:prstGeom prst="rect">
            <a:avLst/>
          </a:prstGeom>
          <a:noFill/>
        </p:spPr>
        <p:txBody>
          <a:bodyPr wrap="square">
            <a:spAutoFit/>
          </a:bodyPr>
          <a:lstStyle/>
          <a:p>
            <a:pPr algn="l">
              <a:defRPr sz="900" b="0">
                <a:solidFill>
                  <a:srgbClr val="555577"/>
                </a:solidFill>
                <a:latin typeface="Calibri"/>
              </a:defRPr>
            </a:pPr>
            <a:r>
              <a:t>• Need a refresher</a:t>
            </a:r>
            <a:br/>
            <a:r>
              <a:t>• New team member orientation</a:t>
            </a:r>
          </a:p>
        </p:txBody>
      </p:sp>
      <p:sp>
        <p:nvSpPr>
          <p:cNvPr id="28" name="Rounded Rectangle 27"/>
          <p:cNvSpPr/>
          <p:nvPr/>
        </p:nvSpPr>
        <p:spPr>
          <a:xfrm>
            <a:off x="731520" y="4023360"/>
            <a:ext cx="10698480" cy="1280160"/>
          </a:xfrm>
          <a:prstGeom prst="roundRect">
            <a:avLst/>
          </a:prstGeom>
          <a:solidFill>
            <a:srgbClr val="E8F4FB"/>
          </a:solidFill>
          <a:ln w="127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160520"/>
            <a:ext cx="10058400" cy="274320"/>
          </a:xfrm>
          <a:prstGeom prst="rect">
            <a:avLst/>
          </a:prstGeom>
          <a:noFill/>
        </p:spPr>
        <p:txBody>
          <a:bodyPr wrap="square">
            <a:spAutoFit/>
          </a:bodyPr>
          <a:lstStyle/>
          <a:p>
            <a:pPr algn="l">
              <a:defRPr sz="1500" b="1">
                <a:solidFill>
                  <a:srgbClr val="0B3D91"/>
                </a:solidFill>
                <a:latin typeface="Calibri"/>
              </a:defRPr>
            </a:pPr>
            <a:r>
              <a:t>When Reporting Technical Issues, Always Include:</a:t>
            </a:r>
          </a:p>
        </p:txBody>
      </p:sp>
      <p:sp>
        <p:nvSpPr>
          <p:cNvPr id="30" name="TextBox 29"/>
          <p:cNvSpPr txBox="1"/>
          <p:nvPr/>
        </p:nvSpPr>
        <p:spPr>
          <a:xfrm>
            <a:off x="1005840" y="4572000"/>
            <a:ext cx="10058400" cy="201168"/>
          </a:xfrm>
          <a:prstGeom prst="rect">
            <a:avLst/>
          </a:prstGeom>
          <a:noFill/>
        </p:spPr>
        <p:txBody>
          <a:bodyPr wrap="square">
            <a:spAutoFit/>
          </a:bodyPr>
          <a:lstStyle/>
          <a:p>
            <a:pPr algn="l">
              <a:defRPr sz="1100" b="0">
                <a:solidFill>
                  <a:srgbClr val="1A1A2E"/>
                </a:solidFill>
                <a:latin typeface="Calibri"/>
              </a:defRPr>
            </a:pPr>
            <a:r>
              <a:t>1. What you were trying to do (step by step)</a:t>
            </a:r>
          </a:p>
        </p:txBody>
      </p:sp>
      <p:sp>
        <p:nvSpPr>
          <p:cNvPr id="31" name="TextBox 30"/>
          <p:cNvSpPr txBox="1"/>
          <p:nvPr/>
        </p:nvSpPr>
        <p:spPr>
          <a:xfrm>
            <a:off x="1005840" y="4800600"/>
            <a:ext cx="10058400" cy="201168"/>
          </a:xfrm>
          <a:prstGeom prst="rect">
            <a:avLst/>
          </a:prstGeom>
          <a:noFill/>
        </p:spPr>
        <p:txBody>
          <a:bodyPr wrap="square">
            <a:spAutoFit/>
          </a:bodyPr>
          <a:lstStyle/>
          <a:p>
            <a:pPr algn="l">
              <a:defRPr sz="1100" b="0">
                <a:solidFill>
                  <a:srgbClr val="1A1A2E"/>
                </a:solidFill>
                <a:latin typeface="Calibri"/>
              </a:defRPr>
            </a:pPr>
            <a:r>
              <a:t>2. What you expected to happen</a:t>
            </a:r>
          </a:p>
        </p:txBody>
      </p:sp>
      <p:sp>
        <p:nvSpPr>
          <p:cNvPr id="32" name="TextBox 31"/>
          <p:cNvSpPr txBox="1"/>
          <p:nvPr/>
        </p:nvSpPr>
        <p:spPr>
          <a:xfrm>
            <a:off x="1005840" y="5029200"/>
            <a:ext cx="10058400" cy="201168"/>
          </a:xfrm>
          <a:prstGeom prst="rect">
            <a:avLst/>
          </a:prstGeom>
          <a:noFill/>
        </p:spPr>
        <p:txBody>
          <a:bodyPr wrap="square">
            <a:spAutoFit/>
          </a:bodyPr>
          <a:lstStyle/>
          <a:p>
            <a:pPr algn="l">
              <a:defRPr sz="1100" b="0">
                <a:solidFill>
                  <a:srgbClr val="1A1A2E"/>
                </a:solidFill>
                <a:latin typeface="Calibri"/>
              </a:defRPr>
            </a:pPr>
            <a:r>
              <a:t>3. What actually happened (exact error message text if possible)</a:t>
            </a:r>
          </a:p>
        </p:txBody>
      </p:sp>
      <p:sp>
        <p:nvSpPr>
          <p:cNvPr id="33" name="TextBox 32"/>
          <p:cNvSpPr txBox="1"/>
          <p:nvPr/>
        </p:nvSpPr>
        <p:spPr>
          <a:xfrm>
            <a:off x="1005840" y="5257800"/>
            <a:ext cx="10058400" cy="201168"/>
          </a:xfrm>
          <a:prstGeom prst="rect">
            <a:avLst/>
          </a:prstGeom>
          <a:noFill/>
        </p:spPr>
        <p:txBody>
          <a:bodyPr wrap="square">
            <a:spAutoFit/>
          </a:bodyPr>
          <a:lstStyle/>
          <a:p>
            <a:pPr algn="l">
              <a:defRPr sz="1100" b="0">
                <a:solidFill>
                  <a:srgbClr val="1A1A2E"/>
                </a:solidFill>
                <a:latin typeface="Calibri"/>
              </a:defRPr>
            </a:pPr>
            <a:r>
              <a:t>4. The provider name/NPI if the issue is specific to a provider</a:t>
            </a:r>
          </a:p>
        </p:txBody>
      </p:sp>
      <p:sp>
        <p:nvSpPr>
          <p:cNvPr id="34" name="TextBox 33"/>
          <p:cNvSpPr txBox="1"/>
          <p:nvPr/>
        </p:nvSpPr>
        <p:spPr>
          <a:xfrm>
            <a:off x="1005840" y="5486400"/>
            <a:ext cx="10058400" cy="201168"/>
          </a:xfrm>
          <a:prstGeom prst="rect">
            <a:avLst/>
          </a:prstGeom>
          <a:noFill/>
        </p:spPr>
        <p:txBody>
          <a:bodyPr wrap="square">
            <a:spAutoFit/>
          </a:bodyPr>
          <a:lstStyle/>
          <a:p>
            <a:pPr algn="l">
              <a:defRPr sz="1100" b="0">
                <a:solidFill>
                  <a:srgbClr val="1A1A2E"/>
                </a:solidFill>
                <a:latin typeface="Calibri"/>
              </a:defRPr>
            </a:pPr>
            <a:r>
              <a:t>5. Your browser and operating system (e.g., Chrome on Windows)</a:t>
            </a:r>
          </a:p>
        </p:txBody>
      </p:sp>
      <p:sp>
        <p:nvSpPr>
          <p:cNvPr id="35" name="Rounded Rectangle 34"/>
          <p:cNvSpPr/>
          <p:nvPr/>
        </p:nvSpPr>
        <p:spPr>
          <a:xfrm>
            <a:off x="731520" y="5486400"/>
            <a:ext cx="10698480" cy="822960"/>
          </a:xfrm>
          <a:prstGeom prst="roundRect">
            <a:avLst/>
          </a:prstGeom>
          <a:solidFill>
            <a:srgbClr val="F8F9FC"/>
          </a:solidFill>
          <a:ln w="12700">
            <a:solidFill>
              <a:srgbClr val="DD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77840"/>
            <a:ext cx="10058400" cy="274320"/>
          </a:xfrm>
          <a:prstGeom prst="rect">
            <a:avLst/>
          </a:prstGeom>
          <a:noFill/>
        </p:spPr>
        <p:txBody>
          <a:bodyPr wrap="square">
            <a:spAutoFit/>
          </a:bodyPr>
          <a:lstStyle/>
          <a:p>
            <a:pPr algn="l">
              <a:defRPr sz="1400" b="1">
                <a:solidFill>
                  <a:srgbClr val="00B67A"/>
                </a:solidFill>
                <a:latin typeface="Calibri"/>
              </a:defRPr>
            </a:pPr>
            <a:r>
              <a:t>Available Resources</a:t>
            </a:r>
          </a:p>
        </p:txBody>
      </p:sp>
      <p:sp>
        <p:nvSpPr>
          <p:cNvPr id="37" name="TextBox 36"/>
          <p:cNvSpPr txBox="1"/>
          <p:nvPr/>
        </p:nvSpPr>
        <p:spPr>
          <a:xfrm>
            <a:off x="1005840" y="5897880"/>
            <a:ext cx="1371600" cy="182880"/>
          </a:xfrm>
          <a:prstGeom prst="rect">
            <a:avLst/>
          </a:prstGeom>
          <a:noFill/>
        </p:spPr>
        <p:txBody>
          <a:bodyPr wrap="square">
            <a:spAutoFit/>
          </a:bodyPr>
          <a:lstStyle/>
          <a:p>
            <a:pPr algn="l">
              <a:defRPr sz="1100" b="1">
                <a:solidFill>
                  <a:srgbClr val="00A3E0"/>
                </a:solidFill>
                <a:latin typeface="Calibri"/>
              </a:defRPr>
            </a:pPr>
            <a:r>
              <a:t>Training Guide</a:t>
            </a:r>
          </a:p>
        </p:txBody>
      </p:sp>
      <p:sp>
        <p:nvSpPr>
          <p:cNvPr id="38" name="TextBox 37"/>
          <p:cNvSpPr txBox="1"/>
          <p:nvPr/>
        </p:nvSpPr>
        <p:spPr>
          <a:xfrm>
            <a:off x="1005840" y="6080760"/>
            <a:ext cx="2468880" cy="182880"/>
          </a:xfrm>
          <a:prstGeom prst="rect">
            <a:avLst/>
          </a:prstGeom>
          <a:noFill/>
        </p:spPr>
        <p:txBody>
          <a:bodyPr wrap="square">
            <a:spAutoFit/>
          </a:bodyPr>
          <a:lstStyle/>
          <a:p>
            <a:pPr algn="l">
              <a:defRPr sz="1000" b="0">
                <a:solidFill>
                  <a:srgbClr val="555577"/>
                </a:solidFill>
                <a:latin typeface="Calibri"/>
              </a:defRPr>
            </a:pPr>
            <a:r>
              <a:t>docs/user-training.md</a:t>
            </a:r>
          </a:p>
        </p:txBody>
      </p:sp>
      <p:sp>
        <p:nvSpPr>
          <p:cNvPr id="39" name="TextBox 38"/>
          <p:cNvSpPr txBox="1"/>
          <p:nvPr/>
        </p:nvSpPr>
        <p:spPr>
          <a:xfrm>
            <a:off x="3657600" y="5897880"/>
            <a:ext cx="1371600" cy="182880"/>
          </a:xfrm>
          <a:prstGeom prst="rect">
            <a:avLst/>
          </a:prstGeom>
          <a:noFill/>
        </p:spPr>
        <p:txBody>
          <a:bodyPr wrap="square">
            <a:spAutoFit/>
          </a:bodyPr>
          <a:lstStyle/>
          <a:p>
            <a:pPr algn="l">
              <a:defRPr sz="1100" b="1">
                <a:solidFill>
                  <a:srgbClr val="00A3E0"/>
                </a:solidFill>
                <a:latin typeface="Calibri"/>
              </a:defRPr>
            </a:pPr>
            <a:r>
              <a:t>Quick Reference Cards</a:t>
            </a:r>
          </a:p>
        </p:txBody>
      </p:sp>
      <p:sp>
        <p:nvSpPr>
          <p:cNvPr id="40" name="TextBox 39"/>
          <p:cNvSpPr txBox="1"/>
          <p:nvPr/>
        </p:nvSpPr>
        <p:spPr>
          <a:xfrm>
            <a:off x="3657600" y="6080760"/>
            <a:ext cx="2468880" cy="182880"/>
          </a:xfrm>
          <a:prstGeom prst="rect">
            <a:avLst/>
          </a:prstGeom>
          <a:noFill/>
        </p:spPr>
        <p:txBody>
          <a:bodyPr wrap="square">
            <a:spAutoFit/>
          </a:bodyPr>
          <a:lstStyle/>
          <a:p>
            <a:pPr algn="l">
              <a:defRPr sz="1000" b="0">
                <a:solidFill>
                  <a:srgbClr val="555577"/>
                </a:solidFill>
                <a:latin typeface="Calibri"/>
              </a:defRPr>
            </a:pPr>
            <a:r>
              <a:t>Distributed at end of session</a:t>
            </a:r>
          </a:p>
        </p:txBody>
      </p:sp>
      <p:sp>
        <p:nvSpPr>
          <p:cNvPr id="41" name="TextBox 40"/>
          <p:cNvSpPr txBox="1"/>
          <p:nvPr/>
        </p:nvSpPr>
        <p:spPr>
          <a:xfrm>
            <a:off x="6309360" y="5897880"/>
            <a:ext cx="1371600" cy="182880"/>
          </a:xfrm>
          <a:prstGeom prst="rect">
            <a:avLst/>
          </a:prstGeom>
          <a:noFill/>
        </p:spPr>
        <p:txBody>
          <a:bodyPr wrap="square">
            <a:spAutoFit/>
          </a:bodyPr>
          <a:lstStyle/>
          <a:p>
            <a:pPr algn="l">
              <a:defRPr sz="1100" b="1">
                <a:solidFill>
                  <a:srgbClr val="00A3E0"/>
                </a:solidFill>
                <a:latin typeface="Calibri"/>
              </a:defRPr>
            </a:pPr>
            <a:r>
              <a:t>Platform URL</a:t>
            </a:r>
          </a:p>
        </p:txBody>
      </p:sp>
      <p:sp>
        <p:nvSpPr>
          <p:cNvPr id="42" name="TextBox 41"/>
          <p:cNvSpPr txBox="1"/>
          <p:nvPr/>
        </p:nvSpPr>
        <p:spPr>
          <a:xfrm>
            <a:off x="6309360" y="6080760"/>
            <a:ext cx="2468880" cy="182880"/>
          </a:xfrm>
          <a:prstGeom prst="rect">
            <a:avLst/>
          </a:prstGeom>
          <a:noFill/>
        </p:spPr>
        <p:txBody>
          <a:bodyPr wrap="square">
            <a:spAutoFit/>
          </a:bodyPr>
          <a:lstStyle/>
          <a:p>
            <a:pPr algn="l">
              <a:defRPr sz="1000" b="0">
                <a:solidFill>
                  <a:srgbClr val="555577"/>
                </a:solidFill>
                <a:latin typeface="Calibri"/>
              </a:defRPr>
            </a:pPr>
            <a:r>
              <a:t>credentialing.hdpulseai.com</a:t>
            </a:r>
          </a:p>
        </p:txBody>
      </p:sp>
      <p:sp>
        <p:nvSpPr>
          <p:cNvPr id="43" name="TextBox 42"/>
          <p:cNvSpPr txBox="1"/>
          <p:nvPr/>
        </p:nvSpPr>
        <p:spPr>
          <a:xfrm>
            <a:off x="8961119" y="5897880"/>
            <a:ext cx="1371600" cy="182880"/>
          </a:xfrm>
          <a:prstGeom prst="rect">
            <a:avLst/>
          </a:prstGeom>
          <a:noFill/>
        </p:spPr>
        <p:txBody>
          <a:bodyPr wrap="square">
            <a:spAutoFit/>
          </a:bodyPr>
          <a:lstStyle/>
          <a:p>
            <a:pPr algn="l">
              <a:defRPr sz="1100" b="1">
                <a:solidFill>
                  <a:srgbClr val="00A3E0"/>
                </a:solidFill>
                <a:latin typeface="Calibri"/>
              </a:defRPr>
            </a:pPr>
            <a:r>
              <a:t>Training Videos</a:t>
            </a:r>
          </a:p>
        </p:txBody>
      </p:sp>
      <p:sp>
        <p:nvSpPr>
          <p:cNvPr id="44" name="TextBox 43"/>
          <p:cNvSpPr txBox="1"/>
          <p:nvPr/>
        </p:nvSpPr>
        <p:spPr>
          <a:xfrm>
            <a:off x="8961119" y="6080760"/>
            <a:ext cx="2468880" cy="182880"/>
          </a:xfrm>
          <a:prstGeom prst="rect">
            <a:avLst/>
          </a:prstGeom>
          <a:noFill/>
        </p:spPr>
        <p:txBody>
          <a:bodyPr wrap="square">
            <a:spAutoFit/>
          </a:bodyPr>
          <a:lstStyle/>
          <a:p>
            <a:pPr algn="l">
              <a:defRPr sz="1000" b="0">
                <a:solidFill>
                  <a:srgbClr val="555577"/>
                </a:solidFill>
                <a:latin typeface="Calibri"/>
              </a:defRPr>
            </a:pPr>
            <a:r>
              <a:t>docs/training/videos/ (coming soon)</a:t>
            </a:r>
          </a:p>
        </p:txBody>
      </p:sp>
      <p:sp>
        <p:nvSpPr>
          <p:cNvPr id="45" name="TextBox 44"/>
          <p:cNvSpPr txBox="1"/>
          <p:nvPr/>
        </p:nvSpPr>
        <p:spPr>
          <a:xfrm>
            <a:off x="11155680" y="6309360"/>
            <a:ext cx="914400" cy="365760"/>
          </a:xfrm>
          <a:prstGeom prst="rect">
            <a:avLst/>
          </a:prstGeom>
          <a:noFill/>
        </p:spPr>
        <p:txBody>
          <a:bodyPr wrap="square">
            <a:spAutoFit/>
          </a:bodyPr>
          <a:lstStyle/>
          <a:p>
            <a:pPr algn="r">
              <a:defRPr sz="1100" b="0">
                <a:solidFill>
                  <a:srgbClr val="555577"/>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1E47"/>
        </a:solidFill>
        <a:effectLst/>
      </p:bgPr>
    </p:bg>
    <p:spTree>
      <p:nvGrpSpPr>
        <p:cNvPr id="1" name=""/>
        <p:cNvGrpSpPr/>
        <p:nvPr/>
      </p:nvGrpSpPr>
      <p:grpSpPr/>
      <p:sp>
        <p:nvSpPr>
          <p:cNvPr id="2" name="Rectangle 1"/>
          <p:cNvSpPr/>
          <p:nvPr/>
        </p:nvSpPr>
        <p:spPr>
          <a:xfrm>
            <a:off x="5303520" y="914400"/>
            <a:ext cx="155448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280160"/>
            <a:ext cx="9418320" cy="914400"/>
          </a:xfrm>
          <a:prstGeom prst="rect">
            <a:avLst/>
          </a:prstGeom>
          <a:noFill/>
        </p:spPr>
        <p:txBody>
          <a:bodyPr wrap="square">
            <a:spAutoFit/>
          </a:bodyPr>
          <a:lstStyle/>
          <a:p>
            <a:pPr algn="ctr">
              <a:defRPr sz="4400" b="1">
                <a:solidFill>
                  <a:srgbClr val="FFFFFF"/>
                </a:solidFill>
                <a:latin typeface="Calibri"/>
              </a:defRPr>
            </a:pPr>
            <a:r>
              <a:t>Thank You &amp;</a:t>
            </a:r>
            <a:br/>
            <a:r>
              <a:t>Welcome to the New Platform</a:t>
            </a:r>
          </a:p>
        </p:txBody>
      </p:sp>
      <p:sp>
        <p:nvSpPr>
          <p:cNvPr id="4" name="TextBox 3"/>
          <p:cNvSpPr txBox="1"/>
          <p:nvPr/>
        </p:nvSpPr>
        <p:spPr>
          <a:xfrm>
            <a:off x="2286000" y="2560320"/>
            <a:ext cx="7589520" cy="731520"/>
          </a:xfrm>
          <a:prstGeom prst="rect">
            <a:avLst/>
          </a:prstGeom>
          <a:noFill/>
        </p:spPr>
        <p:txBody>
          <a:bodyPr wrap="square">
            <a:spAutoFit/>
          </a:bodyPr>
          <a:lstStyle/>
          <a:p>
            <a:pPr algn="ctr">
              <a:defRPr sz="1600" b="0">
                <a:solidFill>
                  <a:srgbClr val="BBBBDD"/>
                </a:solidFill>
                <a:latin typeface="Calibri"/>
              </a:defRPr>
            </a:pPr>
            <a:r>
              <a:t>You now have the knowledge to use every module of the ESSEN Credentialing Platform.</a:t>
            </a:r>
            <a:br/>
            <a:r>
              <a:t>Practice with the training environment, refer to the training guide, and don't hesitate to ask for help.</a:t>
            </a:r>
          </a:p>
        </p:txBody>
      </p:sp>
      <p:sp>
        <p:nvSpPr>
          <p:cNvPr id="5" name="Rounded Rectangle 4"/>
          <p:cNvSpPr/>
          <p:nvPr/>
        </p:nvSpPr>
        <p:spPr>
          <a:xfrm>
            <a:off x="1188720" y="3657600"/>
            <a:ext cx="2286000" cy="13716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794760"/>
            <a:ext cx="2286000" cy="365760"/>
          </a:xfrm>
          <a:prstGeom prst="rect">
            <a:avLst/>
          </a:prstGeom>
          <a:noFill/>
        </p:spPr>
        <p:txBody>
          <a:bodyPr wrap="square">
            <a:spAutoFit/>
          </a:bodyPr>
          <a:lstStyle/>
          <a:p>
            <a:pPr algn="ctr">
              <a:defRPr sz="2400" b="1">
                <a:solidFill>
                  <a:srgbClr val="00A3E0"/>
                </a:solidFill>
                <a:latin typeface="Calibri"/>
              </a:defRPr>
            </a:pPr>
            <a:r>
              <a:t>10 Modules</a:t>
            </a:r>
          </a:p>
        </p:txBody>
      </p:sp>
      <p:sp>
        <p:nvSpPr>
          <p:cNvPr id="7" name="TextBox 6"/>
          <p:cNvSpPr txBox="1"/>
          <p:nvPr/>
        </p:nvSpPr>
        <p:spPr>
          <a:xfrm>
            <a:off x="1188720" y="4251960"/>
            <a:ext cx="2286000" cy="548640"/>
          </a:xfrm>
          <a:prstGeom prst="rect">
            <a:avLst/>
          </a:prstGeom>
          <a:noFill/>
        </p:spPr>
        <p:txBody>
          <a:bodyPr wrap="square">
            <a:spAutoFit/>
          </a:bodyPr>
          <a:lstStyle/>
          <a:p>
            <a:pPr algn="ctr">
              <a:defRPr sz="1100" b="0">
                <a:solidFill>
                  <a:srgbClr val="BBBBDD"/>
                </a:solidFill>
                <a:latin typeface="Calibri"/>
              </a:defRPr>
            </a:pPr>
            <a:r>
              <a:t>Complete credentialing</a:t>
            </a:r>
            <a:br/>
            <a:r>
              <a:t>lifecycle covered</a:t>
            </a:r>
          </a:p>
        </p:txBody>
      </p:sp>
      <p:sp>
        <p:nvSpPr>
          <p:cNvPr id="8" name="Rounded Rectangle 7"/>
          <p:cNvSpPr/>
          <p:nvPr/>
        </p:nvSpPr>
        <p:spPr>
          <a:xfrm>
            <a:off x="3840480" y="3657600"/>
            <a:ext cx="2286000" cy="13716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3794760"/>
            <a:ext cx="2286000" cy="365760"/>
          </a:xfrm>
          <a:prstGeom prst="rect">
            <a:avLst/>
          </a:prstGeom>
          <a:noFill/>
        </p:spPr>
        <p:txBody>
          <a:bodyPr wrap="square">
            <a:spAutoFit/>
          </a:bodyPr>
          <a:lstStyle/>
          <a:p>
            <a:pPr algn="ctr">
              <a:defRPr sz="2400" b="1">
                <a:solidFill>
                  <a:srgbClr val="00A3E0"/>
                </a:solidFill>
                <a:latin typeface="Calibri"/>
              </a:defRPr>
            </a:pPr>
            <a:r>
              <a:t>8 Bot Types</a:t>
            </a:r>
          </a:p>
        </p:txBody>
      </p:sp>
      <p:sp>
        <p:nvSpPr>
          <p:cNvPr id="10" name="TextBox 9"/>
          <p:cNvSpPr txBox="1"/>
          <p:nvPr/>
        </p:nvSpPr>
        <p:spPr>
          <a:xfrm>
            <a:off x="3840480" y="4251960"/>
            <a:ext cx="2286000" cy="548640"/>
          </a:xfrm>
          <a:prstGeom prst="rect">
            <a:avLst/>
          </a:prstGeom>
          <a:noFill/>
        </p:spPr>
        <p:txBody>
          <a:bodyPr wrap="square">
            <a:spAutoFit/>
          </a:bodyPr>
          <a:lstStyle/>
          <a:p>
            <a:pPr algn="ctr">
              <a:defRPr sz="1100" b="0">
                <a:solidFill>
                  <a:srgbClr val="BBBBDD"/>
                </a:solidFill>
                <a:latin typeface="Calibri"/>
              </a:defRPr>
            </a:pPr>
            <a:r>
              <a:t>Automated verification</a:t>
            </a:r>
            <a:br/>
            <a:r>
              <a:t>replaces manual work</a:t>
            </a:r>
          </a:p>
        </p:txBody>
      </p:sp>
      <p:sp>
        <p:nvSpPr>
          <p:cNvPr id="11" name="Rounded Rectangle 10"/>
          <p:cNvSpPr/>
          <p:nvPr/>
        </p:nvSpPr>
        <p:spPr>
          <a:xfrm>
            <a:off x="6492240" y="3657600"/>
            <a:ext cx="2286000" cy="13716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794760"/>
            <a:ext cx="2286000" cy="365760"/>
          </a:xfrm>
          <a:prstGeom prst="rect">
            <a:avLst/>
          </a:prstGeom>
          <a:noFill/>
        </p:spPr>
        <p:txBody>
          <a:bodyPr wrap="square">
            <a:spAutoFit/>
          </a:bodyPr>
          <a:lstStyle/>
          <a:p>
            <a:pPr algn="ctr">
              <a:defRPr sz="2400" b="1">
                <a:solidFill>
                  <a:srgbClr val="00A3E0"/>
                </a:solidFill>
                <a:latin typeface="Calibri"/>
              </a:defRPr>
            </a:pPr>
            <a:r>
              <a:t>20+ Expirables</a:t>
            </a:r>
          </a:p>
        </p:txBody>
      </p:sp>
      <p:sp>
        <p:nvSpPr>
          <p:cNvPr id="13" name="TextBox 12"/>
          <p:cNvSpPr txBox="1"/>
          <p:nvPr/>
        </p:nvSpPr>
        <p:spPr>
          <a:xfrm>
            <a:off x="6492240" y="4251960"/>
            <a:ext cx="2286000" cy="548640"/>
          </a:xfrm>
          <a:prstGeom prst="rect">
            <a:avLst/>
          </a:prstGeom>
          <a:noFill/>
        </p:spPr>
        <p:txBody>
          <a:bodyPr wrap="square">
            <a:spAutoFit/>
          </a:bodyPr>
          <a:lstStyle/>
          <a:p>
            <a:pPr algn="ctr">
              <a:defRPr sz="1100" b="0">
                <a:solidFill>
                  <a:srgbClr val="BBBBDD"/>
                </a:solidFill>
                <a:latin typeface="Calibri"/>
              </a:defRPr>
            </a:pPr>
            <a:r>
              <a:t>Proactive compliance</a:t>
            </a:r>
            <a:br/>
            <a:r>
              <a:t>monitoring</a:t>
            </a:r>
          </a:p>
        </p:txBody>
      </p:sp>
      <p:sp>
        <p:nvSpPr>
          <p:cNvPr id="14" name="Rounded Rectangle 13"/>
          <p:cNvSpPr/>
          <p:nvPr/>
        </p:nvSpPr>
        <p:spPr>
          <a:xfrm>
            <a:off x="9144000" y="3657600"/>
            <a:ext cx="2286000" cy="1371600"/>
          </a:xfrm>
          <a:prstGeom prst="roundRect">
            <a:avLst/>
          </a:prstGeom>
          <a:solidFill>
            <a:srgbClr val="0D2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3794760"/>
            <a:ext cx="2286000" cy="365760"/>
          </a:xfrm>
          <a:prstGeom prst="rect">
            <a:avLst/>
          </a:prstGeom>
          <a:noFill/>
        </p:spPr>
        <p:txBody>
          <a:bodyPr wrap="square">
            <a:spAutoFit/>
          </a:bodyPr>
          <a:lstStyle/>
          <a:p>
            <a:pPr algn="ctr">
              <a:defRPr sz="2400" b="1">
                <a:solidFill>
                  <a:srgbClr val="00A3E0"/>
                </a:solidFill>
                <a:latin typeface="Calibri"/>
              </a:defRPr>
            </a:pPr>
            <a:r>
              <a:t>5 Roles</a:t>
            </a:r>
          </a:p>
        </p:txBody>
      </p:sp>
      <p:sp>
        <p:nvSpPr>
          <p:cNvPr id="16" name="TextBox 15"/>
          <p:cNvSpPr txBox="1"/>
          <p:nvPr/>
        </p:nvSpPr>
        <p:spPr>
          <a:xfrm>
            <a:off x="9144000" y="4251960"/>
            <a:ext cx="2286000" cy="548640"/>
          </a:xfrm>
          <a:prstGeom prst="rect">
            <a:avLst/>
          </a:prstGeom>
          <a:noFill/>
        </p:spPr>
        <p:txBody>
          <a:bodyPr wrap="square">
            <a:spAutoFit/>
          </a:bodyPr>
          <a:lstStyle/>
          <a:p>
            <a:pPr algn="ctr">
              <a:defRPr sz="1100" b="0">
                <a:solidFill>
                  <a:srgbClr val="BBBBDD"/>
                </a:solidFill>
                <a:latin typeface="Calibri"/>
              </a:defRPr>
            </a:pPr>
            <a:r>
              <a:t>Right access for</a:t>
            </a:r>
            <a:br/>
            <a:r>
              <a:t>every user</a:t>
            </a:r>
          </a:p>
        </p:txBody>
      </p:sp>
      <p:sp>
        <p:nvSpPr>
          <p:cNvPr id="17" name="TextBox 16"/>
          <p:cNvSpPr txBox="1"/>
          <p:nvPr/>
        </p:nvSpPr>
        <p:spPr>
          <a:xfrm>
            <a:off x="1371600" y="5303520"/>
            <a:ext cx="9418320" cy="365760"/>
          </a:xfrm>
          <a:prstGeom prst="rect">
            <a:avLst/>
          </a:prstGeom>
          <a:noFill/>
        </p:spPr>
        <p:txBody>
          <a:bodyPr wrap="square">
            <a:spAutoFit/>
          </a:bodyPr>
          <a:lstStyle/>
          <a:p>
            <a:pPr algn="ctr">
              <a:defRPr sz="1800" b="1">
                <a:solidFill>
                  <a:srgbClr val="00A3E0"/>
                </a:solidFill>
                <a:latin typeface="Calibri"/>
              </a:defRPr>
            </a:pPr>
            <a:r>
              <a:t>credentialing.hdpulseai.com</a:t>
            </a:r>
          </a:p>
        </p:txBody>
      </p:sp>
      <p:sp>
        <p:nvSpPr>
          <p:cNvPr id="18" name="TextBox 17"/>
          <p:cNvSpPr txBox="1"/>
          <p:nvPr/>
        </p:nvSpPr>
        <p:spPr>
          <a:xfrm>
            <a:off x="1371600" y="5760720"/>
            <a:ext cx="9418320" cy="365760"/>
          </a:xfrm>
          <a:prstGeom prst="rect">
            <a:avLst/>
          </a:prstGeom>
          <a:noFill/>
        </p:spPr>
        <p:txBody>
          <a:bodyPr wrap="square">
            <a:spAutoFit/>
          </a:bodyPr>
          <a:lstStyle/>
          <a:p>
            <a:pPr algn="ctr">
              <a:defRPr sz="1200" b="0">
                <a:solidFill>
                  <a:srgbClr val="556688"/>
                </a:solidFill>
                <a:latin typeface="Calibri"/>
              </a:defRPr>
            </a:pPr>
            <a:r>
              <a:t>ESSEN Credentialing Platform  •  Essen Medical Associates  •  April 2026</a:t>
            </a:r>
          </a:p>
        </p:txBody>
      </p:sp>
      <p:sp>
        <p:nvSpPr>
          <p:cNvPr id="19" name="TextBox 18"/>
          <p:cNvSpPr txBox="1"/>
          <p:nvPr/>
        </p:nvSpPr>
        <p:spPr>
          <a:xfrm>
            <a:off x="11155680" y="6309360"/>
            <a:ext cx="914400" cy="365760"/>
          </a:xfrm>
          <a:prstGeom prst="rect">
            <a:avLst/>
          </a:prstGeom>
          <a:noFill/>
        </p:spPr>
        <p:txBody>
          <a:bodyPr wrap="square">
            <a:spAutoFit/>
          </a:bodyPr>
          <a:lstStyle/>
          <a:p>
            <a:pPr algn="r">
              <a:defRPr sz="1100" b="0">
                <a:solidFill>
                  <a:srgbClr val="BBBBDD"/>
                </a:solidFill>
                <a:latin typeface="Calibri"/>
              </a:defRPr>
            </a:pPr>
            <a: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