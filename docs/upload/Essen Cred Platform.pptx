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sldIdLst>
    <p:sldId id="600" r:id="rId5"/>
    <p:sldId id="2147470904" r:id="rId6"/>
    <p:sldId id="2147470873" r:id="rId7"/>
  </p:sldIdLst>
  <p:sldSz cx="12192000" cy="6858000"/>
  <p:notesSz cx="6858000" cy="9144000"/>
  <p:custDataLst>
    <p:tags r:id="rId9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5837B86-4439-44B5-9C71-D77F80303BCB}">
          <p14:sldIdLst>
            <p14:sldId id="600"/>
            <p14:sldId id="2147470904"/>
            <p14:sldId id="2147470873"/>
          </p14:sldIdLst>
        </p14:section>
        <p14:section name="Reference" id="{1F5DCDB7-D3FE-4A99-9D31-AD60F1D1A00C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A17DF44-2AA5-FE16-2199-8673F81B0EF0}" name="Reena Patel" initials="RP" userId="S::repatel@essenmed.com::13044c27-0941-450a-a1b2-083f2b2c96da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eena Patel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63E46D-918A-91AE-CE25-CB5C7854415D}" v="2317" dt="2026-04-08T12:32:27.848"/>
    <p1510:client id="{505A0D12-4C4D-3CC7-696D-AF96826C53AC}" v="6181" dt="2026-04-09T01:25:07.955"/>
    <p1510:client id="{7434E2A5-9662-ED91-5F42-81B9676C1947}" v="330" dt="2026-04-09T14:05:04.2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C6F7277-5840-45D7-8B51-97012959EC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933101-C774-4A26-AB66-85DA5603741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ECAF1D7-AFFB-4756-8BEF-1525184B3E95}" type="datetimeFigureOut">
              <a:rPr lang="en-US"/>
              <a:pPr>
                <a:defRPr/>
              </a:pPr>
              <a:t>4/14/2026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BC31036-D04A-4EDA-B798-56049D68FC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D3A8F0F-A5EF-40F9-A765-3A1358027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E090C0-E917-43E5-A017-B044EF60711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4A71A-9E82-4F07-8D93-FDCF5173C2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4E669391-2B09-4B97-8A1B-3BD6C3C3BCC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669391-2B09-4B97-8A1B-3BD6C3C3BCC8}" type="slidenum">
              <a:rPr lang="en-US" altLang="en-US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4019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90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AD2A2097-6D58-1108-9A69-AB3C5821B2A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305050"/>
            <a:ext cx="5257800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A6D496-FF15-4E73-8ED0-80594781B1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24414"/>
            <a:ext cx="9144000" cy="640080"/>
          </a:xfrm>
        </p:spPr>
        <p:txBody>
          <a:bodyPr anchor="b">
            <a:normAutofit/>
          </a:bodyPr>
          <a:lstStyle>
            <a:lvl1pPr algn="l"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665439-F06A-418F-BEF2-913343B84F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268913"/>
            <a:ext cx="9144000" cy="457200"/>
          </a:xfrm>
        </p:spPr>
        <p:txBody>
          <a:bodyPr/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06135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rgbClr val="109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73;p15">
            <a:extLst>
              <a:ext uri="{FF2B5EF4-FFF2-40B4-BE49-F238E27FC236}">
                <a16:creationId xmlns:a16="http://schemas.microsoft.com/office/drawing/2014/main" id="{2936B3E4-E039-FF2A-3003-CA009FC06C5E}"/>
              </a:ext>
            </a:extLst>
          </p:cNvPr>
          <p:cNvPicPr preferRelativeResize="0"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044" b="12914"/>
          <a:stretch>
            <a:fillRect/>
          </a:stretch>
        </p:blipFill>
        <p:spPr bwMode="auto">
          <a:xfrm>
            <a:off x="411163" y="6288088"/>
            <a:ext cx="439737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7E2EB43-1004-2B05-8B96-56C3E6A5CAD3}"/>
              </a:ext>
            </a:extLst>
          </p:cNvPr>
          <p:cNvCxnSpPr/>
          <p:nvPr userDrawn="1"/>
        </p:nvCxnSpPr>
        <p:spPr>
          <a:xfrm>
            <a:off x="609600" y="411163"/>
            <a:ext cx="11045825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15E93F5-1744-4690-991A-7A373DAC3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3082"/>
            <a:ext cx="10515600" cy="64008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81974-F01E-4BB9-A427-84B629EDE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1DBE4-02F1-C66F-CD77-9476751ACF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92CAFB-339F-411D-A874-6C6D4E56AF4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11">
            <a:extLst>
              <a:ext uri="{FF2B5EF4-FFF2-40B4-BE49-F238E27FC236}">
                <a16:creationId xmlns:a16="http://schemas.microsoft.com/office/drawing/2014/main" id="{D215DA6B-921C-1047-03F7-64CD245CB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0900" y="632301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Slide 1 of 45 </a:t>
            </a:r>
          </a:p>
        </p:txBody>
      </p:sp>
    </p:spTree>
    <p:extLst>
      <p:ext uri="{BB962C8B-B14F-4D97-AF65-F5344CB8AC3E}">
        <p14:creationId xmlns:p14="http://schemas.microsoft.com/office/powerpoint/2010/main" val="6681917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rgbClr val="090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73;p15">
            <a:extLst>
              <a:ext uri="{FF2B5EF4-FFF2-40B4-BE49-F238E27FC236}">
                <a16:creationId xmlns:a16="http://schemas.microsoft.com/office/drawing/2014/main" id="{B0E102DA-63C1-BF64-C43D-0789D3257E81}"/>
              </a:ext>
            </a:extLst>
          </p:cNvPr>
          <p:cNvPicPr preferRelativeResize="0"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044" b="12914"/>
          <a:stretch>
            <a:fillRect/>
          </a:stretch>
        </p:blipFill>
        <p:spPr bwMode="auto">
          <a:xfrm>
            <a:off x="411163" y="6288088"/>
            <a:ext cx="439737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403295D-787F-A9CE-C97E-E4C47A29F658}"/>
              </a:ext>
            </a:extLst>
          </p:cNvPr>
          <p:cNvCxnSpPr/>
          <p:nvPr userDrawn="1"/>
        </p:nvCxnSpPr>
        <p:spPr>
          <a:xfrm>
            <a:off x="609600" y="411163"/>
            <a:ext cx="11045825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15E93F5-1744-4690-991A-7A373DAC3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3082"/>
            <a:ext cx="10515600" cy="64008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81974-F01E-4BB9-A427-84B629EDE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E5F50-06B9-375A-6D45-EEA2DBE298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87754D2-8901-4CF9-9E22-85255E298C9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11">
            <a:extLst>
              <a:ext uri="{FF2B5EF4-FFF2-40B4-BE49-F238E27FC236}">
                <a16:creationId xmlns:a16="http://schemas.microsoft.com/office/drawing/2014/main" id="{5E8D7492-9EAD-5361-7733-36FBBA1CC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0900" y="632301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Slide 1 of 45 </a:t>
            </a:r>
          </a:p>
        </p:txBody>
      </p:sp>
    </p:spTree>
    <p:extLst>
      <p:ext uri="{BB962C8B-B14F-4D97-AF65-F5344CB8AC3E}">
        <p14:creationId xmlns:p14="http://schemas.microsoft.com/office/powerpoint/2010/main" val="27214292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73;p15">
            <a:extLst>
              <a:ext uri="{FF2B5EF4-FFF2-40B4-BE49-F238E27FC236}">
                <a16:creationId xmlns:a16="http://schemas.microsoft.com/office/drawing/2014/main" id="{FB68CF90-F79E-5A8C-8BF2-2336215AF38A}"/>
              </a:ext>
            </a:extLst>
          </p:cNvPr>
          <p:cNvPicPr preferRelativeResize="0"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044" b="12914"/>
          <a:stretch>
            <a:fillRect/>
          </a:stretch>
        </p:blipFill>
        <p:spPr bwMode="auto">
          <a:xfrm>
            <a:off x="411163" y="6288088"/>
            <a:ext cx="439737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0769FB-DE14-CD09-F163-E6624EB4311F}"/>
              </a:ext>
            </a:extLst>
          </p:cNvPr>
          <p:cNvCxnSpPr/>
          <p:nvPr userDrawn="1"/>
        </p:nvCxnSpPr>
        <p:spPr>
          <a:xfrm>
            <a:off x="609600" y="411163"/>
            <a:ext cx="11045825" cy="0"/>
          </a:xfrm>
          <a:prstGeom prst="line">
            <a:avLst/>
          </a:prstGeom>
          <a:ln w="50800">
            <a:solidFill>
              <a:srgbClr val="0900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15E93F5-1744-4690-991A-7A373DAC3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3082"/>
            <a:ext cx="10515600" cy="640080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0E27B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81974-F01E-4BB9-A427-84B629EDE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>
            <a:lvl1pPr>
              <a:defRPr>
                <a:solidFill>
                  <a:srgbClr val="09005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09005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rgbClr val="09005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rgbClr val="09005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rgbClr val="09005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97236-F7A1-D00E-96C2-A09C9B057B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09005E"/>
                </a:solidFill>
              </a:defRPr>
            </a:lvl1pPr>
          </a:lstStyle>
          <a:p>
            <a:fld id="{AC7D0F05-D6F5-4A96-ABB7-3A5F5156952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11">
            <a:extLst>
              <a:ext uri="{FF2B5EF4-FFF2-40B4-BE49-F238E27FC236}">
                <a16:creationId xmlns:a16="http://schemas.microsoft.com/office/drawing/2014/main" id="{1E03271C-0F3D-1152-0AA0-C912B45FB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0900" y="6323013"/>
            <a:ext cx="4114800" cy="365125"/>
          </a:xfrm>
        </p:spPr>
        <p:txBody>
          <a:bodyPr/>
          <a:lstStyle>
            <a:lvl1pPr algn="l">
              <a:defRPr b="1">
                <a:solidFill>
                  <a:srgbClr val="09005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Slide 1 of 45 </a:t>
            </a:r>
          </a:p>
        </p:txBody>
      </p:sp>
    </p:spTree>
    <p:extLst>
      <p:ext uri="{BB962C8B-B14F-4D97-AF65-F5344CB8AC3E}">
        <p14:creationId xmlns:p14="http://schemas.microsoft.com/office/powerpoint/2010/main" val="16939958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73;p15">
            <a:extLst>
              <a:ext uri="{FF2B5EF4-FFF2-40B4-BE49-F238E27FC236}">
                <a16:creationId xmlns:a16="http://schemas.microsoft.com/office/drawing/2014/main" id="{CE01565C-6E4A-AD8A-48B9-81669946C013}"/>
              </a:ext>
            </a:extLst>
          </p:cNvPr>
          <p:cNvPicPr preferRelativeResize="0"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044" b="12914"/>
          <a:stretch>
            <a:fillRect/>
          </a:stretch>
        </p:blipFill>
        <p:spPr bwMode="auto">
          <a:xfrm>
            <a:off x="411163" y="6288088"/>
            <a:ext cx="439737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E0DA5A-63CF-610E-DA2C-095DA43FD061}"/>
              </a:ext>
            </a:extLst>
          </p:cNvPr>
          <p:cNvCxnSpPr/>
          <p:nvPr userDrawn="1"/>
        </p:nvCxnSpPr>
        <p:spPr>
          <a:xfrm>
            <a:off x="609600" y="411163"/>
            <a:ext cx="11045825" cy="0"/>
          </a:xfrm>
          <a:prstGeom prst="line">
            <a:avLst/>
          </a:prstGeom>
          <a:ln w="50800">
            <a:solidFill>
              <a:srgbClr val="0900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C514CF3-5FC6-4489-883C-CB5731319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3189"/>
            <a:ext cx="10515600" cy="640080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0E27B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88CB4-75FE-4911-BEA9-D39513EA90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43608"/>
            <a:ext cx="5181600" cy="4833355"/>
          </a:xfrm>
        </p:spPr>
        <p:txBody>
          <a:bodyPr>
            <a:norm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342B73-4FA5-4A6B-9CCA-9DF9BC533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43608"/>
            <a:ext cx="5181600" cy="4833355"/>
          </a:xfrm>
        </p:spPr>
        <p:txBody>
          <a:bodyPr>
            <a:norm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2206E259-1FFF-2275-BCAA-62DD641672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50900" y="6323013"/>
            <a:ext cx="4114800" cy="365125"/>
          </a:xfrm>
        </p:spPr>
        <p:txBody>
          <a:bodyPr/>
          <a:lstStyle>
            <a:lvl1pPr algn="l">
              <a:defRPr b="1">
                <a:solidFill>
                  <a:srgbClr val="09005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Slide 1 of 45 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4A7C678D-112D-CAA8-7427-84D6B70111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09005E"/>
                </a:solidFill>
              </a:defRPr>
            </a:lvl1pPr>
          </a:lstStyle>
          <a:p>
            <a:fld id="{11210DFB-1526-4887-8F36-B7FF100182F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159559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3;p15">
            <a:extLst>
              <a:ext uri="{FF2B5EF4-FFF2-40B4-BE49-F238E27FC236}">
                <a16:creationId xmlns:a16="http://schemas.microsoft.com/office/drawing/2014/main" id="{CA084DA9-5C6A-379A-8F8E-0463C5F94B92}"/>
              </a:ext>
            </a:extLst>
          </p:cNvPr>
          <p:cNvPicPr preferRelativeResize="0"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044" b="12914"/>
          <a:stretch>
            <a:fillRect/>
          </a:stretch>
        </p:blipFill>
        <p:spPr bwMode="auto">
          <a:xfrm>
            <a:off x="411163" y="6288088"/>
            <a:ext cx="439737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5546455-BA60-0F89-EBD6-B2C04F9563AF}"/>
              </a:ext>
            </a:extLst>
          </p:cNvPr>
          <p:cNvCxnSpPr/>
          <p:nvPr userDrawn="1"/>
        </p:nvCxnSpPr>
        <p:spPr>
          <a:xfrm>
            <a:off x="609600" y="411163"/>
            <a:ext cx="11045825" cy="0"/>
          </a:xfrm>
          <a:prstGeom prst="line">
            <a:avLst/>
          </a:prstGeom>
          <a:ln w="50800">
            <a:solidFill>
              <a:srgbClr val="0900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6C4190B-97ED-4720-B415-688746763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44328"/>
            <a:ext cx="10515600" cy="640080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0E27B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91ED4C-337C-4874-BB96-4E3C08286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41365"/>
            <a:ext cx="5157787" cy="457200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rgbClr val="0045E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3E7729-B8D4-4C1E-8BD3-49C025258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36710"/>
            <a:ext cx="5157787" cy="4052953"/>
          </a:xfrm>
        </p:spPr>
        <p:txBody>
          <a:bodyPr>
            <a:norm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C421AD-6B7D-4965-B4BC-995F0361C7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41365"/>
            <a:ext cx="5183188" cy="457200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rgbClr val="0045E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BDB722-446C-465A-B91D-1EA4978418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36710"/>
            <a:ext cx="5183188" cy="4052953"/>
          </a:xfrm>
        </p:spPr>
        <p:txBody>
          <a:bodyPr>
            <a:norm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76CFFEB7-27DB-EDE1-3BCE-7E14507C48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50900" y="6323013"/>
            <a:ext cx="4114800" cy="365125"/>
          </a:xfrm>
        </p:spPr>
        <p:txBody>
          <a:bodyPr/>
          <a:lstStyle>
            <a:lvl1pPr algn="l">
              <a:defRPr b="1">
                <a:solidFill>
                  <a:srgbClr val="09005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Slide 1 of 45 </a:t>
            </a:r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F311EAD3-F7BA-1891-D9D2-66B938A0DA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09005E"/>
                </a:solidFill>
              </a:defRPr>
            </a:lvl1pPr>
          </a:lstStyle>
          <a:p>
            <a:fld id="{5F7CDA92-A2DD-47DB-B470-14F0B7083C3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755750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73;p15">
            <a:extLst>
              <a:ext uri="{FF2B5EF4-FFF2-40B4-BE49-F238E27FC236}">
                <a16:creationId xmlns:a16="http://schemas.microsoft.com/office/drawing/2014/main" id="{C317B37E-09BC-08EA-5A35-4941F5E0DE44}"/>
              </a:ext>
            </a:extLst>
          </p:cNvPr>
          <p:cNvPicPr preferRelativeResize="0"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044" b="12914"/>
          <a:stretch>
            <a:fillRect/>
          </a:stretch>
        </p:blipFill>
        <p:spPr bwMode="auto">
          <a:xfrm>
            <a:off x="411163" y="6288088"/>
            <a:ext cx="439737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266870A-5AFC-FB25-B683-A2CB23A1D822}"/>
              </a:ext>
            </a:extLst>
          </p:cNvPr>
          <p:cNvCxnSpPr/>
          <p:nvPr userDrawn="1"/>
        </p:nvCxnSpPr>
        <p:spPr>
          <a:xfrm>
            <a:off x="609600" y="411163"/>
            <a:ext cx="11045825" cy="0"/>
          </a:xfrm>
          <a:prstGeom prst="line">
            <a:avLst/>
          </a:prstGeom>
          <a:ln w="50800">
            <a:solidFill>
              <a:srgbClr val="0900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1F27F7E-0817-4F5F-92E2-2910CF8E7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076"/>
            <a:ext cx="10515600" cy="640080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E27B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D4B68ED-24EE-6B28-3E5D-DFDADECAAE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50900" y="6323013"/>
            <a:ext cx="4114800" cy="365125"/>
          </a:xfrm>
        </p:spPr>
        <p:txBody>
          <a:bodyPr/>
          <a:lstStyle>
            <a:lvl1pPr algn="l">
              <a:defRPr b="1">
                <a:solidFill>
                  <a:srgbClr val="09005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Slide 1 of 45 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848F1B6E-576E-6438-AD6A-857EF2FFC4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09005E"/>
                </a:solidFill>
              </a:defRPr>
            </a:lvl1pPr>
          </a:lstStyle>
          <a:p>
            <a:fld id="{6147B9AA-5A49-4A3D-8017-3B213AAA684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344276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73;p15">
            <a:extLst>
              <a:ext uri="{FF2B5EF4-FFF2-40B4-BE49-F238E27FC236}">
                <a16:creationId xmlns:a16="http://schemas.microsoft.com/office/drawing/2014/main" id="{46303797-C699-5000-DD13-F040A47CA87C}"/>
              </a:ext>
            </a:extLst>
          </p:cNvPr>
          <p:cNvPicPr preferRelativeResize="0"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044" b="12914"/>
          <a:stretch>
            <a:fillRect/>
          </a:stretch>
        </p:blipFill>
        <p:spPr bwMode="auto">
          <a:xfrm>
            <a:off x="411163" y="6288088"/>
            <a:ext cx="439737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A5F4A0-04C7-6460-E231-F62FE9799974}"/>
              </a:ext>
            </a:extLst>
          </p:cNvPr>
          <p:cNvCxnSpPr/>
          <p:nvPr userDrawn="1"/>
        </p:nvCxnSpPr>
        <p:spPr>
          <a:xfrm>
            <a:off x="609600" y="411163"/>
            <a:ext cx="11045825" cy="0"/>
          </a:xfrm>
          <a:prstGeom prst="line">
            <a:avLst/>
          </a:prstGeom>
          <a:ln w="50800">
            <a:solidFill>
              <a:srgbClr val="0900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BD8A229-141F-4257-8D44-31BA86422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rgbClr val="0E27B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B1854-C794-40CF-9133-546D5A5F2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9EBE33-CD18-484A-9D9E-9255B2031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44747BE6-2FFD-BADF-F94F-0DD18F8183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50900" y="6323013"/>
            <a:ext cx="4114800" cy="365125"/>
          </a:xfrm>
        </p:spPr>
        <p:txBody>
          <a:bodyPr/>
          <a:lstStyle>
            <a:lvl1pPr algn="l">
              <a:defRPr b="1">
                <a:solidFill>
                  <a:srgbClr val="09005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Slide 1 of 45 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1B0D82AC-B44D-CF0C-C139-3C60AB5319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09005E"/>
                </a:solidFill>
              </a:defRPr>
            </a:lvl1pPr>
          </a:lstStyle>
          <a:p>
            <a:fld id="{C0EC1FA2-EEE5-4BA3-B60D-E046B761262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244443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73;p15">
            <a:extLst>
              <a:ext uri="{FF2B5EF4-FFF2-40B4-BE49-F238E27FC236}">
                <a16:creationId xmlns:a16="http://schemas.microsoft.com/office/drawing/2014/main" id="{250432B5-9554-7E1E-502C-E421A3D38D90}"/>
              </a:ext>
            </a:extLst>
          </p:cNvPr>
          <p:cNvPicPr preferRelativeResize="0"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044" b="12914"/>
          <a:stretch>
            <a:fillRect/>
          </a:stretch>
        </p:blipFill>
        <p:spPr bwMode="auto">
          <a:xfrm>
            <a:off x="411163" y="6288088"/>
            <a:ext cx="439737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9C65C89-A115-2C62-111E-A992ED624C57}"/>
              </a:ext>
            </a:extLst>
          </p:cNvPr>
          <p:cNvCxnSpPr/>
          <p:nvPr userDrawn="1"/>
        </p:nvCxnSpPr>
        <p:spPr>
          <a:xfrm>
            <a:off x="609600" y="411163"/>
            <a:ext cx="11045825" cy="0"/>
          </a:xfrm>
          <a:prstGeom prst="line">
            <a:avLst/>
          </a:prstGeom>
          <a:ln w="50800">
            <a:solidFill>
              <a:srgbClr val="0900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FF3B412-D0EE-4420-A477-83BB3DDDB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rgbClr val="0E27B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846F7B-5C7E-428A-B58A-4ECEA92788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6C23C4-25A6-4D48-A49B-0F4C75DB4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13CE9CA6-4E76-05C7-7F63-E3FD45A7D7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50900" y="6323013"/>
            <a:ext cx="4114800" cy="365125"/>
          </a:xfrm>
        </p:spPr>
        <p:txBody>
          <a:bodyPr/>
          <a:lstStyle>
            <a:lvl1pPr algn="l">
              <a:defRPr b="1">
                <a:solidFill>
                  <a:srgbClr val="09005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Slide 1 of 45 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2A93AD87-924D-1E67-A075-A1970990F2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09005E"/>
                </a:solidFill>
              </a:defRPr>
            </a:lvl1pPr>
          </a:lstStyle>
          <a:p>
            <a:fld id="{5298DDEF-B55D-4941-86BD-E1C7EE752B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419564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C976C6C-8DF3-9A5E-ADD7-AE8B66A7E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EA9B46A-B7A9-730D-B808-BD9C41B4B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1 of 45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97EFC19-BC13-A67F-2FD4-1F69FFCBA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722DC3-F616-4321-B61D-2659F27D159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287338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7" hidden="1">
            <a:extLst>
              <a:ext uri="{FF2B5EF4-FFF2-40B4-BE49-F238E27FC236}">
                <a16:creationId xmlns:a16="http://schemas.microsoft.com/office/drawing/2014/main" id="{CB0C69D5-836F-38E3-6BA6-B97E58063F8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60" imgH="360" progId="TCLayout.ActiveDocument.1">
                  <p:embed/>
                </p:oleObj>
              </mc:Choice>
              <mc:Fallback>
                <p:oleObj name="think-cell Slide" r:id="rId13" imgW="360" imgH="360" progId="TCLayout.ActiveDocument.1">
                  <p:embed/>
                  <p:pic>
                    <p:nvPicPr>
                      <p:cNvPr id="1026" name="Object 7" hidden="1">
                        <a:extLst>
                          <a:ext uri="{FF2B5EF4-FFF2-40B4-BE49-F238E27FC236}">
                            <a16:creationId xmlns:a16="http://schemas.microsoft.com/office/drawing/2014/main" id="{CB0C69D5-836F-38E3-6BA6-B97E58063F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CAD59A34-EC34-3D78-7F54-C367CA1FDB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44B8D19E-6E54-9795-8BBD-C2DE199A98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4DC64-8D0E-43DD-84AD-FC4A0D8635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3F187-4D85-4561-A01F-3180DBBB32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Slide 1 of 45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C2A8E-3F9D-4A4A-98DF-0E7F4F830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83B53183-841D-4A91-AE5E-C4C375E3F09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699" r:id="rId10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4F7A1-1C71-41BB-AD11-0C39F83048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3070" y="4548453"/>
            <a:ext cx="9144000" cy="639762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>
                <a:latin typeface="Arial"/>
                <a:cs typeface="Arial"/>
              </a:rPr>
              <a:t>Essen Credentialing Bottlenecks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F9214-3AF9-3990-6A9F-F3E6A802B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64E031-9AFA-3C41-EEC1-19A939B980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189863"/>
              </p:ext>
            </p:extLst>
          </p:nvPr>
        </p:nvGraphicFramePr>
        <p:xfrm>
          <a:off x="1404057" y="506832"/>
          <a:ext cx="9381876" cy="633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1914">
                  <a:extLst>
                    <a:ext uri="{9D8B030D-6E8A-4147-A177-3AD203B41FA5}">
                      <a16:colId xmlns:a16="http://schemas.microsoft.com/office/drawing/2014/main" val="2833592050"/>
                    </a:ext>
                  </a:extLst>
                </a:gridCol>
                <a:gridCol w="7949962">
                  <a:extLst>
                    <a:ext uri="{9D8B030D-6E8A-4147-A177-3AD203B41FA5}">
                      <a16:colId xmlns:a16="http://schemas.microsoft.com/office/drawing/2014/main" val="3058986039"/>
                    </a:ext>
                  </a:extLst>
                </a:gridCol>
              </a:tblGrid>
              <a:tr h="32971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Item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652076"/>
                  </a:ext>
                </a:extLst>
              </a:tr>
              <a:tr h="115032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Offshore / Onshore Team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Inconsistent performance from offshore teams</a:t>
                      </a:r>
                      <a:endParaRPr lang="en-US" b="1"/>
                    </a:p>
                    <a:p>
                      <a:pPr marL="742950" lvl="1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Subpar offshore supervisor guidance &amp; leadership ability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marL="742950" lvl="1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Lack of adequate communication &amp; lack of urgency for escalations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Slow process improvement &amp; adherence to updated workflows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Lack of visibility into day-to-day workflow / lack of accountability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662766"/>
                  </a:ext>
                </a:extLst>
              </a:tr>
              <a:tr h="93784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Onboarding</a:t>
                      </a:r>
                      <a:endParaRPr lang="en-US" sz="1400" b="1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Manual updates to </a:t>
                      </a:r>
                      <a:r>
                        <a:rPr lang="en-US" sz="1400" b="1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sharepoint</a:t>
                      </a: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 portal comments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PARCS issues with new provider emails / logins / provider profile creation / access permissions</a:t>
                      </a:r>
                      <a:endParaRPr lang="en-US" sz="1400" b="1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Provider availability is limited / no urgency to complete credentialing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Providers are STILL missing documents after onsite visit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3077125"/>
                  </a:ext>
                </a:extLst>
              </a:tr>
              <a:tr h="170749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Credentialing</a:t>
                      </a:r>
                      <a:endParaRPr lang="en-US" sz="1400" b="1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Issues completing the credentialing application in PARCS</a:t>
                      </a:r>
                      <a:endParaRPr lang="en-US" b="1"/>
                    </a:p>
                    <a:p>
                      <a:pPr marL="742950" lvl="1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ourier New"/>
                        <a:buChar char="o"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Auto-save causes a 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full-page</a:t>
                      </a: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 refresh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Excessive OCR latency for each document upload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Manual primary source verifications &amp; document storage</a:t>
                      </a:r>
                    </a:p>
                    <a:p>
                      <a:pPr marL="742950" lvl="1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ourier New,monospace"/>
                        <a:buChar char="o"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Can't run sanctions on demand</a:t>
                      </a:r>
                      <a:endParaRPr lang="en-US" dirty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Manual credentialing committee workflow</a:t>
                      </a:r>
                      <a:endParaRPr lang="en-US" b="1"/>
                    </a:p>
                    <a:p>
                      <a:pPr marL="742950" lvl="1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Courier New"/>
                        <a:buChar char="o"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Incl. shortlisting providers, PSV checklists, cred packet creation, committee agenda &amp; summary creation, committee approval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78545"/>
                  </a:ext>
                </a:extLst>
              </a:tr>
              <a:tr h="93784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Payers / Participation</a:t>
                      </a:r>
                      <a:endParaRPr lang="en-US" sz="1400" b="1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Roster generation is partially </a:t>
                      </a: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manual (in implementation)</a:t>
                      </a:r>
                      <a:endParaRPr lang="en-US" sz="1400" b="1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Lack of adherence to payer follow-up cadence (not automated)</a:t>
                      </a:r>
                      <a:endParaRPr lang="en-US" sz="1400" b="1" i="0" u="none" strike="noStrike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Manual gap analysis for participation (not always accurate)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Roster and application completion errors / issues requiring corrections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39179"/>
                  </a:ext>
                </a:extLst>
              </a:tr>
              <a:tr h="109867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>
                          <a:latin typeface="Calibri"/>
                        </a:rPr>
                        <a:t>PARCS Systemic Issues</a:t>
                      </a:r>
                      <a:endParaRPr lang="en-US" sz="1400" b="1" i="0" u="none" strike="noStrike" noProof="0" dirty="0">
                        <a:latin typeface="Calibri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No integration with ICIMS &amp; partial integration with </a:t>
                      </a:r>
                      <a:r>
                        <a:rPr lang="en-US" sz="1400" b="1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eCW</a:t>
                      </a: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 (insurance &amp; plan mapping errors)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Reporting issues / data mismatch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No task </a:t>
                      </a: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tracking</a:t>
                      </a: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 (only auto-allocates providers for onboarding)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Redundant dashboards &amp; fields; unintuitive search functionality</a:t>
                      </a:r>
                      <a:endParaRPr lang="en-US" sz="1400" b="1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Slow TAT for implementations; requires a lot of testing and changes to meet expectations</a:t>
                      </a:r>
                      <a:endParaRPr lang="en-US" sz="1400" b="1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875232"/>
                  </a:ext>
                </a:extLst>
              </a:tr>
            </a:tbl>
          </a:graphicData>
        </a:graphic>
      </p:graphicFrame>
      <p:sp>
        <p:nvSpPr>
          <p:cNvPr id="3" name="TextBox 15">
            <a:extLst>
              <a:ext uri="{FF2B5EF4-FFF2-40B4-BE49-F238E27FC236}">
                <a16:creationId xmlns:a16="http://schemas.microsoft.com/office/drawing/2014/main" id="{3A08A73A-BBE7-D8A3-20CA-E5EBA152E082}"/>
              </a:ext>
            </a:extLst>
          </p:cNvPr>
          <p:cNvSpPr txBox="1"/>
          <p:nvPr/>
        </p:nvSpPr>
        <p:spPr>
          <a:xfrm>
            <a:off x="570956" y="-78589"/>
            <a:ext cx="10824306" cy="5847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US" sz="3200" b="1">
                <a:solidFill>
                  <a:srgbClr val="0E27B0"/>
                </a:solidFill>
                <a:latin typeface="Arial"/>
                <a:ea typeface="Calibri"/>
                <a:cs typeface="Arial"/>
              </a:rPr>
              <a:t>Credentialing Bottlenecks</a:t>
            </a:r>
            <a:endParaRPr lang="en-US" sz="3200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754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company&#10;&#10;AI-generated content may be incorrect.">
            <a:extLst>
              <a:ext uri="{FF2B5EF4-FFF2-40B4-BE49-F238E27FC236}">
                <a16:creationId xmlns:a16="http://schemas.microsoft.com/office/drawing/2014/main" id="{273FAAA7-71C1-5C89-CE5C-AC39121C4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31" y="0"/>
            <a:ext cx="120117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2024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2a08fa9c-6070-48db-a953-08e966e39ad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120B592E654D429B37304D27F1C102" ma:contentTypeVersion="19" ma:contentTypeDescription="Create a new document." ma:contentTypeScope="" ma:versionID="33cf8ebc02c226e4c7f27f49edcd5a6e">
  <xsd:schema xmlns:xsd="http://www.w3.org/2001/XMLSchema" xmlns:xs="http://www.w3.org/2001/XMLSchema" xmlns:p="http://schemas.microsoft.com/office/2006/metadata/properties" xmlns:ns1="http://schemas.microsoft.com/sharepoint/v3" xmlns:ns3="0021debe-d0ac-41a9-bf51-26c25d45b248" xmlns:ns4="2a08fa9c-6070-48db-a953-08e966e39ad7" targetNamespace="http://schemas.microsoft.com/office/2006/metadata/properties" ma:root="true" ma:fieldsID="58258cec0a2a3d0f8ea23f707b5fa213" ns1:_="" ns3:_="" ns4:_="">
    <xsd:import namespace="http://schemas.microsoft.com/sharepoint/v3"/>
    <xsd:import namespace="0021debe-d0ac-41a9-bf51-26c25d45b248"/>
    <xsd:import namespace="2a08fa9c-6070-48db-a953-08e966e39ad7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LengthInSeconds" minOccurs="0"/>
                <xsd:element ref="ns1:_ip_UnifiedCompliancePolicyProperties" minOccurs="0"/>
                <xsd:element ref="ns1:_ip_UnifiedCompliancePolicyUIAction" minOccurs="0"/>
                <xsd:element ref="ns4:MediaServiceAutoKeyPoints" minOccurs="0"/>
                <xsd:element ref="ns4:MediaServiceKeyPoints" minOccurs="0"/>
                <xsd:element ref="ns4:_activity" minOccurs="0"/>
                <xsd:element ref="ns4:MediaServiceObjectDetectorVersions" minOccurs="0"/>
                <xsd:element ref="ns4:MediaServiceSearchPropertie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21debe-d0ac-41a9-bf51-26c25d45b24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08fa9c-6070-48db-a953-08e966e39a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6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2842E0B-5891-409A-9A81-39469D80920B}">
  <ds:schemaRefs>
    <ds:schemaRef ds:uri="0021debe-d0ac-41a9-bf51-26c25d45b248"/>
    <ds:schemaRef ds:uri="2a08fa9c-6070-48db-a953-08e966e39ad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E653788-601C-4839-8215-ACDEFF96E842}">
  <ds:schemaRefs>
    <ds:schemaRef ds:uri="0021debe-d0ac-41a9-bf51-26c25d45b248"/>
    <ds:schemaRef ds:uri="2a08fa9c-6070-48db-a953-08e966e39ad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7EE82A4-80E1-486C-831D-F99EB86A259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1_Office Theme</vt:lpstr>
      <vt:lpstr>Essen Credentialing Bottlenecks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2023 Workflow</dc:title>
  <dc:creator>Yeachan Choi</dc:creator>
  <cp:revision>306</cp:revision>
  <dcterms:created xsi:type="dcterms:W3CDTF">2023-02-07T16:00:24Z</dcterms:created>
  <dcterms:modified xsi:type="dcterms:W3CDTF">2026-04-14T23:00:11Z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0x010100CF120B592E654D429B37304D27F1C102</vt:lpwstr>
  </property>
</Properties>
</file>