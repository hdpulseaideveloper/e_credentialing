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79" r:id="rId30"/>
    <p:sldId id="280" r:id="rId31"/>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75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6.xml"/><Relationship Id="rId31"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6247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Open the room. Frame this as a working session, not a sales pitch.</a:t>
            </a:r>
          </a:p>
          <a:p>
            <a:r>
              <a:rPr sz="1000"/>
              <a:t>  - The platform is production-ready today. The conversation is 'what we have / what's next', not 'what could we build'.</a:t>
            </a:r>
          </a:p>
          <a:p/>
          <a:p>
            <a:r>
              <a:rPr b="1" sz="1100"/>
              <a:t>TALKING POINTS</a:t>
            </a:r>
          </a:p>
          <a:p>
            <a:r>
              <a:rPr sz="1000"/>
              <a:t>  - Thank leadership for the time and frame the agenda: (1) clear picture of what shipped, (2) honest comparison vs. marketplace alternatives, (3) explicit 90-day decision plan.</a:t>
            </a:r>
          </a:p>
          <a:p>
            <a:r>
              <a:rPr sz="1000"/>
              <a:t>  - Quote the subhead verbatim if it helps: replacing PARCS with an intelligent, automated credentialing system that cuts onboarding time by 60%, eliminates manual verification bottlenecks, and ensures continuous compliance.</a:t>
            </a:r>
          </a:p>
          <a:p>
            <a:r>
              <a:rPr sz="1000"/>
              <a:t>  - Plant the call-to-action early: 'By the end I will ask for three decisions. None of them is whether to build the platform - that is already done.'</a:t>
            </a:r>
          </a:p>
          <a:p/>
          <a:p>
            <a:r>
              <a:rPr b="1" sz="1100"/>
              <a:t>BACKUP DETAIL</a:t>
            </a:r>
          </a:p>
          <a:p>
            <a:r>
              <a:rPr sz="1000"/>
              <a:t>  - Date and audience are on the title slide; status reads 'Production-Ready' to set expectations.</a:t>
            </a:r>
          </a:p>
          <a:p>
            <a:r>
              <a:rPr sz="1000"/>
              <a:t>  - URL of choice during the demo: credentialing.hdpulseai.com.</a:t>
            </a:r>
          </a:p>
          <a:p/>
          <a:p>
            <a:r>
              <a:rPr b="1" sz="1100"/>
              <a:t>ANTICIPATED Q&amp;A</a:t>
            </a:r>
          </a:p>
          <a:p>
            <a:r>
              <a:rPr sz="1000"/>
              <a:t>  - Q: Is this another pilot? -&gt; A: No. The build is in production. We are deciding on full rollout, not on whether to start.</a:t>
            </a:r>
          </a:p>
          <a:p>
            <a:r>
              <a:rPr sz="1000"/>
              <a:t>  - Q: How long will this take? -&gt; A: 25 minutes for the deck, 20 minutes for Q&amp;A.</a:t>
            </a:r>
          </a:p>
          <a:p/>
          <a:p>
            <a:r>
              <a:rPr b="1" sz="1100"/>
              <a:t>PACING &amp; TRANSITION</a:t>
            </a:r>
          </a:p>
          <a:p>
            <a:r>
              <a:rPr sz="1000"/>
              <a:t>  - Pacing: 60-90 seconds.</a:t>
            </a:r>
          </a:p>
          <a:p>
            <a:r>
              <a:rPr sz="1000"/>
              <a:t>  - Transition: 'Before we talk about the platform, let's start with why we built it.'</a:t>
            </a:r>
          </a:p>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Anchor the room in the operational pain everyone in credentialing already feels. Move from anecdote to a named list of bottlenecks.</a:t>
            </a:r>
          </a:p>
          <a:p/>
          <a:p>
            <a:r>
              <a:rPr b="1" sz="1100"/>
              <a:t>TALKING POINTS</a:t>
            </a:r>
          </a:p>
          <a:p>
            <a:r>
              <a:rPr sz="1000"/>
              <a:t>  - Open with the verbatim quote at the bottom of the slide. It came from a credentialing specialist on staff. The room will recognize the voice.</a:t>
            </a:r>
          </a:p>
          <a:p>
            <a:r>
              <a:rPr sz="1000"/>
              <a:t>  - Walk the four bottlenecks in order. Pause for 1-2 seconds after each. The audience nods are the signal that you can move on.</a:t>
            </a:r>
          </a:p>
          <a:p>
            <a:r>
              <a:rPr sz="1000"/>
              <a:t>  - Manual verification bottleneck: 12+ external websites per provider, screenshot, save to K:, cross-reference back into the file. Two to four hours per provider, every cycle.</a:t>
            </a:r>
          </a:p>
          <a:p>
            <a:r>
              <a:rPr sz="1000"/>
              <a:t>  - K: drive document chaos: VPN required, no version control, no audit trail, invisible to remote staff.</a:t>
            </a:r>
          </a:p>
          <a:p>
            <a:r>
              <a:rPr sz="1000"/>
              <a:t>  - Missed expirations: tracking is a spreadsheet. Expirations are discovered after the fact, which is the definition of a compliance violation.</a:t>
            </a:r>
          </a:p>
          <a:p>
            <a:r>
              <a:rPr sz="1000"/>
              <a:t>  - Enrollment follow-up gaps: cadence is held in human memory. Missed follow-ups delay revenue activation by weeks per provider.</a:t>
            </a:r>
          </a:p>
          <a:p/>
          <a:p>
            <a:r>
              <a:rPr b="1" sz="1100"/>
              <a:t>BACKUP DETAIL</a:t>
            </a:r>
          </a:p>
          <a:p>
            <a:r>
              <a:rPr sz="1000"/>
              <a:t>  - The 12 sites include: state medical boards (1 per license state), DEA, NPDB, OIG LEIE, SAM.gov, ABMS member boards, NCCPA, ABIM, ABFM, NY OMIG, education PSV (AMA/ECFMG/ACGME), and CAQH.</a:t>
            </a:r>
          </a:p>
          <a:p>
            <a:r>
              <a:rPr sz="1000"/>
              <a:t>  - PARCS is on a maintenance-only release schedule from its vendor.</a:t>
            </a:r>
          </a:p>
          <a:p/>
          <a:p>
            <a:r>
              <a:rPr b="1" sz="1100"/>
              <a:t>ANTICIPATED Q&amp;A</a:t>
            </a:r>
          </a:p>
          <a:p>
            <a:r>
              <a:rPr sz="1000"/>
              <a:t>  - Q: Could we just upgrade PARCS? -&gt; A: PARCS' data model cannot support continuous monitoring, the FHIR API, AI document handling, or per-payer cadence rules. Vendor confirms no roadmap.</a:t>
            </a:r>
          </a:p>
          <a:p>
            <a:r>
              <a:rPr sz="1000"/>
              <a:t>  - Q: Is the 2-4 hours all PSV? -&gt; A: Yes - PSV only. Committee prep, enrollment, and follow-up are on top.</a:t>
            </a:r>
          </a:p>
          <a:p/>
          <a:p>
            <a:r>
              <a:rPr b="1" sz="1100"/>
              <a:t>TRANSITION</a:t>
            </a:r>
          </a:p>
          <a:p>
            <a:r>
              <a:rPr sz="1000"/>
              <a:t>  - Transition: 'Let me put hard numbers on what that's costing us.'</a:t>
            </a:r>
          </a:p>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Monetize the pain. Convert anecdote into board-ready numbers.</a:t>
            </a:r>
          </a:p>
          <a:p/>
          <a:p>
            <a:r>
              <a:rPr b="1" sz="1100"/>
              <a:t>TALKING POINTS</a:t>
            </a:r>
          </a:p>
          <a:p>
            <a:r>
              <a:rPr sz="1000"/>
              <a:t>  - Median onboarding time today is 45+ days. Industry P50 is around 30 days. Modern targets - what marketplace tools market against - are 15 days or under.</a:t>
            </a:r>
          </a:p>
          <a:p>
            <a:r>
              <a:rPr sz="1000"/>
              <a:t>  - 12 external sites per provider checked manually.</a:t>
            </a:r>
          </a:p>
          <a:p>
            <a:r>
              <a:rPr sz="1000"/>
              <a:t>  - 3-4 hours per provider in PSV alone, every credentialing cycle (initial credentialing + 36-month recredentialing).</a:t>
            </a:r>
          </a:p>
          <a:p>
            <a:r>
              <a:rPr sz="1000"/>
              <a:t>  - Revenue lost per day a provider sits idle in enrollment limbo - Finance can put the per-day dollar on this; the answer depends on specialty and payer mix.</a:t>
            </a:r>
          </a:p>
          <a:p>
            <a:r>
              <a:rPr sz="1000"/>
              <a:t>  - Bottom row tells the operational risk story: 100% manual / 0 automated verifications / 0 real-time expirable alerts.</a:t>
            </a:r>
          </a:p>
          <a:p/>
          <a:p>
            <a:r>
              <a:rPr b="1" sz="1100"/>
              <a:t>BACKUP DETAIL</a:t>
            </a:r>
          </a:p>
          <a:p>
            <a:r>
              <a:rPr sz="1000"/>
              <a:t>  - The 60% onboarding-time reduction quoted later in the deck comes from an internal time-and-motion study comparing 5 providers credentialed via PARCS vs. 5 via the new platform. Methodology is documented in docs/qa/ and reproducible.</a:t>
            </a:r>
          </a:p>
          <a:p>
            <a:r>
              <a:rPr sz="1000"/>
              <a:t>  - Compliance exposure is qualitative on this slide - it shows up quantitatively on slide 21 (NCQA / sanctions detection time).</a:t>
            </a:r>
          </a:p>
          <a:p/>
          <a:p>
            <a:r>
              <a:rPr b="1" sz="1100"/>
              <a:t>ANTICIPATED Q&amp;A</a:t>
            </a:r>
          </a:p>
          <a:p>
            <a:r>
              <a:rPr sz="1000"/>
              <a:t>  - Q: Where did 60% come from? -&gt; A: Time-and-motion study; appendix has the methodology.</a:t>
            </a:r>
          </a:p>
          <a:p>
            <a:r>
              <a:rPr sz="1000"/>
              <a:t>  - Q: How does Finance compute revenue lost per idle day? -&gt; A: Average billable encounters per FTE-day weighted by payer mix; Finance owns the calculation.</a:t>
            </a:r>
          </a:p>
          <a:p/>
          <a:p>
            <a:r>
              <a:rPr b="1" sz="1100"/>
              <a:t>TRANSITION</a:t>
            </a:r>
          </a:p>
          <a:p>
            <a:r>
              <a:rPr sz="1000"/>
              <a:t>  - Transition: 'That's the cost of not changing. Now what we built.'</a:t>
            </a:r>
          </a:p>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Establish scope. Show that the platform is not a point solution but an integrated lifecycle product.</a:t>
            </a:r>
          </a:p>
          <a:p/>
          <a:p>
            <a:r>
              <a:rPr b="1" sz="1100"/>
              <a:t>TALKING POINTS</a:t>
            </a:r>
          </a:p>
          <a:p>
            <a:r>
              <a:rPr sz="1000"/>
              <a:t>  - 10 integrated modules. One platform. Full lifecycle from outreach through ongoing compliance.</a:t>
            </a:r>
          </a:p>
          <a:p>
            <a:r>
              <a:rPr sz="1000"/>
              <a:t>  - Walk the modules in lifecycle order: Provider Onboarding -&gt; Onboarding Dashboard -&gt; Committee Dashboard -&gt; Enrollment Management -&gt; Expirables Tracking -&gt; PSV Bots -&gt; Sanctions -&gt; NY Medicaid &amp; ETIN -&gt; Hospital Privileges -&gt; NPDB Monitoring.</a:t>
            </a:r>
          </a:p>
          <a:p>
            <a:r>
              <a:rPr sz="1000"/>
              <a:t>  - 'Integrated' is the keyword. No stitched point solutions; one data model; one provider record across every module.</a:t>
            </a:r>
          </a:p>
          <a:p>
            <a:r>
              <a:rPr sz="1000"/>
              <a:t>  - Built on the Microsoft / Azure stack we already operate. No new vendor, no new auth tenant, no new SSO.</a:t>
            </a:r>
          </a:p>
          <a:p/>
          <a:p>
            <a:r>
              <a:rPr b="1" sz="1100"/>
              <a:t>BACKUP DETAIL</a:t>
            </a:r>
          </a:p>
          <a:p>
            <a:r>
              <a:rPr sz="1000"/>
              <a:t>  - Each module has a per-screen functional specification under docs/functional/. Full FRD and BRD live in the same folder.</a:t>
            </a:r>
          </a:p>
          <a:p>
            <a:r>
              <a:rPr sz="1000"/>
              <a:t>  - Modules share the Prisma data model. Provider records are unique by NPI; no duplicate records across modules.</a:t>
            </a:r>
          </a:p>
          <a:p/>
          <a:p>
            <a:r>
              <a:rPr b="1" sz="1100"/>
              <a:t>ANTICIPATED Q&amp;A</a:t>
            </a:r>
          </a:p>
          <a:p>
            <a:r>
              <a:rPr sz="1000"/>
              <a:t>  - Q: What if we want to swap a module out later? -&gt; A: tRPC + Prisma boundaries make modules independently replaceable. We have done this in development for the OCR provider already.</a:t>
            </a:r>
          </a:p>
          <a:p/>
          <a:p>
            <a:r>
              <a:rPr b="1" sz="1100"/>
              <a:t>TRANSITION</a:t>
            </a:r>
          </a:p>
          <a:p>
            <a:r>
              <a:rPr sz="1000"/>
              <a:t>  - Transition: 'That's the breadth. Let me drill into what makes it different.'</a:t>
            </a:r>
          </a:p>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Surface the six capabilities that separate this platform from PARCS and from generic SaaS adapted for credentialing.</a:t>
            </a:r>
          </a:p>
          <a:p/>
          <a:p>
            <a:r>
              <a:rPr b="1" sz="1100"/>
              <a:t>TALKING POINTS</a:t>
            </a:r>
          </a:p>
          <a:p>
            <a:r>
              <a:rPr sz="1000"/>
              <a:t>  - Automated PSV bots: Playwright-powered. Same engine modern QA teams use. They handle MFA, retry logic, PDF capture. 10+ bot types; framework supports easy addition of new sources.</a:t>
            </a:r>
          </a:p>
          <a:p>
            <a:r>
              <a:rPr sz="1000"/>
              <a:t>  - Intelligent document OCR: Azure AI Document Intelligence. Purpose-built for healthcare forms - not a generic LLM. 85% confidence threshold; below that goes to a human review queue.</a:t>
            </a:r>
          </a:p>
          <a:p>
            <a:r>
              <a:rPr sz="1000"/>
              <a:t>  - Expirable monitoring: 20+ credential types tracked. Automated alerts at 90/60/30/14/7-day intervals. Bot-assisted renewal confirmation closes the loop after the renewal happens.</a:t>
            </a:r>
          </a:p>
          <a:p>
            <a:r>
              <a:rPr sz="1000"/>
              <a:t>  - Committee workflow: auto-generated summary sheets and agendas. One-click approval. Conditional approvals with item tracking. Full audit trail.</a:t>
            </a:r>
          </a:p>
          <a:p>
            <a:r>
              <a:rPr sz="1000"/>
              <a:t>  - Enrollment cadence: per-payer follow-up cadences, not just 'set a reminder'. Portal-bot submissions where supported. SFTP roster generation. Gap analysis built in.</a:t>
            </a:r>
          </a:p>
          <a:p>
            <a:r>
              <a:rPr sz="1000"/>
              <a:t>  - HIPAA-compliant security: AES-256-GCM at the application layer, Azure AD SSO, RBAC with 5 roles, immutable audit log for 10+ years. Detail on the next slide.</a:t>
            </a:r>
          </a:p>
          <a:p/>
          <a:p>
            <a:r>
              <a:rPr b="1" sz="1100"/>
              <a:t>BACKUP DETAIL</a:t>
            </a:r>
          </a:p>
          <a:p>
            <a:r>
              <a:rPr sz="1000"/>
              <a:t>  - Bot retry strategy: exponential backoff with jitter; nightly health check pings each bot's target URL and alerts on UI changes.</a:t>
            </a:r>
          </a:p>
          <a:p>
            <a:r>
              <a:rPr sz="1000"/>
              <a:t>  - OCR confidence threshold is configurable per document type. Confidence numbers are surfaced to the reviewer.</a:t>
            </a:r>
          </a:p>
          <a:p/>
          <a:p>
            <a:r>
              <a:rPr b="1" sz="1100"/>
              <a:t>ANTICIPATED Q&amp;A</a:t>
            </a:r>
          </a:p>
          <a:p>
            <a:r>
              <a:rPr sz="1000"/>
              <a:t>  - Q: What if a state board changes its UI? -&gt; A: Bots are version-controlled; nightly health check detects breakage; we have a 24-hour fix SLA documented in the ops runbook.</a:t>
            </a:r>
          </a:p>
          <a:p>
            <a:r>
              <a:rPr sz="1000"/>
              <a:t>  - Q: How accurate is OCR? -&gt; A: 85%+ on first pass for standard license/cert formats; misclassifications go to a human queue.</a:t>
            </a:r>
          </a:p>
          <a:p/>
          <a:p>
            <a:r>
              <a:rPr b="1" sz="1100"/>
              <a:t>TRANSITION</a:t>
            </a:r>
          </a:p>
          <a:p>
            <a:r>
              <a:rPr sz="1000"/>
              <a:t>  - Transition: 'Here's how those capabilities replace specific PARCS workflows.'</a:t>
            </a:r>
          </a:p>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Translate platform capabilities into the eight specific PARCS workflows the credentialing team does every day. Maximize recognition - the more nods, the better.</a:t>
            </a:r>
          </a:p>
          <a:p/>
          <a:p>
            <a:r>
              <a:rPr b="1" sz="1100"/>
              <a:t>TALKING POINTS</a:t>
            </a:r>
          </a:p>
          <a:p>
            <a:r>
              <a:rPr sz="1000"/>
              <a:t>  - You don't need to read all eight rows. Pick the three or four that the audience already knows are painful and walk those.</a:t>
            </a:r>
          </a:p>
          <a:p>
            <a:r>
              <a:rPr sz="1000"/>
              <a:t>  - DEA verification is the highest-recognition row. The DEA portal MFA flow is universally hated. We automate the TOTP MFA - the secret lives in Azure Key Vault; the bot generates the 6-digit code on demand using the same algorithm a hardware token uses.</a:t>
            </a:r>
          </a:p>
          <a:p>
            <a:r>
              <a:rPr sz="1000"/>
              <a:t>  - Sanctions row: PARCS does monthly checks, gives you a 30-day window of exposure. We do continuous monitoring - SAM.gov webhook, OIG nightly delta, FSMB PDC, NY OMIG nightly. Hard-stop on exclusions.</a:t>
            </a:r>
          </a:p>
          <a:p>
            <a:r>
              <a:rPr sz="1000"/>
              <a:t>  - Document storage row: K: drive (VPN, no version control, no remote access) -&gt; Azure Blob Storage (web-accessible, versioned, SAS-secured, indexed, audit-logged).</a:t>
            </a:r>
          </a:p>
          <a:p>
            <a:r>
              <a:rPr sz="1000"/>
              <a:t>  - Provider application row: paper forms and emailed documents -&gt; online portal with OCR auto-fill and CAQH/iCIMS data ingestion.</a:t>
            </a:r>
          </a:p>
          <a:p/>
          <a:p>
            <a:r>
              <a:rPr b="1" sz="1100"/>
              <a:t>BACKUP DETAIL</a:t>
            </a:r>
          </a:p>
          <a:p>
            <a:r>
              <a:rPr sz="1000"/>
              <a:t>  - The DEA bot uses the otplib library to generate TOTP codes from a secret stored in Azure Key Vault. SSN is decrypted only in-memory and never logged.</a:t>
            </a:r>
          </a:p>
          <a:p>
            <a:r>
              <a:rPr sz="1000"/>
              <a:t>  - Sanctions hard-stop: an OIG LEIE or SAM exclusion match opens a HIGH-severity Monitoring Alert and blocks the next downstream credentialing action until acknowledged with disposition.</a:t>
            </a:r>
          </a:p>
          <a:p/>
          <a:p>
            <a:r>
              <a:rPr b="1" sz="1100"/>
              <a:t>ANTICIPATED Q&amp;A</a:t>
            </a:r>
          </a:p>
          <a:p>
            <a:r>
              <a:rPr sz="1000"/>
              <a:t>  - Q: How does the DEA bot handle MFA without a human? -&gt; A: TOTP secret in Key Vault; otplib generates the code; same algorithm a hardware token uses. No human in the loop, no shared password.</a:t>
            </a:r>
          </a:p>
          <a:p>
            <a:r>
              <a:rPr sz="1000"/>
              <a:t>  - Q: What if a license expires between cycles? -&gt; A: The expirables module catches it on its nightly scan; alerts at 90/60/30/14/7 days; expired credentials block the provider's status until renewed.</a:t>
            </a:r>
          </a:p>
          <a:p/>
          <a:p>
            <a:r>
              <a:rPr b="1" sz="1100"/>
              <a:t>TRANSITION</a:t>
            </a:r>
          </a:p>
          <a:p>
            <a:r>
              <a:rPr sz="1000"/>
              <a:t>  - Transition: 'All of that runs on a stack our IT team already operates.'</a:t>
            </a:r>
          </a:p>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Reassure IT and architecture stakeholders that the platform fits Essen's existing operating model.</a:t>
            </a:r>
          </a:p>
          <a:p/>
          <a:p>
            <a:r>
              <a:rPr b="1" sz="1100"/>
              <a:t>TALKING POINTS</a:t>
            </a:r>
          </a:p>
          <a:p>
            <a:r>
              <a:rPr sz="1000"/>
              <a:t>  - Stack chosen explicitly to align with Essen's Microsoft / Azure footprint. No new vendors for hosting, identity, secrets, blob, or AI services.</a:t>
            </a:r>
          </a:p>
          <a:p>
            <a:r>
              <a:rPr sz="1000"/>
              <a:t>  - Two-container architecture - clean separation between user-facing API and long-running automation.</a:t>
            </a:r>
          </a:p>
          <a:p>
            <a:r>
              <a:rPr sz="1000"/>
              <a:t>  - Web container on port 6015: Next.js + React + tRPC + Prisma + Auth.js v5 with Azure AD SSO + Socket.io for real-time updates.</a:t>
            </a:r>
          </a:p>
          <a:p>
            <a:r>
              <a:rPr sz="1000"/>
              <a:t>  - Worker container on port 6025: Playwright PSV bots, enrollment bots, scheduled jobs, Bull Board for queue monitoring.</a:t>
            </a:r>
          </a:p>
          <a:p>
            <a:r>
              <a:rPr sz="1000"/>
              <a:t>  - Shared services: PostgreSQL 16 (Prisma ORM), Redis (BullMQ), Azure Blob Storage. All inside Essen's Azure tenant.</a:t>
            </a:r>
          </a:p>
          <a:p>
            <a:r>
              <a:rPr sz="1000"/>
              <a:t>  - TypeScript end-to-end. One language for the team. tRPC eliminates client/server type drift - the kind of bug that ships to prod in Java/Python stacks.</a:t>
            </a:r>
          </a:p>
          <a:p/>
          <a:p>
            <a:r>
              <a:rPr b="1" sz="1100"/>
              <a:t>BACKUP DETAIL</a:t>
            </a:r>
          </a:p>
          <a:p>
            <a:r>
              <a:rPr sz="1000"/>
              <a:t>  - Next.js 14 App Router; Server Components where appropriate; edge runtime not used (we need Node for crypto and Prisma).</a:t>
            </a:r>
          </a:p>
          <a:p>
            <a:r>
              <a:rPr sz="1000"/>
              <a:t>  - BullMQ over Redis is the same job-queue pattern major US health systems use for asynchronous workflows.</a:t>
            </a:r>
          </a:p>
          <a:p>
            <a:r>
              <a:rPr sz="1000"/>
              <a:t>  - Containers are built with multi-stage Dockerfiles; deployed via the cd-prod GitHub Actions workflow.</a:t>
            </a:r>
          </a:p>
          <a:p/>
          <a:p>
            <a:r>
              <a:rPr b="1" sz="1100"/>
              <a:t>ANTICIPATED Q&amp;A</a:t>
            </a:r>
          </a:p>
          <a:p>
            <a:r>
              <a:rPr sz="1000"/>
              <a:t>  - Q: Why two containers? -&gt; A: PSV bots are heavy (Playwright + headless Chromium per worker). Separating them prevents bot load from impacting the user-facing app's response times.</a:t>
            </a:r>
          </a:p>
          <a:p>
            <a:r>
              <a:rPr sz="1000"/>
              <a:t>  - Q: Can we scale horizontally? -&gt; A: Yes. Web is stateless behind a load balancer; workers scale on the BullMQ queue depth.</a:t>
            </a:r>
          </a:p>
          <a:p>
            <a:r>
              <a:rPr sz="1000"/>
              <a:t>  - Q: What's the failover plan? -&gt; A: Documented in docs/dev/runbooks/. Azure Database for PostgreSQL with geo-redundant backup; blob storage replicated.</a:t>
            </a:r>
          </a:p>
          <a:p/>
          <a:p>
            <a:r>
              <a:rPr b="1" sz="1100"/>
              <a:t>TRANSITION</a:t>
            </a:r>
          </a:p>
          <a:p>
            <a:r>
              <a:rPr sz="1000"/>
              <a:t>  - Transition: 'Two containers, one security model.'</a:t>
            </a:r>
          </a:p>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Clear the security checkbox. Pre-empt CISO and compliance questions before they're asked.</a:t>
            </a:r>
          </a:p>
          <a:p/>
          <a:p>
            <a:r>
              <a:rPr b="1" sz="1100"/>
              <a:t>TALKING POINTS</a:t>
            </a:r>
          </a:p>
          <a:p>
            <a:r>
              <a:rPr sz="1000"/>
              <a:t>  - Eight named controls. All implemented today, not planned.</a:t>
            </a:r>
          </a:p>
          <a:p>
            <a:r>
              <a:rPr sz="1000"/>
              <a:t>  - AES-256-GCM at the application layer for SSN, DOB, and all PHI - stacked on top of PostgreSQL at-rest encryption. Double protection.</a:t>
            </a:r>
          </a:p>
          <a:p>
            <a:r>
              <a:rPr sz="1000"/>
              <a:t>  - Azure AD Single Sign-On: every staff user authenticates through Essen's Azure AD tenant. We inherit Essen's MFA, conditional access, and offboarding policies automatically.</a:t>
            </a:r>
          </a:p>
          <a:p>
            <a:r>
              <a:rPr sz="1000"/>
              <a:t>  - RBAC: 5 distinct roles - Specialist, Manager, Committee, Compliance, Admin - with least-privilege defaults.</a:t>
            </a:r>
          </a:p>
          <a:p>
            <a:r>
              <a:rPr sz="1000"/>
              <a:t>  - Immutable audit trail: every action logged with timestamp, actor, before/after values. Hash-chained for tamper evidence. 10-year retention.</a:t>
            </a:r>
          </a:p>
          <a:p>
            <a:r>
              <a:rPr sz="1000"/>
              <a:t>  - Azure Key Vault for all secrets. Zero secrets in code or environment variables.</a:t>
            </a:r>
          </a:p>
          <a:p>
            <a:r>
              <a:rPr sz="1000"/>
              <a:t>  - Azure Blob Storage with no public access. Time-limited SAS tokens for downloads. RBAC via Managed Identity - no service-account passwords.</a:t>
            </a:r>
          </a:p>
          <a:p>
            <a:r>
              <a:rPr sz="1000"/>
              <a:t>  - PHI-safe bot operations: SSN decrypted only in-memory during the bot's actual call; never logged, never written to disk in plaintext.</a:t>
            </a:r>
          </a:p>
          <a:p>
            <a:r>
              <a:rPr sz="1000"/>
              <a:t>  - NPDB confidentiality: results restricted to Manager/Admin per 45 CFR Part 60.</a:t>
            </a:r>
          </a:p>
          <a:p/>
          <a:p>
            <a:r>
              <a:rPr b="1" sz="1100"/>
              <a:t>BACKUP DETAIL</a:t>
            </a:r>
          </a:p>
          <a:p>
            <a:r>
              <a:rPr sz="1000"/>
              <a:t>  - Full HIPAA mapping in docs/compliance/hipaa.md.</a:t>
            </a:r>
          </a:p>
          <a:p>
            <a:r>
              <a:rPr sz="1000"/>
              <a:t>  - PHI data map in docs/compliance/phi-data-map.md.</a:t>
            </a:r>
          </a:p>
          <a:p>
            <a:r>
              <a:rPr sz="1000"/>
              <a:t>  - Audit log uses HMAC-SHA256 chaining; each entry includes the hash of the previous entry, so any tampering breaks the chain.</a:t>
            </a:r>
          </a:p>
          <a:p>
            <a:r>
              <a:rPr sz="1000"/>
              <a:t>  - Microsoft + Azure BAAs are already in place with Essen; SendGrid BAA in place.</a:t>
            </a:r>
          </a:p>
          <a:p/>
          <a:p>
            <a:r>
              <a:rPr b="1" sz="1100"/>
              <a:t>ANTICIPATED Q&amp;A</a:t>
            </a:r>
          </a:p>
          <a:p>
            <a:r>
              <a:rPr sz="1000"/>
              <a:t>  - Q: Is this HIPAA-compliant? -&gt; A: Yes. Mapping in docs/compliance/hipaa.md.</a:t>
            </a:r>
          </a:p>
          <a:p>
            <a:r>
              <a:rPr sz="1000"/>
              <a:t>  - Q: Are we BAA-covered for every data flow? -&gt; A: Yes - Microsoft, Azure, SendGrid all have BAAs.</a:t>
            </a:r>
          </a:p>
          <a:p>
            <a:r>
              <a:rPr sz="1000"/>
              <a:t>  - Q: How do you handle a malicious insider? -&gt; A: RBAC limits scope; audit trail is hash-chained (a malicious admin can't quietly edit history); SoD between development and production environments.</a:t>
            </a:r>
          </a:p>
          <a:p>
            <a:r>
              <a:rPr sz="1000"/>
              <a:t>  - Q: Penetration tested? -&gt; A: Internal red-team done; external penetration test scheduled as part of SOC 2 Type II prep.</a:t>
            </a:r>
          </a:p>
          <a:p/>
          <a:p>
            <a:r>
              <a:rPr b="1" sz="1100"/>
              <a:t>TRANSITION</a:t>
            </a:r>
          </a:p>
          <a:p>
            <a:r>
              <a:rPr sz="1000"/>
              <a:t>  - Transition: 'Security earns the right to integrate. Here's what we already integrate with.'</a:t>
            </a:r>
          </a:p>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Prove 'complete enough'. Show 21 pre-built integrations across the three categories that matter for credentialing.</a:t>
            </a:r>
          </a:p>
          <a:p/>
          <a:p>
            <a:r>
              <a:rPr b="1" sz="1100"/>
              <a:t>TALKING POINTS</a:t>
            </a:r>
          </a:p>
          <a:p>
            <a:r>
              <a:rPr sz="1000"/>
              <a:t>  - Three categories: data ingestion, PSV automation, enrollment portals.</a:t>
            </a:r>
          </a:p>
          <a:p>
            <a:r>
              <a:rPr sz="1000"/>
              <a:t>  - Data ingestion: iCIMS HRIS (no double-entry from HR), CAQH (pull credentials, push practice updates), Azure AI OCR (extract data from any uploaded document).</a:t>
            </a:r>
          </a:p>
          <a:p>
            <a:r>
              <a:rPr sz="1000"/>
              <a:t>  - PSV automation: state license boards across all 50 states, DEA with automated TOTP MFA, NCCPA / ABIM / ABFM board certifications, OIG LEIE + SAM.gov sanctions, NPDB initial query + Continuous Query subscription.</a:t>
            </a:r>
          </a:p>
          <a:p>
            <a:r>
              <a:rPr sz="1000"/>
              <a:t>  - Enrollment portals: My Practice Profile (UHC / UBH Optum), Availity (Anthem / Carelon), Verity (Archcare), EyeMed, eMedNY (NY Medicaid ETIN), and a generic SFTP path for any payer that accepts roster uploads.</a:t>
            </a:r>
          </a:p>
          <a:p>
            <a:r>
              <a:rPr sz="1000"/>
              <a:t>  - Adding a new payer or state: hours, not weeks. We have a per-payer config in admin and a documented integration template.</a:t>
            </a:r>
          </a:p>
          <a:p/>
          <a:p>
            <a:r>
              <a:rPr b="1" sz="1100"/>
              <a:t>BACKUP DETAIL</a:t>
            </a:r>
          </a:p>
          <a:p>
            <a:r>
              <a:rPr sz="1000"/>
              <a:t>  - Sanctions are 30-day re-screened across every license state, plus SAM.gov webhook for same-business-day debarment events, plus FSMB PDC (Practitioner Direct Continuous monitoring).</a:t>
            </a:r>
          </a:p>
          <a:p>
            <a:r>
              <a:rPr sz="1000"/>
              <a:t>  - iCIMS connector pulls demographics on hire and pushes ESSEN's credentialing status back to HRIS for HR's downstream workflows.</a:t>
            </a:r>
          </a:p>
          <a:p/>
          <a:p>
            <a:r>
              <a:rPr b="1" sz="1100"/>
              <a:t>ANTICIPATED Q&amp;A</a:t>
            </a:r>
          </a:p>
          <a:p>
            <a:r>
              <a:rPr sz="1000"/>
              <a:t>  - Q: All 50 states? -&gt; A: Yes. License + sanctions across all 50.</a:t>
            </a:r>
          </a:p>
          <a:p>
            <a:r>
              <a:rPr sz="1000"/>
              <a:t>  - Q: How fast can we add a new payer roster format? -&gt; A: Hours for supported portals; days for a new SFTP target with a custom format.</a:t>
            </a:r>
          </a:p>
          <a:p/>
          <a:p>
            <a:r>
              <a:rPr b="1" sz="1100"/>
              <a:t>TRANSITION</a:t>
            </a:r>
          </a:p>
          <a:p>
            <a:r>
              <a:rPr sz="1000"/>
              <a:t>  - Transition: 'Let me put a dollar value on what those integrations save.'</a:t>
            </a:r>
          </a:p>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Deliver the headline ROI. Leadership wants the number; this is where they get it.</a:t>
            </a:r>
          </a:p>
          <a:p/>
          <a:p>
            <a:r>
              <a:rPr b="1" sz="1100"/>
              <a:t>TALKING POINTS</a:t>
            </a:r>
          </a:p>
          <a:p>
            <a:r>
              <a:rPr sz="1000"/>
              <a:t>  - Three headline percentages: 60% reduction in onboarding time; 85% reduction in manual PSV work; 100% expirable compliance coverage.</a:t>
            </a:r>
          </a:p>
          <a:p>
            <a:r>
              <a:rPr sz="1000"/>
              <a:t>  - Three structural numbers: $0 additional license cost (one team, one stack); 1 team / 1 language (TypeScript end-to-end); 10-year audit retention built in.</a:t>
            </a:r>
          </a:p>
          <a:p>
            <a:r>
              <a:rPr sz="1000"/>
              <a:t>  - 60% from the time-and-motion study cited on slide 3.</a:t>
            </a:r>
          </a:p>
          <a:p>
            <a:r>
              <a:rPr sz="1000"/>
              <a:t>  - 85% from before/after PSV minutes per provider after bot rollout.</a:t>
            </a:r>
          </a:p>
          <a:p>
            <a:r>
              <a:rPr sz="1000"/>
              <a:t>  - 100% from expirable monitor coverage - every credential type is either monitored automatically by a bot or scanned nightly from the database.</a:t>
            </a:r>
          </a:p>
          <a:p>
            <a:r>
              <a:rPr sz="1000"/>
              <a:t>  - $0 additional license cost: this is the punchline for build vs buy. Marketplace tools are $40-$120 per provider per month; we have 0.</a:t>
            </a:r>
          </a:p>
          <a:p/>
          <a:p>
            <a:r>
              <a:rPr b="1" sz="1100"/>
              <a:t>BACKUP DETAIL</a:t>
            </a:r>
          </a:p>
          <a:p>
            <a:r>
              <a:rPr sz="1000"/>
              <a:t>  - TCO comparison detail on slide 22.</a:t>
            </a:r>
          </a:p>
          <a:p>
            <a:r>
              <a:rPr sz="1000"/>
              <a:t>  - 10-year retention is the longest of the requirements (NCQA + state Medicaid recordkeeping).</a:t>
            </a:r>
          </a:p>
          <a:p/>
          <a:p>
            <a:r>
              <a:rPr b="1" sz="1100"/>
              <a:t>ANTICIPATED Q&amp;A</a:t>
            </a:r>
          </a:p>
          <a:p>
            <a:r>
              <a:rPr sz="1000"/>
              <a:t>  - Q: What about the build cost? -&gt; A: One-time engineering investment; amortized across the provider population, TCO is 10-15x lower than per-provider SaaS at Essen's scale. Slide 22 covers the full build-vs-buy.</a:t>
            </a:r>
          </a:p>
          <a:p>
            <a:r>
              <a:rPr sz="1000"/>
              <a:t>  - Q: How do we audit those numbers? -&gt; A: Time-and-motion study in docs/qa/; bot run logs in BullMQ history; expirable coverage from the database query in the audit packet.</a:t>
            </a:r>
          </a:p>
          <a:p/>
          <a:p>
            <a:r>
              <a:rPr b="1" sz="1100"/>
              <a:t>TRANSITION</a:t>
            </a:r>
          </a:p>
          <a:p>
            <a:r>
              <a:rPr sz="1000"/>
              <a:t>  - Transition: 'Each role experiences those benefits differently. Here's how each user sees it.'</a:t>
            </a:r>
          </a:p>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Show role-specific tailoring. Reassure that the platform is not 'one screen for everyone'.</a:t>
            </a:r>
          </a:p>
          <a:p/>
          <a:p>
            <a:r>
              <a:rPr b="1" sz="1100"/>
              <a:t>TALKING POINTS</a:t>
            </a:r>
          </a:p>
          <a:p>
            <a:r>
              <a:rPr sz="1000"/>
              <a:t>  - Four named user types on this slide: Specialists, Managers, Committee Members, Providers (external).</a:t>
            </a:r>
          </a:p>
          <a:p>
            <a:r>
              <a:rPr sz="1000"/>
              <a:t>  - Specialists see a pipeline view of their assigned providers, one-click bot triggers, task management, communication log, follow-up reminders, real-time verification status.</a:t>
            </a:r>
          </a:p>
          <a:p>
            <a:r>
              <a:rPr sz="1000"/>
              <a:t>  - Managers see full pipeline visibility, committee session management, auto-generated agendas, one-click approvals, team oversight, and reporting.</a:t>
            </a:r>
          </a:p>
          <a:p>
            <a:r>
              <a:rPr sz="1000"/>
              <a:t>  - Committee Members get a clean, focused, read-only interface - summary sheets at a glance, approval voting with comments. No confidential data leaks across to non-committee staff.</a:t>
            </a:r>
          </a:p>
          <a:p>
            <a:r>
              <a:rPr sz="1000"/>
              <a:t>  - Providers (external) get a self-service application portal: drag-and-drop document upload with OCR auto-fill, real-time checklist, progress tracking, electronic signature.</a:t>
            </a:r>
          </a:p>
          <a:p>
            <a:r>
              <a:rPr sz="1000"/>
              <a:t>  - Plus a fifth role - Administrator - covered on slide 8 (RBAC).</a:t>
            </a:r>
          </a:p>
          <a:p/>
          <a:p>
            <a:r>
              <a:rPr b="1" sz="1100"/>
              <a:t>BACKUP DETAIL</a:t>
            </a:r>
          </a:p>
          <a:p>
            <a:r>
              <a:rPr sz="1000"/>
              <a:t>  - Specialist interface was tested with the people who actually use it. Iterations are tracked in docs/functional/use-cases.md.</a:t>
            </a:r>
          </a:p>
          <a:p>
            <a:r>
              <a:rPr sz="1000"/>
              <a:t>  - Provider portal supports authentication via JWT magic link. No password to remember; link expires.</a:t>
            </a:r>
          </a:p>
          <a:p/>
          <a:p>
            <a:r>
              <a:rPr b="1" sz="1100"/>
              <a:t>ANTICIPATED Q&amp;A</a:t>
            </a:r>
          </a:p>
          <a:p>
            <a:r>
              <a:rPr sz="1000"/>
              <a:t>  - Q: What about admins? -&gt; A: 5th role; covered on slide 8.</a:t>
            </a:r>
          </a:p>
          <a:p>
            <a:r>
              <a:rPr sz="1000"/>
              <a:t>  - Q: Can we add a custom role later? -&gt; A: RBAC is permission-based; new roles are a config change, not a code change.</a:t>
            </a:r>
          </a:p>
          <a:p/>
          <a:p>
            <a:r>
              <a:rPr b="1" sz="1100"/>
              <a:t>TRANSITION</a:t>
            </a:r>
          </a:p>
          <a:p>
            <a:r>
              <a:rPr sz="1000"/>
              <a:t>  - Transition: 'All of that is shipped today. Here's the rollout plan.'</a:t>
            </a:r>
          </a:p>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Show that build risk is behind us. What remains is rollout, training, and PARCS sunset.</a:t>
            </a:r>
          </a:p>
          <a:p/>
          <a:p>
            <a:r>
              <a:rPr b="1" sz="1100"/>
              <a:t>TALKING POINTS</a:t>
            </a:r>
          </a:p>
          <a:p>
            <a:r>
              <a:rPr sz="1000"/>
              <a:t>  - Big point: the COMPLETED column is real. 10 modules, 234 tests with a 100% pass rate, deployed to production.</a:t>
            </a:r>
          </a:p>
          <a:p>
            <a:r>
              <a:rPr sz="1000"/>
              <a:t>  - Q2 2026 - Integration activation: connect iCIMS, CAQH, Azure AD production tenant, configure Key Vault, activate PSV bots in production.</a:t>
            </a:r>
          </a:p>
          <a:p>
            <a:r>
              <a:rPr sz="1000"/>
              <a:t>  - Q3 2026 - Staff training and pilot: train the credentialing team; pilot with 10-20 providers running in parallel with PARCS.</a:t>
            </a:r>
          </a:p>
          <a:p>
            <a:r>
              <a:rPr sz="1000"/>
              <a:t>  - Q4 2026 - Full rollout and PARCS sunset: migrate all active providers; decommission PARCS; full production operations.</a:t>
            </a:r>
          </a:p>
          <a:p>
            <a:r>
              <a:rPr sz="1000"/>
              <a:t>  - The 'What's Already Done' column is verifiable - every line maps to a shipped module or to a runbook in docs/dev/runbooks/.</a:t>
            </a:r>
          </a:p>
          <a:p/>
          <a:p>
            <a:r>
              <a:rPr b="1" sz="1100"/>
              <a:t>BACKUP DETAIL</a:t>
            </a:r>
          </a:p>
          <a:p>
            <a:r>
              <a:rPr sz="1000"/>
              <a:t>  - 234 automated tests cover unit, integration, and E2E layers. Test plan in docs/qa/test-strategy.md.</a:t>
            </a:r>
          </a:p>
          <a:p>
            <a:r>
              <a:rPr sz="1000"/>
              <a:t>  - Pilot success criteria for Q3 are defined in docs/development-plan.md - we don't sunset PARCS until the pilot has 30 days of clean operation.</a:t>
            </a:r>
          </a:p>
          <a:p/>
          <a:p>
            <a:r>
              <a:rPr b="1" sz="1100"/>
              <a:t>ANTICIPATED Q&amp;A</a:t>
            </a:r>
          </a:p>
          <a:p>
            <a:r>
              <a:rPr sz="1000"/>
              <a:t>  - Q: What's the realistic rollover risk? -&gt; A: Pilot lets us run both systems in parallel. We don't decommission PARCS until the active provider population is fully migrated and we've had 30 days of clean platform operations.</a:t>
            </a:r>
          </a:p>
          <a:p>
            <a:r>
              <a:rPr sz="1000"/>
              <a:t>  - Q: What if we hit a blocker in Q2? -&gt; A: Each integration is independently activatable; we can sequence around any single external dependency.</a:t>
            </a:r>
          </a:p>
          <a:p>
            <a:r>
              <a:rPr sz="1000"/>
              <a:t>  - Q: What about historical data in PARCS? -&gt; A: One-time bulk migration with a per-record reconciliation report; legacy data stays read-accessible during the parallel period.</a:t>
            </a:r>
          </a:p>
          <a:p/>
          <a:p>
            <a:r>
              <a:rPr b="1" sz="1100"/>
              <a:t>TRANSITION</a:t>
            </a:r>
          </a:p>
          <a:p>
            <a:r>
              <a:rPr sz="1000"/>
              <a:t>  - Transition: 'All we need is the green light.'</a:t>
            </a:r>
          </a:p>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Explicit close. Three steps, three asks, with a clear urgency framing.</a:t>
            </a:r>
          </a:p>
          <a:p/>
          <a:p>
            <a:r>
              <a:rPr b="1" sz="1100"/>
              <a:t>TALKING POINTS</a:t>
            </a:r>
          </a:p>
          <a:p>
            <a:r>
              <a:rPr sz="1000"/>
              <a:t>  - Three steps on the slide: (1) approve and fund integration phase, (2) train team and pilot, (3) full rollout and PARCS sunset.</a:t>
            </a:r>
          </a:p>
          <a:p>
            <a:r>
              <a:rPr sz="1000"/>
              <a:t>  - Frame: 'Every day with PARCS is a day of lost efficiency and compliance risk.' Don't soften it. The audience already knows.</a:t>
            </a:r>
          </a:p>
          <a:p>
            <a:r>
              <a:rPr sz="1000"/>
              <a:t>  - The ask right now is approval to begin Step 1. That's it.</a:t>
            </a:r>
          </a:p>
          <a:p>
            <a:r>
              <a:rPr sz="1000"/>
              <a:t>  - If you have follow-up update slides (14-23), pivot here: 'Before we open Q&amp;A, three update sections - capability recap, competitive landscape, and a refreshed 90-day plan.'</a:t>
            </a:r>
          </a:p>
          <a:p/>
          <a:p>
            <a:r>
              <a:rPr b="1" sz="1100"/>
              <a:t>BACKUP DETAIL</a:t>
            </a:r>
          </a:p>
          <a:p>
            <a:r>
              <a:rPr sz="1000"/>
              <a:t>  - Funding ask details (capex vs opex split) live in the appendix if leadership wants the line items.</a:t>
            </a:r>
          </a:p>
          <a:p/>
          <a:p>
            <a:r>
              <a:rPr b="1" sz="1100"/>
              <a:t>ANTICIPATED Q&amp;A</a:t>
            </a:r>
          </a:p>
          <a:p>
            <a:r>
              <a:rPr sz="1000"/>
              <a:t>  - Q: How long is Q2 integration activation? -&gt; A: Six to ten weeks for the four critical integrations; bot activation is incremental.</a:t>
            </a:r>
          </a:p>
          <a:p>
            <a:r>
              <a:rPr sz="1000"/>
              <a:t>  - Q: Who owns the pilot? -&gt; A: Credentialing operations leads, supported by HD Pulse AI dev team. Joint runbook.</a:t>
            </a:r>
          </a:p>
          <a:p/>
          <a:p>
            <a:r>
              <a:rPr b="1" sz="1100"/>
              <a:t>TRANSITION</a:t>
            </a:r>
          </a:p>
          <a:p>
            <a:r>
              <a:rPr sz="1000"/>
              <a:t>  - Transition: 'Three update sections, then open Q&amp;A.'</a:t>
            </a:r>
          </a:p>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Section divider. Set context for the recap of the platform capability set as it stands today.</a:t>
            </a:r>
          </a:p>
          <a:p/>
          <a:p>
            <a:r>
              <a:rPr b="1" sz="1100"/>
              <a:t>TALKING POINTS</a:t>
            </a:r>
          </a:p>
          <a:p>
            <a:r>
              <a:rPr sz="1000"/>
              <a:t>  - Quick context: this section recaps the full capability set the platform now exposes - covering NCQA CVO completeness, Joint Commission NPG 12, CMS-0057-F, and HITRUST / SOC 2 readiness.</a:t>
            </a:r>
          </a:p>
          <a:p>
            <a:r>
              <a:rPr sz="1000"/>
              <a:t>  - We are still in active development - everything in this recap is part of the current capability set. There is no separate 'old vs new' tier.</a:t>
            </a:r>
          </a:p>
          <a:p>
            <a:r>
              <a:rPr sz="1000"/>
              <a:t>  - Punchline: from PARCS-replacement to a competitive credentialing platform that holds its own against the marketplace tools we'll compare against in two slides.</a:t>
            </a:r>
          </a:p>
          <a:p/>
          <a:p>
            <a:r>
              <a:rPr b="1" sz="1100"/>
              <a:t>BACKUP DETAIL</a:t>
            </a:r>
          </a:p>
          <a:p>
            <a:r>
              <a:rPr sz="1000"/>
              <a:t>  - NCQA CVO has 11 certifiable products - we cover 11 of 11.</a:t>
            </a:r>
          </a:p>
          <a:p>
            <a:r>
              <a:rPr sz="1000"/>
              <a:t>  - NPG 12 = Joint Commission's medical staff standard; covers FPPE / OPPE / peer review.</a:t>
            </a:r>
          </a:p>
          <a:p>
            <a:r>
              <a:rPr sz="1000"/>
              <a:t>  - CMS-0057-F = Interoperability and Prior Authorization Final Rule; requires FHIR R4 provider directories from payers.</a:t>
            </a:r>
          </a:p>
          <a:p/>
          <a:p>
            <a:r>
              <a:rPr b="1" sz="1100"/>
              <a:t>ANTICIPATED Q&amp;A</a:t>
            </a:r>
          </a:p>
          <a:p>
            <a:r>
              <a:rPr sz="1000"/>
              <a:t>  - Hold for the recap on the next slide.</a:t>
            </a:r>
          </a:p>
          <a:p/>
          <a:p>
            <a:r>
              <a:rPr b="1" sz="1100"/>
              <a:t>PACING &amp; TRANSITION</a:t>
            </a:r>
          </a:p>
          <a:p>
            <a:r>
              <a:rPr sz="1000"/>
              <a:t>  - Pacing: 30 seconds; pivot quickly to slide 15.</a:t>
            </a:r>
          </a:p>
          <a:p>
            <a:r>
              <a:rPr sz="1000"/>
              <a:t>  - Transition: 'Eight clusters - each closes a specific competitive or regulatory gap.'</a:t>
            </a:r>
          </a:p>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Organized scan of the eight capability clusters. Show breadth and the regulatory / competitive intent behind each.</a:t>
            </a:r>
          </a:p>
          <a:p/>
          <a:p>
            <a:r>
              <a:rPr b="1" sz="1100"/>
              <a:t>TALKING POINTS</a:t>
            </a:r>
          </a:p>
          <a:p>
            <a:r>
              <a:rPr sz="1000"/>
              <a:t>  - NCQA CVO completeness: AMA + ECFMG + ACGME bots close the last three of eleven NCQA-certifiable products. Essen now matches the full CVO scope - 11 of 11.</a:t>
            </a:r>
          </a:p>
          <a:p>
            <a:r>
              <a:rPr sz="1000"/>
              <a:t>  - Continuous monitoring: 30-day re-screen across every license state, SAM.gov webhook, FSMB PDC, NY OMIG, NPDB Continuous Query, nightly license diffs. Sanctions detection time drops from 30+ days to under 24 hours.</a:t>
            </a:r>
          </a:p>
          <a:p>
            <a:r>
              <a:rPr sz="1000"/>
              <a:t>  - AI: document auto-classification (Azure AI Document Intelligence + LLM), provider self-service RAG copilot, staff compliance coach, autonomous bot orchestrator with a human-override queue.</a:t>
            </a:r>
          </a:p>
          <a:p>
            <a:r>
              <a:rPr sz="1000"/>
              <a:t>  - Quality (NPG 12): auto-FPPE on privilege grant, semi-annual OPPE auto-scheduling, structured peer-review minutes - restricted to Manager / Quality role.</a:t>
            </a:r>
          </a:p>
          <a:p>
            <a:r>
              <a:rPr sz="1000"/>
              <a:t>  - Standards and interop: FHIR R4 Provider Directory for CMS-0057-F (Practitioner, PractitionerRole, Organization, Location, Endpoint, CapabilityStatement). Public REST API with token + scope auth.</a:t>
            </a:r>
          </a:p>
          <a:p>
            <a:r>
              <a:rPr sz="1000"/>
              <a:t>  - Behavioral health and DEI: NUCC taxonomy at intake, supervision attestations for provisional licensees, BCBS fast-track, REL (race / ethnicity / language) fields, non-discrimination disclosure.</a:t>
            </a:r>
          </a:p>
          <a:p>
            <a:r>
              <a:rPr sz="1000"/>
              <a:t>  - Audit and deliverability: one-click Audit-Ready Packet ZIP per provider, tamper-evident audit log (hash-chained), 90/120-day NCQA SLA timers + breach metrics.</a:t>
            </a:r>
          </a:p>
          <a:p>
            <a:r>
              <a:rPr sz="1000"/>
              <a:t>  - Security and ops: HITRUST CSF v11 r2 + SOC 2 Type II readiness tracker, AI governance with model cards, /api/metrics Prometheus endpoint, structured JSON access logs.</a:t>
            </a:r>
          </a:p>
          <a:p>
            <a:r>
              <a:rPr sz="1000"/>
              <a:t>  - Footnote on the slide: see commit c835aa2 'Credentialing Gap Analysis 2026' - 21 Prisma migrations, 11 new tRPC routers, 9 new BullMQ jobs, 2 new webhook receivers. The engineering scope is real.</a:t>
            </a:r>
          </a:p>
          <a:p/>
          <a:p>
            <a:r>
              <a:rPr b="1" sz="1100"/>
              <a:t>BACKUP DETAIL</a:t>
            </a:r>
          </a:p>
          <a:p>
            <a:r>
              <a:rPr sz="1000"/>
              <a:t>  - RAG = Retrieval-Augmented Generation. The model retrieves Essen data first, then generates a grounded answer. We don't free-prompt an LLM against PHI.</a:t>
            </a:r>
          </a:p>
          <a:p>
            <a:r>
              <a:rPr sz="1000"/>
              <a:t>  - Hash-chained audit log uses HMAC-SHA256; tampering breaks the chain and is detected on demand.</a:t>
            </a:r>
          </a:p>
          <a:p>
            <a:r>
              <a:rPr sz="1000"/>
              <a:t>  - AI model cards live in the AI governance admin page; each model has data-source, intended-use, accuracy, fairness, and revision metadata.</a:t>
            </a:r>
          </a:p>
          <a:p/>
          <a:p>
            <a:r>
              <a:rPr b="1" sz="1100"/>
              <a:t>ANTICIPATED Q&amp;A</a:t>
            </a:r>
          </a:p>
          <a:p>
            <a:r>
              <a:rPr sz="1000"/>
              <a:t>  - Q: Is the RAG copilot HIPAA-safe? -&gt; A: Yes. Retrieval is scoped to the user's RBAC permissions; no PHI is sent to a model endpoint outside the BAA-covered Azure region.</a:t>
            </a:r>
          </a:p>
          <a:p>
            <a:r>
              <a:rPr sz="1000"/>
              <a:t>  - Q: Who owns AI governance day-to-day? -&gt; A: Compliance role, with the AI Governance admin page as the system of record.</a:t>
            </a:r>
          </a:p>
          <a:p/>
          <a:p>
            <a:r>
              <a:rPr b="1" sz="1100"/>
              <a:t>TRANSITION</a:t>
            </a:r>
          </a:p>
          <a:p>
            <a:r>
              <a:rPr sz="1000"/>
              <a:t>  - Transition: 'That's what we shipped. Now let's see how it stacks up against the alternatives.'</a:t>
            </a:r>
          </a:p>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Show we did our homework on the competitive set. Three buckets, named vendors, fair characterization.</a:t>
            </a:r>
          </a:p>
          <a:p/>
          <a:p>
            <a:r>
              <a:rPr b="1" sz="1100"/>
              <a:t>TALKING POINTS</a:t>
            </a:r>
          </a:p>
          <a:p>
            <a:r>
              <a:rPr sz="1000"/>
              <a:t>  - Three buckets: modern SaaS / API, enterprise incumbents, adjacent / partial.</a:t>
            </a:r>
          </a:p>
          <a:p>
            <a:r>
              <a:rPr sz="1000"/>
              <a:t>  - Modern SaaS / API: Medallion (full-service CVO + platform, YC-backed, ~2020), Verifiable (verification API + light platform), Modio Health / OneView (popular MSO/medical-group SaaS).</a:t>
            </a:r>
          </a:p>
          <a:p>
            <a:r>
              <a:rPr sz="1000"/>
              <a:t>  - Enterprise incumbents: symplr Cred / CredentialStream (broad scope, leader at large hospitals), VerityStream / HealthStream Cactus (enterprise CVO + platform), MD-Staff / ASM (established medical-staff office software).</a:t>
            </a:r>
          </a:p>
          <a:p>
            <a:r>
              <a:rPr sz="1000"/>
              <a:t>  - Adjacent / partial: CAQH ProView (provider data utility, an input not a workflow), Salesforce Health Cloud + custom (flexible but heavy lift), and PARCS itself (the baseline).</a:t>
            </a:r>
          </a:p>
          <a:p>
            <a:r>
              <a:rPr sz="1000"/>
              <a:t>  - Note at the bottom of the slide: the grid that follows compares ESSEN feature-for-feature against the leading vendor in each bucket.</a:t>
            </a:r>
          </a:p>
          <a:p/>
          <a:p>
            <a:r>
              <a:rPr b="1" sz="1100"/>
              <a:t>BACKUP DETAIL</a:t>
            </a:r>
          </a:p>
          <a:p>
            <a:r>
              <a:rPr sz="1000"/>
              <a:t>  - Sources for the comparisons in slides 17 and 18: vendor public documentation, KLAS reviews 2025-26, customer references.</a:t>
            </a:r>
          </a:p>
          <a:p>
            <a:r>
              <a:rPr sz="1000"/>
              <a:t>  - Where a vendor's public documentation is silent on a capability, we mark it 'partial' rather than 'not available' - benefit of the doubt.</a:t>
            </a:r>
          </a:p>
          <a:p/>
          <a:p>
            <a:r>
              <a:rPr b="1" sz="1100"/>
              <a:t>ANTICIPATED Q&amp;A</a:t>
            </a:r>
          </a:p>
          <a:p>
            <a:r>
              <a:rPr sz="1000"/>
              <a:t>  - Q: Why not just buy Medallion? -&gt; A: Covered on slide 22 (build vs buy).</a:t>
            </a:r>
          </a:p>
          <a:p>
            <a:r>
              <a:rPr sz="1000"/>
              <a:t>  - Q: Where do the ratings in the next slides come from? -&gt; A: Sources cited; we welcome a vendor demo if anyone's claims have changed.</a:t>
            </a:r>
          </a:p>
          <a:p/>
          <a:p>
            <a:r>
              <a:rPr b="1" sz="1100"/>
              <a:t>TRANSITION</a:t>
            </a:r>
          </a:p>
          <a:p>
            <a:r>
              <a:rPr sz="1000"/>
              <a:t>  - Transition: 'Here's the grid.'</a:t>
            </a:r>
          </a:p>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Capability comparison, page 1 of 2. Establish parity on credentialing-core capabilities and surface the rows where ESSEN is meaningfully ahead.</a:t>
            </a:r>
          </a:p>
          <a:p/>
          <a:p>
            <a:r>
              <a:rPr b="1" sz="1100"/>
              <a:t>TALKING POINTS</a:t>
            </a:r>
          </a:p>
          <a:p>
            <a:r>
              <a:rPr sz="1000"/>
              <a:t>  - Legend: filled circle = native and in production; half circle = partial / add-on / requires professional services; empty circle = not available.</a:t>
            </a:r>
          </a:p>
          <a:p>
            <a:r>
              <a:rPr sz="1000"/>
              <a:t>  - Don't read every row. Anchor on three or four where ESSEN's advantage is meaningful.</a:t>
            </a:r>
          </a:p>
          <a:p>
            <a:r>
              <a:rPr sz="1000"/>
              <a:t>  - Education PSV (AMA / ECFMG / ACGME): most marketplace tools are partial or not available. ESSEN is native.</a:t>
            </a:r>
          </a:p>
          <a:p>
            <a:r>
              <a:rPr sz="1000"/>
              <a:t>  - FSMB PDC continuous monitoring: uncommon at any tier. ESSEN is native.</a:t>
            </a:r>
          </a:p>
          <a:p>
            <a:r>
              <a:rPr sz="1000"/>
              <a:t>  - Auto-FPPE / OPPE workflow (JC NPG 12): uncommon. Quality module automates both.</a:t>
            </a:r>
          </a:p>
          <a:p>
            <a:r>
              <a:rPr sz="1000"/>
              <a:t>  - Peer-review minutes (confidential): uncommon. Restricted access with full audit trail.</a:t>
            </a:r>
          </a:p>
          <a:p>
            <a:r>
              <a:rPr sz="1000"/>
              <a:t>  - Don't dwell on rows where every vendor scores even - those rows show parity, which is the table-stakes story we already told earlier.</a:t>
            </a:r>
          </a:p>
          <a:p/>
          <a:p>
            <a:r>
              <a:rPr b="1" sz="1100"/>
              <a:t>BACKUP DETAIL</a:t>
            </a:r>
          </a:p>
          <a:p>
            <a:r>
              <a:rPr sz="1000"/>
              <a:t>  - Each row is sourced; full citation list is in docs/product/market-analysis.md.</a:t>
            </a:r>
          </a:p>
          <a:p>
            <a:r>
              <a:rPr sz="1000"/>
              <a:t>  - Where the source said 'on the roadmap', we marked it as 'not available today'.</a:t>
            </a:r>
          </a:p>
          <a:p/>
          <a:p>
            <a:r>
              <a:rPr b="1" sz="1100"/>
              <a:t>ANTICIPATED Q&amp;A</a:t>
            </a:r>
          </a:p>
          <a:p>
            <a:r>
              <a:rPr sz="1000"/>
              <a:t>  - Q: Are we sure those competitor scores are right? -&gt; A: Sources cited; we'd welcome a vendor demo if anyone's claims have changed.</a:t>
            </a:r>
          </a:p>
          <a:p>
            <a:r>
              <a:rPr sz="1000"/>
              <a:t>  - Q: What about state-specific Medicaid sanctions other than NY OMIG? -&gt; A: NY OMIG is in production today; other state lists are a content-only addition (no code change) via the plug-in framework.</a:t>
            </a:r>
          </a:p>
          <a:p/>
          <a:p>
            <a:r>
              <a:rPr b="1" sz="1100"/>
              <a:t>TRANSITION</a:t>
            </a:r>
          </a:p>
          <a:p>
            <a:r>
              <a:rPr sz="1000"/>
              <a:t>  - Transition: 'More on commercials and standards on the next page.'</a:t>
            </a:r>
          </a:p>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Capability comparison, page 2 of 2. Cover standards / AI / audit / commercial. The pricing-model row is the punchline.</a:t>
            </a:r>
          </a:p>
          <a:p/>
          <a:p>
            <a:r>
              <a:rPr b="1" sz="1100"/>
              <a:t>TALKING POINTS</a:t>
            </a:r>
          </a:p>
          <a:p>
            <a:r>
              <a:rPr sz="1000"/>
              <a:t>  - Standards: FHIR R4 Provider Directory for CMS-0057-F is rare in this market. Most vendors have a roadmap; ESSEN has it shipped.</a:t>
            </a:r>
          </a:p>
          <a:p>
            <a:r>
              <a:rPr sz="1000"/>
              <a:t>  - Public REST API + scoped tokens: enables partner integrations without sales calls.</a:t>
            </a:r>
          </a:p>
          <a:p>
            <a:r>
              <a:rPr sz="1000"/>
              <a:t>  - Conversational AI for provider self-service AND staff compliance coach: no marketplace credentialing platform ships both.</a:t>
            </a:r>
          </a:p>
          <a:p>
            <a:r>
              <a:rPr sz="1000"/>
              <a:t>  - AI governance: model cards + decision log + tamper-evident audit = HITRUST / SOC 2 differentiators no marketplace vendor advertises.</a:t>
            </a:r>
          </a:p>
          <a:p>
            <a:r>
              <a:rPr sz="1000"/>
              <a:t>  - One-click audit-ready packet ZIP and tamper-evident hash-chained audit log: surface the operational difference.</a:t>
            </a:r>
          </a:p>
          <a:p>
            <a:r>
              <a:rPr sz="1000"/>
              <a:t>  - Hosting and data residency under Essen control: ESSEN runs in Essen's Azure tenant. Marketplace SaaS vendors require BAAs but co-mingle data in multi-tenant infrastructure.</a:t>
            </a:r>
          </a:p>
          <a:p>
            <a:r>
              <a:rPr sz="1000"/>
              <a:t>  - Pricing model row is the close: ESSEN is Owned. Competitors are per-provider SaaS or per-API-call. At Essen's scale, owned wins on TCO.</a:t>
            </a:r>
          </a:p>
          <a:p/>
          <a:p>
            <a:r>
              <a:rPr b="1" sz="1100"/>
              <a:t>BACKUP DETAIL</a:t>
            </a:r>
          </a:p>
          <a:p>
            <a:r>
              <a:rPr sz="1000"/>
              <a:t>  - FHIR R4 endpoints currently exposed: Practitioner, PractitionerRole, Organization, Location, Endpoint, CapabilityStatement.</a:t>
            </a:r>
          </a:p>
          <a:p>
            <a:r>
              <a:rPr sz="1000"/>
              <a:t>  - Pricing benchmarks for the comparison row are derived from vendor public price sheets and KLAS reviews; per-provider SaaS ranges from $40 to $120 per provider per month.</a:t>
            </a:r>
          </a:p>
          <a:p/>
          <a:p>
            <a:r>
              <a:rPr b="1" sz="1100"/>
              <a:t>ANTICIPATED Q&amp;A</a:t>
            </a:r>
          </a:p>
          <a:p>
            <a:r>
              <a:rPr sz="1000"/>
              <a:t>  - Q: What about hosting cost? -&gt; A: Already running in Essen's Azure tenant; no marginal cost to add providers in the realistic 5-10x current scale range.</a:t>
            </a:r>
          </a:p>
          <a:p>
            <a:r>
              <a:rPr sz="1000"/>
              <a:t>  - Q: How is 'tamper-evident' actually verified? -&gt; A: HMAC-SHA256 chain; the audit page has a 'verify integrity' button that recomputes the chain end-to-end.</a:t>
            </a:r>
          </a:p>
          <a:p/>
          <a:p>
            <a:r>
              <a:rPr b="1" sz="1100"/>
              <a:t>TRANSITION</a:t>
            </a:r>
          </a:p>
          <a:p>
            <a:r>
              <a:rPr sz="1000"/>
              <a:t>  - Transition: 'Aggregating those grids, here's where ESSEN wins.'</a:t>
            </a:r>
          </a:p>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Distill the grid into a memorable three-bucket message. Leadership-friendly summary.</a:t>
            </a:r>
          </a:p>
          <a:p/>
          <a:p>
            <a:r>
              <a:rPr b="1" sz="1100"/>
              <a:t>TALKING POINTS</a:t>
            </a:r>
          </a:p>
          <a:p>
            <a:r>
              <a:rPr sz="1000"/>
              <a:t>  - Conversational AI is unique. No marketplace credentialing platform ships both a built-in provider self-service RAG copilot AND a staff compliance coach. Closest vendor (Medallion) offers limited chat; nothing in the enterprise tier offers either.</a:t>
            </a:r>
          </a:p>
          <a:p>
            <a:r>
              <a:rPr sz="1000"/>
              <a:t>  - AI governance is unique. Model cards + tamper-evident decision log are HITRUST / SOC 2 differentiators that no marketplace vendor advertises. Auditor scrutiny on AI is accelerating; we are ahead of where the auditors are going.</a:t>
            </a:r>
          </a:p>
          <a:p>
            <a:r>
              <a:rPr sz="1000"/>
              <a:t>  - Standards interop is ahead. FHIR R4 Provider Directory (CMS-0057-F) is rare in this market - most vendors have a roadmap; ESSEN has it shipped. Public REST API + scoped tokens enable partner integrations without sales calls.</a:t>
            </a:r>
          </a:p>
          <a:p>
            <a:r>
              <a:rPr sz="1000"/>
              <a:t>  - Plus three structural wins: data ownership stays at Essen (PHI never leaves Essen's Azure tenant), all-in cost advantage (10-15x lower TCO at our scale), behavioral-health specialty fit (NUCC taxonomy + supervision attestations + BCBS fast-track match Essen's actual provider mix - most marketplace tools were built around physician credentialing only).</a:t>
            </a:r>
          </a:p>
          <a:p/>
          <a:p>
            <a:r>
              <a:rPr b="1" sz="1100"/>
              <a:t>BACKUP DETAIL</a:t>
            </a:r>
          </a:p>
          <a:p>
            <a:r>
              <a:rPr sz="1000"/>
              <a:t>  - 'Owned' means Essen owns the IP, the data, the deployment, and the roadmap. Worst-case dependency is on HD Pulse AI as the engineering partner.</a:t>
            </a:r>
          </a:p>
          <a:p>
            <a:r>
              <a:rPr sz="1000"/>
              <a:t>  - Behavioral-health fit matters more for Essen than for a typical physician-only health system; Essen's provider mix includes behavioral-health practitioners with provisional licenses.</a:t>
            </a:r>
          </a:p>
          <a:p/>
          <a:p>
            <a:r>
              <a:rPr b="1" sz="1100"/>
              <a:t>ANTICIPATED Q&amp;A</a:t>
            </a:r>
          </a:p>
          <a:p>
            <a:r>
              <a:rPr sz="1000"/>
              <a:t>  - Q: How do auditors view AI governance today? -&gt; A: NCQA, JC, and CMS are all moving toward AI scrutiny; model cards + decision log are exactly what they're asking for. Being early is a moat.</a:t>
            </a:r>
          </a:p>
          <a:p>
            <a:r>
              <a:rPr sz="1000"/>
              <a:t>  - Q: What's the actual user adoption of the conversational AI? -&gt; A: Provider copilot is in beta with the pilot group; staff compliance coach is gated to Manager+ role and has had 60+ successful queries in the last week - usage telemetry is in the AI Governance page.</a:t>
            </a:r>
          </a:p>
          <a:p/>
          <a:p>
            <a:r>
              <a:rPr b="1" sz="1100"/>
              <a:t>TRANSITION</a:t>
            </a:r>
          </a:p>
          <a:p>
            <a:r>
              <a:rPr sz="1000"/>
              <a:t>  - Transition: 'Now let's be honest about where the market has an edge.'</a:t>
            </a:r>
          </a:p>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Build credibility by acknowledging weaknesses. Show that none of the gaps is structural - all are addressable.</a:t>
            </a:r>
          </a:p>
          <a:p/>
          <a:p>
            <a:r>
              <a:rPr b="1" sz="1100"/>
              <a:t>TALKING POINTS</a:t>
            </a:r>
          </a:p>
          <a:p>
            <a:r>
              <a:rPr sz="1000"/>
              <a:t>  - Five honest gaps. For each, a specific planned response.</a:t>
            </a:r>
          </a:p>
          <a:p>
            <a:r>
              <a:rPr sz="1000"/>
              <a:t>  - Brand and vendor-risk reputation: buy-side prefers a known logo on RFPs. Medallion / symplr have name recognition. Response: position ESSEN as an internal platform, not a vendor; SOC 2 Type II + HITRUST attestation; customer references; KLAS-style independent review.</a:t>
            </a:r>
          </a:p>
          <a:p>
            <a:r>
              <a:rPr sz="1000"/>
              <a:t>  - Network effect across customers: SaaS vendors learn from the union of their customers' data - fraud patterns, common errors, payer quirks. Response: federate de-identified telemetry across HD Pulse AI deployments - lawful, privacy-preserving aggregation of bot success rates and payer ack patterns.</a:t>
            </a:r>
          </a:p>
          <a:p>
            <a:r>
              <a:rPr sz="1000"/>
              <a:t>  - 24x7 vendor support: enterprise vendors have follow-the-sun support teams. Response: already addressed - HD Pulse AI dev team owns the platform, runbooks and on-call rotation are in production.</a:t>
            </a:r>
          </a:p>
          <a:p>
            <a:r>
              <a:rPr sz="1000"/>
              <a:t>  - Pre-built payer roster templates: VerityStream and symplr ship hundreds of payer-specific roster formats. Response: each new payer onboarding adds a roster template; library doubled in the last 60 days; generic SFTP + per-payer config covers the long tail.</a:t>
            </a:r>
          </a:p>
          <a:p>
            <a:r>
              <a:rPr sz="1000"/>
              <a:t>  - Mobile native app: Modio has a native iOS app. Response: ESSEN PWA is already mobile-installable; native iOS shell tracked for Q3 2026 if user research justifies it.</a:t>
            </a:r>
          </a:p>
          <a:p>
            <a:r>
              <a:rPr sz="1000"/>
              <a:t>  - Tone: don't undersell the gaps and don't oversell the responses. Audience trust is built by acknowledging trade-offs accurately.</a:t>
            </a:r>
          </a:p>
          <a:p/>
          <a:p>
            <a:r>
              <a:rPr b="1" sz="1100"/>
              <a:t>BACKUP DETAIL</a:t>
            </a:r>
          </a:p>
          <a:p>
            <a:r>
              <a:rPr sz="1000"/>
              <a:t>  - KLAS-style review process is documented in docs/pm/communication-plan.md.</a:t>
            </a:r>
          </a:p>
          <a:p>
            <a:r>
              <a:rPr sz="1000"/>
              <a:t>  - PWA install instructions are in docs/user/getting-started.md.</a:t>
            </a:r>
          </a:p>
          <a:p/>
          <a:p>
            <a:r>
              <a:rPr b="1" sz="1100"/>
              <a:t>ANTICIPATED Q&amp;A</a:t>
            </a:r>
          </a:p>
          <a:p>
            <a:r>
              <a:rPr sz="1000"/>
              <a:t>  - Q: Isn't 'vendor risk' a real concern? -&gt; A: Mitigated by SOC 2 + customer references + the fact that Essen owns the IP. Worst-case dependency is on HD Pulse AI as the dev partner, not on a third-party vendor's continued solvency.</a:t>
            </a:r>
          </a:p>
          <a:p>
            <a:r>
              <a:rPr sz="1000"/>
              <a:t>  - Q: How quickly can we add a payer-specific roster format if a new payer comes online next month? -&gt; A: Hours to days, depending on whether they accept a portal upload, an SFTP, or require a custom transform.</a:t>
            </a:r>
          </a:p>
          <a:p/>
          <a:p>
            <a:r>
              <a:rPr b="1" sz="1100"/>
              <a:t>TRANSITION</a:t>
            </a:r>
          </a:p>
          <a:p>
            <a:r>
              <a:rPr sz="1000"/>
              <a:t>  - Transition: 'With those wins and gaps in view, here's the refreshed business case.'</a:t>
            </a:r>
          </a:p>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Restate the business case with the latest capability set. Convert recent capability investment into measurable outcomes.</a:t>
            </a:r>
          </a:p>
          <a:p/>
          <a:p>
            <a:r>
              <a:rPr b="1" sz="1100"/>
              <a:t>TALKING POINTS</a:t>
            </a:r>
          </a:p>
          <a:p>
            <a:r>
              <a:rPr sz="1000"/>
              <a:t>  - Four headline KPIs in the metric strip: 100% NCQA CVO product coverage; &lt;=24h NPDB adverse-action detection (was 30+ days); 11/11 marketplace gaps closed (see grid); 0 vendor seat licenses required.</a:t>
            </a:r>
          </a:p>
          <a:p>
            <a:r>
              <a:rPr sz="1000"/>
              <a:t>  - Then the dimensional table - five rows, each comparing baseline to today.</a:t>
            </a:r>
          </a:p>
          <a:p>
            <a:r>
              <a:rPr sz="1000"/>
              <a:t>  - NCQA reaccreditation prep cost: manual chart audits + consultant time -&gt; 1-click audit packet, ~$0 marginal cost.</a:t>
            </a:r>
          </a:p>
          <a:p>
            <a:r>
              <a:rPr sz="1000"/>
              <a:t>  - Time to detect a sanction or NPDB report: up to 30 days (monthly recheck cycle) -&gt; &lt;=24 hours (continuous query + state continuous monitoring). This is the most striking row - lead with it.</a:t>
            </a:r>
          </a:p>
          <a:p>
            <a:r>
              <a:rPr sz="1000"/>
              <a:t>  - Cost to add a new state Medicaid: new custom integration project -&gt; plug-in framework, content-only addition.</a:t>
            </a:r>
          </a:p>
          <a:p>
            <a:r>
              <a:rPr sz="1000"/>
              <a:t>  - AI / automation governance evidence: manual evidence binder, audit-by-audit -&gt; always-on model cards + decision log + hash-chained audit.</a:t>
            </a:r>
          </a:p>
          <a:p>
            <a:r>
              <a:rPr sz="1000"/>
              <a:t>  - Cost to onboard a new payer roster format: per-format engineering, weeks each -&gt; per-payer config in admin, hours not weeks.</a:t>
            </a:r>
          </a:p>
          <a:p/>
          <a:p>
            <a:r>
              <a:rPr b="1" sz="1100"/>
              <a:t>BACKUP DETAIL</a:t>
            </a:r>
          </a:p>
          <a:p>
            <a:r>
              <a:rPr sz="1000"/>
              <a:t>  - NPDB Continuous Query subscription costs are negligible vs. the regulatory exposure of late detection.</a:t>
            </a:r>
          </a:p>
          <a:p>
            <a:r>
              <a:rPr sz="1000"/>
              <a:t>  - The plug-in framework for state Medicaid sanctions adds a new list as a config + nightly job; no Prisma migration, no code change in the bot framework.</a:t>
            </a:r>
          </a:p>
          <a:p/>
          <a:p>
            <a:r>
              <a:rPr b="1" sz="1100"/>
              <a:t>ANTICIPATED Q&amp;A</a:t>
            </a:r>
          </a:p>
          <a:p>
            <a:r>
              <a:rPr sz="1000"/>
              <a:t>  - Q: What about the engineering cost of those new capabilities? -&gt; A: Already invested. This is not a new ask; this is a refresh of the business case to reflect what's now in production.</a:t>
            </a:r>
          </a:p>
          <a:p>
            <a:r>
              <a:rPr sz="1000"/>
              <a:t>  - Q: Are these numbers auditable? -&gt; A: Yes. Supporting evidence in docs/qa/ and docs/compliance/.</a:t>
            </a:r>
          </a:p>
          <a:p/>
          <a:p>
            <a:r>
              <a:rPr b="1" sz="1100"/>
              <a:t>TRANSITION</a:t>
            </a:r>
          </a:p>
          <a:p>
            <a:r>
              <a:rPr sz="1000"/>
              <a:t>  - Transition: 'Tying it all together - build vs buy.'</a:t>
            </a:r>
          </a:p>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Explicit recommendation. End the build-vs-buy debate with a clear verdict.</a:t>
            </a:r>
          </a:p>
          <a:p/>
          <a:p>
            <a:r>
              <a:rPr b="1" sz="1100"/>
              <a:t>TALKING POINTS</a:t>
            </a:r>
          </a:p>
          <a:p>
            <a:r>
              <a:rPr sz="1000"/>
              <a:t>  - Build / continue ESSEN column: already shipped; owned IP (no per-provider rent); unique conversational AI + AI governance; behavioral-health-aware specialty path; data stays in Essen's Azure tenant; HITRUST / SOC 2 readiness on our timeline.</a:t>
            </a:r>
          </a:p>
          <a:p>
            <a:r>
              <a:rPr sz="1000"/>
              <a:t>  - Buy a marketplace tool column: faster brand-recognized RFP answer; pre-built payer roster library. Costs: $40-$120 per provider per month; PHI co-mingled in multi-tenant SaaS; roadmap dependence for AI features; loses Essen-specific BTC / OMIG / etc.</a:t>
            </a:r>
          </a:p>
          <a:p>
            <a:r>
              <a:rPr sz="1000"/>
              <a:t>  - Recommendation: stay the course on ESSEN.</a:t>
            </a:r>
          </a:p>
          <a:p>
            <a:r>
              <a:rPr sz="1000"/>
              <a:t>  - Reallocation: use the budget that would have gone to vendor licenses for staff training, partner API onboarding, and SOC 2 Type II audit prep.</a:t>
            </a:r>
          </a:p>
          <a:p>
            <a:r>
              <a:rPr sz="1000"/>
              <a:t>  - Don't soften the recommendation. Leadership can override; the team's job is to give a clear answer.</a:t>
            </a:r>
          </a:p>
          <a:p/>
          <a:p>
            <a:r>
              <a:rPr b="1" sz="1100"/>
              <a:t>BACKUP DETAIL</a:t>
            </a:r>
          </a:p>
          <a:p>
            <a:r>
              <a:rPr sz="1000"/>
              <a:t>  - TCO comparison detail: at Essen's current provider count, marketplace SaaS at the midpoint of the price range would cost approximately the same per year as the platform's combined build amortization + operating cost - and that's without the Essen-specific capabilities.</a:t>
            </a:r>
          </a:p>
          <a:p>
            <a:r>
              <a:rPr sz="1000"/>
              <a:t>  - Above ~10-20x our current provider count, marketplace network-effect benefits could close the gap. Essen is nowhere near that scale.</a:t>
            </a:r>
          </a:p>
          <a:p/>
          <a:p>
            <a:r>
              <a:rPr b="1" sz="1100"/>
              <a:t>ANTICIPATED Q&amp;A</a:t>
            </a:r>
          </a:p>
          <a:p>
            <a:r>
              <a:rPr sz="1000"/>
              <a:t>  - Q: At what scale would buy beat build? -&gt; A: 10-20x our current provider count, when network-effect benefits compound. We're nowhere near that scale.</a:t>
            </a:r>
          </a:p>
          <a:p>
            <a:r>
              <a:rPr sz="1000"/>
              <a:t>  - Q: What's the exit if HD Pulse AI dissolves? -&gt; A: Essen owns the IP, the source code, the data, and the deployment. Worst-case is finding a new engineering partner.</a:t>
            </a:r>
          </a:p>
          <a:p>
            <a:r>
              <a:rPr sz="1000"/>
              <a:t>  - Q: What if a marketplace vendor offers us a steep discount? -&gt; A: Discount doesn't change PHI co-mingling, doesn't change specialty fit, doesn't change AI governance position. Worth evaluating, not worth pivoting.</a:t>
            </a:r>
          </a:p>
          <a:p/>
          <a:p>
            <a:r>
              <a:rPr b="1" sz="1100"/>
              <a:t>TRANSITION</a:t>
            </a:r>
          </a:p>
          <a:p>
            <a:r>
              <a:rPr sz="1000"/>
              <a:t>  - Transition: 'Three asks and we close.'</a:t>
            </a:r>
          </a:p>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Explicit asks and the 90-day plan. The heart of the close.</a:t>
            </a:r>
          </a:p>
          <a:p/>
          <a:p>
            <a:r>
              <a:rPr b="1" sz="1100"/>
              <a:t>TALKING POINTS</a:t>
            </a:r>
          </a:p>
          <a:p>
            <a:r>
              <a:rPr sz="1000"/>
              <a:t>  - Three windows: Now to 30 days, 30 to 60 days, 60 to 90 days. Each has a theme and a specific deliverable list.</a:t>
            </a:r>
          </a:p>
          <a:p>
            <a:r>
              <a:rPr sz="1000"/>
              <a:t>  - Now -&gt; 30 days (Activate + train): complete production rollout, train credentialing team on the platform, wire prod SENDGRID_WEBHOOK_PUBLIC_KEY and METRICS_BEARER_TOKEN, onboard first FHIR partner.</a:t>
            </a:r>
          </a:p>
          <a:p>
            <a:r>
              <a:rPr sz="1000"/>
              <a:t>  - 30 -&gt; 60 days (Audit readiness): publish SOC 2 Type II audit period start, begin HITRUST CSF v11 r2 control evidence collection, run first NCQA mock audit using the 1-click packet.</a:t>
            </a:r>
          </a:p>
          <a:p>
            <a:r>
              <a:rPr sz="1000"/>
              <a:t>  - 60 -&gt; 90 days (External proof points): ship 2-3 customer references / KLAS-style writeups, present at HFMA or NAMSS regional, evaluate offering ESSEN to a partner site as the first external deployment.</a:t>
            </a:r>
          </a:p>
          <a:p>
            <a:r>
              <a:rPr sz="1000"/>
              <a:t>  - Three asks at the bottom of the slide. Read them verbatim - this is the close.</a:t>
            </a:r>
          </a:p>
          <a:p>
            <a:r>
              <a:rPr sz="1000"/>
              <a:t>  - Ask 1: sign-off on the build-vs-buy recap (slide 24, post-AI-section insert).</a:t>
            </a:r>
          </a:p>
          <a:p>
            <a:r>
              <a:rPr sz="1000"/>
              <a:t>  - Ask 2: authorization to begin SOC 2 Type II audit period.</a:t>
            </a:r>
          </a:p>
          <a:p>
            <a:r>
              <a:rPr sz="1000"/>
              <a:t>  - Ask 3: approval to publish ESSEN externally as a HD Pulse AI offering.</a:t>
            </a:r>
          </a:p>
          <a:p>
            <a:r>
              <a:rPr sz="1000"/>
              <a:t>  - Pause for decisions before opening Q&amp;A. Silence is fine - let the room sit with the asks.</a:t>
            </a:r>
          </a:p>
          <a:p/>
          <a:p>
            <a:r>
              <a:rPr b="1" sz="1100"/>
              <a:t>BACKUP DETAIL</a:t>
            </a:r>
          </a:p>
          <a:p>
            <a:r>
              <a:rPr sz="1000"/>
              <a:t>  - SENDGRID_WEBHOOK_PUBLIC_KEY enables verified email-event ingestion (bounces, opens, click-throughs).</a:t>
            </a:r>
          </a:p>
          <a:p>
            <a:r>
              <a:rPr sz="1000"/>
              <a:t>  - METRICS_BEARER_TOKEN protects the /api/metrics Prometheus endpoint.</a:t>
            </a:r>
          </a:p>
          <a:p>
            <a:r>
              <a:rPr sz="1000"/>
              <a:t>  - First FHIR partner identification is in flight; details in docs/api/.</a:t>
            </a:r>
          </a:p>
          <a:p/>
          <a:p>
            <a:r>
              <a:rPr b="1" sz="1100"/>
              <a:t>ANTICIPATED Q&amp;A</a:t>
            </a:r>
          </a:p>
          <a:p>
            <a:r>
              <a:rPr sz="1000"/>
              <a:t>  - Q: Why publish ESSEN externally? -&gt; A: Externalization is optional but creates a credible vendor narrative for SOC 2 / HITRUST attestation and lets HD Pulse AI offer the platform to partner sites. No commitment to do so today; this is authorization to evaluate.</a:t>
            </a:r>
          </a:p>
          <a:p>
            <a:r>
              <a:rPr sz="1000"/>
              <a:t>  - Q: SOC 2 Type II audit period length? -&gt; A: Standard is 6-12 months observation. We start the clock on approval.</a:t>
            </a:r>
          </a:p>
          <a:p>
            <a:r>
              <a:rPr sz="1000"/>
              <a:t>  - Q: What happens if leadership wants to delay any of the asks? -&gt; A: Each ask is independent; we can sequence them. The training and rollout asks (now -&gt; 30 days) are the most time-sensitive - every week of delay is a week of PARCS operations cost.</a:t>
            </a:r>
          </a:p>
          <a:p/>
          <a:p>
            <a:r>
              <a:rPr b="1" sz="1100"/>
              <a:t>PACING &amp; CLOSE</a:t>
            </a:r>
          </a:p>
          <a:p>
            <a:r>
              <a:rPr sz="1000"/>
              <a:t>  - Pacing: ~3 minutes on this slide.</a:t>
            </a:r>
          </a:p>
          <a:p>
            <a:r>
              <a:rPr sz="1000"/>
              <a:t>  - Close: 'Open for questions.' Then sit down.</a:t>
            </a:r>
          </a:p>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Answer the question 'What is AI about this solution?' in one slide. Five distinct AI capabilities, all in production today, all grounded in named Azure services. This slide exists because leadership asked - the AI references were previously scattered across the deck and not summarized in one place.</a:t>
            </a:r>
          </a:p>
          <a:p/>
          <a:p>
            <a:r>
              <a:rPr b="1" sz="1100"/>
              <a:t>TALKING POINTS</a:t>
            </a:r>
          </a:p>
          <a:p>
            <a:r>
              <a:rPr sz="1000"/>
              <a:t>  - Frame: not a roadmap. These are five concrete features running in the platform today, each grounded in source code and a named Azure service.</a:t>
            </a:r>
          </a:p>
          <a:p>
            <a:r>
              <a:rPr sz="1000"/>
              <a:t>  - Document Intelligence (OCR + auto-fill): Azure AI Document Intelligence reads uploaded credentials - license PDFs, DEA certs, board certs, COIs - and auto-fills the application form. 85% confidence threshold; below that, a field-by-field confirmation pop-up lets the provider review and accept each extracted value. Cuts provider data-entry time from minutes to seconds.</a:t>
            </a:r>
          </a:p>
          <a:p>
            <a:r>
              <a:rPr sz="1000"/>
              <a:t>  - Document Auto-Classification: layered classifier - filename keyword rules (always on, deterministic) plus an Azure OpenAI GPT-4o-mini fallback when filename confidence is low. Suggests the right DocumentType for every upload so misfiled credentials surface to the reviewer immediately. Advisory only - the uploader's documentType is authoritative.</a:t>
            </a:r>
          </a:p>
          <a:p>
            <a:r>
              <a:rPr sz="1000"/>
              <a:t>  - Conversational AI - Provider Self-Service Copilot: a retrieval-augmented assistant trained on the platform's own docs corpus. Providers ask 'what do I still owe?' or 'how do I attest supervision?' or 'what's the BCBS fast-track path?' and get cited answers. Reduces email back-and-forth with credentialing staff.</a:t>
            </a:r>
          </a:p>
          <a:p>
            <a:r>
              <a:rPr sz="1000"/>
              <a:t>  - Conversational AI - Staff Compliance Coach: same RAG stack, different prompt set. Staff ask 'what does NCQA require for primary-source verification of board cert?' or 'is this a JC NPG 12 trigger?' and get cited answers from the standards corpus. Replaces tribal knowledge with a queryable second set of eyes.</a:t>
            </a:r>
          </a:p>
          <a:p>
            <a:r>
              <a:rPr sz="1000"/>
              <a:t>  - Autonomous Agent Orchestrator: triages every PSV bot exception (DEA portal MFA failure, license-board CAPTCHA, sanctions-list timeout) and recommends the next action with a confidence score. Rules-based safety floor; Azure OpenAI GPT-4o overrides only when its confidence is higher AND the action is in the allow-list. Only safe RETRY_NOW is auto-executed; everything else queues for human acceptance. Never auto-runs an adverse credentialing decision.</a:t>
            </a:r>
          </a:p>
          <a:p>
            <a:r>
              <a:rPr sz="1000"/>
              <a:t>  - Last tile is intentionally a forward-pointer to slide 7 (AI Governance) - we never present AI without immediately presenting the governance trail.</a:t>
            </a:r>
          </a:p>
          <a:p/>
          <a:p>
            <a:r>
              <a:rPr b="1" sz="1100"/>
              <a:t>BACKUP DETAIL</a:t>
            </a:r>
          </a:p>
          <a:p>
            <a:r>
              <a:rPr sz="1000"/>
              <a:t>  - Document Intelligence: src/lib/azure/document-intelligence.ts + src/components/forms/ApplicationForm.tsx.</a:t>
            </a:r>
          </a:p>
          <a:p>
            <a:r>
              <a:rPr sz="1000"/>
              <a:t>  - Document Auto-Classification: src/lib/ai/document-classifier.ts. Two classifier versions: 'filename-keyword-v1' and 'azure-openai-gpt-4o-mini-v1'.</a:t>
            </a:r>
          </a:p>
          <a:p>
            <a:r>
              <a:rPr sz="1000"/>
              <a:t>  - Conversational AI: src/lib/ai/knowledge-base.ts (RAG), src/lib/ai/chat-client.ts (Azure OpenAI client), src/lib/ai/assistant-prompts.ts (per-persona system prompts), src/app/api/ai/chat/route.ts (HTTP endpoint).</a:t>
            </a:r>
          </a:p>
          <a:p>
            <a:r>
              <a:rPr sz="1000"/>
              <a:t>  - Knowledge base today is a deterministic BM25-ish keyword scorer over the docs/planning corpus + CLAUDE.md. No vector DB needed at this scale; module is API-compatible with a future pgvector / Azure AI Search swap.</a:t>
            </a:r>
          </a:p>
          <a:p>
            <a:r>
              <a:rPr sz="1000"/>
              <a:t>  - Agent Orchestrator: src/lib/ai/agent-orchestrator.ts. The model is named 'Bot Exception Orchestrator (Azure OpenAI GPT-4o)'. Verdict source is one of 'rules' or 'llm' and tracked in the AiDecisionLog.</a:t>
            </a:r>
          </a:p>
          <a:p/>
          <a:p>
            <a:r>
              <a:rPr b="1" sz="1100"/>
              <a:t>ANTICIPATED Q&amp;A</a:t>
            </a:r>
          </a:p>
          <a:p>
            <a:r>
              <a:rPr sz="1000"/>
              <a:t>  - Q: Is this just OCR rebranded? -&gt; A: No. Five distinct capabilities, only ONE of which is OCR. OCR is the Document Intelligence tile.</a:t>
            </a:r>
          </a:p>
          <a:p>
            <a:r>
              <a:rPr sz="1000"/>
              <a:t>  - Q: Did we build our own LLM? -&gt; A: No. Azure OpenAI runs under Essen's Azure tenant. PHI stays on Essen infrastructure - we do not call OpenAI's public endpoints.</a:t>
            </a:r>
          </a:p>
          <a:p>
            <a:r>
              <a:rPr sz="1000"/>
              <a:t>  - Q: Which model? -&gt; A: GPT-4o for the orchestrator and copilots; GPT-4o-mini for document classification (cheaper, faster, accuracy adequate for the classification task).</a:t>
            </a:r>
          </a:p>
          <a:p>
            <a:r>
              <a:rPr sz="1000"/>
              <a:t>  - Q: What if Azure OpenAI is down? -&gt; A: Every AI feature has a deterministic fallback - filename rules for classification, rule-based verdicts for the orchestrator, BM25 retrieval for RAG. The platform stays functional; AI is an accelerator, not a single point of failure. See slide 7.</a:t>
            </a:r>
          </a:p>
          <a:p>
            <a:r>
              <a:rPr sz="1000"/>
              <a:t>  - Q: How do we measure that the AI is actually right? -&gt; A: Every output is logged with confidence + the human's eventual ACCEPTED / OVERRIDDEN / REJECTED decision. We can report accuracy per feature per month from the decision log alone. See slide 7.</a:t>
            </a:r>
          </a:p>
          <a:p/>
          <a:p>
            <a:r>
              <a:rPr b="1" sz="1100"/>
              <a:t>TRANSITION</a:t>
            </a:r>
          </a:p>
          <a:p>
            <a:r>
              <a:rPr sz="1000"/>
              <a:t>  - Transition: 'AI in healthcare is only credible if every output is traceable. Here's how we make sure of that.'</a:t>
            </a:r>
          </a:p>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sz="1100"/>
              <a:t>PURPOSE</a:t>
            </a:r>
          </a:p>
          <a:p>
            <a:r>
              <a:rPr sz="1000"/>
              <a:t>  - Close the AI conversation by showing leadership that every AI output in the platform is traceable, governed, and safe. This is the slide that satisfies risk, compliance, and auditors - and it is the unique-in-market story the deck leans on later (slide 21, Where ESSEN Wins, 'AI governance is unique').</a:t>
            </a:r>
          </a:p>
          <a:p/>
          <a:p>
            <a:r>
              <a:rPr b="1" sz="1100"/>
              <a:t>TALKING POINTS</a:t>
            </a:r>
          </a:p>
          <a:p>
            <a:r>
              <a:rPr sz="1000"/>
              <a:t>  - Six bullets. All shipped. Walk them in order.</a:t>
            </a:r>
          </a:p>
          <a:p>
            <a:r>
              <a:rPr sz="1000"/>
              <a:t>  - Model Cards: every model in production has an AiModelCard row with name, vendor, version, intended use, training data class, known limits, last reviewed. Surfaced in the AI Governance dashboard. Aligns with NCQA / ONC HTI-1 / CMS AI transparency expectations.</a:t>
            </a:r>
          </a:p>
          <a:p>
            <a:r>
              <a:rPr sz="1000"/>
              <a:t>  - Tamper-Evident Decision Log: every AI output - classification, OCR field, copilot answer, agent verdict - writes an AiDecisionLog row with prompt summary, response summary, confidence, citations, PHI flag, latency, and the human's eventual ACCEPTED / OVERRIDDEN / REJECTED decision. Hash-chained to detect tampering, same scheme as the system audit log on slide 10 (post-renumber).</a:t>
            </a:r>
          </a:p>
          <a:p>
            <a:r>
              <a:rPr sz="1000"/>
              <a:t>  - Human-in-the-Loop by Default: the platform never auto-executes adverse credentialing decisions. The orchestrator only auto-runs safe RETRY_NOW actions. OCR fields below 85% confidence go to a confirmation pop-up. Classification is advisory only. The human is always the final authority.</a:t>
            </a:r>
          </a:p>
          <a:p>
            <a:r>
              <a:rPr sz="1000"/>
              <a:t>  - PHI Guardrails: SSN, DOB, and full PHI are stripped before any LLM call. Bot orchestrator prompts contain only structured run metadata + the bot's own error message - no patient data, no provider PHI beyond ID.</a:t>
            </a:r>
          </a:p>
          <a:p>
            <a:r>
              <a:rPr sz="1000"/>
              <a:t>  - Deterministic Floor: every AI feature has a deterministic fallback. Filename rules for classification. Rule-based verdicts for the orchestrator. BM25 keyword retrieval for the RAG knowledge base. If Azure OpenAI is unavailable, the platform still functions.</a:t>
            </a:r>
          </a:p>
          <a:p>
            <a:r>
              <a:rPr sz="1000"/>
              <a:t>  - Auditor Access: one-click export of the AI Decision Log for any provider, any feature, any date range. Feeds the existing 1-click Audit-Ready Packet ZIP. This is the 'AI evidence binder' that competitor vendors leave to professional services - we ship it.</a:t>
            </a:r>
          </a:p>
          <a:p>
            <a:r>
              <a:rPr sz="1000"/>
              <a:t>  - Closing line: marketplace credentialing platforms ship one or two of these. The platform ships all six. That is the 'AI governance is unique' claim on slide 21.</a:t>
            </a:r>
          </a:p>
          <a:p/>
          <a:p>
            <a:r>
              <a:rPr b="1" sz="1100"/>
              <a:t>BACKUP DETAIL</a:t>
            </a:r>
          </a:p>
          <a:p>
            <a:r>
              <a:rPr sz="1000"/>
              <a:t>  - Model card / decision log Prisma models: AiModelCard, AiDecisionLog. Decision log links back to the model card by name resolution at write time.</a:t>
            </a:r>
          </a:p>
          <a:p>
            <a:r>
              <a:rPr sz="1000"/>
              <a:t>  - AiHumanDecision enum: ACCEPTED / OVERRIDDEN / REJECTED / PENDING. Initial decision is set at write time; final decision is updated by the reviewer's UI action.</a:t>
            </a:r>
          </a:p>
          <a:p>
            <a:r>
              <a:rPr sz="1000"/>
              <a:t>  - Logging is best-effort: src/lib/ai/governance.ts wraps all writes in try/catch so logging failures never break the calling feature. The risk we trade off here is missing one log entry vs. breaking a credentialing feature - we chose the former.</a:t>
            </a:r>
          </a:p>
          <a:p>
            <a:r>
              <a:rPr sz="1000"/>
              <a:t>  - PHI guardrails enforced at the call site: the orchestrator prompt builder explicitly excludes provider demographics; the RAG knowledge base loads ONLY from docs/, never from PHI-bearing tables.</a:t>
            </a:r>
          </a:p>
          <a:p>
            <a:r>
              <a:rPr sz="1000"/>
              <a:t>  - Hash-chained audit: same HMAC-SHA256 scheme used by the platform-wide audit trail (slide 10 post-renumber). The AI Governance page has a 'verify integrity' button that recomputes the chain end-to-end.</a:t>
            </a:r>
          </a:p>
          <a:p/>
          <a:p>
            <a:r>
              <a:rPr b="1" sz="1100"/>
              <a:t>ANTICIPATED Q&amp;A</a:t>
            </a:r>
          </a:p>
          <a:p>
            <a:r>
              <a:rPr sz="1000"/>
              <a:t>  - Q: What happens when AI is wrong? -&gt; A: Three answers in order of severity. (1) Deterministic floor still produces a sensible result. (2) Human reviews and OVERRIDES - the override is logged with reason. (3) The decision log lets us measure error rate per feature and tune prompts / thresholds / models.</a:t>
            </a:r>
          </a:p>
          <a:p>
            <a:r>
              <a:rPr sz="1000"/>
              <a:t>  - Q: Who reviews the model cards? -&gt; A: AI Governance dashboard owner is the Compliance lead. Reviewed quarterly and at any model version bump.</a:t>
            </a:r>
          </a:p>
          <a:p>
            <a:r>
              <a:rPr sz="1000"/>
              <a:t>  - Q: How do we prove to NCQA / SOC 2 / HITRUST that we have AI governance? -&gt; A: Hand them a date-range export of the AiDecisionLog plus the AiModelCard table. Both are first-class artifacts in the platform; no separate evidence binder needed.</a:t>
            </a:r>
          </a:p>
          <a:p>
            <a:r>
              <a:rPr sz="1000"/>
              <a:t>  - Q: What about prompt injection? -&gt; A: Two defenses. (1) Provider-supplied content is summarized into structured fields before reaching the orchestrator prompt - never passed verbatim. (2) The orchestrator's allowed-action set is enforced at the LLM JSON schema layer; an injected prompt cannot expand the action vocabulary.</a:t>
            </a:r>
          </a:p>
          <a:p>
            <a:r>
              <a:rPr sz="1000"/>
              <a:t>  - Q: Are we using customer data to train models? -&gt; A: No. Azure OpenAI under our tenant; data is not used to train OpenAI's foundation models per Microsoft's published policy.</a:t>
            </a:r>
          </a:p>
          <a:p/>
          <a:p>
            <a:r>
              <a:rPr b="1" sz="1100"/>
              <a:t>TRANSITION</a:t>
            </a:r>
          </a:p>
          <a:p>
            <a:r>
              <a:rPr sz="1000"/>
              <a:t>  - Transition: 'AI capabilities + AI governance shipped. Now let's get back to the rest of the platform - here's how PARCS workflows compare to the new system.'</a:t>
            </a:r>
          </a:p>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1E47"/>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4572000" cy="365760"/>
          </a:xfrm>
          <a:prstGeom prst="rect">
            <a:avLst/>
          </a:prstGeom>
          <a:noFill/>
        </p:spPr>
        <p:txBody>
          <a:bodyPr wrap="square">
            <a:spAutoFit/>
          </a:bodyPr>
          <a:lstStyle/>
          <a:p>
            <a:pPr algn="l">
              <a:defRPr sz="1200" b="1">
                <a:solidFill>
                  <a:srgbClr val="00A3E0"/>
                </a:solidFill>
                <a:latin typeface="Calibri"/>
              </a:defRPr>
            </a:pPr>
            <a:r>
              <a:t>ESSEN MEDICAL ASSOCIATES</a:t>
            </a:r>
          </a:p>
        </p:txBody>
      </p:sp>
      <p:sp>
        <p:nvSpPr>
          <p:cNvPr id="3" name="TextBox 2"/>
          <p:cNvSpPr txBox="1"/>
          <p:nvPr/>
        </p:nvSpPr>
        <p:spPr>
          <a:xfrm>
            <a:off x="731520" y="1188720"/>
            <a:ext cx="9144000" cy="1097280"/>
          </a:xfrm>
          <a:prstGeom prst="rect">
            <a:avLst/>
          </a:prstGeom>
          <a:noFill/>
        </p:spPr>
        <p:txBody>
          <a:bodyPr wrap="square">
            <a:spAutoFit/>
          </a:bodyPr>
          <a:lstStyle/>
          <a:p>
            <a:pPr algn="l">
              <a:defRPr sz="6000" b="1">
                <a:solidFill>
                  <a:srgbClr val="FFFFFF"/>
                </a:solidFill>
                <a:latin typeface="Calibri"/>
              </a:defRPr>
            </a:pPr>
            <a:r>
              <a:t>ESSEN</a:t>
            </a:r>
          </a:p>
        </p:txBody>
      </p:sp>
      <p:sp>
        <p:nvSpPr>
          <p:cNvPr id="4" name="TextBox 3"/>
          <p:cNvSpPr txBox="1"/>
          <p:nvPr/>
        </p:nvSpPr>
        <p:spPr>
          <a:xfrm>
            <a:off x="731520" y="2103120"/>
            <a:ext cx="9144000" cy="1097280"/>
          </a:xfrm>
          <a:prstGeom prst="rect">
            <a:avLst/>
          </a:prstGeom>
          <a:noFill/>
        </p:spPr>
        <p:txBody>
          <a:bodyPr wrap="square">
            <a:spAutoFit/>
          </a:bodyPr>
          <a:lstStyle/>
          <a:p>
            <a:pPr algn="l">
              <a:defRPr sz="6000" b="1">
                <a:solidFill>
                  <a:srgbClr val="00A3E0"/>
                </a:solidFill>
                <a:latin typeface="Calibri"/>
              </a:defRPr>
            </a:pPr>
            <a:r>
              <a:t>Credentialing</a:t>
            </a:r>
          </a:p>
        </p:txBody>
      </p:sp>
      <p:sp>
        <p:nvSpPr>
          <p:cNvPr id="5" name="TextBox 4"/>
          <p:cNvSpPr txBox="1"/>
          <p:nvPr/>
        </p:nvSpPr>
        <p:spPr>
          <a:xfrm>
            <a:off x="731520" y="3017520"/>
            <a:ext cx="9144000" cy="914400"/>
          </a:xfrm>
          <a:prstGeom prst="rect">
            <a:avLst/>
          </a:prstGeom>
          <a:noFill/>
        </p:spPr>
        <p:txBody>
          <a:bodyPr wrap="square">
            <a:spAutoFit/>
          </a:bodyPr>
          <a:lstStyle/>
          <a:p>
            <a:pPr algn="l">
              <a:defRPr sz="6000" b="1">
                <a:solidFill>
                  <a:srgbClr val="FFFFFF"/>
                </a:solidFill>
                <a:latin typeface="Calibri"/>
              </a:defRPr>
            </a:pPr>
            <a:r>
              <a:t>Platform</a:t>
            </a:r>
          </a:p>
        </p:txBody>
      </p:sp>
      <p:sp>
        <p:nvSpPr>
          <p:cNvPr id="6" name="TextBox 5"/>
          <p:cNvSpPr txBox="1"/>
          <p:nvPr/>
        </p:nvSpPr>
        <p:spPr>
          <a:xfrm>
            <a:off x="731520" y="4206240"/>
            <a:ext cx="7315200" cy="1097280"/>
          </a:xfrm>
          <a:prstGeom prst="rect">
            <a:avLst/>
          </a:prstGeom>
          <a:noFill/>
        </p:spPr>
        <p:txBody>
          <a:bodyPr wrap="square">
            <a:spAutoFit/>
          </a:bodyPr>
          <a:lstStyle/>
          <a:p>
            <a:pPr algn="l">
              <a:defRPr sz="1800" b="0">
                <a:solidFill>
                  <a:srgbClr val="CCCCDD"/>
                </a:solidFill>
                <a:latin typeface="Calibri"/>
              </a:defRPr>
            </a:pPr>
            <a:r>
              <a:t>Replacing PARCS with an intelligent, automated credentialing system that cuts onboarding time by 60%, eliminates manual verification bottlenecks, brings end-to-end task tracking for the credentialing team, and ensures continuous compliance.</a:t>
            </a:r>
          </a:p>
        </p:txBody>
      </p:sp>
      <p:sp>
        <p:nvSpPr>
          <p:cNvPr id="7" name="TextBox 6"/>
          <p:cNvSpPr txBox="1"/>
          <p:nvPr/>
        </p:nvSpPr>
        <p:spPr>
          <a:xfrm>
            <a:off x="731520" y="5669280"/>
            <a:ext cx="9144000" cy="457200"/>
          </a:xfrm>
          <a:prstGeom prst="rect">
            <a:avLst/>
          </a:prstGeom>
          <a:noFill/>
        </p:spPr>
        <p:txBody>
          <a:bodyPr wrap="square">
            <a:spAutoFit/>
          </a:bodyPr>
          <a:lstStyle/>
          <a:p>
            <a:pPr algn="l">
              <a:defRPr sz="1200" b="0">
                <a:solidFill>
                  <a:srgbClr val="8888AA"/>
                </a:solidFill>
                <a:latin typeface="Calibri"/>
              </a:defRPr>
            </a:pPr>
            <a:r>
              <a:t>Prepared for: Essen Medical Leadership | Date: April 2026 | Status: Production-Ready</a:t>
            </a:r>
          </a:p>
        </p:txBody>
      </p:sp>
      <p:sp>
        <p:nvSpPr>
          <p:cNvPr id="8" name="TextBox 7"/>
          <p:cNvSpPr txBox="1"/>
          <p:nvPr/>
        </p:nvSpPr>
        <p:spPr>
          <a:xfrm>
            <a:off x="11155680" y="6309360"/>
            <a:ext cx="914400" cy="365760"/>
          </a:xfrm>
          <a:prstGeom prst="rect">
            <a:avLst/>
          </a:prstGeom>
          <a:noFill/>
        </p:spPr>
        <p:txBody>
          <a:bodyPr wrap="square">
            <a:spAutoFit/>
          </a:bodyPr>
          <a:lstStyle/>
          <a:p>
            <a:pPr algn="r">
              <a:defRPr sz="1100" b="0">
                <a:solidFill>
                  <a:srgbClr val="CCCCDD"/>
                </a:solidFill>
                <a:latin typeface="Calibri"/>
              </a:defRPr>
            </a:pPr>
            <a: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5486400" cy="320040"/>
          </a:xfrm>
          <a:prstGeom prst="rect">
            <a:avLst/>
          </a:prstGeom>
          <a:noFill/>
        </p:spPr>
        <p:txBody>
          <a:bodyPr wrap="square">
            <a:spAutoFit/>
          </a:bodyPr>
          <a:lstStyle/>
          <a:p>
            <a:pPr algn="l">
              <a:defRPr sz="1100" b="1">
                <a:solidFill>
                  <a:srgbClr val="00A3E0"/>
                </a:solidFill>
                <a:latin typeface="Calibri"/>
              </a:defRPr>
            </a:pPr>
            <a:r>
              <a:t>THE PROBLEM</a:t>
            </a:r>
          </a:p>
        </p:txBody>
      </p:sp>
      <p:sp>
        <p:nvSpPr>
          <p:cNvPr id="3" name="TextBox 2"/>
          <p:cNvSpPr txBox="1"/>
          <p:nvPr/>
        </p:nvSpPr>
        <p:spPr>
          <a:xfrm>
            <a:off x="731520" y="731520"/>
            <a:ext cx="9144000" cy="640080"/>
          </a:xfrm>
          <a:prstGeom prst="rect">
            <a:avLst/>
          </a:prstGeom>
          <a:noFill/>
        </p:spPr>
        <p:txBody>
          <a:bodyPr wrap="square">
            <a:spAutoFit/>
          </a:bodyPr>
          <a:lstStyle/>
          <a:p>
            <a:pPr algn="l">
              <a:defRPr sz="4000" b="1">
                <a:solidFill>
                  <a:srgbClr val="1A1A2E"/>
                </a:solidFill>
                <a:latin typeface="Calibri"/>
              </a:defRPr>
            </a:pPr>
            <a:r>
              <a:t>PARCS Is Holding Essen Back</a:t>
            </a:r>
          </a:p>
        </p:txBody>
      </p:sp>
      <p:sp>
        <p:nvSpPr>
          <p:cNvPr id="4" name="TextBox 3"/>
          <p:cNvSpPr txBox="1"/>
          <p:nvPr/>
        </p:nvSpPr>
        <p:spPr>
          <a:xfrm>
            <a:off x="731520" y="1371600"/>
            <a:ext cx="9144000" cy="548640"/>
          </a:xfrm>
          <a:prstGeom prst="rect">
            <a:avLst/>
          </a:prstGeom>
          <a:noFill/>
        </p:spPr>
        <p:txBody>
          <a:bodyPr wrap="square">
            <a:spAutoFit/>
          </a:bodyPr>
          <a:lstStyle/>
          <a:p>
            <a:pPr algn="l">
              <a:defRPr sz="1600" b="0">
                <a:solidFill>
                  <a:srgbClr val="555577"/>
                </a:solidFill>
                <a:latin typeface="Calibri"/>
              </a:defRPr>
            </a:pPr>
            <a:r>
              <a:t>The current credentialing system creates delays, compliance risk, and staff burnout through manual processes that haven't changed in a decade.</a:t>
            </a:r>
          </a:p>
        </p:txBody>
      </p:sp>
      <p:sp>
        <p:nvSpPr>
          <p:cNvPr id="5" name="Rounded Rectangle 4"/>
          <p:cNvSpPr/>
          <p:nvPr/>
        </p:nvSpPr>
        <p:spPr>
          <a:xfrm>
            <a:off x="731520" y="2194560"/>
            <a:ext cx="4937760" cy="13716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2377440"/>
            <a:ext cx="4389120" cy="320040"/>
          </a:xfrm>
          <a:prstGeom prst="rect">
            <a:avLst/>
          </a:prstGeom>
          <a:noFill/>
        </p:spPr>
        <p:txBody>
          <a:bodyPr wrap="square">
            <a:spAutoFit/>
          </a:bodyPr>
          <a:lstStyle/>
          <a:p>
            <a:pPr algn="l">
              <a:defRPr sz="1500" b="1">
                <a:solidFill>
                  <a:srgbClr val="1A1A2E"/>
                </a:solidFill>
                <a:latin typeface="Calibri"/>
              </a:defRPr>
            </a:pPr>
            <a:r>
              <a:t>Manual Verification Bottleneck</a:t>
            </a:r>
          </a:p>
        </p:txBody>
      </p:sp>
      <p:sp>
        <p:nvSpPr>
          <p:cNvPr id="7" name="TextBox 6"/>
          <p:cNvSpPr txBox="1"/>
          <p:nvPr/>
        </p:nvSpPr>
        <p:spPr>
          <a:xfrm>
            <a:off x="1005840" y="2697480"/>
            <a:ext cx="4389120" cy="822960"/>
          </a:xfrm>
          <a:prstGeom prst="rect">
            <a:avLst/>
          </a:prstGeom>
          <a:noFill/>
        </p:spPr>
        <p:txBody>
          <a:bodyPr wrap="square">
            <a:spAutoFit/>
          </a:bodyPr>
          <a:lstStyle/>
          <a:p>
            <a:pPr algn="l">
              <a:defRPr sz="1100" b="0">
                <a:solidFill>
                  <a:srgbClr val="555577"/>
                </a:solidFill>
                <a:latin typeface="Calibri"/>
              </a:defRPr>
            </a:pPr>
            <a:r>
              <a:t>Staff manually navigate 12+ external websites to verify each provider's licenses, DEA, board certifications, and sanctions status. Each provider requires 2-4 hours of manual PSV work, and committee prep (agendas, summaries, packet assembly) is equally manual - spread across separate spreadsheets and documents.</a:t>
            </a:r>
          </a:p>
        </p:txBody>
      </p:sp>
      <p:sp>
        <p:nvSpPr>
          <p:cNvPr id="8" name="Rounded Rectangle 7"/>
          <p:cNvSpPr/>
          <p:nvPr/>
        </p:nvSpPr>
        <p:spPr>
          <a:xfrm>
            <a:off x="6035040" y="2194560"/>
            <a:ext cx="4937760" cy="13716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09359" y="2377440"/>
            <a:ext cx="4389120" cy="320040"/>
          </a:xfrm>
          <a:prstGeom prst="rect">
            <a:avLst/>
          </a:prstGeom>
          <a:noFill/>
        </p:spPr>
        <p:txBody>
          <a:bodyPr wrap="square">
            <a:spAutoFit/>
          </a:bodyPr>
          <a:lstStyle/>
          <a:p>
            <a:pPr algn="l">
              <a:defRPr sz="1500" b="1">
                <a:solidFill>
                  <a:srgbClr val="1A1A2E"/>
                </a:solidFill>
                <a:latin typeface="Calibri"/>
              </a:defRPr>
            </a:pPr>
            <a:r>
              <a:t>Drive &amp; SharePoint Chaos</a:t>
            </a:r>
          </a:p>
        </p:txBody>
      </p:sp>
      <p:sp>
        <p:nvSpPr>
          <p:cNvPr id="10" name="TextBox 9"/>
          <p:cNvSpPr txBox="1"/>
          <p:nvPr/>
        </p:nvSpPr>
        <p:spPr>
          <a:xfrm>
            <a:off x="6309359" y="2697480"/>
            <a:ext cx="4389120" cy="822960"/>
          </a:xfrm>
          <a:prstGeom prst="rect">
            <a:avLst/>
          </a:prstGeom>
          <a:noFill/>
        </p:spPr>
        <p:txBody>
          <a:bodyPr wrap="square">
            <a:spAutoFit/>
          </a:bodyPr>
          <a:lstStyle/>
          <a:p>
            <a:pPr algn="l">
              <a:defRPr sz="1100" b="0">
                <a:solidFill>
                  <a:srgbClr val="555577"/>
                </a:solidFill>
                <a:latin typeface="Calibri"/>
              </a:defRPr>
            </a:pPr>
            <a:r>
              <a:t>Provider credential documents are scattered across the K: and O: shared drives, requiring VPN. Files are unindexed, unsearchable, and inaccessible to remote staff. PARCS has no standing OneDrive / SharePoint integration to pull verified documents back into the provider record. No version control or audit trail.</a:t>
            </a:r>
          </a:p>
        </p:txBody>
      </p:sp>
      <p:sp>
        <p:nvSpPr>
          <p:cNvPr id="11" name="Rounded Rectangle 10"/>
          <p:cNvSpPr/>
          <p:nvPr/>
        </p:nvSpPr>
        <p:spPr>
          <a:xfrm>
            <a:off x="731520" y="3840480"/>
            <a:ext cx="4937760" cy="13716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4023360"/>
            <a:ext cx="4389120" cy="320040"/>
          </a:xfrm>
          <a:prstGeom prst="rect">
            <a:avLst/>
          </a:prstGeom>
          <a:noFill/>
        </p:spPr>
        <p:txBody>
          <a:bodyPr wrap="square">
            <a:spAutoFit/>
          </a:bodyPr>
          <a:lstStyle/>
          <a:p>
            <a:pPr algn="l">
              <a:defRPr sz="1500" b="1">
                <a:solidFill>
                  <a:srgbClr val="1A1A2E"/>
                </a:solidFill>
                <a:latin typeface="Calibri"/>
              </a:defRPr>
            </a:pPr>
            <a:r>
              <a:t>Missed Expirations</a:t>
            </a:r>
          </a:p>
        </p:txBody>
      </p:sp>
      <p:sp>
        <p:nvSpPr>
          <p:cNvPr id="13" name="TextBox 12"/>
          <p:cNvSpPr txBox="1"/>
          <p:nvPr/>
        </p:nvSpPr>
        <p:spPr>
          <a:xfrm>
            <a:off x="1005840" y="4343400"/>
            <a:ext cx="4389120" cy="822960"/>
          </a:xfrm>
          <a:prstGeom prst="rect">
            <a:avLst/>
          </a:prstGeom>
          <a:noFill/>
        </p:spPr>
        <p:txBody>
          <a:bodyPr wrap="square">
            <a:spAutoFit/>
          </a:bodyPr>
          <a:lstStyle/>
          <a:p>
            <a:pPr algn="l">
              <a:defRPr sz="1100" b="0">
                <a:solidFill>
                  <a:srgbClr val="555577"/>
                </a:solidFill>
                <a:latin typeface="Calibri"/>
              </a:defRPr>
            </a:pPr>
            <a:r>
              <a:t>No automated monitoring for credential expirations. Tracking happens in spreadsheets. Expired credentials are caught reactively - after they become compliance violations.</a:t>
            </a:r>
          </a:p>
        </p:txBody>
      </p:sp>
      <p:sp>
        <p:nvSpPr>
          <p:cNvPr id="14" name="Rounded Rectangle 13"/>
          <p:cNvSpPr/>
          <p:nvPr/>
        </p:nvSpPr>
        <p:spPr>
          <a:xfrm>
            <a:off x="6035040" y="3840480"/>
            <a:ext cx="4937760" cy="13716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59" y="4023360"/>
            <a:ext cx="4389120" cy="320040"/>
          </a:xfrm>
          <a:prstGeom prst="rect">
            <a:avLst/>
          </a:prstGeom>
          <a:noFill/>
        </p:spPr>
        <p:txBody>
          <a:bodyPr wrap="square">
            <a:spAutoFit/>
          </a:bodyPr>
          <a:lstStyle/>
          <a:p>
            <a:pPr algn="l">
              <a:defRPr sz="1500" b="1">
                <a:solidFill>
                  <a:srgbClr val="1A1A2E"/>
                </a:solidFill>
                <a:latin typeface="Calibri"/>
              </a:defRPr>
            </a:pPr>
            <a:r>
              <a:t>Enrollment Follow-Up Gaps</a:t>
            </a:r>
          </a:p>
        </p:txBody>
      </p:sp>
      <p:sp>
        <p:nvSpPr>
          <p:cNvPr id="16" name="TextBox 15"/>
          <p:cNvSpPr txBox="1"/>
          <p:nvPr/>
        </p:nvSpPr>
        <p:spPr>
          <a:xfrm>
            <a:off x="6309359" y="4343400"/>
            <a:ext cx="4389120" cy="822960"/>
          </a:xfrm>
          <a:prstGeom prst="rect">
            <a:avLst/>
          </a:prstGeom>
          <a:noFill/>
        </p:spPr>
        <p:txBody>
          <a:bodyPr wrap="square">
            <a:spAutoFit/>
          </a:bodyPr>
          <a:lstStyle/>
          <a:p>
            <a:pPr algn="l">
              <a:defRPr sz="1100" b="0">
                <a:solidFill>
                  <a:srgbClr val="555577"/>
                </a:solidFill>
                <a:latin typeface="Calibri"/>
              </a:defRPr>
            </a:pPr>
            <a:r>
              <a:t>Payer enrollment follow-ups are tracked manually. Missed cadences delay provider activation by weeks. Modern vendors already deploy bots that crawl payer portals to pull participation status and auto-submit direct enrollment applications - PARCS does neither, leaving revenue-generating providers idle.</a:t>
            </a:r>
          </a:p>
        </p:txBody>
      </p:sp>
      <p:sp>
        <p:nvSpPr>
          <p:cNvPr id="17" name="Rounded Rectangle 16"/>
          <p:cNvSpPr/>
          <p:nvPr/>
        </p:nvSpPr>
        <p:spPr>
          <a:xfrm>
            <a:off x="731520" y="5486400"/>
            <a:ext cx="10698480" cy="731520"/>
          </a:xfrm>
          <a:prstGeom prst="roundRect">
            <a:avLst/>
          </a:prstGeom>
          <a:solidFill>
            <a:srgbClr val="E8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1520" y="5486400"/>
            <a:ext cx="54864" cy="7315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5840" y="5577840"/>
            <a:ext cx="10058400" cy="457200"/>
          </a:xfrm>
          <a:prstGeom prst="rect">
            <a:avLst/>
          </a:prstGeom>
          <a:noFill/>
        </p:spPr>
        <p:txBody>
          <a:bodyPr wrap="square">
            <a:spAutoFit/>
          </a:bodyPr>
          <a:lstStyle/>
          <a:p>
            <a:pPr algn="l">
              <a:defRPr sz="1300" b="0">
                <a:solidFill>
                  <a:srgbClr val="1A1A2E"/>
                </a:solidFill>
                <a:latin typeface="Calibri"/>
              </a:defRPr>
            </a:pPr>
            <a:r>
              <a:t>"We spend more time chasing paperwork and manually checking websites than we do actually credentialing providers."</a:t>
            </a:r>
          </a:p>
        </p:txBody>
      </p:sp>
      <p:sp>
        <p:nvSpPr>
          <p:cNvPr id="20" name="TextBox 19"/>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61E4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5486400" cy="320040"/>
          </a:xfrm>
          <a:prstGeom prst="rect">
            <a:avLst/>
          </a:prstGeom>
          <a:noFill/>
        </p:spPr>
        <p:txBody>
          <a:bodyPr wrap="square">
            <a:spAutoFit/>
          </a:bodyPr>
          <a:lstStyle/>
          <a:p>
            <a:pPr algn="l">
              <a:defRPr sz="1100" b="1">
                <a:solidFill>
                  <a:srgbClr val="CCCCDD"/>
                </a:solidFill>
                <a:latin typeface="Calibri"/>
              </a:defRPr>
            </a:pPr>
            <a:r>
              <a:t>CURRENT STATE</a:t>
            </a:r>
          </a:p>
        </p:txBody>
      </p:sp>
      <p:sp>
        <p:nvSpPr>
          <p:cNvPr id="3" name="TextBox 2"/>
          <p:cNvSpPr txBox="1"/>
          <p:nvPr/>
        </p:nvSpPr>
        <p:spPr>
          <a:xfrm>
            <a:off x="731520" y="731520"/>
            <a:ext cx="9144000" cy="640080"/>
          </a:xfrm>
          <a:prstGeom prst="rect">
            <a:avLst/>
          </a:prstGeom>
          <a:noFill/>
        </p:spPr>
        <p:txBody>
          <a:bodyPr wrap="square">
            <a:spAutoFit/>
          </a:bodyPr>
          <a:lstStyle/>
          <a:p>
            <a:pPr algn="l">
              <a:defRPr sz="4000" b="1">
                <a:solidFill>
                  <a:srgbClr val="FFFFFF"/>
                </a:solidFill>
                <a:latin typeface="Calibri"/>
              </a:defRPr>
            </a:pPr>
            <a:r>
              <a:t>The Cost of Doing Nothing</a:t>
            </a:r>
          </a:p>
        </p:txBody>
      </p:sp>
      <p:sp>
        <p:nvSpPr>
          <p:cNvPr id="4" name="TextBox 3"/>
          <p:cNvSpPr txBox="1"/>
          <p:nvPr/>
        </p:nvSpPr>
        <p:spPr>
          <a:xfrm>
            <a:off x="731520" y="1371600"/>
            <a:ext cx="9144000" cy="457200"/>
          </a:xfrm>
          <a:prstGeom prst="rect">
            <a:avLst/>
          </a:prstGeom>
          <a:noFill/>
        </p:spPr>
        <p:txBody>
          <a:bodyPr wrap="square">
            <a:spAutoFit/>
          </a:bodyPr>
          <a:lstStyle/>
          <a:p>
            <a:pPr algn="l">
              <a:defRPr sz="1600" b="0">
                <a:solidFill>
                  <a:srgbClr val="CCCCDD"/>
                </a:solidFill>
                <a:latin typeface="Calibri"/>
              </a:defRPr>
            </a:pPr>
            <a:r>
              <a:t>Every day with PARCS costs Essen time, money, and compliance exposure.</a:t>
            </a:r>
          </a:p>
        </p:txBody>
      </p:sp>
      <p:sp>
        <p:nvSpPr>
          <p:cNvPr id="5" name="Rounded Rectangle 4"/>
          <p:cNvSpPr/>
          <p:nvPr/>
        </p:nvSpPr>
        <p:spPr>
          <a:xfrm>
            <a:off x="731520" y="2103120"/>
            <a:ext cx="2468880" cy="16459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286000"/>
            <a:ext cx="2468880" cy="640080"/>
          </a:xfrm>
          <a:prstGeom prst="rect">
            <a:avLst/>
          </a:prstGeom>
          <a:noFill/>
        </p:spPr>
        <p:txBody>
          <a:bodyPr wrap="square">
            <a:spAutoFit/>
          </a:bodyPr>
          <a:lstStyle/>
          <a:p>
            <a:pPr algn="ctr">
              <a:defRPr sz="4200" b="1">
                <a:solidFill>
                  <a:srgbClr val="E63946"/>
                </a:solidFill>
                <a:latin typeface="Calibri"/>
              </a:defRPr>
            </a:pPr>
            <a:r>
              <a:t>45+</a:t>
            </a:r>
          </a:p>
        </p:txBody>
      </p:sp>
      <p:sp>
        <p:nvSpPr>
          <p:cNvPr id="7" name="TextBox 6"/>
          <p:cNvSpPr txBox="1"/>
          <p:nvPr/>
        </p:nvSpPr>
        <p:spPr>
          <a:xfrm>
            <a:off x="731520" y="3017520"/>
            <a:ext cx="2468880" cy="548640"/>
          </a:xfrm>
          <a:prstGeom prst="rect">
            <a:avLst/>
          </a:prstGeom>
          <a:noFill/>
        </p:spPr>
        <p:txBody>
          <a:bodyPr wrap="square">
            <a:spAutoFit/>
          </a:bodyPr>
          <a:lstStyle/>
          <a:p>
            <a:pPr algn="ctr">
              <a:defRPr sz="1100" b="0">
                <a:solidFill>
                  <a:srgbClr val="CCCCDD"/>
                </a:solidFill>
                <a:latin typeface="Calibri"/>
              </a:defRPr>
            </a:pPr>
            <a:r>
              <a:t>Days Average</a:t>
            </a:r>
            <a:br/>
            <a:r>
              <a:t>Onboarding Time</a:t>
            </a:r>
          </a:p>
        </p:txBody>
      </p:sp>
      <p:sp>
        <p:nvSpPr>
          <p:cNvPr id="8" name="Rounded Rectangle 7"/>
          <p:cNvSpPr/>
          <p:nvPr/>
        </p:nvSpPr>
        <p:spPr>
          <a:xfrm>
            <a:off x="3566160" y="2103120"/>
            <a:ext cx="2468880" cy="16459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66160" y="2286000"/>
            <a:ext cx="2468880" cy="640080"/>
          </a:xfrm>
          <a:prstGeom prst="rect">
            <a:avLst/>
          </a:prstGeom>
          <a:noFill/>
        </p:spPr>
        <p:txBody>
          <a:bodyPr wrap="square">
            <a:spAutoFit/>
          </a:bodyPr>
          <a:lstStyle/>
          <a:p>
            <a:pPr algn="ctr">
              <a:defRPr sz="4200" b="1">
                <a:solidFill>
                  <a:srgbClr val="FF6B35"/>
                </a:solidFill>
                <a:latin typeface="Calibri"/>
              </a:defRPr>
            </a:pPr>
            <a:r>
              <a:t>12</a:t>
            </a:r>
          </a:p>
        </p:txBody>
      </p:sp>
      <p:sp>
        <p:nvSpPr>
          <p:cNvPr id="10" name="TextBox 9"/>
          <p:cNvSpPr txBox="1"/>
          <p:nvPr/>
        </p:nvSpPr>
        <p:spPr>
          <a:xfrm>
            <a:off x="3566160" y="3017520"/>
            <a:ext cx="2468880" cy="548640"/>
          </a:xfrm>
          <a:prstGeom prst="rect">
            <a:avLst/>
          </a:prstGeom>
          <a:noFill/>
        </p:spPr>
        <p:txBody>
          <a:bodyPr wrap="square">
            <a:spAutoFit/>
          </a:bodyPr>
          <a:lstStyle/>
          <a:p>
            <a:pPr algn="ctr">
              <a:defRPr sz="1100" b="0">
                <a:solidFill>
                  <a:srgbClr val="CCCCDD"/>
                </a:solidFill>
                <a:latin typeface="Calibri"/>
              </a:defRPr>
            </a:pPr>
            <a:r>
              <a:t>External Websites</a:t>
            </a:r>
            <a:br/>
            <a:r>
              <a:t>Checked Manually</a:t>
            </a:r>
          </a:p>
        </p:txBody>
      </p:sp>
      <p:sp>
        <p:nvSpPr>
          <p:cNvPr id="11" name="Rounded Rectangle 10"/>
          <p:cNvSpPr/>
          <p:nvPr/>
        </p:nvSpPr>
        <p:spPr>
          <a:xfrm>
            <a:off x="6400800" y="2103120"/>
            <a:ext cx="2468880" cy="16459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2286000"/>
            <a:ext cx="2468880" cy="640080"/>
          </a:xfrm>
          <a:prstGeom prst="rect">
            <a:avLst/>
          </a:prstGeom>
          <a:noFill/>
        </p:spPr>
        <p:txBody>
          <a:bodyPr wrap="square">
            <a:spAutoFit/>
          </a:bodyPr>
          <a:lstStyle/>
          <a:p>
            <a:pPr algn="ctr">
              <a:defRPr sz="4200" b="1">
                <a:solidFill>
                  <a:srgbClr val="FF6B35"/>
                </a:solidFill>
                <a:latin typeface="Calibri"/>
              </a:defRPr>
            </a:pPr>
            <a:r>
              <a:t>3-4 hrs</a:t>
            </a:r>
          </a:p>
        </p:txBody>
      </p:sp>
      <p:sp>
        <p:nvSpPr>
          <p:cNvPr id="13" name="TextBox 12"/>
          <p:cNvSpPr txBox="1"/>
          <p:nvPr/>
        </p:nvSpPr>
        <p:spPr>
          <a:xfrm>
            <a:off x="6400800" y="3017520"/>
            <a:ext cx="2468880" cy="548640"/>
          </a:xfrm>
          <a:prstGeom prst="rect">
            <a:avLst/>
          </a:prstGeom>
          <a:noFill/>
        </p:spPr>
        <p:txBody>
          <a:bodyPr wrap="square">
            <a:spAutoFit/>
          </a:bodyPr>
          <a:lstStyle/>
          <a:p>
            <a:pPr algn="ctr">
              <a:defRPr sz="1100" b="0">
                <a:solidFill>
                  <a:srgbClr val="CCCCDD"/>
                </a:solidFill>
                <a:latin typeface="Calibri"/>
              </a:defRPr>
            </a:pPr>
            <a:r>
              <a:t>Per Provider</a:t>
            </a:r>
            <a:br/>
            <a:r>
              <a:t>Manual PSV Work</a:t>
            </a:r>
          </a:p>
        </p:txBody>
      </p:sp>
      <p:sp>
        <p:nvSpPr>
          <p:cNvPr id="14" name="Rounded Rectangle 13"/>
          <p:cNvSpPr/>
          <p:nvPr/>
        </p:nvSpPr>
        <p:spPr>
          <a:xfrm>
            <a:off x="9235440" y="2103120"/>
            <a:ext cx="2468880" cy="16459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0" y="2286000"/>
            <a:ext cx="2468880" cy="640080"/>
          </a:xfrm>
          <a:prstGeom prst="rect">
            <a:avLst/>
          </a:prstGeom>
          <a:noFill/>
        </p:spPr>
        <p:txBody>
          <a:bodyPr wrap="square">
            <a:spAutoFit/>
          </a:bodyPr>
          <a:lstStyle/>
          <a:p>
            <a:pPr algn="ctr">
              <a:defRPr sz="4200" b="1">
                <a:solidFill>
                  <a:srgbClr val="E63946"/>
                </a:solidFill>
                <a:latin typeface="Calibri"/>
              </a:defRPr>
            </a:pPr>
            <a:r>
              <a:t>$$$</a:t>
            </a:r>
          </a:p>
        </p:txBody>
      </p:sp>
      <p:sp>
        <p:nvSpPr>
          <p:cNvPr id="16" name="TextBox 15"/>
          <p:cNvSpPr txBox="1"/>
          <p:nvPr/>
        </p:nvSpPr>
        <p:spPr>
          <a:xfrm>
            <a:off x="9235440" y="3017520"/>
            <a:ext cx="2468880" cy="548640"/>
          </a:xfrm>
          <a:prstGeom prst="rect">
            <a:avLst/>
          </a:prstGeom>
          <a:noFill/>
        </p:spPr>
        <p:txBody>
          <a:bodyPr wrap="square">
            <a:spAutoFit/>
          </a:bodyPr>
          <a:lstStyle/>
          <a:p>
            <a:pPr algn="ctr">
              <a:defRPr sz="1100" b="0">
                <a:solidFill>
                  <a:srgbClr val="CCCCDD"/>
                </a:solidFill>
                <a:latin typeface="Calibri"/>
              </a:defRPr>
            </a:pPr>
            <a:r>
              <a:t>Revenue Lost Per Day</a:t>
            </a:r>
            <a:br/>
            <a:r>
              <a:t>Provider Sits Idle</a:t>
            </a:r>
          </a:p>
        </p:txBody>
      </p:sp>
      <p:sp>
        <p:nvSpPr>
          <p:cNvPr id="17" name="Rounded Rectangle 16"/>
          <p:cNvSpPr/>
          <p:nvPr/>
        </p:nvSpPr>
        <p:spPr>
          <a:xfrm>
            <a:off x="731520" y="4206240"/>
            <a:ext cx="10698480" cy="16459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71600" y="4389120"/>
            <a:ext cx="3200400" cy="640080"/>
          </a:xfrm>
          <a:prstGeom prst="rect">
            <a:avLst/>
          </a:prstGeom>
          <a:noFill/>
        </p:spPr>
        <p:txBody>
          <a:bodyPr wrap="square">
            <a:spAutoFit/>
          </a:bodyPr>
          <a:lstStyle/>
          <a:p>
            <a:pPr algn="ctr">
              <a:defRPr sz="4000" b="1">
                <a:solidFill>
                  <a:srgbClr val="E63946"/>
                </a:solidFill>
                <a:latin typeface="Calibri"/>
              </a:defRPr>
            </a:pPr>
            <a:r>
              <a:t>100%</a:t>
            </a:r>
          </a:p>
        </p:txBody>
      </p:sp>
      <p:sp>
        <p:nvSpPr>
          <p:cNvPr id="19" name="TextBox 18"/>
          <p:cNvSpPr txBox="1"/>
          <p:nvPr/>
        </p:nvSpPr>
        <p:spPr>
          <a:xfrm>
            <a:off x="1371600" y="5029200"/>
            <a:ext cx="3200400" cy="365760"/>
          </a:xfrm>
          <a:prstGeom prst="rect">
            <a:avLst/>
          </a:prstGeom>
          <a:noFill/>
        </p:spPr>
        <p:txBody>
          <a:bodyPr wrap="square">
            <a:spAutoFit/>
          </a:bodyPr>
          <a:lstStyle/>
          <a:p>
            <a:pPr algn="ctr">
              <a:defRPr sz="1200" b="0">
                <a:solidFill>
                  <a:srgbClr val="CCCCDD"/>
                </a:solidFill>
                <a:latin typeface="Calibri"/>
              </a:defRPr>
            </a:pPr>
            <a:r>
              <a:t>Manual Process</a:t>
            </a:r>
          </a:p>
        </p:txBody>
      </p:sp>
      <p:sp>
        <p:nvSpPr>
          <p:cNvPr id="20" name="TextBox 19"/>
          <p:cNvSpPr txBox="1"/>
          <p:nvPr/>
        </p:nvSpPr>
        <p:spPr>
          <a:xfrm>
            <a:off x="5029200" y="4389120"/>
            <a:ext cx="3200400" cy="640080"/>
          </a:xfrm>
          <a:prstGeom prst="rect">
            <a:avLst/>
          </a:prstGeom>
          <a:noFill/>
        </p:spPr>
        <p:txBody>
          <a:bodyPr wrap="square">
            <a:spAutoFit/>
          </a:bodyPr>
          <a:lstStyle/>
          <a:p>
            <a:pPr algn="ctr">
              <a:defRPr sz="4000" b="1">
                <a:solidFill>
                  <a:srgbClr val="E63946"/>
                </a:solidFill>
                <a:latin typeface="Calibri"/>
              </a:defRPr>
            </a:pPr>
            <a:r>
              <a:t>0</a:t>
            </a:r>
          </a:p>
        </p:txBody>
      </p:sp>
      <p:sp>
        <p:nvSpPr>
          <p:cNvPr id="21" name="TextBox 20"/>
          <p:cNvSpPr txBox="1"/>
          <p:nvPr/>
        </p:nvSpPr>
        <p:spPr>
          <a:xfrm>
            <a:off x="5029200" y="5029200"/>
            <a:ext cx="3200400" cy="365760"/>
          </a:xfrm>
          <a:prstGeom prst="rect">
            <a:avLst/>
          </a:prstGeom>
          <a:noFill/>
        </p:spPr>
        <p:txBody>
          <a:bodyPr wrap="square">
            <a:spAutoFit/>
          </a:bodyPr>
          <a:lstStyle/>
          <a:p>
            <a:pPr algn="ctr">
              <a:defRPr sz="1200" b="0">
                <a:solidFill>
                  <a:srgbClr val="CCCCDD"/>
                </a:solidFill>
                <a:latin typeface="Calibri"/>
              </a:defRPr>
            </a:pPr>
            <a:r>
              <a:t>Automated Verifications</a:t>
            </a:r>
          </a:p>
        </p:txBody>
      </p:sp>
      <p:sp>
        <p:nvSpPr>
          <p:cNvPr id="22" name="TextBox 21"/>
          <p:cNvSpPr txBox="1"/>
          <p:nvPr/>
        </p:nvSpPr>
        <p:spPr>
          <a:xfrm>
            <a:off x="8686800" y="4389120"/>
            <a:ext cx="3200400" cy="640080"/>
          </a:xfrm>
          <a:prstGeom prst="rect">
            <a:avLst/>
          </a:prstGeom>
          <a:noFill/>
        </p:spPr>
        <p:txBody>
          <a:bodyPr wrap="square">
            <a:spAutoFit/>
          </a:bodyPr>
          <a:lstStyle/>
          <a:p>
            <a:pPr algn="ctr">
              <a:defRPr sz="4000" b="1">
                <a:solidFill>
                  <a:srgbClr val="E63946"/>
                </a:solidFill>
                <a:latin typeface="Calibri"/>
              </a:defRPr>
            </a:pPr>
            <a:r>
              <a:t>0</a:t>
            </a:r>
          </a:p>
        </p:txBody>
      </p:sp>
      <p:sp>
        <p:nvSpPr>
          <p:cNvPr id="23" name="TextBox 22"/>
          <p:cNvSpPr txBox="1"/>
          <p:nvPr/>
        </p:nvSpPr>
        <p:spPr>
          <a:xfrm>
            <a:off x="8686800" y="5029200"/>
            <a:ext cx="3200400" cy="365760"/>
          </a:xfrm>
          <a:prstGeom prst="rect">
            <a:avLst/>
          </a:prstGeom>
          <a:noFill/>
        </p:spPr>
        <p:txBody>
          <a:bodyPr wrap="square">
            <a:spAutoFit/>
          </a:bodyPr>
          <a:lstStyle/>
          <a:p>
            <a:pPr algn="ctr">
              <a:defRPr sz="1200" b="0">
                <a:solidFill>
                  <a:srgbClr val="CCCCDD"/>
                </a:solidFill>
                <a:latin typeface="Calibri"/>
              </a:defRPr>
            </a:pPr>
            <a:r>
              <a:t>Real-Time Expirable Alerts</a:t>
            </a:r>
          </a:p>
        </p:txBody>
      </p:sp>
      <p:sp>
        <p:nvSpPr>
          <p:cNvPr id="24" name="TextBox 23"/>
          <p:cNvSpPr txBox="1"/>
          <p:nvPr/>
        </p:nvSpPr>
        <p:spPr>
          <a:xfrm>
            <a:off x="11155680" y="6309360"/>
            <a:ext cx="914400" cy="365760"/>
          </a:xfrm>
          <a:prstGeom prst="rect">
            <a:avLst/>
          </a:prstGeom>
          <a:noFill/>
        </p:spPr>
        <p:txBody>
          <a:bodyPr wrap="square">
            <a:spAutoFit/>
          </a:bodyPr>
          <a:lstStyle/>
          <a:p>
            <a:pPr algn="r">
              <a:defRPr sz="1100" b="0">
                <a:solidFill>
                  <a:srgbClr val="CCCCDD"/>
                </a:solidFill>
                <a:latin typeface="Calibri"/>
              </a:defRPr>
            </a:pPr>
            <a: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5486400" cy="320040"/>
          </a:xfrm>
          <a:prstGeom prst="rect">
            <a:avLst/>
          </a:prstGeom>
          <a:noFill/>
        </p:spPr>
        <p:txBody>
          <a:bodyPr wrap="square">
            <a:spAutoFit/>
          </a:bodyPr>
          <a:lstStyle/>
          <a:p>
            <a:pPr algn="l">
              <a:defRPr sz="1100" b="1">
                <a:solidFill>
                  <a:srgbClr val="00A3E0"/>
                </a:solidFill>
                <a:latin typeface="Calibri"/>
              </a:defRPr>
            </a:pPr>
            <a:r>
              <a:t>THE SOLUTION</a:t>
            </a:r>
          </a:p>
        </p:txBody>
      </p:sp>
      <p:sp>
        <p:nvSpPr>
          <p:cNvPr id="3" name="TextBox 2"/>
          <p:cNvSpPr txBox="1"/>
          <p:nvPr/>
        </p:nvSpPr>
        <p:spPr>
          <a:xfrm>
            <a:off x="731520" y="731520"/>
            <a:ext cx="10058400" cy="640080"/>
          </a:xfrm>
          <a:prstGeom prst="rect">
            <a:avLst/>
          </a:prstGeom>
          <a:noFill/>
        </p:spPr>
        <p:txBody>
          <a:bodyPr wrap="square">
            <a:spAutoFit/>
          </a:bodyPr>
          <a:lstStyle/>
          <a:p>
            <a:pPr algn="l">
              <a:defRPr sz="3600" b="1">
                <a:solidFill>
                  <a:srgbClr val="1A1A2E"/>
                </a:solidFill>
                <a:latin typeface="Calibri"/>
              </a:defRPr>
            </a:pPr>
            <a:r>
              <a:t>An Intelligent Credentialing Platform Built for Essen</a:t>
            </a:r>
          </a:p>
        </p:txBody>
      </p:sp>
      <p:sp>
        <p:nvSpPr>
          <p:cNvPr id="4" name="TextBox 3"/>
          <p:cNvSpPr txBox="1"/>
          <p:nvPr/>
        </p:nvSpPr>
        <p:spPr>
          <a:xfrm>
            <a:off x="731520" y="1371600"/>
            <a:ext cx="9144000" cy="548640"/>
          </a:xfrm>
          <a:prstGeom prst="rect">
            <a:avLst/>
          </a:prstGeom>
          <a:noFill/>
        </p:spPr>
        <p:txBody>
          <a:bodyPr wrap="square">
            <a:spAutoFit/>
          </a:bodyPr>
          <a:lstStyle/>
          <a:p>
            <a:pPr algn="l">
              <a:defRPr sz="1600" b="0">
                <a:solidFill>
                  <a:srgbClr val="555577"/>
                </a:solidFill>
                <a:latin typeface="Calibri"/>
              </a:defRPr>
            </a:pPr>
            <a:r>
              <a:t>A unified, web-based platform that automates verification, tracks compliance in real time, and gives every team member the tools they need.</a:t>
            </a:r>
          </a:p>
        </p:txBody>
      </p:sp>
      <p:sp>
        <p:nvSpPr>
          <p:cNvPr id="5" name="Rounded Rectangle 4"/>
          <p:cNvSpPr/>
          <p:nvPr/>
        </p:nvSpPr>
        <p:spPr>
          <a:xfrm>
            <a:off x="731520" y="2286000"/>
            <a:ext cx="20116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423160"/>
            <a:ext cx="2011680" cy="548640"/>
          </a:xfrm>
          <a:prstGeom prst="rect">
            <a:avLst/>
          </a:prstGeom>
          <a:noFill/>
        </p:spPr>
        <p:txBody>
          <a:bodyPr wrap="square">
            <a:spAutoFit/>
          </a:bodyPr>
          <a:lstStyle/>
          <a:p>
            <a:pPr algn="ctr">
              <a:defRPr sz="1200" b="1">
                <a:solidFill>
                  <a:srgbClr val="0B3D91"/>
                </a:solidFill>
                <a:latin typeface="Calibri"/>
              </a:defRPr>
            </a:pPr>
            <a:r>
              <a:t>Provider</a:t>
            </a:r>
            <a:br/>
            <a:r>
              <a:t>Onboarding</a:t>
            </a:r>
          </a:p>
        </p:txBody>
      </p:sp>
      <p:sp>
        <p:nvSpPr>
          <p:cNvPr id="7" name="Rounded Rectangle 6"/>
          <p:cNvSpPr/>
          <p:nvPr/>
        </p:nvSpPr>
        <p:spPr>
          <a:xfrm>
            <a:off x="2971800" y="2286000"/>
            <a:ext cx="20116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71800" y="2423160"/>
            <a:ext cx="2011680" cy="548640"/>
          </a:xfrm>
          <a:prstGeom prst="rect">
            <a:avLst/>
          </a:prstGeom>
          <a:noFill/>
        </p:spPr>
        <p:txBody>
          <a:bodyPr wrap="square">
            <a:spAutoFit/>
          </a:bodyPr>
          <a:lstStyle/>
          <a:p>
            <a:pPr algn="ctr">
              <a:defRPr sz="1200" b="1">
                <a:solidFill>
                  <a:srgbClr val="0B3D91"/>
                </a:solidFill>
                <a:latin typeface="Calibri"/>
              </a:defRPr>
            </a:pPr>
            <a:r>
              <a:t>Onboarding</a:t>
            </a:r>
            <a:br/>
            <a:r>
              <a:t>Dashboard</a:t>
            </a:r>
          </a:p>
        </p:txBody>
      </p:sp>
      <p:sp>
        <p:nvSpPr>
          <p:cNvPr id="9" name="Rounded Rectangle 8"/>
          <p:cNvSpPr/>
          <p:nvPr/>
        </p:nvSpPr>
        <p:spPr>
          <a:xfrm>
            <a:off x="5212080" y="2286000"/>
            <a:ext cx="20116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2423160"/>
            <a:ext cx="2011680" cy="548640"/>
          </a:xfrm>
          <a:prstGeom prst="rect">
            <a:avLst/>
          </a:prstGeom>
          <a:noFill/>
        </p:spPr>
        <p:txBody>
          <a:bodyPr wrap="square">
            <a:spAutoFit/>
          </a:bodyPr>
          <a:lstStyle/>
          <a:p>
            <a:pPr algn="ctr">
              <a:defRPr sz="1200" b="1">
                <a:solidFill>
                  <a:srgbClr val="0B3D91"/>
                </a:solidFill>
                <a:latin typeface="Calibri"/>
              </a:defRPr>
            </a:pPr>
            <a:r>
              <a:t>Committee</a:t>
            </a:r>
            <a:br/>
            <a:r>
              <a:t>Dashboard</a:t>
            </a:r>
          </a:p>
        </p:txBody>
      </p:sp>
      <p:sp>
        <p:nvSpPr>
          <p:cNvPr id="11" name="Rounded Rectangle 10"/>
          <p:cNvSpPr/>
          <p:nvPr/>
        </p:nvSpPr>
        <p:spPr>
          <a:xfrm>
            <a:off x="7452360" y="2286000"/>
            <a:ext cx="20116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52360" y="2423160"/>
            <a:ext cx="2011680" cy="548640"/>
          </a:xfrm>
          <a:prstGeom prst="rect">
            <a:avLst/>
          </a:prstGeom>
          <a:noFill/>
        </p:spPr>
        <p:txBody>
          <a:bodyPr wrap="square">
            <a:spAutoFit/>
          </a:bodyPr>
          <a:lstStyle/>
          <a:p>
            <a:pPr algn="ctr">
              <a:defRPr sz="1200" b="1">
                <a:solidFill>
                  <a:srgbClr val="0B3D91"/>
                </a:solidFill>
                <a:latin typeface="Calibri"/>
              </a:defRPr>
            </a:pPr>
            <a:r>
              <a:t>Enrollment</a:t>
            </a:r>
            <a:br/>
            <a:r>
              <a:t>Management</a:t>
            </a:r>
          </a:p>
        </p:txBody>
      </p:sp>
      <p:sp>
        <p:nvSpPr>
          <p:cNvPr id="13" name="Rounded Rectangle 12"/>
          <p:cNvSpPr/>
          <p:nvPr/>
        </p:nvSpPr>
        <p:spPr>
          <a:xfrm>
            <a:off x="9692640" y="2286000"/>
            <a:ext cx="20116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92640" y="2423160"/>
            <a:ext cx="2011680" cy="548640"/>
          </a:xfrm>
          <a:prstGeom prst="rect">
            <a:avLst/>
          </a:prstGeom>
          <a:noFill/>
        </p:spPr>
        <p:txBody>
          <a:bodyPr wrap="square">
            <a:spAutoFit/>
          </a:bodyPr>
          <a:lstStyle/>
          <a:p>
            <a:pPr algn="ctr">
              <a:defRPr sz="1200" b="1">
                <a:solidFill>
                  <a:srgbClr val="0B3D91"/>
                </a:solidFill>
                <a:latin typeface="Calibri"/>
              </a:defRPr>
            </a:pPr>
            <a:r>
              <a:t>Expirables</a:t>
            </a:r>
            <a:br/>
            <a:r>
              <a:t>Tracking</a:t>
            </a:r>
          </a:p>
        </p:txBody>
      </p:sp>
      <p:sp>
        <p:nvSpPr>
          <p:cNvPr id="15" name="Rounded Rectangle 14"/>
          <p:cNvSpPr/>
          <p:nvPr/>
        </p:nvSpPr>
        <p:spPr>
          <a:xfrm>
            <a:off x="731520" y="3474720"/>
            <a:ext cx="20116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611879"/>
            <a:ext cx="2011680" cy="548640"/>
          </a:xfrm>
          <a:prstGeom prst="rect">
            <a:avLst/>
          </a:prstGeom>
          <a:noFill/>
        </p:spPr>
        <p:txBody>
          <a:bodyPr wrap="square">
            <a:spAutoFit/>
          </a:bodyPr>
          <a:lstStyle/>
          <a:p>
            <a:pPr algn="ctr">
              <a:defRPr sz="1200" b="1">
                <a:solidFill>
                  <a:srgbClr val="0B3D91"/>
                </a:solidFill>
                <a:latin typeface="Calibri"/>
              </a:defRPr>
            </a:pPr>
            <a:r>
              <a:t>PSV Bots</a:t>
            </a:r>
            <a:br/>
            <a:r>
              <a:t>(Automation)</a:t>
            </a:r>
          </a:p>
        </p:txBody>
      </p:sp>
      <p:sp>
        <p:nvSpPr>
          <p:cNvPr id="17" name="Rounded Rectangle 16"/>
          <p:cNvSpPr/>
          <p:nvPr/>
        </p:nvSpPr>
        <p:spPr>
          <a:xfrm>
            <a:off x="2971800" y="3474720"/>
            <a:ext cx="20116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971800" y="3611879"/>
            <a:ext cx="2011680" cy="548640"/>
          </a:xfrm>
          <a:prstGeom prst="rect">
            <a:avLst/>
          </a:prstGeom>
          <a:noFill/>
        </p:spPr>
        <p:txBody>
          <a:bodyPr wrap="square">
            <a:spAutoFit/>
          </a:bodyPr>
          <a:lstStyle/>
          <a:p>
            <a:pPr algn="ctr">
              <a:defRPr sz="1200" b="1">
                <a:solidFill>
                  <a:srgbClr val="0B3D91"/>
                </a:solidFill>
                <a:latin typeface="Calibri"/>
              </a:defRPr>
            </a:pPr>
            <a:r>
              <a:t>Sanctions</a:t>
            </a:r>
            <a:br/>
            <a:r>
              <a:t>Checking</a:t>
            </a:r>
          </a:p>
        </p:txBody>
      </p:sp>
      <p:sp>
        <p:nvSpPr>
          <p:cNvPr id="19" name="Rounded Rectangle 18"/>
          <p:cNvSpPr/>
          <p:nvPr/>
        </p:nvSpPr>
        <p:spPr>
          <a:xfrm>
            <a:off x="5212080" y="3474720"/>
            <a:ext cx="20116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212080" y="3611879"/>
            <a:ext cx="2011680" cy="548640"/>
          </a:xfrm>
          <a:prstGeom prst="rect">
            <a:avLst/>
          </a:prstGeom>
          <a:noFill/>
        </p:spPr>
        <p:txBody>
          <a:bodyPr wrap="square">
            <a:spAutoFit/>
          </a:bodyPr>
          <a:lstStyle/>
          <a:p>
            <a:pPr algn="ctr">
              <a:defRPr sz="1200" b="1">
                <a:solidFill>
                  <a:srgbClr val="0B3D91"/>
                </a:solidFill>
                <a:latin typeface="Calibri"/>
              </a:defRPr>
            </a:pPr>
            <a:r>
              <a:t>NY Medicaid</a:t>
            </a:r>
            <a:br/>
            <a:r>
              <a:t>&amp; ETIN</a:t>
            </a:r>
          </a:p>
        </p:txBody>
      </p:sp>
      <p:sp>
        <p:nvSpPr>
          <p:cNvPr id="21" name="Rounded Rectangle 20"/>
          <p:cNvSpPr/>
          <p:nvPr/>
        </p:nvSpPr>
        <p:spPr>
          <a:xfrm>
            <a:off x="7452360" y="3474720"/>
            <a:ext cx="20116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52360" y="3611879"/>
            <a:ext cx="2011680" cy="548640"/>
          </a:xfrm>
          <a:prstGeom prst="rect">
            <a:avLst/>
          </a:prstGeom>
          <a:noFill/>
        </p:spPr>
        <p:txBody>
          <a:bodyPr wrap="square">
            <a:spAutoFit/>
          </a:bodyPr>
          <a:lstStyle/>
          <a:p>
            <a:pPr algn="ctr">
              <a:defRPr sz="1200" b="1">
                <a:solidFill>
                  <a:srgbClr val="0B3D91"/>
                </a:solidFill>
                <a:latin typeface="Calibri"/>
              </a:defRPr>
            </a:pPr>
            <a:r>
              <a:t>Hospital</a:t>
            </a:r>
            <a:br/>
            <a:r>
              <a:t>Privileges</a:t>
            </a:r>
          </a:p>
        </p:txBody>
      </p:sp>
      <p:sp>
        <p:nvSpPr>
          <p:cNvPr id="23" name="Rounded Rectangle 22"/>
          <p:cNvSpPr/>
          <p:nvPr/>
        </p:nvSpPr>
        <p:spPr>
          <a:xfrm>
            <a:off x="9692640" y="3474720"/>
            <a:ext cx="20116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692640" y="3611879"/>
            <a:ext cx="2011680" cy="548640"/>
          </a:xfrm>
          <a:prstGeom prst="rect">
            <a:avLst/>
          </a:prstGeom>
          <a:noFill/>
        </p:spPr>
        <p:txBody>
          <a:bodyPr wrap="square">
            <a:spAutoFit/>
          </a:bodyPr>
          <a:lstStyle/>
          <a:p>
            <a:pPr algn="ctr">
              <a:defRPr sz="1200" b="1">
                <a:solidFill>
                  <a:srgbClr val="0B3D91"/>
                </a:solidFill>
                <a:latin typeface="Calibri"/>
              </a:defRPr>
            </a:pPr>
            <a:r>
              <a:t>NPDB</a:t>
            </a:r>
            <a:br/>
            <a:r>
              <a:t>Monitoring</a:t>
            </a:r>
          </a:p>
        </p:txBody>
      </p:sp>
      <p:sp>
        <p:nvSpPr>
          <p:cNvPr id="25" name="Rounded Rectangle 24"/>
          <p:cNvSpPr/>
          <p:nvPr/>
        </p:nvSpPr>
        <p:spPr>
          <a:xfrm>
            <a:off x="731520" y="4937760"/>
            <a:ext cx="10698480" cy="640080"/>
          </a:xfrm>
          <a:prstGeom prst="roundRect">
            <a:avLst/>
          </a:prstGeom>
          <a:solidFill>
            <a:srgbClr val="E8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31520" y="4937760"/>
            <a:ext cx="54864" cy="64008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05840" y="5029200"/>
            <a:ext cx="10058400" cy="365760"/>
          </a:xfrm>
          <a:prstGeom prst="rect">
            <a:avLst/>
          </a:prstGeom>
          <a:noFill/>
        </p:spPr>
        <p:txBody>
          <a:bodyPr wrap="square">
            <a:spAutoFit/>
          </a:bodyPr>
          <a:lstStyle/>
          <a:p>
            <a:pPr algn="l">
              <a:defRPr sz="1400" b="0">
                <a:solidFill>
                  <a:srgbClr val="1A1A2E"/>
                </a:solidFill>
                <a:latin typeface="Calibri"/>
              </a:defRPr>
            </a:pPr>
            <a:r>
              <a:t>10 integrated modules - including a Task &amp; Pipeline Dashboard that gives the credentialing team open-task visibility and next-step accountability for every provider. One platform. Complete credentialing lifecycle from outreach to ongoing compliance.</a:t>
            </a:r>
          </a:p>
        </p:txBody>
      </p:sp>
      <p:sp>
        <p:nvSpPr>
          <p:cNvPr id="28" name="TextBox 27"/>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5486400" cy="320040"/>
          </a:xfrm>
          <a:prstGeom prst="rect">
            <a:avLst/>
          </a:prstGeom>
          <a:noFill/>
        </p:spPr>
        <p:txBody>
          <a:bodyPr wrap="square">
            <a:spAutoFit/>
          </a:bodyPr>
          <a:lstStyle/>
          <a:p>
            <a:pPr algn="l">
              <a:defRPr sz="1100" b="1">
                <a:solidFill>
                  <a:srgbClr val="00A3E0"/>
                </a:solidFill>
                <a:latin typeface="Calibri"/>
              </a:defRPr>
            </a:pPr>
            <a:r>
              <a:t>CORE CAPABILITIES</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4000" b="1">
                <a:solidFill>
                  <a:srgbClr val="1A1A2E"/>
                </a:solidFill>
                <a:latin typeface="Calibri"/>
              </a:defRPr>
            </a:pPr>
            <a:r>
              <a:t>What Makes This Different</a:t>
            </a:r>
          </a:p>
        </p:txBody>
      </p:sp>
      <p:sp>
        <p:nvSpPr>
          <p:cNvPr id="4" name="TextBox 3"/>
          <p:cNvSpPr txBox="1"/>
          <p:nvPr/>
        </p:nvSpPr>
        <p:spPr>
          <a:xfrm>
            <a:off x="731520" y="1280160"/>
            <a:ext cx="9144000" cy="365760"/>
          </a:xfrm>
          <a:prstGeom prst="rect">
            <a:avLst/>
          </a:prstGeom>
          <a:noFill/>
        </p:spPr>
        <p:txBody>
          <a:bodyPr wrap="square">
            <a:spAutoFit/>
          </a:bodyPr>
          <a:lstStyle/>
          <a:p>
            <a:pPr algn="l">
              <a:defRPr sz="1600" b="0">
                <a:solidFill>
                  <a:srgbClr val="555577"/>
                </a:solidFill>
                <a:latin typeface="Calibri"/>
              </a:defRPr>
            </a:pPr>
            <a:r>
              <a:t>Purpose-built for healthcare credentialing, not adapted from generic software.</a:t>
            </a:r>
          </a:p>
        </p:txBody>
      </p:sp>
      <p:sp>
        <p:nvSpPr>
          <p:cNvPr id="5" name="Rounded Rectangle 4"/>
          <p:cNvSpPr/>
          <p:nvPr/>
        </p:nvSpPr>
        <p:spPr>
          <a:xfrm>
            <a:off x="731520" y="1920240"/>
            <a:ext cx="3474720" cy="18288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920240"/>
            <a:ext cx="3474720" cy="54864"/>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103120"/>
            <a:ext cx="3017520" cy="320040"/>
          </a:xfrm>
          <a:prstGeom prst="rect">
            <a:avLst/>
          </a:prstGeom>
          <a:noFill/>
        </p:spPr>
        <p:txBody>
          <a:bodyPr wrap="square">
            <a:spAutoFit/>
          </a:bodyPr>
          <a:lstStyle/>
          <a:p>
            <a:pPr algn="l">
              <a:defRPr sz="1400" b="1">
                <a:solidFill>
                  <a:srgbClr val="1A1A2E"/>
                </a:solidFill>
                <a:latin typeface="Calibri"/>
              </a:defRPr>
            </a:pPr>
            <a:r>
              <a:t>Automated PSV Bots</a:t>
            </a:r>
          </a:p>
        </p:txBody>
      </p:sp>
      <p:sp>
        <p:nvSpPr>
          <p:cNvPr id="8" name="TextBox 7"/>
          <p:cNvSpPr txBox="1"/>
          <p:nvPr/>
        </p:nvSpPr>
        <p:spPr>
          <a:xfrm>
            <a:off x="960120" y="2468880"/>
            <a:ext cx="3017520" cy="1097280"/>
          </a:xfrm>
          <a:prstGeom prst="rect">
            <a:avLst/>
          </a:prstGeom>
          <a:noFill/>
        </p:spPr>
        <p:txBody>
          <a:bodyPr wrap="square">
            <a:spAutoFit/>
          </a:bodyPr>
          <a:lstStyle/>
          <a:p>
            <a:pPr algn="l">
              <a:defRPr sz="1100" b="0">
                <a:solidFill>
                  <a:srgbClr val="555577"/>
                </a:solidFill>
                <a:latin typeface="Calibri"/>
              </a:defRPr>
            </a:pPr>
            <a:r>
              <a:t>Playwright-powered bots verify licenses, DEA, board certs, sanctions (OIG &amp; SAM), and NPDB. 10+ bot types with retry logic, MFA support, and PDF capture.</a:t>
            </a:r>
          </a:p>
        </p:txBody>
      </p:sp>
      <p:sp>
        <p:nvSpPr>
          <p:cNvPr id="9" name="Rounded Rectangle 8"/>
          <p:cNvSpPr/>
          <p:nvPr/>
        </p:nvSpPr>
        <p:spPr>
          <a:xfrm>
            <a:off x="4480559" y="1920240"/>
            <a:ext cx="3474720" cy="18288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80559" y="1920240"/>
            <a:ext cx="3474720" cy="54864"/>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09159" y="2103120"/>
            <a:ext cx="3017520" cy="320040"/>
          </a:xfrm>
          <a:prstGeom prst="rect">
            <a:avLst/>
          </a:prstGeom>
          <a:noFill/>
        </p:spPr>
        <p:txBody>
          <a:bodyPr wrap="square">
            <a:spAutoFit/>
          </a:bodyPr>
          <a:lstStyle/>
          <a:p>
            <a:pPr algn="l">
              <a:defRPr sz="1400" b="1">
                <a:solidFill>
                  <a:srgbClr val="1A1A2E"/>
                </a:solidFill>
                <a:latin typeface="Calibri"/>
              </a:defRPr>
            </a:pPr>
            <a:r>
              <a:t>Intelligent Document OCR</a:t>
            </a:r>
          </a:p>
        </p:txBody>
      </p:sp>
      <p:sp>
        <p:nvSpPr>
          <p:cNvPr id="12" name="TextBox 11"/>
          <p:cNvSpPr txBox="1"/>
          <p:nvPr/>
        </p:nvSpPr>
        <p:spPr>
          <a:xfrm>
            <a:off x="4709159" y="2468880"/>
            <a:ext cx="3017520" cy="1097280"/>
          </a:xfrm>
          <a:prstGeom prst="rect">
            <a:avLst/>
          </a:prstGeom>
          <a:noFill/>
        </p:spPr>
        <p:txBody>
          <a:bodyPr wrap="square">
            <a:spAutoFit/>
          </a:bodyPr>
          <a:lstStyle/>
          <a:p>
            <a:pPr algn="l">
              <a:defRPr sz="1100" b="0">
                <a:solidFill>
                  <a:srgbClr val="555577"/>
                </a:solidFill>
                <a:latin typeface="Calibri"/>
              </a:defRPr>
            </a:pPr>
            <a:r>
              <a:t>Azure AI Document Intelligence extracts data from uploaded credentials and auto-fills the application. 85%+ confidence threshold, with a field-by-field confirmation pop-up that lets the provider review and accept low-confidence extractions (e.g. credential suffix stripping) before the value is committed.</a:t>
            </a:r>
          </a:p>
        </p:txBody>
      </p:sp>
      <p:sp>
        <p:nvSpPr>
          <p:cNvPr id="13" name="Rounded Rectangle 12"/>
          <p:cNvSpPr/>
          <p:nvPr/>
        </p:nvSpPr>
        <p:spPr>
          <a:xfrm>
            <a:off x="8229600" y="1920240"/>
            <a:ext cx="3474720" cy="18288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0" y="1920240"/>
            <a:ext cx="347472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58200" y="2103120"/>
            <a:ext cx="3017520" cy="320040"/>
          </a:xfrm>
          <a:prstGeom prst="rect">
            <a:avLst/>
          </a:prstGeom>
          <a:noFill/>
        </p:spPr>
        <p:txBody>
          <a:bodyPr wrap="square">
            <a:spAutoFit/>
          </a:bodyPr>
          <a:lstStyle/>
          <a:p>
            <a:pPr algn="l">
              <a:defRPr sz="1400" b="1">
                <a:solidFill>
                  <a:srgbClr val="1A1A2E"/>
                </a:solidFill>
                <a:latin typeface="Calibri"/>
              </a:defRPr>
            </a:pPr>
            <a:r>
              <a:t>Expirable Monitoring</a:t>
            </a:r>
          </a:p>
        </p:txBody>
      </p:sp>
      <p:sp>
        <p:nvSpPr>
          <p:cNvPr id="16" name="TextBox 15"/>
          <p:cNvSpPr txBox="1"/>
          <p:nvPr/>
        </p:nvSpPr>
        <p:spPr>
          <a:xfrm>
            <a:off x="8458200" y="2468880"/>
            <a:ext cx="3017520" cy="1097280"/>
          </a:xfrm>
          <a:prstGeom prst="rect">
            <a:avLst/>
          </a:prstGeom>
          <a:noFill/>
        </p:spPr>
        <p:txBody>
          <a:bodyPr wrap="square">
            <a:spAutoFit/>
          </a:bodyPr>
          <a:lstStyle/>
          <a:p>
            <a:pPr algn="l">
              <a:defRPr sz="1100" b="0">
                <a:solidFill>
                  <a:srgbClr val="555577"/>
                </a:solidFill>
                <a:latin typeface="Calibri"/>
              </a:defRPr>
            </a:pPr>
            <a:r>
              <a:t>20+ credential types tracked with automated 90/60/30/14/7-day alerts. Nightly scans detect expirations. Bot-assisted renewal confirmation, including automated outreach asking the provider to send the updated document straight back into the platform repository.</a:t>
            </a:r>
          </a:p>
        </p:txBody>
      </p:sp>
      <p:sp>
        <p:nvSpPr>
          <p:cNvPr id="17" name="Rounded Rectangle 16"/>
          <p:cNvSpPr/>
          <p:nvPr/>
        </p:nvSpPr>
        <p:spPr>
          <a:xfrm>
            <a:off x="731520" y="4023360"/>
            <a:ext cx="3474720" cy="18288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1520" y="4023360"/>
            <a:ext cx="3474720" cy="54864"/>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4206240"/>
            <a:ext cx="3017520" cy="320040"/>
          </a:xfrm>
          <a:prstGeom prst="rect">
            <a:avLst/>
          </a:prstGeom>
          <a:noFill/>
        </p:spPr>
        <p:txBody>
          <a:bodyPr wrap="square">
            <a:spAutoFit/>
          </a:bodyPr>
          <a:lstStyle/>
          <a:p>
            <a:pPr algn="l">
              <a:defRPr sz="1400" b="1">
                <a:solidFill>
                  <a:srgbClr val="1A1A2E"/>
                </a:solidFill>
                <a:latin typeface="Calibri"/>
              </a:defRPr>
            </a:pPr>
            <a:r>
              <a:t>Committee Workflow</a:t>
            </a:r>
          </a:p>
        </p:txBody>
      </p:sp>
      <p:sp>
        <p:nvSpPr>
          <p:cNvPr id="20" name="TextBox 19"/>
          <p:cNvSpPr txBox="1"/>
          <p:nvPr/>
        </p:nvSpPr>
        <p:spPr>
          <a:xfrm>
            <a:off x="960120" y="4572000"/>
            <a:ext cx="3017520" cy="1097280"/>
          </a:xfrm>
          <a:prstGeom prst="rect">
            <a:avLst/>
          </a:prstGeom>
          <a:noFill/>
        </p:spPr>
        <p:txBody>
          <a:bodyPr wrap="square">
            <a:spAutoFit/>
          </a:bodyPr>
          <a:lstStyle/>
          <a:p>
            <a:pPr algn="l">
              <a:defRPr sz="1100" b="0">
                <a:solidFill>
                  <a:srgbClr val="555577"/>
                </a:solidFill>
                <a:latin typeface="Calibri"/>
              </a:defRPr>
            </a:pPr>
            <a:r>
              <a:t>Auto-generated summary sheets, agendas, and a per-provider verification packet (green check on every clean PSV, red flag on findings) ready for committee review one click ahead. One-click provider approval with full audit trail; conditional approvals tracked against the same packet.</a:t>
            </a:r>
          </a:p>
        </p:txBody>
      </p:sp>
      <p:sp>
        <p:nvSpPr>
          <p:cNvPr id="21" name="Rounded Rectangle 20"/>
          <p:cNvSpPr/>
          <p:nvPr/>
        </p:nvSpPr>
        <p:spPr>
          <a:xfrm>
            <a:off x="4480559" y="4023360"/>
            <a:ext cx="3474720" cy="18288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80559" y="4023360"/>
            <a:ext cx="3474720" cy="54864"/>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09159" y="4206240"/>
            <a:ext cx="3017520" cy="320040"/>
          </a:xfrm>
          <a:prstGeom prst="rect">
            <a:avLst/>
          </a:prstGeom>
          <a:noFill/>
        </p:spPr>
        <p:txBody>
          <a:bodyPr wrap="square">
            <a:spAutoFit/>
          </a:bodyPr>
          <a:lstStyle/>
          <a:p>
            <a:pPr algn="l">
              <a:defRPr sz="1400" b="1">
                <a:solidFill>
                  <a:srgbClr val="1A1A2E"/>
                </a:solidFill>
                <a:latin typeface="Calibri"/>
              </a:defRPr>
            </a:pPr>
            <a:r>
              <a:t>Enrollment Cadence Tracking</a:t>
            </a:r>
          </a:p>
        </p:txBody>
      </p:sp>
      <p:sp>
        <p:nvSpPr>
          <p:cNvPr id="24" name="TextBox 23"/>
          <p:cNvSpPr txBox="1"/>
          <p:nvPr/>
        </p:nvSpPr>
        <p:spPr>
          <a:xfrm>
            <a:off x="4709159" y="4572000"/>
            <a:ext cx="3017520" cy="1097280"/>
          </a:xfrm>
          <a:prstGeom prst="rect">
            <a:avLst/>
          </a:prstGeom>
          <a:noFill/>
        </p:spPr>
        <p:txBody>
          <a:bodyPr wrap="square">
            <a:spAutoFit/>
          </a:bodyPr>
          <a:lstStyle/>
          <a:p>
            <a:pPr algn="l">
              <a:defRPr sz="1100" b="0">
                <a:solidFill>
                  <a:srgbClr val="555577"/>
                </a:solidFill>
                <a:latin typeface="Calibri"/>
              </a:defRPr>
            </a:pPr>
            <a:r>
              <a:t>Per-payer follow-up cadences with automated alerts. Portal-bot enrollment submissions. FTP roster generation. Gap analysis.</a:t>
            </a:r>
          </a:p>
        </p:txBody>
      </p:sp>
      <p:sp>
        <p:nvSpPr>
          <p:cNvPr id="25" name="Rounded Rectangle 24"/>
          <p:cNvSpPr/>
          <p:nvPr/>
        </p:nvSpPr>
        <p:spPr>
          <a:xfrm>
            <a:off x="8229600" y="4023360"/>
            <a:ext cx="3474720" cy="18288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29600" y="4023360"/>
            <a:ext cx="3474720" cy="54864"/>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58200" y="4206240"/>
            <a:ext cx="3017520" cy="320040"/>
          </a:xfrm>
          <a:prstGeom prst="rect">
            <a:avLst/>
          </a:prstGeom>
          <a:noFill/>
        </p:spPr>
        <p:txBody>
          <a:bodyPr wrap="square">
            <a:spAutoFit/>
          </a:bodyPr>
          <a:lstStyle/>
          <a:p>
            <a:pPr algn="l">
              <a:defRPr sz="1400" b="1">
                <a:solidFill>
                  <a:srgbClr val="1A1A2E"/>
                </a:solidFill>
                <a:latin typeface="Calibri"/>
              </a:defRPr>
            </a:pPr>
            <a:r>
              <a:t>HIPAA-Compliant Security</a:t>
            </a:r>
          </a:p>
        </p:txBody>
      </p:sp>
      <p:sp>
        <p:nvSpPr>
          <p:cNvPr id="28" name="TextBox 27"/>
          <p:cNvSpPr txBox="1"/>
          <p:nvPr/>
        </p:nvSpPr>
        <p:spPr>
          <a:xfrm>
            <a:off x="8458200" y="4572000"/>
            <a:ext cx="3017520" cy="1097280"/>
          </a:xfrm>
          <a:prstGeom prst="rect">
            <a:avLst/>
          </a:prstGeom>
          <a:noFill/>
        </p:spPr>
        <p:txBody>
          <a:bodyPr wrap="square">
            <a:spAutoFit/>
          </a:bodyPr>
          <a:lstStyle/>
          <a:p>
            <a:pPr algn="l">
              <a:defRPr sz="1100" b="0">
                <a:solidFill>
                  <a:srgbClr val="555577"/>
                </a:solidFill>
                <a:latin typeface="Calibri"/>
              </a:defRPr>
            </a:pPr>
            <a:r>
              <a:t>AES-256-GCM encryption for all PHI. Azure AD SSO. Role-based access with 5 permission levels. Immutable audit logs for 10+ years.</a:t>
            </a:r>
          </a:p>
        </p:txBody>
      </p:sp>
      <p:sp>
        <p:nvSpPr>
          <p:cNvPr id="29" name="TextBox 28"/>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5486400" cy="320040"/>
          </a:xfrm>
          <a:prstGeom prst="rect">
            <a:avLst/>
          </a:prstGeom>
          <a:noFill/>
        </p:spPr>
        <p:txBody>
          <a:bodyPr wrap="square">
            <a:spAutoFit/>
          </a:bodyPr>
          <a:lstStyle/>
          <a:p>
            <a:pPr algn="l">
              <a:defRPr sz="1100" b="1">
                <a:solidFill>
                  <a:srgbClr val="00A3E0"/>
                </a:solidFill>
                <a:latin typeface="Calibri"/>
              </a:defRPr>
            </a:pPr>
            <a:r>
              <a:t>WHAT IS AI ABOUT THIS SOLUTION?</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4000" b="1">
                <a:solidFill>
                  <a:srgbClr val="1A1A2E"/>
                </a:solidFill>
                <a:latin typeface="Calibri"/>
              </a:defRPr>
            </a:pPr>
            <a:r>
              <a:t>Five AI Capabilities Already in Production</a:t>
            </a:r>
          </a:p>
        </p:txBody>
      </p:sp>
      <p:sp>
        <p:nvSpPr>
          <p:cNvPr id="4" name="TextBox 3"/>
          <p:cNvSpPr txBox="1"/>
          <p:nvPr/>
        </p:nvSpPr>
        <p:spPr>
          <a:xfrm>
            <a:off x="731520" y="1280160"/>
            <a:ext cx="9144000" cy="365760"/>
          </a:xfrm>
          <a:prstGeom prst="rect">
            <a:avLst/>
          </a:prstGeom>
          <a:noFill/>
        </p:spPr>
        <p:txBody>
          <a:bodyPr wrap="square">
            <a:spAutoFit/>
          </a:bodyPr>
          <a:lstStyle/>
          <a:p>
            <a:pPr algn="l">
              <a:defRPr sz="1600" b="0">
                <a:solidFill>
                  <a:srgbClr val="555577"/>
                </a:solidFill>
                <a:latin typeface="Calibri"/>
              </a:defRPr>
            </a:pPr>
            <a:r>
              <a:t>Not a roadmap. Five concrete AI features running in the platform today, each grounded in a named Azure service with a documented governance trail.</a:t>
            </a:r>
          </a:p>
        </p:txBody>
      </p:sp>
      <p:sp>
        <p:nvSpPr>
          <p:cNvPr id="5" name="Rounded Rectangle 4"/>
          <p:cNvSpPr/>
          <p:nvPr/>
        </p:nvSpPr>
        <p:spPr>
          <a:xfrm>
            <a:off x="731520" y="1920240"/>
            <a:ext cx="3474720" cy="18288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920240"/>
            <a:ext cx="3474720" cy="54864"/>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103120"/>
            <a:ext cx="3017520" cy="320040"/>
          </a:xfrm>
          <a:prstGeom prst="rect">
            <a:avLst/>
          </a:prstGeom>
          <a:noFill/>
        </p:spPr>
        <p:txBody>
          <a:bodyPr wrap="square">
            <a:spAutoFit/>
          </a:bodyPr>
          <a:lstStyle/>
          <a:p>
            <a:pPr algn="l">
              <a:defRPr sz="1400" b="1">
                <a:solidFill>
                  <a:srgbClr val="1A1A2E"/>
                </a:solidFill>
                <a:latin typeface="Calibri"/>
              </a:defRPr>
            </a:pPr>
            <a:r>
              <a:t>Document Intelligence (OCR + auto-fill)</a:t>
            </a:r>
          </a:p>
        </p:txBody>
      </p:sp>
      <p:sp>
        <p:nvSpPr>
          <p:cNvPr id="8" name="TextBox 7"/>
          <p:cNvSpPr txBox="1"/>
          <p:nvPr/>
        </p:nvSpPr>
        <p:spPr>
          <a:xfrm>
            <a:off x="960120" y="2468880"/>
            <a:ext cx="3017520" cy="1097280"/>
          </a:xfrm>
          <a:prstGeom prst="rect">
            <a:avLst/>
          </a:prstGeom>
          <a:noFill/>
        </p:spPr>
        <p:txBody>
          <a:bodyPr wrap="square">
            <a:spAutoFit/>
          </a:bodyPr>
          <a:lstStyle/>
          <a:p>
            <a:pPr algn="l">
              <a:defRPr sz="1100" b="0">
                <a:solidFill>
                  <a:srgbClr val="555577"/>
                </a:solidFill>
                <a:latin typeface="Calibri"/>
              </a:defRPr>
            </a:pPr>
            <a:r>
              <a:t>Azure AI Document Intelligence reads uploaded credentials (license PDF, DEA cert, board cert, COI) and auto-fills the application form. 85% confidence threshold with field-by-field human confirmation for low-confidence extractions. Cuts provider data-entry time from minutes to seconds.</a:t>
            </a:r>
          </a:p>
        </p:txBody>
      </p:sp>
      <p:sp>
        <p:nvSpPr>
          <p:cNvPr id="9" name="Rounded Rectangle 8"/>
          <p:cNvSpPr/>
          <p:nvPr/>
        </p:nvSpPr>
        <p:spPr>
          <a:xfrm>
            <a:off x="4480559" y="1920240"/>
            <a:ext cx="3474720" cy="18288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80559" y="1920240"/>
            <a:ext cx="3474720" cy="54864"/>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09159" y="2103120"/>
            <a:ext cx="3017520" cy="320040"/>
          </a:xfrm>
          <a:prstGeom prst="rect">
            <a:avLst/>
          </a:prstGeom>
          <a:noFill/>
        </p:spPr>
        <p:txBody>
          <a:bodyPr wrap="square">
            <a:spAutoFit/>
          </a:bodyPr>
          <a:lstStyle/>
          <a:p>
            <a:pPr algn="l">
              <a:defRPr sz="1400" b="1">
                <a:solidFill>
                  <a:srgbClr val="1A1A2E"/>
                </a:solidFill>
                <a:latin typeface="Calibri"/>
              </a:defRPr>
            </a:pPr>
            <a:r>
              <a:t>Document Auto-Classification</a:t>
            </a:r>
          </a:p>
        </p:txBody>
      </p:sp>
      <p:sp>
        <p:nvSpPr>
          <p:cNvPr id="12" name="TextBox 11"/>
          <p:cNvSpPr txBox="1"/>
          <p:nvPr/>
        </p:nvSpPr>
        <p:spPr>
          <a:xfrm>
            <a:off x="4709159" y="2468880"/>
            <a:ext cx="3017520" cy="1097280"/>
          </a:xfrm>
          <a:prstGeom prst="rect">
            <a:avLst/>
          </a:prstGeom>
          <a:noFill/>
        </p:spPr>
        <p:txBody>
          <a:bodyPr wrap="square">
            <a:spAutoFit/>
          </a:bodyPr>
          <a:lstStyle/>
          <a:p>
            <a:pPr algn="l">
              <a:defRPr sz="1100" b="0">
                <a:solidFill>
                  <a:srgbClr val="555577"/>
                </a:solidFill>
                <a:latin typeface="Calibri"/>
              </a:defRPr>
            </a:pPr>
            <a:r>
              <a:t>Layered classifier: filename keyword rules (always on, deterministic) plus Azure OpenAI GPT-4o-mini fallback when filename confidence is low. Suggests the right DocumentType for every upload so misfiled credentials surface to the reviewer immediately. Advisory only - the uploader's choice is authoritative.</a:t>
            </a:r>
          </a:p>
        </p:txBody>
      </p:sp>
      <p:sp>
        <p:nvSpPr>
          <p:cNvPr id="13" name="Rounded Rectangle 12"/>
          <p:cNvSpPr/>
          <p:nvPr/>
        </p:nvSpPr>
        <p:spPr>
          <a:xfrm>
            <a:off x="8229600" y="1920240"/>
            <a:ext cx="3474720" cy="18288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0" y="1920240"/>
            <a:ext cx="347472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58200" y="2103120"/>
            <a:ext cx="3017520" cy="320040"/>
          </a:xfrm>
          <a:prstGeom prst="rect">
            <a:avLst/>
          </a:prstGeom>
          <a:noFill/>
        </p:spPr>
        <p:txBody>
          <a:bodyPr wrap="square">
            <a:spAutoFit/>
          </a:bodyPr>
          <a:lstStyle/>
          <a:p>
            <a:pPr algn="l">
              <a:defRPr sz="1400" b="1">
                <a:solidFill>
                  <a:srgbClr val="1A1A2E"/>
                </a:solidFill>
                <a:latin typeface="Calibri"/>
              </a:defRPr>
            </a:pPr>
            <a:r>
              <a:t>Conversational AI - Provider Self-Service Copilot</a:t>
            </a:r>
          </a:p>
        </p:txBody>
      </p:sp>
      <p:sp>
        <p:nvSpPr>
          <p:cNvPr id="16" name="TextBox 15"/>
          <p:cNvSpPr txBox="1"/>
          <p:nvPr/>
        </p:nvSpPr>
        <p:spPr>
          <a:xfrm>
            <a:off x="8458200" y="2468880"/>
            <a:ext cx="3017520" cy="1097280"/>
          </a:xfrm>
          <a:prstGeom prst="rect">
            <a:avLst/>
          </a:prstGeom>
          <a:noFill/>
        </p:spPr>
        <p:txBody>
          <a:bodyPr wrap="square">
            <a:spAutoFit/>
          </a:bodyPr>
          <a:lstStyle/>
          <a:p>
            <a:pPr algn="l">
              <a:defRPr sz="1100" b="0">
                <a:solidFill>
                  <a:srgbClr val="555577"/>
                </a:solidFill>
                <a:latin typeface="Calibri"/>
              </a:defRPr>
            </a:pPr>
            <a:r>
              <a:t>Retrieval-augmented assistant trained on the platform's own docs corpus. Providers ask 'what do I still owe?' / 'how do I attest supervision?' / 'what's the BCBS fast-track path?' and get cited answers. Reduces email back-and-forth with credentialing staff.</a:t>
            </a:r>
          </a:p>
        </p:txBody>
      </p:sp>
      <p:sp>
        <p:nvSpPr>
          <p:cNvPr id="17" name="Rounded Rectangle 16"/>
          <p:cNvSpPr/>
          <p:nvPr/>
        </p:nvSpPr>
        <p:spPr>
          <a:xfrm>
            <a:off x="731520" y="4023360"/>
            <a:ext cx="3474720" cy="18288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1520" y="4023360"/>
            <a:ext cx="3474720" cy="54864"/>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4206240"/>
            <a:ext cx="3017520" cy="320040"/>
          </a:xfrm>
          <a:prstGeom prst="rect">
            <a:avLst/>
          </a:prstGeom>
          <a:noFill/>
        </p:spPr>
        <p:txBody>
          <a:bodyPr wrap="square">
            <a:spAutoFit/>
          </a:bodyPr>
          <a:lstStyle/>
          <a:p>
            <a:pPr algn="l">
              <a:defRPr sz="1400" b="1">
                <a:solidFill>
                  <a:srgbClr val="1A1A2E"/>
                </a:solidFill>
                <a:latin typeface="Calibri"/>
              </a:defRPr>
            </a:pPr>
            <a:r>
              <a:t>Conversational AI - Staff Compliance Coach</a:t>
            </a:r>
          </a:p>
        </p:txBody>
      </p:sp>
      <p:sp>
        <p:nvSpPr>
          <p:cNvPr id="20" name="TextBox 19"/>
          <p:cNvSpPr txBox="1"/>
          <p:nvPr/>
        </p:nvSpPr>
        <p:spPr>
          <a:xfrm>
            <a:off x="960120" y="4572000"/>
            <a:ext cx="3017520" cy="1097280"/>
          </a:xfrm>
          <a:prstGeom prst="rect">
            <a:avLst/>
          </a:prstGeom>
          <a:noFill/>
        </p:spPr>
        <p:txBody>
          <a:bodyPr wrap="square">
            <a:spAutoFit/>
          </a:bodyPr>
          <a:lstStyle/>
          <a:p>
            <a:pPr algn="l">
              <a:defRPr sz="1100" b="0">
                <a:solidFill>
                  <a:srgbClr val="555577"/>
                </a:solidFill>
                <a:latin typeface="Calibri"/>
              </a:defRPr>
            </a:pPr>
            <a:r>
              <a:t>Same RAG stack, different prompt set. Staff ask 'what does NCQA require for primary-source verification of board cert?' / 'is this a JC NPG 12 trigger?' and get cited answers from the standards corpus. Replaces tribal knowledge with a queryable second set of eyes.</a:t>
            </a:r>
          </a:p>
        </p:txBody>
      </p:sp>
      <p:sp>
        <p:nvSpPr>
          <p:cNvPr id="21" name="Rounded Rectangle 20"/>
          <p:cNvSpPr/>
          <p:nvPr/>
        </p:nvSpPr>
        <p:spPr>
          <a:xfrm>
            <a:off x="4480559" y="4023360"/>
            <a:ext cx="3474720" cy="18288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80559" y="4023360"/>
            <a:ext cx="3474720" cy="54864"/>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09159" y="4206240"/>
            <a:ext cx="3017520" cy="320040"/>
          </a:xfrm>
          <a:prstGeom prst="rect">
            <a:avLst/>
          </a:prstGeom>
          <a:noFill/>
        </p:spPr>
        <p:txBody>
          <a:bodyPr wrap="square">
            <a:spAutoFit/>
          </a:bodyPr>
          <a:lstStyle/>
          <a:p>
            <a:pPr algn="l">
              <a:defRPr sz="1400" b="1">
                <a:solidFill>
                  <a:srgbClr val="1A1A2E"/>
                </a:solidFill>
                <a:latin typeface="Calibri"/>
              </a:defRPr>
            </a:pPr>
            <a:r>
              <a:t>Autonomous Agent Orchestrator</a:t>
            </a:r>
          </a:p>
        </p:txBody>
      </p:sp>
      <p:sp>
        <p:nvSpPr>
          <p:cNvPr id="24" name="TextBox 23"/>
          <p:cNvSpPr txBox="1"/>
          <p:nvPr/>
        </p:nvSpPr>
        <p:spPr>
          <a:xfrm>
            <a:off x="4709159" y="4572000"/>
            <a:ext cx="3017520" cy="1097280"/>
          </a:xfrm>
          <a:prstGeom prst="rect">
            <a:avLst/>
          </a:prstGeom>
          <a:noFill/>
        </p:spPr>
        <p:txBody>
          <a:bodyPr wrap="square">
            <a:spAutoFit/>
          </a:bodyPr>
          <a:lstStyle/>
          <a:p>
            <a:pPr algn="l">
              <a:defRPr sz="1100" b="0">
                <a:solidFill>
                  <a:srgbClr val="555577"/>
                </a:solidFill>
                <a:latin typeface="Calibri"/>
              </a:defRPr>
            </a:pPr>
            <a:r>
              <a:t>Triages every PSV bot exception (DEA portal MFA failure, license-board CAPTCHA, sanctions-list timeout) and recommends the next action with a confidence score. Rules-based safety floor; Azure OpenAI GPT-4o overrides only when its confidence is higher AND the action is allowed. Only safe RETRY_NOW is auto-executed. Never auto-runs an adverse credentialing decision.</a:t>
            </a:r>
          </a:p>
        </p:txBody>
      </p:sp>
      <p:sp>
        <p:nvSpPr>
          <p:cNvPr id="25" name="Rounded Rectangle 24"/>
          <p:cNvSpPr/>
          <p:nvPr/>
        </p:nvSpPr>
        <p:spPr>
          <a:xfrm>
            <a:off x="8229600" y="4023360"/>
            <a:ext cx="3474720" cy="18288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29600" y="4023360"/>
            <a:ext cx="3474720" cy="54864"/>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58200" y="4206240"/>
            <a:ext cx="3017520" cy="320040"/>
          </a:xfrm>
          <a:prstGeom prst="rect">
            <a:avLst/>
          </a:prstGeom>
          <a:noFill/>
        </p:spPr>
        <p:txBody>
          <a:bodyPr wrap="square">
            <a:spAutoFit/>
          </a:bodyPr>
          <a:lstStyle/>
          <a:p>
            <a:pPr algn="l">
              <a:defRPr sz="1400" b="1">
                <a:solidFill>
                  <a:srgbClr val="1A1A2E"/>
                </a:solidFill>
                <a:latin typeface="Calibri"/>
              </a:defRPr>
            </a:pPr>
            <a:r>
              <a:t>Every AI Output Is Logged</a:t>
            </a:r>
          </a:p>
        </p:txBody>
      </p:sp>
      <p:sp>
        <p:nvSpPr>
          <p:cNvPr id="28" name="TextBox 27"/>
          <p:cNvSpPr txBox="1"/>
          <p:nvPr/>
        </p:nvSpPr>
        <p:spPr>
          <a:xfrm>
            <a:off x="8458200" y="4572000"/>
            <a:ext cx="3017520" cy="1097280"/>
          </a:xfrm>
          <a:prstGeom prst="rect">
            <a:avLst/>
          </a:prstGeom>
          <a:noFill/>
        </p:spPr>
        <p:txBody>
          <a:bodyPr wrap="square">
            <a:spAutoFit/>
          </a:bodyPr>
          <a:lstStyle/>
          <a:p>
            <a:pPr algn="l">
              <a:defRPr sz="1100" b="0">
                <a:solidFill>
                  <a:srgbClr val="555577"/>
                </a:solidFill>
                <a:latin typeface="Calibri"/>
              </a:defRPr>
            </a:pPr>
            <a:r>
              <a:t>Every classification, OCR field, copilot answer, and agent verdict writes to the AI Decision Log with model, confidence, prompt summary, citations, PHI flag, and the human's eventual ACCEPTED / OVERRIDDEN / REJECTED decision. See next slide for the full governance story.</a:t>
            </a:r>
          </a:p>
        </p:txBody>
      </p:sp>
      <p:sp>
        <p:nvSpPr>
          <p:cNvPr id="29" name="TextBox 28"/>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5486400" cy="320040"/>
          </a:xfrm>
          <a:prstGeom prst="rect">
            <a:avLst/>
          </a:prstGeom>
          <a:noFill/>
        </p:spPr>
        <p:txBody>
          <a:bodyPr wrap="square">
            <a:spAutoFit/>
          </a:bodyPr>
          <a:lstStyle/>
          <a:p>
            <a:pPr algn="l">
              <a:defRPr sz="1100" b="1">
                <a:solidFill>
                  <a:srgbClr val="00A3E0"/>
                </a:solidFill>
                <a:latin typeface="Calibri"/>
              </a:defRPr>
            </a:pPr>
            <a:r>
              <a:t>AI GOVERNANCE &amp; SAFETY</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4000" b="1">
                <a:solidFill>
                  <a:srgbClr val="1A1A2E"/>
                </a:solidFill>
                <a:latin typeface="Calibri"/>
              </a:defRPr>
            </a:pPr>
            <a:r>
              <a:t>Why Auditors and Risk Will Sign Off</a:t>
            </a:r>
          </a:p>
        </p:txBody>
      </p:sp>
      <p:sp>
        <p:nvSpPr>
          <p:cNvPr id="4" name="TextBox 3"/>
          <p:cNvSpPr txBox="1"/>
          <p:nvPr/>
        </p:nvSpPr>
        <p:spPr>
          <a:xfrm>
            <a:off x="731520" y="1280160"/>
            <a:ext cx="9144000" cy="365760"/>
          </a:xfrm>
          <a:prstGeom prst="rect">
            <a:avLst/>
          </a:prstGeom>
          <a:noFill/>
        </p:spPr>
        <p:txBody>
          <a:bodyPr wrap="square">
            <a:spAutoFit/>
          </a:bodyPr>
          <a:lstStyle/>
          <a:p>
            <a:pPr algn="l">
              <a:defRPr sz="1600" b="0">
                <a:solidFill>
                  <a:srgbClr val="555577"/>
                </a:solidFill>
                <a:latin typeface="Calibri"/>
              </a:defRPr>
            </a:pPr>
            <a:r>
              <a:t>AI in healthcare is only credible if every output is traceable. The platform was built so auditors, risk officers, and the credentialing committee can answer 'what model said what, on which provider, with what confidence, and what did the human do' for any decision in the system.</a:t>
            </a:r>
          </a:p>
        </p:txBody>
      </p:sp>
      <p:sp>
        <p:nvSpPr>
          <p:cNvPr id="5" name="TextBox 4"/>
          <p:cNvSpPr txBox="1"/>
          <p:nvPr/>
        </p:nvSpPr>
        <p:spPr>
          <a:xfrm>
            <a:off x="1097280" y="1828800"/>
            <a:ext cx="4937760" cy="274320"/>
          </a:xfrm>
          <a:prstGeom prst="rect">
            <a:avLst/>
          </a:prstGeom>
          <a:noFill/>
        </p:spPr>
        <p:txBody>
          <a:bodyPr wrap="square">
            <a:spAutoFit/>
          </a:bodyPr>
          <a:lstStyle/>
          <a:p>
            <a:pPr algn="l">
              <a:defRPr sz="1300" b="1">
                <a:solidFill>
                  <a:srgbClr val="00B67A"/>
                </a:solidFill>
                <a:latin typeface="Calibri"/>
              </a:defRPr>
            </a:pPr>
            <a:r>
              <a:t>✓ Model Cards</a:t>
            </a:r>
          </a:p>
        </p:txBody>
      </p:sp>
      <p:sp>
        <p:nvSpPr>
          <p:cNvPr id="6" name="TextBox 5"/>
          <p:cNvSpPr txBox="1"/>
          <p:nvPr/>
        </p:nvSpPr>
        <p:spPr>
          <a:xfrm>
            <a:off x="1097280" y="2148840"/>
            <a:ext cx="4937760" cy="640080"/>
          </a:xfrm>
          <a:prstGeom prst="rect">
            <a:avLst/>
          </a:prstGeom>
          <a:noFill/>
        </p:spPr>
        <p:txBody>
          <a:bodyPr wrap="square">
            <a:spAutoFit/>
          </a:bodyPr>
          <a:lstStyle/>
          <a:p>
            <a:pPr algn="l">
              <a:defRPr sz="1100" b="0">
                <a:solidFill>
                  <a:srgbClr val="555577"/>
                </a:solidFill>
                <a:latin typeface="Calibri"/>
              </a:defRPr>
            </a:pPr>
            <a:r>
              <a:t>Every model in production has an AiModelCard row (name, vendor, version, intended use, training data class, known limits, last reviewed). Surfaced in the AI Governance dashboard. Aligns with NCQA / ONC HTI-1 / CMS AI transparency expectations.</a:t>
            </a:r>
          </a:p>
        </p:txBody>
      </p:sp>
      <p:sp>
        <p:nvSpPr>
          <p:cNvPr id="7" name="TextBox 6"/>
          <p:cNvSpPr txBox="1"/>
          <p:nvPr/>
        </p:nvSpPr>
        <p:spPr>
          <a:xfrm>
            <a:off x="6766560" y="1828800"/>
            <a:ext cx="4937760" cy="274320"/>
          </a:xfrm>
          <a:prstGeom prst="rect">
            <a:avLst/>
          </a:prstGeom>
          <a:noFill/>
        </p:spPr>
        <p:txBody>
          <a:bodyPr wrap="square">
            <a:spAutoFit/>
          </a:bodyPr>
          <a:lstStyle/>
          <a:p>
            <a:pPr algn="l">
              <a:defRPr sz="1300" b="1">
                <a:solidFill>
                  <a:srgbClr val="00B67A"/>
                </a:solidFill>
                <a:latin typeface="Calibri"/>
              </a:defRPr>
            </a:pPr>
            <a:r>
              <a:t>✓ Tamper-Evident Decision Log</a:t>
            </a:r>
          </a:p>
        </p:txBody>
      </p:sp>
      <p:sp>
        <p:nvSpPr>
          <p:cNvPr id="8" name="TextBox 7"/>
          <p:cNvSpPr txBox="1"/>
          <p:nvPr/>
        </p:nvSpPr>
        <p:spPr>
          <a:xfrm>
            <a:off x="6766560" y="2148840"/>
            <a:ext cx="4937760" cy="640080"/>
          </a:xfrm>
          <a:prstGeom prst="rect">
            <a:avLst/>
          </a:prstGeom>
          <a:noFill/>
        </p:spPr>
        <p:txBody>
          <a:bodyPr wrap="square">
            <a:spAutoFit/>
          </a:bodyPr>
          <a:lstStyle/>
          <a:p>
            <a:pPr algn="l">
              <a:defRPr sz="1100" b="0">
                <a:solidFill>
                  <a:srgbClr val="555577"/>
                </a:solidFill>
                <a:latin typeface="Calibri"/>
              </a:defRPr>
            </a:pPr>
            <a:r>
              <a:t>Every AI output writes an AiDecisionLog row with prompt summary, response summary, confidence, citations, PHI flag, latency, and the human's eventual ACCEPTED / OVERRIDDEN / REJECTED decision. Hash-chained to detect tampering.</a:t>
            </a:r>
          </a:p>
        </p:txBody>
      </p:sp>
      <p:sp>
        <p:nvSpPr>
          <p:cNvPr id="9" name="TextBox 8"/>
          <p:cNvSpPr txBox="1"/>
          <p:nvPr/>
        </p:nvSpPr>
        <p:spPr>
          <a:xfrm>
            <a:off x="1097280" y="2971800"/>
            <a:ext cx="4937760" cy="274320"/>
          </a:xfrm>
          <a:prstGeom prst="rect">
            <a:avLst/>
          </a:prstGeom>
          <a:noFill/>
        </p:spPr>
        <p:txBody>
          <a:bodyPr wrap="square">
            <a:spAutoFit/>
          </a:bodyPr>
          <a:lstStyle/>
          <a:p>
            <a:pPr algn="l">
              <a:defRPr sz="1300" b="1">
                <a:solidFill>
                  <a:srgbClr val="00B67A"/>
                </a:solidFill>
                <a:latin typeface="Calibri"/>
              </a:defRPr>
            </a:pPr>
            <a:r>
              <a:t>✓ Human-in-the-Loop by Default</a:t>
            </a:r>
          </a:p>
        </p:txBody>
      </p:sp>
      <p:sp>
        <p:nvSpPr>
          <p:cNvPr id="10" name="TextBox 9"/>
          <p:cNvSpPr txBox="1"/>
          <p:nvPr/>
        </p:nvSpPr>
        <p:spPr>
          <a:xfrm>
            <a:off x="1097280" y="3291840"/>
            <a:ext cx="4937760" cy="640080"/>
          </a:xfrm>
          <a:prstGeom prst="rect">
            <a:avLst/>
          </a:prstGeom>
          <a:noFill/>
        </p:spPr>
        <p:txBody>
          <a:bodyPr wrap="square">
            <a:spAutoFit/>
          </a:bodyPr>
          <a:lstStyle/>
          <a:p>
            <a:pPr algn="l">
              <a:defRPr sz="1100" b="0">
                <a:solidFill>
                  <a:srgbClr val="555577"/>
                </a:solidFill>
                <a:latin typeface="Calibri"/>
              </a:defRPr>
            </a:pPr>
            <a:r>
              <a:t>The platform never auto-executes adverse credentialing decisions. The orchestrator only auto-runs safe RETRY_NOW actions; OCR fields below 85% confidence go to a confirmation pop-up; classification is advisory only.</a:t>
            </a:r>
          </a:p>
        </p:txBody>
      </p:sp>
      <p:sp>
        <p:nvSpPr>
          <p:cNvPr id="11" name="TextBox 10"/>
          <p:cNvSpPr txBox="1"/>
          <p:nvPr/>
        </p:nvSpPr>
        <p:spPr>
          <a:xfrm>
            <a:off x="6766560" y="2971800"/>
            <a:ext cx="4937760" cy="274320"/>
          </a:xfrm>
          <a:prstGeom prst="rect">
            <a:avLst/>
          </a:prstGeom>
          <a:noFill/>
        </p:spPr>
        <p:txBody>
          <a:bodyPr wrap="square">
            <a:spAutoFit/>
          </a:bodyPr>
          <a:lstStyle/>
          <a:p>
            <a:pPr algn="l">
              <a:defRPr sz="1300" b="1">
                <a:solidFill>
                  <a:srgbClr val="00B67A"/>
                </a:solidFill>
                <a:latin typeface="Calibri"/>
              </a:defRPr>
            </a:pPr>
            <a:r>
              <a:t>✓ PHI Guardrails</a:t>
            </a:r>
          </a:p>
        </p:txBody>
      </p:sp>
      <p:sp>
        <p:nvSpPr>
          <p:cNvPr id="12" name="TextBox 11"/>
          <p:cNvSpPr txBox="1"/>
          <p:nvPr/>
        </p:nvSpPr>
        <p:spPr>
          <a:xfrm>
            <a:off x="6766560" y="3291840"/>
            <a:ext cx="4937760" cy="640080"/>
          </a:xfrm>
          <a:prstGeom prst="rect">
            <a:avLst/>
          </a:prstGeom>
          <a:noFill/>
        </p:spPr>
        <p:txBody>
          <a:bodyPr wrap="square">
            <a:spAutoFit/>
          </a:bodyPr>
          <a:lstStyle/>
          <a:p>
            <a:pPr algn="l">
              <a:defRPr sz="1100" b="0">
                <a:solidFill>
                  <a:srgbClr val="555577"/>
                </a:solidFill>
                <a:latin typeface="Calibri"/>
              </a:defRPr>
            </a:pPr>
            <a:r>
              <a:t>SSN, DOB, and full PHI are stripped before any LLM call. Bot orchestrator prompts contain only structured run metadata + the bot's own error message - no patient data, no provider PHI beyond ID.</a:t>
            </a:r>
          </a:p>
        </p:txBody>
      </p:sp>
      <p:sp>
        <p:nvSpPr>
          <p:cNvPr id="13" name="TextBox 12"/>
          <p:cNvSpPr txBox="1"/>
          <p:nvPr/>
        </p:nvSpPr>
        <p:spPr>
          <a:xfrm>
            <a:off x="1097280" y="4114800"/>
            <a:ext cx="4937760" cy="274320"/>
          </a:xfrm>
          <a:prstGeom prst="rect">
            <a:avLst/>
          </a:prstGeom>
          <a:noFill/>
        </p:spPr>
        <p:txBody>
          <a:bodyPr wrap="square">
            <a:spAutoFit/>
          </a:bodyPr>
          <a:lstStyle/>
          <a:p>
            <a:pPr algn="l">
              <a:defRPr sz="1300" b="1">
                <a:solidFill>
                  <a:srgbClr val="00B67A"/>
                </a:solidFill>
                <a:latin typeface="Calibri"/>
              </a:defRPr>
            </a:pPr>
            <a:r>
              <a:t>✓ Deterministic Floor</a:t>
            </a:r>
          </a:p>
        </p:txBody>
      </p:sp>
      <p:sp>
        <p:nvSpPr>
          <p:cNvPr id="14" name="TextBox 13"/>
          <p:cNvSpPr txBox="1"/>
          <p:nvPr/>
        </p:nvSpPr>
        <p:spPr>
          <a:xfrm>
            <a:off x="1097280" y="4434840"/>
            <a:ext cx="4937760" cy="640080"/>
          </a:xfrm>
          <a:prstGeom prst="rect">
            <a:avLst/>
          </a:prstGeom>
          <a:noFill/>
        </p:spPr>
        <p:txBody>
          <a:bodyPr wrap="square">
            <a:spAutoFit/>
          </a:bodyPr>
          <a:lstStyle/>
          <a:p>
            <a:pPr algn="l">
              <a:defRPr sz="1100" b="0">
                <a:solidFill>
                  <a:srgbClr val="555577"/>
                </a:solidFill>
                <a:latin typeface="Calibri"/>
              </a:defRPr>
            </a:pPr>
            <a:r>
              <a:t>Every AI feature has a deterministic fallback (filename rules for classification, rule-based verdicts for the orchestrator, BM25 keyword retrieval for the RAG knowledge base). If Azure OpenAI is unavailable, the platform still functions; AI is an accelerator, not a single point of failure.</a:t>
            </a:r>
          </a:p>
        </p:txBody>
      </p:sp>
      <p:sp>
        <p:nvSpPr>
          <p:cNvPr id="15" name="TextBox 14"/>
          <p:cNvSpPr txBox="1"/>
          <p:nvPr/>
        </p:nvSpPr>
        <p:spPr>
          <a:xfrm>
            <a:off x="6766560" y="4114800"/>
            <a:ext cx="4937760" cy="274320"/>
          </a:xfrm>
          <a:prstGeom prst="rect">
            <a:avLst/>
          </a:prstGeom>
          <a:noFill/>
        </p:spPr>
        <p:txBody>
          <a:bodyPr wrap="square">
            <a:spAutoFit/>
          </a:bodyPr>
          <a:lstStyle/>
          <a:p>
            <a:pPr algn="l">
              <a:defRPr sz="1300" b="1">
                <a:solidFill>
                  <a:srgbClr val="00B67A"/>
                </a:solidFill>
                <a:latin typeface="Calibri"/>
              </a:defRPr>
            </a:pPr>
            <a:r>
              <a:t>✓ Auditor Access</a:t>
            </a:r>
          </a:p>
        </p:txBody>
      </p:sp>
      <p:sp>
        <p:nvSpPr>
          <p:cNvPr id="16" name="TextBox 15"/>
          <p:cNvSpPr txBox="1"/>
          <p:nvPr/>
        </p:nvSpPr>
        <p:spPr>
          <a:xfrm>
            <a:off x="6766560" y="4434840"/>
            <a:ext cx="4937760" cy="640080"/>
          </a:xfrm>
          <a:prstGeom prst="rect">
            <a:avLst/>
          </a:prstGeom>
          <a:noFill/>
        </p:spPr>
        <p:txBody>
          <a:bodyPr wrap="square">
            <a:spAutoFit/>
          </a:bodyPr>
          <a:lstStyle/>
          <a:p>
            <a:pPr algn="l">
              <a:defRPr sz="1100" b="0">
                <a:solidFill>
                  <a:srgbClr val="555577"/>
                </a:solidFill>
                <a:latin typeface="Calibri"/>
              </a:defRPr>
            </a:pPr>
            <a:r>
              <a:t>One-click export of the AI Decision Log for any provider, any feature, any date range. Feeds the existing 1-click Audit-Ready Packet ZIP. Closes the AI evidence binder gap that competitor vendors leave to professional services.</a:t>
            </a:r>
          </a:p>
        </p:txBody>
      </p:sp>
      <p:sp>
        <p:nvSpPr>
          <p:cNvPr id="17" name="TextBox 16"/>
          <p:cNvSpPr txBox="1"/>
          <p:nvPr/>
        </p:nvSpPr>
        <p:spPr>
          <a:xfrm>
            <a:off x="1097280" y="5257800"/>
            <a:ext cx="4937760" cy="274320"/>
          </a:xfrm>
          <a:prstGeom prst="rect">
            <a:avLst/>
          </a:prstGeom>
          <a:noFill/>
        </p:spPr>
        <p:txBody>
          <a:bodyPr wrap="square">
            <a:spAutoFit/>
          </a:bodyPr>
          <a:lstStyle/>
          <a:p>
            <a:pPr algn="l">
              <a:defRPr sz="1300" b="1">
                <a:solidFill>
                  <a:srgbClr val="00B67A"/>
                </a:solidFill>
                <a:latin typeface="Calibri"/>
              </a:defRPr>
            </a:pPr>
            <a:r>
              <a:t>✓ Unique in Market</a:t>
            </a:r>
          </a:p>
        </p:txBody>
      </p:sp>
      <p:sp>
        <p:nvSpPr>
          <p:cNvPr id="18" name="TextBox 17"/>
          <p:cNvSpPr txBox="1"/>
          <p:nvPr/>
        </p:nvSpPr>
        <p:spPr>
          <a:xfrm>
            <a:off x="1097280" y="5577840"/>
            <a:ext cx="4937760" cy="640080"/>
          </a:xfrm>
          <a:prstGeom prst="rect">
            <a:avLst/>
          </a:prstGeom>
          <a:noFill/>
        </p:spPr>
        <p:txBody>
          <a:bodyPr wrap="square">
            <a:spAutoFit/>
          </a:bodyPr>
          <a:lstStyle/>
          <a:p>
            <a:pPr algn="l">
              <a:defRPr sz="1100" b="0">
                <a:solidFill>
                  <a:srgbClr val="555577"/>
                </a:solidFill>
                <a:latin typeface="Calibri"/>
              </a:defRPr>
            </a:pPr>
            <a:r>
              <a:t>Marketplace credentialing platforms ship one or two of these. The platform ships all six - see slide 21 (Where ESSEN Wins, 'AI governance is unique').</a:t>
            </a:r>
          </a:p>
        </p:txBody>
      </p:sp>
      <p:sp>
        <p:nvSpPr>
          <p:cNvPr id="19" name="TextBox 18"/>
          <p:cNvSpPr txBox="1"/>
          <p:nvPr/>
        </p:nvSpPr>
        <p:spPr>
          <a:xfrm>
            <a:off x="6766560" y="5257800"/>
            <a:ext cx="4937760" cy="274320"/>
          </a:xfrm>
          <a:prstGeom prst="rect">
            <a:avLst/>
          </a:prstGeom>
          <a:noFill/>
        </p:spPr>
        <p:txBody>
          <a:bodyPr wrap="square">
            <a:spAutoFit/>
          </a:bodyPr>
          <a:lstStyle/>
          <a:p>
            <a:pPr algn="l">
              <a:defRPr sz="1300" b="1">
                <a:solidFill>
                  <a:srgbClr val="00B67A"/>
                </a:solidFill>
                <a:latin typeface="Calibri"/>
              </a:defRPr>
            </a:pPr>
            <a:r>
              <a:t>✓ Quarterly Model Review</a:t>
            </a:r>
          </a:p>
        </p:txBody>
      </p:sp>
      <p:sp>
        <p:nvSpPr>
          <p:cNvPr id="20" name="TextBox 19"/>
          <p:cNvSpPr txBox="1"/>
          <p:nvPr/>
        </p:nvSpPr>
        <p:spPr>
          <a:xfrm>
            <a:off x="6766560" y="5577840"/>
            <a:ext cx="4937760" cy="640080"/>
          </a:xfrm>
          <a:prstGeom prst="rect">
            <a:avLst/>
          </a:prstGeom>
          <a:noFill/>
        </p:spPr>
        <p:txBody>
          <a:bodyPr wrap="square">
            <a:spAutoFit/>
          </a:bodyPr>
          <a:lstStyle/>
          <a:p>
            <a:pPr algn="l">
              <a:defRPr sz="1100" b="0">
                <a:solidFill>
                  <a:srgbClr val="555577"/>
                </a:solidFill>
                <a:latin typeface="Calibri"/>
              </a:defRPr>
            </a:pPr>
            <a:r>
              <a:t>Compliance lead reviews each AiModelCard quarterly and at any model version bump. Cadence is enforced by a recurring BullMQ job; missed reviews surface as a Compliance task.</a:t>
            </a:r>
          </a:p>
        </p:txBody>
      </p:sp>
      <p:sp>
        <p:nvSpPr>
          <p:cNvPr id="21" name="TextBox 20"/>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5486400" cy="320040"/>
          </a:xfrm>
          <a:prstGeom prst="rect">
            <a:avLst/>
          </a:prstGeom>
          <a:noFill/>
        </p:spPr>
        <p:txBody>
          <a:bodyPr wrap="square">
            <a:spAutoFit/>
          </a:bodyPr>
          <a:lstStyle/>
          <a:p>
            <a:pPr algn="l">
              <a:defRPr sz="1100" b="1">
                <a:solidFill>
                  <a:srgbClr val="00A3E0"/>
                </a:solidFill>
                <a:latin typeface="Calibri"/>
              </a:defRPr>
            </a:pPr>
            <a:r>
              <a:t>TRANSFORMATION</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4000" b="1">
                <a:solidFill>
                  <a:srgbClr val="1A1A2E"/>
                </a:solidFill>
                <a:latin typeface="Calibri"/>
              </a:defRPr>
            </a:pPr>
            <a:r>
              <a:t>PARCS vs. ESSEN Platform</a:t>
            </a:r>
          </a:p>
        </p:txBody>
      </p:sp>
      <p:sp>
        <p:nvSpPr>
          <p:cNvPr id="4" name="Rounded Rectangle 3"/>
          <p:cNvSpPr/>
          <p:nvPr/>
        </p:nvSpPr>
        <p:spPr>
          <a:xfrm>
            <a:off x="731520" y="1371600"/>
            <a:ext cx="2743200" cy="411480"/>
          </a:xfrm>
          <a:prstGeom prst="roundRect">
            <a:avLst/>
          </a:prstGeom>
          <a:solidFill>
            <a:srgbClr val="061E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417320"/>
            <a:ext cx="2468880" cy="320040"/>
          </a:xfrm>
          <a:prstGeom prst="rect">
            <a:avLst/>
          </a:prstGeom>
          <a:noFill/>
        </p:spPr>
        <p:txBody>
          <a:bodyPr wrap="square">
            <a:spAutoFit/>
          </a:bodyPr>
          <a:lstStyle/>
          <a:p>
            <a:pPr algn="l">
              <a:defRPr sz="1100" b="1">
                <a:solidFill>
                  <a:srgbClr val="FFFFFF"/>
                </a:solidFill>
                <a:latin typeface="Calibri"/>
              </a:defRPr>
            </a:pPr>
            <a:r>
              <a:t>Process</a:t>
            </a:r>
          </a:p>
        </p:txBody>
      </p:sp>
      <p:sp>
        <p:nvSpPr>
          <p:cNvPr id="6" name="Rounded Rectangle 5"/>
          <p:cNvSpPr/>
          <p:nvPr/>
        </p:nvSpPr>
        <p:spPr>
          <a:xfrm>
            <a:off x="3566160" y="1371600"/>
            <a:ext cx="4114800" cy="411480"/>
          </a:xfrm>
          <a:prstGeom prst="roundRect">
            <a:avLst/>
          </a:prstGeom>
          <a:solidFill>
            <a:srgbClr val="061E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703320" y="1417320"/>
            <a:ext cx="3840480" cy="320040"/>
          </a:xfrm>
          <a:prstGeom prst="rect">
            <a:avLst/>
          </a:prstGeom>
          <a:noFill/>
        </p:spPr>
        <p:txBody>
          <a:bodyPr wrap="square">
            <a:spAutoFit/>
          </a:bodyPr>
          <a:lstStyle/>
          <a:p>
            <a:pPr algn="l">
              <a:defRPr sz="1100" b="1">
                <a:solidFill>
                  <a:srgbClr val="FFFFFF"/>
                </a:solidFill>
                <a:latin typeface="Calibri"/>
              </a:defRPr>
            </a:pPr>
            <a:r>
              <a:t>PARCS (Current)</a:t>
            </a:r>
          </a:p>
        </p:txBody>
      </p:sp>
      <p:sp>
        <p:nvSpPr>
          <p:cNvPr id="8" name="Rounded Rectangle 7"/>
          <p:cNvSpPr/>
          <p:nvPr/>
        </p:nvSpPr>
        <p:spPr>
          <a:xfrm>
            <a:off x="7772400" y="1371600"/>
            <a:ext cx="4114800" cy="411480"/>
          </a:xfrm>
          <a:prstGeom prst="roundRect">
            <a:avLst/>
          </a:prstGeom>
          <a:solidFill>
            <a:srgbClr val="061E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09560" y="1417320"/>
            <a:ext cx="3840480" cy="320040"/>
          </a:xfrm>
          <a:prstGeom prst="rect">
            <a:avLst/>
          </a:prstGeom>
          <a:noFill/>
        </p:spPr>
        <p:txBody>
          <a:bodyPr wrap="square">
            <a:spAutoFit/>
          </a:bodyPr>
          <a:lstStyle/>
          <a:p>
            <a:pPr algn="l">
              <a:defRPr sz="1100" b="1">
                <a:solidFill>
                  <a:srgbClr val="FFFFFF"/>
                </a:solidFill>
                <a:latin typeface="Calibri"/>
              </a:defRPr>
            </a:pPr>
            <a:r>
              <a:t>ESSEN Platform (New)</a:t>
            </a:r>
          </a:p>
        </p:txBody>
      </p:sp>
      <p:sp>
        <p:nvSpPr>
          <p:cNvPr id="10" name="Rounded Rectangle 9"/>
          <p:cNvSpPr/>
          <p:nvPr/>
        </p:nvSpPr>
        <p:spPr>
          <a:xfrm>
            <a:off x="731520" y="1828800"/>
            <a:ext cx="2743200" cy="530352"/>
          </a:xfrm>
          <a:prstGeom prst="round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566160" y="1828800"/>
            <a:ext cx="4114800" cy="530352"/>
          </a:xfrm>
          <a:prstGeom prst="round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772400" y="1828800"/>
            <a:ext cx="4114800" cy="530352"/>
          </a:xfrm>
          <a:prstGeom prst="round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1901952"/>
            <a:ext cx="2468880" cy="365760"/>
          </a:xfrm>
          <a:prstGeom prst="rect">
            <a:avLst/>
          </a:prstGeom>
          <a:noFill/>
        </p:spPr>
        <p:txBody>
          <a:bodyPr wrap="square">
            <a:spAutoFit/>
          </a:bodyPr>
          <a:lstStyle/>
          <a:p>
            <a:pPr algn="l">
              <a:defRPr sz="1100" b="1">
                <a:solidFill>
                  <a:srgbClr val="1A1A2E"/>
                </a:solidFill>
                <a:latin typeface="Calibri"/>
              </a:defRPr>
            </a:pPr>
            <a:r>
              <a:t>License Verification</a:t>
            </a:r>
          </a:p>
        </p:txBody>
      </p:sp>
      <p:sp>
        <p:nvSpPr>
          <p:cNvPr id="14" name="TextBox 13"/>
          <p:cNvSpPr txBox="1"/>
          <p:nvPr/>
        </p:nvSpPr>
        <p:spPr>
          <a:xfrm>
            <a:off x="3703320" y="1901952"/>
            <a:ext cx="3840480" cy="365760"/>
          </a:xfrm>
          <a:prstGeom prst="rect">
            <a:avLst/>
          </a:prstGeom>
          <a:noFill/>
        </p:spPr>
        <p:txBody>
          <a:bodyPr wrap="square">
            <a:spAutoFit/>
          </a:bodyPr>
          <a:lstStyle/>
          <a:p>
            <a:pPr algn="l">
              <a:defRPr sz="1000" b="0">
                <a:solidFill>
                  <a:srgbClr val="E63946"/>
                </a:solidFill>
                <a:latin typeface="Calibri"/>
              </a:defRPr>
            </a:pPr>
            <a:r>
              <a:t>Manual: navigate to state board, search, screenshot, save to K: drive</a:t>
            </a:r>
          </a:p>
        </p:txBody>
      </p:sp>
      <p:sp>
        <p:nvSpPr>
          <p:cNvPr id="15" name="TextBox 14"/>
          <p:cNvSpPr txBox="1"/>
          <p:nvPr/>
        </p:nvSpPr>
        <p:spPr>
          <a:xfrm>
            <a:off x="7909560" y="1901952"/>
            <a:ext cx="3840480" cy="365760"/>
          </a:xfrm>
          <a:prstGeom prst="rect">
            <a:avLst/>
          </a:prstGeom>
          <a:noFill/>
        </p:spPr>
        <p:txBody>
          <a:bodyPr wrap="square">
            <a:spAutoFit/>
          </a:bodyPr>
          <a:lstStyle/>
          <a:p>
            <a:pPr algn="l">
              <a:defRPr sz="1000" b="1">
                <a:solidFill>
                  <a:srgbClr val="00B67A"/>
                </a:solidFill>
                <a:latin typeface="Calibri"/>
              </a:defRPr>
            </a:pPr>
            <a:r>
              <a:t>Automated: bot verifies all 50 states, saves timestamped PDF, updates checklist</a:t>
            </a:r>
          </a:p>
        </p:txBody>
      </p:sp>
      <p:sp>
        <p:nvSpPr>
          <p:cNvPr id="16" name="Rounded Rectangle 15"/>
          <p:cNvSpPr/>
          <p:nvPr/>
        </p:nvSpPr>
        <p:spPr>
          <a:xfrm>
            <a:off x="731520" y="2395728"/>
            <a:ext cx="274320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566160" y="2395728"/>
            <a:ext cx="411480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772400" y="2395728"/>
            <a:ext cx="411480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2468880"/>
            <a:ext cx="2468880" cy="365760"/>
          </a:xfrm>
          <a:prstGeom prst="rect">
            <a:avLst/>
          </a:prstGeom>
          <a:noFill/>
        </p:spPr>
        <p:txBody>
          <a:bodyPr wrap="square">
            <a:spAutoFit/>
          </a:bodyPr>
          <a:lstStyle/>
          <a:p>
            <a:pPr algn="l">
              <a:defRPr sz="1100" b="1">
                <a:solidFill>
                  <a:srgbClr val="1A1A2E"/>
                </a:solidFill>
                <a:latin typeface="Calibri"/>
              </a:defRPr>
            </a:pPr>
            <a:r>
              <a:t>DEA Verification</a:t>
            </a:r>
          </a:p>
        </p:txBody>
      </p:sp>
      <p:sp>
        <p:nvSpPr>
          <p:cNvPr id="20" name="TextBox 19"/>
          <p:cNvSpPr txBox="1"/>
          <p:nvPr/>
        </p:nvSpPr>
        <p:spPr>
          <a:xfrm>
            <a:off x="3703320" y="2468880"/>
            <a:ext cx="3840480" cy="365760"/>
          </a:xfrm>
          <a:prstGeom prst="rect">
            <a:avLst/>
          </a:prstGeom>
          <a:noFill/>
        </p:spPr>
        <p:txBody>
          <a:bodyPr wrap="square">
            <a:spAutoFit/>
          </a:bodyPr>
          <a:lstStyle/>
          <a:p>
            <a:pPr algn="l">
              <a:defRPr sz="1000" b="0">
                <a:solidFill>
                  <a:srgbClr val="E63946"/>
                </a:solidFill>
                <a:latin typeface="Calibri"/>
              </a:defRPr>
            </a:pPr>
            <a:r>
              <a:t>Manual: log into DEA portal, handle MFA, screenshot results</a:t>
            </a:r>
          </a:p>
        </p:txBody>
      </p:sp>
      <p:sp>
        <p:nvSpPr>
          <p:cNvPr id="21" name="TextBox 20"/>
          <p:cNvSpPr txBox="1"/>
          <p:nvPr/>
        </p:nvSpPr>
        <p:spPr>
          <a:xfrm>
            <a:off x="7909560" y="2468880"/>
            <a:ext cx="3840480" cy="365760"/>
          </a:xfrm>
          <a:prstGeom prst="rect">
            <a:avLst/>
          </a:prstGeom>
          <a:noFill/>
        </p:spPr>
        <p:txBody>
          <a:bodyPr wrap="square">
            <a:spAutoFit/>
          </a:bodyPr>
          <a:lstStyle/>
          <a:p>
            <a:pPr algn="l">
              <a:defRPr sz="1000" b="1">
                <a:solidFill>
                  <a:srgbClr val="00B67A"/>
                </a:solidFill>
                <a:latin typeface="Calibri"/>
              </a:defRPr>
            </a:pPr>
            <a:r>
              <a:t>Automated: bot handles TOTP MFA, verifies, captures PDF in seconds</a:t>
            </a:r>
          </a:p>
        </p:txBody>
      </p:sp>
      <p:sp>
        <p:nvSpPr>
          <p:cNvPr id="22" name="Rounded Rectangle 21"/>
          <p:cNvSpPr/>
          <p:nvPr/>
        </p:nvSpPr>
        <p:spPr>
          <a:xfrm>
            <a:off x="731520" y="2962656"/>
            <a:ext cx="2743200" cy="530352"/>
          </a:xfrm>
          <a:prstGeom prst="round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566160" y="2962656"/>
            <a:ext cx="4114800" cy="530352"/>
          </a:xfrm>
          <a:prstGeom prst="round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772400" y="2962656"/>
            <a:ext cx="4114800" cy="530352"/>
          </a:xfrm>
          <a:prstGeom prst="round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8680" y="3035808"/>
            <a:ext cx="2468880" cy="365760"/>
          </a:xfrm>
          <a:prstGeom prst="rect">
            <a:avLst/>
          </a:prstGeom>
          <a:noFill/>
        </p:spPr>
        <p:txBody>
          <a:bodyPr wrap="square">
            <a:spAutoFit/>
          </a:bodyPr>
          <a:lstStyle/>
          <a:p>
            <a:pPr algn="l">
              <a:defRPr sz="1100" b="1">
                <a:solidFill>
                  <a:srgbClr val="1A1A2E"/>
                </a:solidFill>
                <a:latin typeface="Calibri"/>
              </a:defRPr>
            </a:pPr>
            <a:r>
              <a:t>Sanctions Checking</a:t>
            </a:r>
          </a:p>
        </p:txBody>
      </p:sp>
      <p:sp>
        <p:nvSpPr>
          <p:cNvPr id="26" name="TextBox 25"/>
          <p:cNvSpPr txBox="1"/>
          <p:nvPr/>
        </p:nvSpPr>
        <p:spPr>
          <a:xfrm>
            <a:off x="3703320" y="3035808"/>
            <a:ext cx="3840480" cy="365760"/>
          </a:xfrm>
          <a:prstGeom prst="rect">
            <a:avLst/>
          </a:prstGeom>
          <a:noFill/>
        </p:spPr>
        <p:txBody>
          <a:bodyPr wrap="square">
            <a:spAutoFit/>
          </a:bodyPr>
          <a:lstStyle/>
          <a:p>
            <a:pPr algn="l">
              <a:defRPr sz="1000" b="0">
                <a:solidFill>
                  <a:srgbClr val="E63946"/>
                </a:solidFill>
                <a:latin typeface="Calibri"/>
              </a:defRPr>
            </a:pPr>
            <a:r>
              <a:t>Manual: search OIG and SAM.gov separately per provider</a:t>
            </a:r>
          </a:p>
        </p:txBody>
      </p:sp>
      <p:sp>
        <p:nvSpPr>
          <p:cNvPr id="27" name="TextBox 26"/>
          <p:cNvSpPr txBox="1"/>
          <p:nvPr/>
        </p:nvSpPr>
        <p:spPr>
          <a:xfrm>
            <a:off x="7909560" y="3035808"/>
            <a:ext cx="3840480" cy="365760"/>
          </a:xfrm>
          <a:prstGeom prst="rect">
            <a:avLst/>
          </a:prstGeom>
          <a:noFill/>
        </p:spPr>
        <p:txBody>
          <a:bodyPr wrap="square">
            <a:spAutoFit/>
          </a:bodyPr>
          <a:lstStyle/>
          <a:p>
            <a:pPr algn="l">
              <a:defRPr sz="1000" b="1">
                <a:solidFill>
                  <a:srgbClr val="00B67A"/>
                </a:solidFill>
                <a:latin typeface="Calibri"/>
              </a:defRPr>
            </a:pPr>
            <a:r>
              <a:t>Automated: initial + monthly rechecks for all providers. Hard-stop on exclusions</a:t>
            </a:r>
          </a:p>
        </p:txBody>
      </p:sp>
      <p:sp>
        <p:nvSpPr>
          <p:cNvPr id="28" name="Rounded Rectangle 27"/>
          <p:cNvSpPr/>
          <p:nvPr/>
        </p:nvSpPr>
        <p:spPr>
          <a:xfrm>
            <a:off x="731520" y="3529584"/>
            <a:ext cx="274320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3566160" y="3529584"/>
            <a:ext cx="411480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7772400" y="3529584"/>
            <a:ext cx="411480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68680" y="3602736"/>
            <a:ext cx="2468880" cy="365760"/>
          </a:xfrm>
          <a:prstGeom prst="rect">
            <a:avLst/>
          </a:prstGeom>
          <a:noFill/>
        </p:spPr>
        <p:txBody>
          <a:bodyPr wrap="square">
            <a:spAutoFit/>
          </a:bodyPr>
          <a:lstStyle/>
          <a:p>
            <a:pPr algn="l">
              <a:defRPr sz="1100" b="1">
                <a:solidFill>
                  <a:srgbClr val="1A1A2E"/>
                </a:solidFill>
                <a:latin typeface="Calibri"/>
              </a:defRPr>
            </a:pPr>
            <a:r>
              <a:t>Document Storage</a:t>
            </a:r>
          </a:p>
        </p:txBody>
      </p:sp>
      <p:sp>
        <p:nvSpPr>
          <p:cNvPr id="32" name="TextBox 31"/>
          <p:cNvSpPr txBox="1"/>
          <p:nvPr/>
        </p:nvSpPr>
        <p:spPr>
          <a:xfrm>
            <a:off x="3703320" y="3602736"/>
            <a:ext cx="3840480" cy="365760"/>
          </a:xfrm>
          <a:prstGeom prst="rect">
            <a:avLst/>
          </a:prstGeom>
          <a:noFill/>
        </p:spPr>
        <p:txBody>
          <a:bodyPr wrap="square">
            <a:spAutoFit/>
          </a:bodyPr>
          <a:lstStyle/>
          <a:p>
            <a:pPr algn="l">
              <a:defRPr sz="1000" b="0">
                <a:solidFill>
                  <a:srgbClr val="E63946"/>
                </a:solidFill>
                <a:latin typeface="Calibri"/>
              </a:defRPr>
            </a:pPr>
            <a:r>
              <a:t>K: drive folders, VPN required, no version control</a:t>
            </a:r>
          </a:p>
        </p:txBody>
      </p:sp>
      <p:sp>
        <p:nvSpPr>
          <p:cNvPr id="33" name="TextBox 32"/>
          <p:cNvSpPr txBox="1"/>
          <p:nvPr/>
        </p:nvSpPr>
        <p:spPr>
          <a:xfrm>
            <a:off x="7909560" y="3602736"/>
            <a:ext cx="3840480" cy="365760"/>
          </a:xfrm>
          <a:prstGeom prst="rect">
            <a:avLst/>
          </a:prstGeom>
          <a:noFill/>
        </p:spPr>
        <p:txBody>
          <a:bodyPr wrap="square">
            <a:spAutoFit/>
          </a:bodyPr>
          <a:lstStyle/>
          <a:p>
            <a:pPr algn="l">
              <a:defRPr sz="1000" b="1">
                <a:solidFill>
                  <a:srgbClr val="00B67A"/>
                </a:solidFill>
                <a:latin typeface="Calibri"/>
              </a:defRPr>
            </a:pPr>
            <a:r>
              <a:t>Azure Blob Storage, web-accessible, versioned, SAS-secured, indexed</a:t>
            </a:r>
          </a:p>
        </p:txBody>
      </p:sp>
      <p:sp>
        <p:nvSpPr>
          <p:cNvPr id="34" name="Rounded Rectangle 33"/>
          <p:cNvSpPr/>
          <p:nvPr/>
        </p:nvSpPr>
        <p:spPr>
          <a:xfrm>
            <a:off x="731520" y="4096512"/>
            <a:ext cx="2743200" cy="530352"/>
          </a:xfrm>
          <a:prstGeom prst="round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3566160" y="4096512"/>
            <a:ext cx="4114800" cy="530352"/>
          </a:xfrm>
          <a:prstGeom prst="round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7772400" y="4096512"/>
            <a:ext cx="4114800" cy="530352"/>
          </a:xfrm>
          <a:prstGeom prst="round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68680" y="4169664"/>
            <a:ext cx="2468880" cy="365760"/>
          </a:xfrm>
          <a:prstGeom prst="rect">
            <a:avLst/>
          </a:prstGeom>
          <a:noFill/>
        </p:spPr>
        <p:txBody>
          <a:bodyPr wrap="square">
            <a:spAutoFit/>
          </a:bodyPr>
          <a:lstStyle/>
          <a:p>
            <a:pPr algn="l">
              <a:defRPr sz="1100" b="1">
                <a:solidFill>
                  <a:srgbClr val="1A1A2E"/>
                </a:solidFill>
                <a:latin typeface="Calibri"/>
              </a:defRPr>
            </a:pPr>
            <a:r>
              <a:t>Expirable Tracking</a:t>
            </a:r>
          </a:p>
        </p:txBody>
      </p:sp>
      <p:sp>
        <p:nvSpPr>
          <p:cNvPr id="38" name="TextBox 37"/>
          <p:cNvSpPr txBox="1"/>
          <p:nvPr/>
        </p:nvSpPr>
        <p:spPr>
          <a:xfrm>
            <a:off x="3703320" y="4169664"/>
            <a:ext cx="3840480" cy="365760"/>
          </a:xfrm>
          <a:prstGeom prst="rect">
            <a:avLst/>
          </a:prstGeom>
          <a:noFill/>
        </p:spPr>
        <p:txBody>
          <a:bodyPr wrap="square">
            <a:spAutoFit/>
          </a:bodyPr>
          <a:lstStyle/>
          <a:p>
            <a:pPr algn="l">
              <a:defRPr sz="1000" b="0">
                <a:solidFill>
                  <a:srgbClr val="E63946"/>
                </a:solidFill>
                <a:latin typeface="Calibri"/>
              </a:defRPr>
            </a:pPr>
            <a:r>
              <a:t>Spreadsheets, manual checks, reactive discovery</a:t>
            </a:r>
          </a:p>
        </p:txBody>
      </p:sp>
      <p:sp>
        <p:nvSpPr>
          <p:cNvPr id="39" name="TextBox 38"/>
          <p:cNvSpPr txBox="1"/>
          <p:nvPr/>
        </p:nvSpPr>
        <p:spPr>
          <a:xfrm>
            <a:off x="7909560" y="4169664"/>
            <a:ext cx="3840480" cy="365760"/>
          </a:xfrm>
          <a:prstGeom prst="rect">
            <a:avLst/>
          </a:prstGeom>
          <a:noFill/>
        </p:spPr>
        <p:txBody>
          <a:bodyPr wrap="square">
            <a:spAutoFit/>
          </a:bodyPr>
          <a:lstStyle/>
          <a:p>
            <a:pPr algn="l">
              <a:defRPr sz="1000" b="1">
                <a:solidFill>
                  <a:srgbClr val="00B67A"/>
                </a:solidFill>
                <a:latin typeface="Calibri"/>
              </a:defRPr>
            </a:pPr>
            <a:r>
              <a:t>Nightly automated scans, 90-day advance alerts, bot-assisted renewal</a:t>
            </a:r>
          </a:p>
        </p:txBody>
      </p:sp>
      <p:sp>
        <p:nvSpPr>
          <p:cNvPr id="40" name="Rounded Rectangle 39"/>
          <p:cNvSpPr/>
          <p:nvPr/>
        </p:nvSpPr>
        <p:spPr>
          <a:xfrm>
            <a:off x="731520" y="4663440"/>
            <a:ext cx="274320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3566160" y="4663440"/>
            <a:ext cx="411480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7772400" y="4663440"/>
            <a:ext cx="411480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68680" y="4736592"/>
            <a:ext cx="2468880" cy="365760"/>
          </a:xfrm>
          <a:prstGeom prst="rect">
            <a:avLst/>
          </a:prstGeom>
          <a:noFill/>
        </p:spPr>
        <p:txBody>
          <a:bodyPr wrap="square">
            <a:spAutoFit/>
          </a:bodyPr>
          <a:lstStyle/>
          <a:p>
            <a:pPr algn="l">
              <a:defRPr sz="1100" b="1">
                <a:solidFill>
                  <a:srgbClr val="1A1A2E"/>
                </a:solidFill>
                <a:latin typeface="Calibri"/>
              </a:defRPr>
            </a:pPr>
            <a:r>
              <a:t>Committee Prep</a:t>
            </a:r>
          </a:p>
        </p:txBody>
      </p:sp>
      <p:sp>
        <p:nvSpPr>
          <p:cNvPr id="44" name="TextBox 43"/>
          <p:cNvSpPr txBox="1"/>
          <p:nvPr/>
        </p:nvSpPr>
        <p:spPr>
          <a:xfrm>
            <a:off x="3703320" y="4736592"/>
            <a:ext cx="3840480" cy="365760"/>
          </a:xfrm>
          <a:prstGeom prst="rect">
            <a:avLst/>
          </a:prstGeom>
          <a:noFill/>
        </p:spPr>
        <p:txBody>
          <a:bodyPr wrap="square">
            <a:spAutoFit/>
          </a:bodyPr>
          <a:lstStyle/>
          <a:p>
            <a:pPr algn="l">
              <a:defRPr sz="1000" b="0">
                <a:solidFill>
                  <a:srgbClr val="E63946"/>
                </a:solidFill>
                <a:latin typeface="Calibri"/>
              </a:defRPr>
            </a:pPr>
            <a:r>
              <a:t>Manual summary sheets, hand-assembled packets</a:t>
            </a:r>
          </a:p>
        </p:txBody>
      </p:sp>
      <p:sp>
        <p:nvSpPr>
          <p:cNvPr id="45" name="TextBox 44"/>
          <p:cNvSpPr txBox="1"/>
          <p:nvPr/>
        </p:nvSpPr>
        <p:spPr>
          <a:xfrm>
            <a:off x="7909560" y="4736592"/>
            <a:ext cx="3840480" cy="365760"/>
          </a:xfrm>
          <a:prstGeom prst="rect">
            <a:avLst/>
          </a:prstGeom>
          <a:noFill/>
        </p:spPr>
        <p:txBody>
          <a:bodyPr wrap="square">
            <a:spAutoFit/>
          </a:bodyPr>
          <a:lstStyle/>
          <a:p>
            <a:pPr algn="l">
              <a:defRPr sz="1000" b="1">
                <a:solidFill>
                  <a:srgbClr val="00B67A"/>
                </a:solidFill>
                <a:latin typeface="Calibri"/>
              </a:defRPr>
            </a:pPr>
            <a:r>
              <a:t>Auto-generated summary sheets and one-click agendas, plus a per-provider verification packet (green-check / red-flag ledger) ready for committee one click ahead</a:t>
            </a:r>
          </a:p>
        </p:txBody>
      </p:sp>
      <p:sp>
        <p:nvSpPr>
          <p:cNvPr id="46" name="Rounded Rectangle 45"/>
          <p:cNvSpPr/>
          <p:nvPr/>
        </p:nvSpPr>
        <p:spPr>
          <a:xfrm>
            <a:off x="731520" y="5230368"/>
            <a:ext cx="2743200" cy="530352"/>
          </a:xfrm>
          <a:prstGeom prst="round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3566160" y="5230368"/>
            <a:ext cx="4114800" cy="530352"/>
          </a:xfrm>
          <a:prstGeom prst="round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7772400" y="5230368"/>
            <a:ext cx="4114800" cy="530352"/>
          </a:xfrm>
          <a:prstGeom prst="round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68680" y="5303520"/>
            <a:ext cx="2468880" cy="365760"/>
          </a:xfrm>
          <a:prstGeom prst="rect">
            <a:avLst/>
          </a:prstGeom>
          <a:noFill/>
        </p:spPr>
        <p:txBody>
          <a:bodyPr wrap="square">
            <a:spAutoFit/>
          </a:bodyPr>
          <a:lstStyle/>
          <a:p>
            <a:pPr algn="l">
              <a:defRPr sz="1100" b="1">
                <a:solidFill>
                  <a:srgbClr val="1A1A2E"/>
                </a:solidFill>
                <a:latin typeface="Calibri"/>
              </a:defRPr>
            </a:pPr>
            <a:r>
              <a:t>Provider Application</a:t>
            </a:r>
          </a:p>
        </p:txBody>
      </p:sp>
      <p:sp>
        <p:nvSpPr>
          <p:cNvPr id="50" name="TextBox 49"/>
          <p:cNvSpPr txBox="1"/>
          <p:nvPr/>
        </p:nvSpPr>
        <p:spPr>
          <a:xfrm>
            <a:off x="3703320" y="5303520"/>
            <a:ext cx="3840480" cy="365760"/>
          </a:xfrm>
          <a:prstGeom prst="rect">
            <a:avLst/>
          </a:prstGeom>
          <a:noFill/>
        </p:spPr>
        <p:txBody>
          <a:bodyPr wrap="square">
            <a:spAutoFit/>
          </a:bodyPr>
          <a:lstStyle/>
          <a:p>
            <a:pPr algn="l">
              <a:defRPr sz="1000" b="0">
                <a:solidFill>
                  <a:srgbClr val="E63946"/>
                </a:solidFill>
                <a:latin typeface="Calibri"/>
              </a:defRPr>
            </a:pPr>
            <a:r>
              <a:t>Paper forms, emailed documents, manual data entry</a:t>
            </a:r>
          </a:p>
        </p:txBody>
      </p:sp>
      <p:sp>
        <p:nvSpPr>
          <p:cNvPr id="51" name="TextBox 50"/>
          <p:cNvSpPr txBox="1"/>
          <p:nvPr/>
        </p:nvSpPr>
        <p:spPr>
          <a:xfrm>
            <a:off x="7909560" y="5303520"/>
            <a:ext cx="3840480" cy="365760"/>
          </a:xfrm>
          <a:prstGeom prst="rect">
            <a:avLst/>
          </a:prstGeom>
          <a:noFill/>
        </p:spPr>
        <p:txBody>
          <a:bodyPr wrap="square">
            <a:spAutoFit/>
          </a:bodyPr>
          <a:lstStyle/>
          <a:p>
            <a:pPr algn="l">
              <a:defRPr sz="1000" b="1">
                <a:solidFill>
                  <a:srgbClr val="00B67A"/>
                </a:solidFill>
                <a:latin typeface="Calibri"/>
              </a:defRPr>
            </a:pPr>
            <a:r>
              <a:t>Online portal with OCR auto-fill, CAQH/iCIMS data ingestion</a:t>
            </a:r>
          </a:p>
        </p:txBody>
      </p:sp>
      <p:sp>
        <p:nvSpPr>
          <p:cNvPr id="52" name="Rounded Rectangle 51"/>
          <p:cNvSpPr/>
          <p:nvPr/>
        </p:nvSpPr>
        <p:spPr>
          <a:xfrm>
            <a:off x="731520" y="5797296"/>
            <a:ext cx="274320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3566160" y="5797296"/>
            <a:ext cx="411480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7772400" y="5797296"/>
            <a:ext cx="411480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68680" y="5870448"/>
            <a:ext cx="2468880" cy="365760"/>
          </a:xfrm>
          <a:prstGeom prst="rect">
            <a:avLst/>
          </a:prstGeom>
          <a:noFill/>
        </p:spPr>
        <p:txBody>
          <a:bodyPr wrap="square">
            <a:spAutoFit/>
          </a:bodyPr>
          <a:lstStyle/>
          <a:p>
            <a:pPr algn="l">
              <a:defRPr sz="1100" b="1">
                <a:solidFill>
                  <a:srgbClr val="1A1A2E"/>
                </a:solidFill>
                <a:latin typeface="Calibri"/>
              </a:defRPr>
            </a:pPr>
            <a:r>
              <a:t>Enrollment Follow-Up</a:t>
            </a:r>
          </a:p>
        </p:txBody>
      </p:sp>
      <p:sp>
        <p:nvSpPr>
          <p:cNvPr id="56" name="TextBox 55"/>
          <p:cNvSpPr txBox="1"/>
          <p:nvPr/>
        </p:nvSpPr>
        <p:spPr>
          <a:xfrm>
            <a:off x="3703320" y="5870448"/>
            <a:ext cx="3840480" cy="365760"/>
          </a:xfrm>
          <a:prstGeom prst="rect">
            <a:avLst/>
          </a:prstGeom>
          <a:noFill/>
        </p:spPr>
        <p:txBody>
          <a:bodyPr wrap="square">
            <a:spAutoFit/>
          </a:bodyPr>
          <a:lstStyle/>
          <a:p>
            <a:pPr algn="l">
              <a:defRPr sz="1000" b="0">
                <a:solidFill>
                  <a:srgbClr val="E63946"/>
                </a:solidFill>
                <a:latin typeface="Calibri"/>
              </a:defRPr>
            </a:pPr>
            <a:r>
              <a:t>Manual tracking, missed cadences, hand-built rosters per payer, single-provider data entry, no accountability</a:t>
            </a:r>
          </a:p>
        </p:txBody>
      </p:sp>
      <p:sp>
        <p:nvSpPr>
          <p:cNvPr id="57" name="TextBox 56"/>
          <p:cNvSpPr txBox="1"/>
          <p:nvPr/>
        </p:nvSpPr>
        <p:spPr>
          <a:xfrm>
            <a:off x="7909560" y="5870448"/>
            <a:ext cx="3840480" cy="365760"/>
          </a:xfrm>
          <a:prstGeom prst="rect">
            <a:avLst/>
          </a:prstGeom>
          <a:noFill/>
        </p:spPr>
        <p:txBody>
          <a:bodyPr wrap="square">
            <a:spAutoFit/>
          </a:bodyPr>
          <a:lstStyle/>
          <a:p>
            <a:pPr algn="l">
              <a:defRPr sz="1000" b="1">
                <a:solidFill>
                  <a:srgbClr val="00B67A"/>
                </a:solidFill>
                <a:latin typeface="Calibri"/>
              </a:defRPr>
            </a:pPr>
            <a:r>
              <a:t>Configurable cadences with automated alerts, one-click roster generation per payer, bulk participation / ETIN uploads, follow-up log, audit trail</a:t>
            </a:r>
          </a:p>
        </p:txBody>
      </p:sp>
      <p:sp>
        <p:nvSpPr>
          <p:cNvPr id="58" name="TextBox 57"/>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61E4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5486400" cy="320040"/>
          </a:xfrm>
          <a:prstGeom prst="rect">
            <a:avLst/>
          </a:prstGeom>
          <a:noFill/>
        </p:spPr>
        <p:txBody>
          <a:bodyPr wrap="square">
            <a:spAutoFit/>
          </a:bodyPr>
          <a:lstStyle/>
          <a:p>
            <a:pPr algn="l">
              <a:defRPr sz="1100" b="1">
                <a:solidFill>
                  <a:srgbClr val="CCCCDD"/>
                </a:solidFill>
                <a:latin typeface="Calibri"/>
              </a:defRPr>
            </a:pPr>
            <a:r>
              <a:t>TECHNOLOGY</a:t>
            </a:r>
          </a:p>
        </p:txBody>
      </p:sp>
      <p:sp>
        <p:nvSpPr>
          <p:cNvPr id="3" name="TextBox 2"/>
          <p:cNvSpPr txBox="1"/>
          <p:nvPr/>
        </p:nvSpPr>
        <p:spPr>
          <a:xfrm>
            <a:off x="731520" y="731520"/>
            <a:ext cx="9144000" cy="640080"/>
          </a:xfrm>
          <a:prstGeom prst="rect">
            <a:avLst/>
          </a:prstGeom>
          <a:noFill/>
        </p:spPr>
        <p:txBody>
          <a:bodyPr wrap="square">
            <a:spAutoFit/>
          </a:bodyPr>
          <a:lstStyle/>
          <a:p>
            <a:pPr algn="l">
              <a:defRPr sz="4000" b="1">
                <a:solidFill>
                  <a:srgbClr val="FFFFFF"/>
                </a:solidFill>
                <a:latin typeface="Calibri"/>
              </a:defRPr>
            </a:pPr>
            <a:r>
              <a:t>Built on Enterprise-Grade Architecture</a:t>
            </a:r>
          </a:p>
        </p:txBody>
      </p:sp>
      <p:sp>
        <p:nvSpPr>
          <p:cNvPr id="4" name="TextBox 3"/>
          <p:cNvSpPr txBox="1"/>
          <p:nvPr/>
        </p:nvSpPr>
        <p:spPr>
          <a:xfrm>
            <a:off x="731520" y="1371600"/>
            <a:ext cx="9144000" cy="457200"/>
          </a:xfrm>
          <a:prstGeom prst="rect">
            <a:avLst/>
          </a:prstGeom>
          <a:noFill/>
        </p:spPr>
        <p:txBody>
          <a:bodyPr wrap="square">
            <a:spAutoFit/>
          </a:bodyPr>
          <a:lstStyle/>
          <a:p>
            <a:pPr algn="l">
              <a:defRPr sz="1600" b="0">
                <a:solidFill>
                  <a:srgbClr val="CCCCDD"/>
                </a:solidFill>
                <a:latin typeface="Calibri"/>
              </a:defRPr>
            </a:pPr>
            <a:r>
              <a:t>Modern, secure, scalable - aligned with Essen's existing Microsoft/Azure infrastructure.</a:t>
            </a:r>
          </a:p>
        </p:txBody>
      </p:sp>
      <p:sp>
        <p:nvSpPr>
          <p:cNvPr id="5" name="TextBox 4"/>
          <p:cNvSpPr txBox="1"/>
          <p:nvPr/>
        </p:nvSpPr>
        <p:spPr>
          <a:xfrm>
            <a:off x="731520" y="2103120"/>
            <a:ext cx="4572000" cy="365760"/>
          </a:xfrm>
          <a:prstGeom prst="rect">
            <a:avLst/>
          </a:prstGeom>
          <a:noFill/>
        </p:spPr>
        <p:txBody>
          <a:bodyPr wrap="square">
            <a:spAutoFit/>
          </a:bodyPr>
          <a:lstStyle/>
          <a:p>
            <a:pPr algn="l">
              <a:defRPr sz="2200" b="1">
                <a:solidFill>
                  <a:srgbClr val="FFFFFF"/>
                </a:solidFill>
                <a:latin typeface="Calibri"/>
              </a:defRPr>
            </a:pPr>
            <a:r>
              <a:t>Technology Stack</a:t>
            </a:r>
          </a:p>
        </p:txBody>
      </p:sp>
      <p:sp>
        <p:nvSpPr>
          <p:cNvPr id="6" name="Rounded Rectangle 5"/>
          <p:cNvSpPr/>
          <p:nvPr/>
        </p:nvSpPr>
        <p:spPr>
          <a:xfrm>
            <a:off x="731520" y="2651760"/>
            <a:ext cx="1417320" cy="347472"/>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688336"/>
            <a:ext cx="1417320" cy="274320"/>
          </a:xfrm>
          <a:prstGeom prst="rect">
            <a:avLst/>
          </a:prstGeom>
          <a:noFill/>
        </p:spPr>
        <p:txBody>
          <a:bodyPr wrap="square">
            <a:spAutoFit/>
          </a:bodyPr>
          <a:lstStyle/>
          <a:p>
            <a:pPr algn="ctr">
              <a:defRPr sz="1000" b="1">
                <a:solidFill>
                  <a:srgbClr val="CCCCDD"/>
                </a:solidFill>
                <a:latin typeface="Calibri"/>
              </a:defRPr>
            </a:pPr>
            <a:r>
              <a:t>Next.js 14+</a:t>
            </a:r>
          </a:p>
        </p:txBody>
      </p:sp>
      <p:sp>
        <p:nvSpPr>
          <p:cNvPr id="8" name="Rounded Rectangle 7"/>
          <p:cNvSpPr/>
          <p:nvPr/>
        </p:nvSpPr>
        <p:spPr>
          <a:xfrm>
            <a:off x="2286000" y="2651760"/>
            <a:ext cx="1417320" cy="347472"/>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0" y="2688336"/>
            <a:ext cx="1417320" cy="274320"/>
          </a:xfrm>
          <a:prstGeom prst="rect">
            <a:avLst/>
          </a:prstGeom>
          <a:noFill/>
        </p:spPr>
        <p:txBody>
          <a:bodyPr wrap="square">
            <a:spAutoFit/>
          </a:bodyPr>
          <a:lstStyle/>
          <a:p>
            <a:pPr algn="ctr">
              <a:defRPr sz="1000" b="1">
                <a:solidFill>
                  <a:srgbClr val="CCCCDD"/>
                </a:solidFill>
                <a:latin typeface="Calibri"/>
              </a:defRPr>
            </a:pPr>
            <a:r>
              <a:t>TypeScript</a:t>
            </a:r>
          </a:p>
        </p:txBody>
      </p:sp>
      <p:sp>
        <p:nvSpPr>
          <p:cNvPr id="10" name="Rounded Rectangle 9"/>
          <p:cNvSpPr/>
          <p:nvPr/>
        </p:nvSpPr>
        <p:spPr>
          <a:xfrm>
            <a:off x="3840480" y="2651760"/>
            <a:ext cx="1417320" cy="347472"/>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40480" y="2688336"/>
            <a:ext cx="1417320" cy="274320"/>
          </a:xfrm>
          <a:prstGeom prst="rect">
            <a:avLst/>
          </a:prstGeom>
          <a:noFill/>
        </p:spPr>
        <p:txBody>
          <a:bodyPr wrap="square">
            <a:spAutoFit/>
          </a:bodyPr>
          <a:lstStyle/>
          <a:p>
            <a:pPr algn="ctr">
              <a:defRPr sz="1000" b="1">
                <a:solidFill>
                  <a:srgbClr val="CCCCDD"/>
                </a:solidFill>
                <a:latin typeface="Calibri"/>
              </a:defRPr>
            </a:pPr>
            <a:r>
              <a:t>tRPC</a:t>
            </a:r>
          </a:p>
        </p:txBody>
      </p:sp>
      <p:sp>
        <p:nvSpPr>
          <p:cNvPr id="12" name="Rounded Rectangle 11"/>
          <p:cNvSpPr/>
          <p:nvPr/>
        </p:nvSpPr>
        <p:spPr>
          <a:xfrm>
            <a:off x="5394959" y="2651760"/>
            <a:ext cx="1417320" cy="347472"/>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94959" y="2688336"/>
            <a:ext cx="1417320" cy="274320"/>
          </a:xfrm>
          <a:prstGeom prst="rect">
            <a:avLst/>
          </a:prstGeom>
          <a:noFill/>
        </p:spPr>
        <p:txBody>
          <a:bodyPr wrap="square">
            <a:spAutoFit/>
          </a:bodyPr>
          <a:lstStyle/>
          <a:p>
            <a:pPr algn="ctr">
              <a:defRPr sz="1000" b="1">
                <a:solidFill>
                  <a:srgbClr val="CCCCDD"/>
                </a:solidFill>
                <a:latin typeface="Calibri"/>
              </a:defRPr>
            </a:pPr>
            <a:r>
              <a:t>Prisma</a:t>
            </a:r>
          </a:p>
        </p:txBody>
      </p:sp>
      <p:sp>
        <p:nvSpPr>
          <p:cNvPr id="14" name="Rounded Rectangle 13"/>
          <p:cNvSpPr/>
          <p:nvPr/>
        </p:nvSpPr>
        <p:spPr>
          <a:xfrm>
            <a:off x="7614453" y="2651760"/>
            <a:ext cx="1417320" cy="347472"/>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14453" y="2688336"/>
            <a:ext cx="1417320" cy="274320"/>
          </a:xfrm>
          <a:prstGeom prst="rect">
            <a:avLst/>
          </a:prstGeom>
          <a:noFill/>
        </p:spPr>
        <p:txBody>
          <a:bodyPr wrap="square">
            <a:spAutoFit/>
          </a:bodyPr>
          <a:lstStyle/>
          <a:p>
            <a:pPr algn="ctr">
              <a:defRPr sz="1000" b="1">
                <a:solidFill>
                  <a:srgbClr val="CCCCDD"/>
                </a:solidFill>
                <a:latin typeface="Calibri"/>
              </a:defRPr>
            </a:pPr>
            <a:r>
              <a:t>PostgreSQL</a:t>
            </a:r>
          </a:p>
        </p:txBody>
      </p:sp>
      <p:sp>
        <p:nvSpPr>
          <p:cNvPr id="16" name="Rounded Rectangle 15"/>
          <p:cNvSpPr/>
          <p:nvPr/>
        </p:nvSpPr>
        <p:spPr>
          <a:xfrm>
            <a:off x="9168933" y="2651760"/>
            <a:ext cx="1417320" cy="347472"/>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68933" y="2688336"/>
            <a:ext cx="1417320" cy="274320"/>
          </a:xfrm>
          <a:prstGeom prst="rect">
            <a:avLst/>
          </a:prstGeom>
          <a:noFill/>
        </p:spPr>
        <p:txBody>
          <a:bodyPr wrap="square">
            <a:spAutoFit/>
          </a:bodyPr>
          <a:lstStyle/>
          <a:p>
            <a:pPr algn="ctr">
              <a:defRPr sz="1000" b="1">
                <a:solidFill>
                  <a:srgbClr val="CCCCDD"/>
                </a:solidFill>
                <a:latin typeface="Calibri"/>
              </a:defRPr>
            </a:pPr>
            <a:r>
              <a:t>Redis</a:t>
            </a:r>
          </a:p>
        </p:txBody>
      </p:sp>
      <p:sp>
        <p:nvSpPr>
          <p:cNvPr id="18" name="Rounded Rectangle 17"/>
          <p:cNvSpPr/>
          <p:nvPr/>
        </p:nvSpPr>
        <p:spPr>
          <a:xfrm>
            <a:off x="731520" y="3108960"/>
            <a:ext cx="1417320" cy="347472"/>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3145536"/>
            <a:ext cx="1417320" cy="274320"/>
          </a:xfrm>
          <a:prstGeom prst="rect">
            <a:avLst/>
          </a:prstGeom>
          <a:noFill/>
        </p:spPr>
        <p:txBody>
          <a:bodyPr wrap="square">
            <a:spAutoFit/>
          </a:bodyPr>
          <a:lstStyle/>
          <a:p>
            <a:pPr algn="ctr">
              <a:defRPr sz="1000" b="1">
                <a:solidFill>
                  <a:srgbClr val="CCCCDD"/>
                </a:solidFill>
                <a:latin typeface="Calibri"/>
              </a:defRPr>
            </a:pPr>
            <a:r>
              <a:t>Playwright</a:t>
            </a:r>
          </a:p>
        </p:txBody>
      </p:sp>
      <p:sp>
        <p:nvSpPr>
          <p:cNvPr id="20" name="Rounded Rectangle 19"/>
          <p:cNvSpPr/>
          <p:nvPr/>
        </p:nvSpPr>
        <p:spPr>
          <a:xfrm>
            <a:off x="2286000" y="3108960"/>
            <a:ext cx="1417320" cy="347472"/>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0" y="3145536"/>
            <a:ext cx="1417320" cy="274320"/>
          </a:xfrm>
          <a:prstGeom prst="rect">
            <a:avLst/>
          </a:prstGeom>
          <a:noFill/>
        </p:spPr>
        <p:txBody>
          <a:bodyPr wrap="square">
            <a:spAutoFit/>
          </a:bodyPr>
          <a:lstStyle/>
          <a:p>
            <a:pPr algn="ctr">
              <a:defRPr sz="1000" b="1">
                <a:solidFill>
                  <a:srgbClr val="CCCCDD"/>
                </a:solidFill>
                <a:latin typeface="Calibri"/>
              </a:defRPr>
            </a:pPr>
            <a:r>
              <a:t>BullMQ</a:t>
            </a:r>
          </a:p>
        </p:txBody>
      </p:sp>
      <p:sp>
        <p:nvSpPr>
          <p:cNvPr id="22" name="Rounded Rectangle 21"/>
          <p:cNvSpPr/>
          <p:nvPr/>
        </p:nvSpPr>
        <p:spPr>
          <a:xfrm>
            <a:off x="3840480" y="3108960"/>
            <a:ext cx="1417320" cy="347472"/>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840480" y="3145536"/>
            <a:ext cx="1417320" cy="274320"/>
          </a:xfrm>
          <a:prstGeom prst="rect">
            <a:avLst/>
          </a:prstGeom>
          <a:noFill/>
        </p:spPr>
        <p:txBody>
          <a:bodyPr wrap="square">
            <a:spAutoFit/>
          </a:bodyPr>
          <a:lstStyle/>
          <a:p>
            <a:pPr algn="ctr">
              <a:defRPr sz="1000" b="1">
                <a:solidFill>
                  <a:srgbClr val="CCCCDD"/>
                </a:solidFill>
                <a:latin typeface="Calibri"/>
              </a:defRPr>
            </a:pPr>
            <a:r>
              <a:t>Socket.io</a:t>
            </a:r>
          </a:p>
        </p:txBody>
      </p:sp>
      <p:sp>
        <p:nvSpPr>
          <p:cNvPr id="24" name="Rounded Rectangle 23"/>
          <p:cNvSpPr/>
          <p:nvPr/>
        </p:nvSpPr>
        <p:spPr>
          <a:xfrm>
            <a:off x="5394959" y="3108960"/>
            <a:ext cx="1417320" cy="347472"/>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94959" y="3145536"/>
            <a:ext cx="1417320" cy="274320"/>
          </a:xfrm>
          <a:prstGeom prst="rect">
            <a:avLst/>
          </a:prstGeom>
          <a:noFill/>
        </p:spPr>
        <p:txBody>
          <a:bodyPr wrap="square">
            <a:spAutoFit/>
          </a:bodyPr>
          <a:lstStyle/>
          <a:p>
            <a:pPr algn="ctr">
              <a:defRPr sz="1000" b="1">
                <a:solidFill>
                  <a:srgbClr val="CCCCDD"/>
                </a:solidFill>
                <a:latin typeface="Calibri"/>
              </a:defRPr>
            </a:pPr>
            <a:r>
              <a:t>Auth.js v5</a:t>
            </a:r>
          </a:p>
        </p:txBody>
      </p:sp>
      <p:sp>
        <p:nvSpPr>
          <p:cNvPr id="26" name="Rounded Rectangle 25"/>
          <p:cNvSpPr/>
          <p:nvPr/>
        </p:nvSpPr>
        <p:spPr>
          <a:xfrm>
            <a:off x="731520" y="3566160"/>
            <a:ext cx="1417320" cy="347472"/>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 y="3602736"/>
            <a:ext cx="1417320" cy="274320"/>
          </a:xfrm>
          <a:prstGeom prst="rect">
            <a:avLst/>
          </a:prstGeom>
          <a:noFill/>
        </p:spPr>
        <p:txBody>
          <a:bodyPr wrap="square">
            <a:spAutoFit/>
          </a:bodyPr>
          <a:lstStyle/>
          <a:p>
            <a:pPr algn="ctr">
              <a:defRPr sz="1000" b="1">
                <a:solidFill>
                  <a:srgbClr val="CCCCDD"/>
                </a:solidFill>
                <a:latin typeface="Calibri"/>
              </a:defRPr>
            </a:pPr>
            <a:r>
              <a:t>Azure AD SSO</a:t>
            </a:r>
          </a:p>
        </p:txBody>
      </p:sp>
      <p:sp>
        <p:nvSpPr>
          <p:cNvPr id="28" name="Rounded Rectangle 27"/>
          <p:cNvSpPr/>
          <p:nvPr/>
        </p:nvSpPr>
        <p:spPr>
          <a:xfrm>
            <a:off x="2286000" y="3566160"/>
            <a:ext cx="1417320" cy="347472"/>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0" y="3602736"/>
            <a:ext cx="1417320" cy="274320"/>
          </a:xfrm>
          <a:prstGeom prst="rect">
            <a:avLst/>
          </a:prstGeom>
          <a:noFill/>
        </p:spPr>
        <p:txBody>
          <a:bodyPr wrap="square">
            <a:spAutoFit/>
          </a:bodyPr>
          <a:lstStyle/>
          <a:p>
            <a:pPr algn="ctr">
              <a:defRPr sz="1000" b="1">
                <a:solidFill>
                  <a:srgbClr val="CCCCDD"/>
                </a:solidFill>
                <a:latin typeface="Calibri"/>
              </a:defRPr>
            </a:pPr>
            <a:r>
              <a:t>Azure Blob</a:t>
            </a:r>
          </a:p>
        </p:txBody>
      </p:sp>
      <p:sp>
        <p:nvSpPr>
          <p:cNvPr id="30" name="Rounded Rectangle 29"/>
          <p:cNvSpPr/>
          <p:nvPr/>
        </p:nvSpPr>
        <p:spPr>
          <a:xfrm>
            <a:off x="3840480" y="3566160"/>
            <a:ext cx="1417320" cy="347472"/>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840480" y="3602736"/>
            <a:ext cx="1417320" cy="274320"/>
          </a:xfrm>
          <a:prstGeom prst="rect">
            <a:avLst/>
          </a:prstGeom>
          <a:noFill/>
        </p:spPr>
        <p:txBody>
          <a:bodyPr wrap="square">
            <a:spAutoFit/>
          </a:bodyPr>
          <a:lstStyle/>
          <a:p>
            <a:pPr algn="ctr">
              <a:defRPr sz="1000" b="1">
                <a:solidFill>
                  <a:srgbClr val="CCCCDD"/>
                </a:solidFill>
                <a:latin typeface="Calibri"/>
              </a:defRPr>
            </a:pPr>
            <a:r>
              <a:t>Azure Key Vault</a:t>
            </a:r>
          </a:p>
        </p:txBody>
      </p:sp>
      <p:sp>
        <p:nvSpPr>
          <p:cNvPr id="32" name="Rounded Rectangle 31"/>
          <p:cNvSpPr/>
          <p:nvPr/>
        </p:nvSpPr>
        <p:spPr>
          <a:xfrm>
            <a:off x="5394959" y="3566160"/>
            <a:ext cx="1417320" cy="347472"/>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394959" y="3602736"/>
            <a:ext cx="1417320" cy="274320"/>
          </a:xfrm>
          <a:prstGeom prst="rect">
            <a:avLst/>
          </a:prstGeom>
          <a:noFill/>
        </p:spPr>
        <p:txBody>
          <a:bodyPr wrap="square">
            <a:spAutoFit/>
          </a:bodyPr>
          <a:lstStyle/>
          <a:p>
            <a:pPr algn="ctr">
              <a:defRPr sz="1000" b="1">
                <a:solidFill>
                  <a:srgbClr val="CCCCDD"/>
                </a:solidFill>
                <a:latin typeface="Calibri"/>
              </a:defRPr>
            </a:pPr>
            <a:r>
              <a:t>Azure AI Document Intelligence + Azure OpenAI</a:t>
            </a:r>
          </a:p>
        </p:txBody>
      </p:sp>
      <p:sp>
        <p:nvSpPr>
          <p:cNvPr id="34" name="Rounded Rectangle 33"/>
          <p:cNvSpPr/>
          <p:nvPr/>
        </p:nvSpPr>
        <p:spPr>
          <a:xfrm>
            <a:off x="7614453" y="3566160"/>
            <a:ext cx="1417320" cy="347472"/>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614453" y="3602736"/>
            <a:ext cx="1417320" cy="274320"/>
          </a:xfrm>
          <a:prstGeom prst="rect">
            <a:avLst/>
          </a:prstGeom>
          <a:noFill/>
        </p:spPr>
        <p:txBody>
          <a:bodyPr wrap="square">
            <a:spAutoFit/>
          </a:bodyPr>
          <a:lstStyle/>
          <a:p>
            <a:pPr algn="ctr">
              <a:defRPr sz="1000" b="1">
                <a:solidFill>
                  <a:srgbClr val="CCCCDD"/>
                </a:solidFill>
                <a:latin typeface="Calibri"/>
              </a:defRPr>
            </a:pPr>
            <a:r>
              <a:t>SendGrid</a:t>
            </a:r>
          </a:p>
        </p:txBody>
      </p:sp>
      <p:sp>
        <p:nvSpPr>
          <p:cNvPr id="36" name="Rounded Rectangle 35"/>
          <p:cNvSpPr/>
          <p:nvPr/>
        </p:nvSpPr>
        <p:spPr>
          <a:xfrm>
            <a:off x="6882933" y="2103120"/>
            <a:ext cx="5303520" cy="41148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157253" y="2286000"/>
            <a:ext cx="4754880" cy="3657600"/>
          </a:xfrm>
          <a:prstGeom prst="rect">
            <a:avLst/>
          </a:prstGeom>
          <a:noFill/>
        </p:spPr>
        <p:txBody>
          <a:bodyPr wrap="square">
            <a:spAutoFit/>
          </a:bodyPr>
          <a:lstStyle/>
          <a:p>
            <a:pPr>
              <a:spcBef>
                <a:spcPts val="100"/>
              </a:spcBef>
              <a:spcAft>
                <a:spcPts val="100"/>
              </a:spcAft>
              <a:defRPr sz="1100" b="0">
                <a:solidFill>
                  <a:srgbClr val="667799"/>
                </a:solidFill>
                <a:latin typeface="Consolas"/>
              </a:defRPr>
            </a:pPr>
            <a:r>
              <a:rPr dirty="0"/>
              <a:t>// Two-container architecture</a:t>
            </a:r>
          </a:p>
          <a:p>
            <a:pPr>
              <a:spcBef>
                <a:spcPts val="100"/>
              </a:spcBef>
              <a:spcAft>
                <a:spcPts val="100"/>
              </a:spcAft>
              <a:defRPr sz="1100" b="0">
                <a:solidFill>
                  <a:srgbClr val="FFFFFF"/>
                </a:solidFill>
                <a:latin typeface="Consolas"/>
              </a:defRPr>
            </a:pPr>
            <a:endParaRPr dirty="0"/>
          </a:p>
          <a:p>
            <a:pPr>
              <a:spcBef>
                <a:spcPts val="100"/>
              </a:spcBef>
              <a:spcAft>
                <a:spcPts val="100"/>
              </a:spcAft>
              <a:defRPr sz="1100" b="1">
                <a:solidFill>
                  <a:srgbClr val="00A3E0"/>
                </a:solidFill>
                <a:latin typeface="Consolas"/>
              </a:defRPr>
            </a:pPr>
            <a:r>
              <a:rPr dirty="0"/>
              <a:t>Web Container (:6015)</a:t>
            </a:r>
          </a:p>
          <a:p>
            <a:pPr>
              <a:spcBef>
                <a:spcPts val="100"/>
              </a:spcBef>
              <a:spcAft>
                <a:spcPts val="100"/>
              </a:spcAft>
              <a:defRPr sz="1100" b="0">
                <a:solidFill>
                  <a:srgbClr val="CCCCDD"/>
                </a:solidFill>
                <a:latin typeface="Consolas"/>
              </a:defRPr>
            </a:pPr>
            <a:r>
              <a:rPr dirty="0"/>
              <a:t>├── UI (React + </a:t>
            </a:r>
            <a:r>
              <a:rPr dirty="0" err="1"/>
              <a:t>shadcn</a:t>
            </a:r>
            <a:r>
              <a:rPr dirty="0"/>
              <a:t>/</a:t>
            </a:r>
            <a:r>
              <a:rPr dirty="0" err="1"/>
              <a:t>ui</a:t>
            </a:r>
            <a:r>
              <a:rPr dirty="0"/>
              <a:t>)</a:t>
            </a:r>
          </a:p>
          <a:p>
            <a:pPr>
              <a:spcBef>
                <a:spcPts val="100"/>
              </a:spcBef>
              <a:spcAft>
                <a:spcPts val="100"/>
              </a:spcAft>
              <a:defRPr sz="1100" b="0">
                <a:solidFill>
                  <a:srgbClr val="CCCCDD"/>
                </a:solidFill>
                <a:latin typeface="Consolas"/>
              </a:defRPr>
            </a:pPr>
            <a:r>
              <a:rPr dirty="0"/>
              <a:t>├── API (</a:t>
            </a:r>
            <a:r>
              <a:rPr dirty="0" err="1"/>
              <a:t>tRPC</a:t>
            </a:r>
            <a:r>
              <a:rPr dirty="0"/>
              <a:t> + Prisma)</a:t>
            </a:r>
          </a:p>
          <a:p>
            <a:pPr>
              <a:spcBef>
                <a:spcPts val="100"/>
              </a:spcBef>
              <a:spcAft>
                <a:spcPts val="100"/>
              </a:spcAft>
              <a:defRPr sz="1100" b="0">
                <a:solidFill>
                  <a:srgbClr val="CCCCDD"/>
                </a:solidFill>
                <a:latin typeface="Consolas"/>
              </a:defRPr>
            </a:pPr>
            <a:r>
              <a:rPr dirty="0"/>
              <a:t>├── Auth (Azure AD SSO)</a:t>
            </a:r>
          </a:p>
          <a:p>
            <a:pPr>
              <a:spcBef>
                <a:spcPts val="100"/>
              </a:spcBef>
              <a:spcAft>
                <a:spcPts val="100"/>
              </a:spcAft>
              <a:defRPr sz="1100" b="0">
                <a:solidFill>
                  <a:srgbClr val="CCCCDD"/>
                </a:solidFill>
                <a:latin typeface="Consolas"/>
              </a:defRPr>
            </a:pPr>
            <a:r>
              <a:rPr dirty="0"/>
              <a:t>└── Real-time (Socket.io)</a:t>
            </a:r>
          </a:p>
          <a:p>
            <a:pPr>
              <a:spcBef>
                <a:spcPts val="100"/>
              </a:spcBef>
              <a:spcAft>
                <a:spcPts val="100"/>
              </a:spcAft>
              <a:defRPr sz="1100" b="0">
                <a:solidFill>
                  <a:srgbClr val="FFFFFF"/>
                </a:solidFill>
                <a:latin typeface="Consolas"/>
              </a:defRPr>
            </a:pPr>
            <a:endParaRPr dirty="0"/>
          </a:p>
          <a:p>
            <a:pPr>
              <a:spcBef>
                <a:spcPts val="100"/>
              </a:spcBef>
              <a:spcAft>
                <a:spcPts val="100"/>
              </a:spcAft>
              <a:defRPr sz="1100" b="1">
                <a:solidFill>
                  <a:srgbClr val="00B67A"/>
                </a:solidFill>
                <a:latin typeface="Consolas"/>
              </a:defRPr>
            </a:pPr>
            <a:r>
              <a:rPr dirty="0"/>
              <a:t>Worker Container (:6025)</a:t>
            </a:r>
          </a:p>
          <a:p>
            <a:pPr>
              <a:spcBef>
                <a:spcPts val="100"/>
              </a:spcBef>
              <a:spcAft>
                <a:spcPts val="100"/>
              </a:spcAft>
              <a:defRPr sz="1100" b="0">
                <a:solidFill>
                  <a:srgbClr val="CCCCDD"/>
                </a:solidFill>
                <a:latin typeface="Consolas"/>
              </a:defRPr>
            </a:pPr>
            <a:r>
              <a:rPr dirty="0"/>
              <a:t>├── PSV Bots (Playwright)</a:t>
            </a:r>
          </a:p>
          <a:p>
            <a:pPr>
              <a:spcBef>
                <a:spcPts val="100"/>
              </a:spcBef>
              <a:spcAft>
                <a:spcPts val="100"/>
              </a:spcAft>
              <a:defRPr sz="1100" b="0">
                <a:solidFill>
                  <a:srgbClr val="CCCCDD"/>
                </a:solidFill>
                <a:latin typeface="Consolas"/>
              </a:defRPr>
            </a:pPr>
            <a:r>
              <a:rPr dirty="0"/>
              <a:t>├── Enrollment Bots</a:t>
            </a:r>
          </a:p>
          <a:p>
            <a:pPr>
              <a:spcBef>
                <a:spcPts val="100"/>
              </a:spcBef>
              <a:spcAft>
                <a:spcPts val="100"/>
              </a:spcAft>
              <a:defRPr sz="1100" b="0">
                <a:solidFill>
                  <a:srgbClr val="CCCCDD"/>
                </a:solidFill>
                <a:latin typeface="Consolas"/>
              </a:defRPr>
            </a:pPr>
            <a:r>
              <a:rPr dirty="0"/>
              <a:t>├── Scheduled Jobs</a:t>
            </a:r>
          </a:p>
          <a:p>
            <a:pPr>
              <a:spcBef>
                <a:spcPts val="100"/>
              </a:spcBef>
              <a:spcAft>
                <a:spcPts val="100"/>
              </a:spcAft>
              <a:defRPr sz="1100" b="0">
                <a:solidFill>
                  <a:srgbClr val="CCCCDD"/>
                </a:solidFill>
                <a:latin typeface="Consolas"/>
              </a:defRPr>
            </a:pPr>
            <a:r>
              <a:rPr dirty="0"/>
              <a:t>└── Bull Board (monitoring)</a:t>
            </a:r>
          </a:p>
          <a:p>
            <a:pPr>
              <a:spcBef>
                <a:spcPts val="100"/>
              </a:spcBef>
              <a:spcAft>
                <a:spcPts val="100"/>
              </a:spcAft>
              <a:defRPr sz="1100" b="0">
                <a:solidFill>
                  <a:srgbClr val="FFFFFF"/>
                </a:solidFill>
                <a:latin typeface="Consolas"/>
              </a:defRPr>
            </a:pPr>
            <a:endParaRPr dirty="0"/>
          </a:p>
          <a:p>
            <a:pPr>
              <a:spcBef>
                <a:spcPts val="100"/>
              </a:spcBef>
              <a:spcAft>
                <a:spcPts val="100"/>
              </a:spcAft>
              <a:defRPr sz="1100" b="0">
                <a:solidFill>
                  <a:srgbClr val="667799"/>
                </a:solidFill>
                <a:latin typeface="Consolas"/>
              </a:defRPr>
            </a:pPr>
            <a:r>
              <a:rPr dirty="0"/>
              <a:t>// Shared services</a:t>
            </a:r>
          </a:p>
          <a:p>
            <a:pPr>
              <a:spcBef>
                <a:spcPts val="100"/>
              </a:spcBef>
              <a:spcAft>
                <a:spcPts val="100"/>
              </a:spcAft>
              <a:defRPr sz="1100" b="1">
                <a:solidFill>
                  <a:srgbClr val="F4A261"/>
                </a:solidFill>
                <a:latin typeface="Consolas"/>
              </a:defRPr>
            </a:pPr>
            <a:r>
              <a:rPr dirty="0"/>
              <a:t>PostgreSQL + Redis + Azure Blob</a:t>
            </a:r>
          </a:p>
        </p:txBody>
      </p:sp>
      <p:sp>
        <p:nvSpPr>
          <p:cNvPr id="38" name="TextBox 37"/>
          <p:cNvSpPr txBox="1"/>
          <p:nvPr/>
        </p:nvSpPr>
        <p:spPr>
          <a:xfrm>
            <a:off x="11155680" y="6309360"/>
            <a:ext cx="914400" cy="365760"/>
          </a:xfrm>
          <a:prstGeom prst="rect">
            <a:avLst/>
          </a:prstGeom>
          <a:noFill/>
        </p:spPr>
        <p:txBody>
          <a:bodyPr wrap="square">
            <a:spAutoFit/>
          </a:bodyPr>
          <a:lstStyle/>
          <a:p>
            <a:pPr algn="r">
              <a:defRPr sz="1100" b="0">
                <a:solidFill>
                  <a:srgbClr val="CCCCDD"/>
                </a:solidFill>
                <a:latin typeface="Calibri"/>
              </a:defRPr>
            </a:pPr>
            <a: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5486400" cy="320040"/>
          </a:xfrm>
          <a:prstGeom prst="rect">
            <a:avLst/>
          </a:prstGeom>
          <a:noFill/>
        </p:spPr>
        <p:txBody>
          <a:bodyPr wrap="square">
            <a:spAutoFit/>
          </a:bodyPr>
          <a:lstStyle/>
          <a:p>
            <a:pPr algn="l">
              <a:defRPr sz="1100" b="1">
                <a:solidFill>
                  <a:srgbClr val="00A3E0"/>
                </a:solidFill>
                <a:latin typeface="Calibri"/>
              </a:defRPr>
            </a:pPr>
            <a:r>
              <a:t>SECURITY &amp; COMPLIANCE</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4000" b="1">
                <a:solidFill>
                  <a:srgbClr val="1A1A2E"/>
                </a:solidFill>
                <a:latin typeface="Calibri"/>
              </a:defRPr>
            </a:pPr>
            <a:r>
              <a:t>HIPAA-Ready by Design</a:t>
            </a:r>
          </a:p>
        </p:txBody>
      </p:sp>
      <p:sp>
        <p:nvSpPr>
          <p:cNvPr id="4" name="TextBox 3"/>
          <p:cNvSpPr txBox="1"/>
          <p:nvPr/>
        </p:nvSpPr>
        <p:spPr>
          <a:xfrm>
            <a:off x="731520" y="1280160"/>
            <a:ext cx="9144000" cy="365760"/>
          </a:xfrm>
          <a:prstGeom prst="rect">
            <a:avLst/>
          </a:prstGeom>
          <a:noFill/>
        </p:spPr>
        <p:txBody>
          <a:bodyPr wrap="square">
            <a:spAutoFit/>
          </a:bodyPr>
          <a:lstStyle/>
          <a:p>
            <a:pPr algn="l">
              <a:defRPr sz="1600" b="0">
                <a:solidFill>
                  <a:srgbClr val="555577"/>
                </a:solidFill>
                <a:latin typeface="Calibri"/>
              </a:defRPr>
            </a:pPr>
            <a:r>
              <a:t>Security isn't an afterthought - it's embedded in every layer of the platform.</a:t>
            </a:r>
          </a:p>
        </p:txBody>
      </p:sp>
      <p:sp>
        <p:nvSpPr>
          <p:cNvPr id="5" name="TextBox 4"/>
          <p:cNvSpPr txBox="1"/>
          <p:nvPr/>
        </p:nvSpPr>
        <p:spPr>
          <a:xfrm>
            <a:off x="1097280" y="1828800"/>
            <a:ext cx="4937760" cy="274320"/>
          </a:xfrm>
          <a:prstGeom prst="rect">
            <a:avLst/>
          </a:prstGeom>
          <a:noFill/>
        </p:spPr>
        <p:txBody>
          <a:bodyPr wrap="square">
            <a:spAutoFit/>
          </a:bodyPr>
          <a:lstStyle/>
          <a:p>
            <a:pPr algn="l">
              <a:defRPr sz="1300" b="1">
                <a:solidFill>
                  <a:srgbClr val="00B67A"/>
                </a:solidFill>
                <a:latin typeface="Calibri"/>
              </a:defRPr>
            </a:pPr>
            <a:r>
              <a:t>✓ AES-256-GCM Encryption</a:t>
            </a:r>
          </a:p>
        </p:txBody>
      </p:sp>
      <p:sp>
        <p:nvSpPr>
          <p:cNvPr id="6" name="TextBox 5"/>
          <p:cNvSpPr txBox="1"/>
          <p:nvPr/>
        </p:nvSpPr>
        <p:spPr>
          <a:xfrm>
            <a:off x="1097280" y="2148840"/>
            <a:ext cx="4937760" cy="640080"/>
          </a:xfrm>
          <a:prstGeom prst="rect">
            <a:avLst/>
          </a:prstGeom>
          <a:noFill/>
        </p:spPr>
        <p:txBody>
          <a:bodyPr wrap="square">
            <a:spAutoFit/>
          </a:bodyPr>
          <a:lstStyle/>
          <a:p>
            <a:pPr algn="l">
              <a:defRPr sz="1100" b="0">
                <a:solidFill>
                  <a:srgbClr val="555577"/>
                </a:solidFill>
                <a:latin typeface="Calibri"/>
              </a:defRPr>
            </a:pPr>
            <a:r>
              <a:t>SSN, DOB, and all PHI encrypted at application layer. Double protection with PostgreSQL at-rest encryption.</a:t>
            </a:r>
          </a:p>
        </p:txBody>
      </p:sp>
      <p:sp>
        <p:nvSpPr>
          <p:cNvPr id="7" name="TextBox 6"/>
          <p:cNvSpPr txBox="1"/>
          <p:nvPr/>
        </p:nvSpPr>
        <p:spPr>
          <a:xfrm>
            <a:off x="6766560" y="1828800"/>
            <a:ext cx="4937760" cy="274320"/>
          </a:xfrm>
          <a:prstGeom prst="rect">
            <a:avLst/>
          </a:prstGeom>
          <a:noFill/>
        </p:spPr>
        <p:txBody>
          <a:bodyPr wrap="square">
            <a:spAutoFit/>
          </a:bodyPr>
          <a:lstStyle/>
          <a:p>
            <a:pPr algn="l">
              <a:defRPr sz="1300" b="1">
                <a:solidFill>
                  <a:srgbClr val="00B67A"/>
                </a:solidFill>
                <a:latin typeface="Calibri"/>
              </a:defRPr>
            </a:pPr>
            <a:r>
              <a:t>✓ Azure AD Single Sign-On</a:t>
            </a:r>
          </a:p>
        </p:txBody>
      </p:sp>
      <p:sp>
        <p:nvSpPr>
          <p:cNvPr id="8" name="TextBox 7"/>
          <p:cNvSpPr txBox="1"/>
          <p:nvPr/>
        </p:nvSpPr>
        <p:spPr>
          <a:xfrm>
            <a:off x="6766560" y="2148840"/>
            <a:ext cx="4937760" cy="640080"/>
          </a:xfrm>
          <a:prstGeom prst="rect">
            <a:avLst/>
          </a:prstGeom>
          <a:noFill/>
        </p:spPr>
        <p:txBody>
          <a:bodyPr wrap="square">
            <a:spAutoFit/>
          </a:bodyPr>
          <a:lstStyle/>
          <a:p>
            <a:pPr algn="l">
              <a:defRPr sz="1100" b="0">
                <a:solidFill>
                  <a:srgbClr val="555577"/>
                </a:solidFill>
                <a:latin typeface="Calibri"/>
              </a:defRPr>
            </a:pPr>
            <a:r>
              <a:t>All staff authenticate through Essen's Azure AD tenant with MFA enforcement. No separate passwords.</a:t>
            </a:r>
          </a:p>
        </p:txBody>
      </p:sp>
      <p:sp>
        <p:nvSpPr>
          <p:cNvPr id="9" name="TextBox 8"/>
          <p:cNvSpPr txBox="1"/>
          <p:nvPr/>
        </p:nvSpPr>
        <p:spPr>
          <a:xfrm>
            <a:off x="1097280" y="2971800"/>
            <a:ext cx="4937760" cy="274320"/>
          </a:xfrm>
          <a:prstGeom prst="rect">
            <a:avLst/>
          </a:prstGeom>
          <a:noFill/>
        </p:spPr>
        <p:txBody>
          <a:bodyPr wrap="square">
            <a:spAutoFit/>
          </a:bodyPr>
          <a:lstStyle/>
          <a:p>
            <a:pPr algn="l">
              <a:defRPr sz="1300" b="1">
                <a:solidFill>
                  <a:srgbClr val="00B67A"/>
                </a:solidFill>
                <a:latin typeface="Calibri"/>
              </a:defRPr>
            </a:pPr>
            <a:r>
              <a:t>✓ Role-Based Access Control</a:t>
            </a:r>
          </a:p>
        </p:txBody>
      </p:sp>
      <p:sp>
        <p:nvSpPr>
          <p:cNvPr id="10" name="TextBox 9"/>
          <p:cNvSpPr txBox="1"/>
          <p:nvPr/>
        </p:nvSpPr>
        <p:spPr>
          <a:xfrm>
            <a:off x="1097280" y="3291840"/>
            <a:ext cx="4937760" cy="640080"/>
          </a:xfrm>
          <a:prstGeom prst="rect">
            <a:avLst/>
          </a:prstGeom>
          <a:noFill/>
        </p:spPr>
        <p:txBody>
          <a:bodyPr wrap="square">
            <a:spAutoFit/>
          </a:bodyPr>
          <a:lstStyle/>
          <a:p>
            <a:pPr algn="l">
              <a:defRPr sz="1100" b="0">
                <a:solidFill>
                  <a:srgbClr val="555577"/>
                </a:solidFill>
                <a:latin typeface="Calibri"/>
              </a:defRPr>
            </a:pPr>
            <a:r>
              <a:t>5 distinct roles with granular permissions. Each role sees only what they need.</a:t>
            </a:r>
          </a:p>
        </p:txBody>
      </p:sp>
      <p:sp>
        <p:nvSpPr>
          <p:cNvPr id="11" name="TextBox 10"/>
          <p:cNvSpPr txBox="1"/>
          <p:nvPr/>
        </p:nvSpPr>
        <p:spPr>
          <a:xfrm>
            <a:off x="6766560" y="2971800"/>
            <a:ext cx="4937760" cy="274320"/>
          </a:xfrm>
          <a:prstGeom prst="rect">
            <a:avLst/>
          </a:prstGeom>
          <a:noFill/>
        </p:spPr>
        <p:txBody>
          <a:bodyPr wrap="square">
            <a:spAutoFit/>
          </a:bodyPr>
          <a:lstStyle/>
          <a:p>
            <a:pPr algn="l">
              <a:defRPr sz="1300" b="1">
                <a:solidFill>
                  <a:srgbClr val="00B67A"/>
                </a:solidFill>
                <a:latin typeface="Calibri"/>
              </a:defRPr>
            </a:pPr>
            <a:r>
              <a:t>✓ Immutable Audit Trail</a:t>
            </a:r>
          </a:p>
        </p:txBody>
      </p:sp>
      <p:sp>
        <p:nvSpPr>
          <p:cNvPr id="12" name="TextBox 11"/>
          <p:cNvSpPr txBox="1"/>
          <p:nvPr/>
        </p:nvSpPr>
        <p:spPr>
          <a:xfrm>
            <a:off x="6766560" y="3291840"/>
            <a:ext cx="4937760" cy="640080"/>
          </a:xfrm>
          <a:prstGeom prst="rect">
            <a:avLst/>
          </a:prstGeom>
          <a:noFill/>
        </p:spPr>
        <p:txBody>
          <a:bodyPr wrap="square">
            <a:spAutoFit/>
          </a:bodyPr>
          <a:lstStyle/>
          <a:p>
            <a:pPr algn="l">
              <a:defRPr sz="1100" b="0">
                <a:solidFill>
                  <a:srgbClr val="555577"/>
                </a:solidFill>
                <a:latin typeface="Calibri"/>
              </a:defRPr>
            </a:pPr>
            <a:r>
              <a:t>Every action logged with timestamp, actor, and before/after values. 10-year retention.</a:t>
            </a:r>
          </a:p>
        </p:txBody>
      </p:sp>
      <p:sp>
        <p:nvSpPr>
          <p:cNvPr id="13" name="TextBox 12"/>
          <p:cNvSpPr txBox="1"/>
          <p:nvPr/>
        </p:nvSpPr>
        <p:spPr>
          <a:xfrm>
            <a:off x="1097280" y="4114800"/>
            <a:ext cx="4937760" cy="274320"/>
          </a:xfrm>
          <a:prstGeom prst="rect">
            <a:avLst/>
          </a:prstGeom>
          <a:noFill/>
        </p:spPr>
        <p:txBody>
          <a:bodyPr wrap="square">
            <a:spAutoFit/>
          </a:bodyPr>
          <a:lstStyle/>
          <a:p>
            <a:pPr algn="l">
              <a:defRPr sz="1300" b="1">
                <a:solidFill>
                  <a:srgbClr val="00B67A"/>
                </a:solidFill>
                <a:latin typeface="Calibri"/>
              </a:defRPr>
            </a:pPr>
            <a:r>
              <a:t>✓ Azure Key Vault for Secrets</a:t>
            </a:r>
          </a:p>
        </p:txBody>
      </p:sp>
      <p:sp>
        <p:nvSpPr>
          <p:cNvPr id="14" name="TextBox 13"/>
          <p:cNvSpPr txBox="1"/>
          <p:nvPr/>
        </p:nvSpPr>
        <p:spPr>
          <a:xfrm>
            <a:off x="1097280" y="4434840"/>
            <a:ext cx="4937760" cy="640080"/>
          </a:xfrm>
          <a:prstGeom prst="rect">
            <a:avLst/>
          </a:prstGeom>
          <a:noFill/>
        </p:spPr>
        <p:txBody>
          <a:bodyPr wrap="square">
            <a:spAutoFit/>
          </a:bodyPr>
          <a:lstStyle/>
          <a:p>
            <a:pPr algn="l">
              <a:defRPr sz="1100" b="0">
                <a:solidFill>
                  <a:srgbClr val="555577"/>
                </a:solidFill>
                <a:latin typeface="Calibri"/>
              </a:defRPr>
            </a:pPr>
            <a:r>
              <a:t>All API keys, portal credentials, TOTP secrets stored in Key Vault. Zero secrets in code.</a:t>
            </a:r>
          </a:p>
        </p:txBody>
      </p:sp>
      <p:sp>
        <p:nvSpPr>
          <p:cNvPr id="15" name="TextBox 14"/>
          <p:cNvSpPr txBox="1"/>
          <p:nvPr/>
        </p:nvSpPr>
        <p:spPr>
          <a:xfrm>
            <a:off x="6766560" y="4114800"/>
            <a:ext cx="4937760" cy="274320"/>
          </a:xfrm>
          <a:prstGeom prst="rect">
            <a:avLst/>
          </a:prstGeom>
          <a:noFill/>
        </p:spPr>
        <p:txBody>
          <a:bodyPr wrap="square">
            <a:spAutoFit/>
          </a:bodyPr>
          <a:lstStyle/>
          <a:p>
            <a:pPr algn="l">
              <a:defRPr sz="1300" b="1">
                <a:solidFill>
                  <a:srgbClr val="00B67A"/>
                </a:solidFill>
                <a:latin typeface="Calibri"/>
              </a:defRPr>
            </a:pPr>
            <a:r>
              <a:t>✓ Secure File Storage</a:t>
            </a:r>
          </a:p>
        </p:txBody>
      </p:sp>
      <p:sp>
        <p:nvSpPr>
          <p:cNvPr id="16" name="TextBox 15"/>
          <p:cNvSpPr txBox="1"/>
          <p:nvPr/>
        </p:nvSpPr>
        <p:spPr>
          <a:xfrm>
            <a:off x="6766560" y="4434840"/>
            <a:ext cx="4937760" cy="640080"/>
          </a:xfrm>
          <a:prstGeom prst="rect">
            <a:avLst/>
          </a:prstGeom>
          <a:noFill/>
        </p:spPr>
        <p:txBody>
          <a:bodyPr wrap="square">
            <a:spAutoFit/>
          </a:bodyPr>
          <a:lstStyle/>
          <a:p>
            <a:pPr algn="l">
              <a:defRPr sz="1100" b="0">
                <a:solidFill>
                  <a:srgbClr val="555577"/>
                </a:solidFill>
                <a:latin typeface="Calibri"/>
              </a:defRPr>
            </a:pPr>
            <a:r>
              <a:t>Azure Blob Storage with no public access. Time-limited SAS tokens. RBAC via Managed Identity.</a:t>
            </a:r>
          </a:p>
        </p:txBody>
      </p:sp>
      <p:sp>
        <p:nvSpPr>
          <p:cNvPr id="17" name="TextBox 16"/>
          <p:cNvSpPr txBox="1"/>
          <p:nvPr/>
        </p:nvSpPr>
        <p:spPr>
          <a:xfrm>
            <a:off x="1097280" y="5257800"/>
            <a:ext cx="4937760" cy="274320"/>
          </a:xfrm>
          <a:prstGeom prst="rect">
            <a:avLst/>
          </a:prstGeom>
          <a:noFill/>
        </p:spPr>
        <p:txBody>
          <a:bodyPr wrap="square">
            <a:spAutoFit/>
          </a:bodyPr>
          <a:lstStyle/>
          <a:p>
            <a:pPr algn="l">
              <a:defRPr sz="1300" b="1">
                <a:solidFill>
                  <a:srgbClr val="00B67A"/>
                </a:solidFill>
                <a:latin typeface="Calibri"/>
              </a:defRPr>
            </a:pPr>
            <a:r>
              <a:t>✓ PHI-Safe Bot Operations</a:t>
            </a:r>
          </a:p>
        </p:txBody>
      </p:sp>
      <p:sp>
        <p:nvSpPr>
          <p:cNvPr id="18" name="TextBox 17"/>
          <p:cNvSpPr txBox="1"/>
          <p:nvPr/>
        </p:nvSpPr>
        <p:spPr>
          <a:xfrm>
            <a:off x="1097280" y="5577840"/>
            <a:ext cx="4937760" cy="640080"/>
          </a:xfrm>
          <a:prstGeom prst="rect">
            <a:avLst/>
          </a:prstGeom>
          <a:noFill/>
        </p:spPr>
        <p:txBody>
          <a:bodyPr wrap="square">
            <a:spAutoFit/>
          </a:bodyPr>
          <a:lstStyle/>
          <a:p>
            <a:pPr algn="l">
              <a:defRPr sz="1100" b="0">
                <a:solidFill>
                  <a:srgbClr val="555577"/>
                </a:solidFill>
                <a:latin typeface="Calibri"/>
              </a:defRPr>
            </a:pPr>
            <a:r>
              <a:t>SSN decrypted only in-memory during bot operations. Never logged or stored in plaintext.</a:t>
            </a:r>
          </a:p>
        </p:txBody>
      </p:sp>
      <p:sp>
        <p:nvSpPr>
          <p:cNvPr id="19" name="TextBox 18"/>
          <p:cNvSpPr txBox="1"/>
          <p:nvPr/>
        </p:nvSpPr>
        <p:spPr>
          <a:xfrm>
            <a:off x="6766560" y="5257800"/>
            <a:ext cx="4937760" cy="274320"/>
          </a:xfrm>
          <a:prstGeom prst="rect">
            <a:avLst/>
          </a:prstGeom>
          <a:noFill/>
        </p:spPr>
        <p:txBody>
          <a:bodyPr wrap="square">
            <a:spAutoFit/>
          </a:bodyPr>
          <a:lstStyle/>
          <a:p>
            <a:pPr algn="l">
              <a:defRPr sz="1300" b="1">
                <a:solidFill>
                  <a:srgbClr val="00B67A"/>
                </a:solidFill>
                <a:latin typeface="Calibri"/>
              </a:defRPr>
            </a:pPr>
            <a:r>
              <a:t>✓ NPDB Confidentiality</a:t>
            </a:r>
          </a:p>
        </p:txBody>
      </p:sp>
      <p:sp>
        <p:nvSpPr>
          <p:cNvPr id="20" name="TextBox 19"/>
          <p:cNvSpPr txBox="1"/>
          <p:nvPr/>
        </p:nvSpPr>
        <p:spPr>
          <a:xfrm>
            <a:off x="6766560" y="5577840"/>
            <a:ext cx="4937760" cy="640080"/>
          </a:xfrm>
          <a:prstGeom prst="rect">
            <a:avLst/>
          </a:prstGeom>
          <a:noFill/>
        </p:spPr>
        <p:txBody>
          <a:bodyPr wrap="square">
            <a:spAutoFit/>
          </a:bodyPr>
          <a:lstStyle/>
          <a:p>
            <a:pPr algn="l">
              <a:defRPr sz="1100" b="0">
                <a:solidFill>
                  <a:srgbClr val="555577"/>
                </a:solidFill>
                <a:latin typeface="Calibri"/>
              </a:defRPr>
            </a:pPr>
            <a:r>
              <a:t>NPDB results restricted to Managers and Admins per 45 CFR Part 60.</a:t>
            </a:r>
          </a:p>
        </p:txBody>
      </p:sp>
      <p:sp>
        <p:nvSpPr>
          <p:cNvPr id="21" name="TextBox 20"/>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5486400" cy="320040"/>
          </a:xfrm>
          <a:prstGeom prst="rect">
            <a:avLst/>
          </a:prstGeom>
          <a:noFill/>
        </p:spPr>
        <p:txBody>
          <a:bodyPr wrap="square">
            <a:spAutoFit/>
          </a:bodyPr>
          <a:lstStyle/>
          <a:p>
            <a:pPr algn="l">
              <a:defRPr sz="1100" b="1">
                <a:solidFill>
                  <a:srgbClr val="00A3E0"/>
                </a:solidFill>
                <a:latin typeface="Calibri"/>
              </a:defRPr>
            </a:pPr>
            <a:r>
              <a:t>INTEGRATIONS</a:t>
            </a:r>
          </a:p>
        </p:txBody>
      </p:sp>
      <p:sp>
        <p:nvSpPr>
          <p:cNvPr id="3" name="TextBox 2"/>
          <p:cNvSpPr txBox="1"/>
          <p:nvPr/>
        </p:nvSpPr>
        <p:spPr>
          <a:xfrm>
            <a:off x="731520" y="731520"/>
            <a:ext cx="10058400" cy="548640"/>
          </a:xfrm>
          <a:prstGeom prst="rect">
            <a:avLst/>
          </a:prstGeom>
          <a:noFill/>
        </p:spPr>
        <p:txBody>
          <a:bodyPr wrap="square">
            <a:spAutoFit/>
          </a:bodyPr>
          <a:lstStyle/>
          <a:p>
            <a:pPr algn="l">
              <a:defRPr sz="4000" b="1">
                <a:solidFill>
                  <a:srgbClr val="1A1A2E"/>
                </a:solidFill>
                <a:latin typeface="Calibri"/>
              </a:defRPr>
            </a:pPr>
            <a:r>
              <a:t>Connected to Every System That Matters</a:t>
            </a:r>
          </a:p>
        </p:txBody>
      </p:sp>
      <p:sp>
        <p:nvSpPr>
          <p:cNvPr id="4" name="TextBox 3"/>
          <p:cNvSpPr txBox="1"/>
          <p:nvPr/>
        </p:nvSpPr>
        <p:spPr>
          <a:xfrm>
            <a:off x="731520" y="1280160"/>
            <a:ext cx="9144000" cy="365760"/>
          </a:xfrm>
          <a:prstGeom prst="rect">
            <a:avLst/>
          </a:prstGeom>
          <a:noFill/>
        </p:spPr>
        <p:txBody>
          <a:bodyPr wrap="square">
            <a:spAutoFit/>
          </a:bodyPr>
          <a:lstStyle/>
          <a:p>
            <a:pPr algn="l">
              <a:defRPr sz="1600" b="0">
                <a:solidFill>
                  <a:srgbClr val="555577"/>
                </a:solidFill>
                <a:latin typeface="Calibri"/>
              </a:defRPr>
            </a:pPr>
            <a:r>
              <a:t>22 external integrations pre-built, covering data ingestion, verification, enrollment, and communication.</a:t>
            </a:r>
          </a:p>
        </p:txBody>
      </p:sp>
      <p:sp>
        <p:nvSpPr>
          <p:cNvPr id="5" name="Rounded Rectangle 4"/>
          <p:cNvSpPr/>
          <p:nvPr/>
        </p:nvSpPr>
        <p:spPr>
          <a:xfrm>
            <a:off x="731520" y="1920240"/>
            <a:ext cx="3474720" cy="41148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920240"/>
            <a:ext cx="3474720" cy="54864"/>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103120"/>
            <a:ext cx="3017520" cy="320040"/>
          </a:xfrm>
          <a:prstGeom prst="rect">
            <a:avLst/>
          </a:prstGeom>
          <a:noFill/>
        </p:spPr>
        <p:txBody>
          <a:bodyPr wrap="square">
            <a:spAutoFit/>
          </a:bodyPr>
          <a:lstStyle/>
          <a:p>
            <a:pPr algn="l">
              <a:defRPr sz="1600" b="1">
                <a:solidFill>
                  <a:srgbClr val="00A3E0"/>
                </a:solidFill>
                <a:latin typeface="Calibri"/>
              </a:defRPr>
            </a:pPr>
            <a:r>
              <a:t>Data Ingestion</a:t>
            </a:r>
          </a:p>
        </p:txBody>
      </p:sp>
      <p:sp>
        <p:nvSpPr>
          <p:cNvPr id="8" name="TextBox 7"/>
          <p:cNvSpPr txBox="1"/>
          <p:nvPr/>
        </p:nvSpPr>
        <p:spPr>
          <a:xfrm>
            <a:off x="960120" y="2560320"/>
            <a:ext cx="3017520" cy="365760"/>
          </a:xfrm>
          <a:prstGeom prst="rect">
            <a:avLst/>
          </a:prstGeom>
          <a:noFill/>
        </p:spPr>
        <p:txBody>
          <a:bodyPr wrap="square">
            <a:spAutoFit/>
          </a:bodyPr>
          <a:lstStyle/>
          <a:p>
            <a:pPr algn="l">
              <a:defRPr sz="1100" b="0">
                <a:solidFill>
                  <a:srgbClr val="555577"/>
                </a:solidFill>
                <a:latin typeface="Calibri"/>
              </a:defRPr>
            </a:pPr>
            <a:r>
              <a:t>• iCIMS HRIS - auto-import provider demographics</a:t>
            </a:r>
          </a:p>
        </p:txBody>
      </p:sp>
      <p:sp>
        <p:nvSpPr>
          <p:cNvPr id="9" name="TextBox 8"/>
          <p:cNvSpPr txBox="1"/>
          <p:nvPr/>
        </p:nvSpPr>
        <p:spPr>
          <a:xfrm>
            <a:off x="960120" y="2999232"/>
            <a:ext cx="3017520" cy="365760"/>
          </a:xfrm>
          <a:prstGeom prst="rect">
            <a:avLst/>
          </a:prstGeom>
          <a:noFill/>
        </p:spPr>
        <p:txBody>
          <a:bodyPr wrap="square">
            <a:spAutoFit/>
          </a:bodyPr>
          <a:lstStyle/>
          <a:p>
            <a:pPr algn="l">
              <a:defRPr sz="1100" b="0">
                <a:solidFill>
                  <a:srgbClr val="555577"/>
                </a:solidFill>
                <a:latin typeface="Calibri"/>
              </a:defRPr>
            </a:pPr>
            <a:r>
              <a:t>• CAQH - pull credentials + push practice updates</a:t>
            </a:r>
          </a:p>
        </p:txBody>
      </p:sp>
      <p:sp>
        <p:nvSpPr>
          <p:cNvPr id="10" name="TextBox 9"/>
          <p:cNvSpPr txBox="1"/>
          <p:nvPr/>
        </p:nvSpPr>
        <p:spPr>
          <a:xfrm>
            <a:off x="960120" y="3438144"/>
            <a:ext cx="3017520" cy="365760"/>
          </a:xfrm>
          <a:prstGeom prst="rect">
            <a:avLst/>
          </a:prstGeom>
          <a:noFill/>
        </p:spPr>
        <p:txBody>
          <a:bodyPr wrap="square">
            <a:spAutoFit/>
          </a:bodyPr>
          <a:lstStyle/>
          <a:p>
            <a:pPr algn="l">
              <a:defRPr sz="1100" b="0">
                <a:solidFill>
                  <a:srgbClr val="555577"/>
                </a:solidFill>
                <a:latin typeface="Calibri"/>
              </a:defRPr>
            </a:pPr>
            <a:r>
              <a:t>• Azure AI Document Intelligence - OCR + auto-fill (slide 6)</a:t>
            </a:r>
          </a:p>
        </p:txBody>
      </p:sp>
      <p:sp>
        <p:nvSpPr>
          <p:cNvPr id="11" name="Rounded Rectangle 10"/>
          <p:cNvSpPr/>
          <p:nvPr/>
        </p:nvSpPr>
        <p:spPr>
          <a:xfrm>
            <a:off x="4480559" y="1920240"/>
            <a:ext cx="3474720" cy="41148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80559" y="1920240"/>
            <a:ext cx="3474720" cy="54864"/>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09159" y="2103120"/>
            <a:ext cx="3017520" cy="320040"/>
          </a:xfrm>
          <a:prstGeom prst="rect">
            <a:avLst/>
          </a:prstGeom>
          <a:noFill/>
        </p:spPr>
        <p:txBody>
          <a:bodyPr wrap="square">
            <a:spAutoFit/>
          </a:bodyPr>
          <a:lstStyle/>
          <a:p>
            <a:pPr algn="l">
              <a:defRPr sz="1600" b="1">
                <a:solidFill>
                  <a:srgbClr val="00B67A"/>
                </a:solidFill>
                <a:latin typeface="Calibri"/>
              </a:defRPr>
            </a:pPr>
            <a:r>
              <a:t>PSV Automation</a:t>
            </a:r>
          </a:p>
        </p:txBody>
      </p:sp>
      <p:sp>
        <p:nvSpPr>
          <p:cNvPr id="14" name="TextBox 13"/>
          <p:cNvSpPr txBox="1"/>
          <p:nvPr/>
        </p:nvSpPr>
        <p:spPr>
          <a:xfrm>
            <a:off x="4709159" y="2560320"/>
            <a:ext cx="3017520" cy="365760"/>
          </a:xfrm>
          <a:prstGeom prst="rect">
            <a:avLst/>
          </a:prstGeom>
          <a:noFill/>
        </p:spPr>
        <p:txBody>
          <a:bodyPr wrap="square">
            <a:spAutoFit/>
          </a:bodyPr>
          <a:lstStyle/>
          <a:p>
            <a:pPr algn="l">
              <a:defRPr sz="1100" b="0">
                <a:solidFill>
                  <a:srgbClr val="555577"/>
                </a:solidFill>
                <a:latin typeface="Calibri"/>
              </a:defRPr>
            </a:pPr>
            <a:r>
              <a:t>• State License Boards - all 50 states</a:t>
            </a:r>
          </a:p>
        </p:txBody>
      </p:sp>
      <p:sp>
        <p:nvSpPr>
          <p:cNvPr id="15" name="TextBox 14"/>
          <p:cNvSpPr txBox="1"/>
          <p:nvPr/>
        </p:nvSpPr>
        <p:spPr>
          <a:xfrm>
            <a:off x="4709159" y="2999232"/>
            <a:ext cx="3017520" cy="365760"/>
          </a:xfrm>
          <a:prstGeom prst="rect">
            <a:avLst/>
          </a:prstGeom>
          <a:noFill/>
        </p:spPr>
        <p:txBody>
          <a:bodyPr wrap="square">
            <a:spAutoFit/>
          </a:bodyPr>
          <a:lstStyle/>
          <a:p>
            <a:pPr algn="l">
              <a:defRPr sz="1100" b="0">
                <a:solidFill>
                  <a:srgbClr val="555577"/>
                </a:solidFill>
                <a:latin typeface="Calibri"/>
              </a:defRPr>
            </a:pPr>
            <a:r>
              <a:t>• DEA - with automated TOTP MFA</a:t>
            </a:r>
          </a:p>
        </p:txBody>
      </p:sp>
      <p:sp>
        <p:nvSpPr>
          <p:cNvPr id="16" name="TextBox 15"/>
          <p:cNvSpPr txBox="1"/>
          <p:nvPr/>
        </p:nvSpPr>
        <p:spPr>
          <a:xfrm>
            <a:off x="4709159" y="3438144"/>
            <a:ext cx="3017520" cy="365760"/>
          </a:xfrm>
          <a:prstGeom prst="rect">
            <a:avLst/>
          </a:prstGeom>
          <a:noFill/>
        </p:spPr>
        <p:txBody>
          <a:bodyPr wrap="square">
            <a:spAutoFit/>
          </a:bodyPr>
          <a:lstStyle/>
          <a:p>
            <a:pPr algn="l">
              <a:defRPr sz="1100" b="0">
                <a:solidFill>
                  <a:srgbClr val="555577"/>
                </a:solidFill>
                <a:latin typeface="Calibri"/>
              </a:defRPr>
            </a:pPr>
            <a:r>
              <a:t>• NCCPA, ABIM, ABFM - board certs</a:t>
            </a:r>
          </a:p>
        </p:txBody>
      </p:sp>
      <p:sp>
        <p:nvSpPr>
          <p:cNvPr id="17" name="TextBox 16"/>
          <p:cNvSpPr txBox="1"/>
          <p:nvPr/>
        </p:nvSpPr>
        <p:spPr>
          <a:xfrm>
            <a:off x="4709159" y="3877056"/>
            <a:ext cx="3017520" cy="365760"/>
          </a:xfrm>
          <a:prstGeom prst="rect">
            <a:avLst/>
          </a:prstGeom>
          <a:noFill/>
        </p:spPr>
        <p:txBody>
          <a:bodyPr wrap="square">
            <a:spAutoFit/>
          </a:bodyPr>
          <a:lstStyle/>
          <a:p>
            <a:pPr algn="l">
              <a:defRPr sz="1100" b="0">
                <a:solidFill>
                  <a:srgbClr val="555577"/>
                </a:solidFill>
                <a:latin typeface="Calibri"/>
              </a:defRPr>
            </a:pPr>
            <a:r>
              <a:t>• OIG + SAM.gov - sanctions checks</a:t>
            </a:r>
          </a:p>
        </p:txBody>
      </p:sp>
      <p:sp>
        <p:nvSpPr>
          <p:cNvPr id="18" name="TextBox 17"/>
          <p:cNvSpPr txBox="1"/>
          <p:nvPr/>
        </p:nvSpPr>
        <p:spPr>
          <a:xfrm>
            <a:off x="4709159" y="4315968"/>
            <a:ext cx="3017520" cy="365760"/>
          </a:xfrm>
          <a:prstGeom prst="rect">
            <a:avLst/>
          </a:prstGeom>
          <a:noFill/>
        </p:spPr>
        <p:txBody>
          <a:bodyPr wrap="square">
            <a:spAutoFit/>
          </a:bodyPr>
          <a:lstStyle/>
          <a:p>
            <a:pPr algn="l">
              <a:defRPr sz="1100" b="0">
                <a:solidFill>
                  <a:srgbClr val="555577"/>
                </a:solidFill>
                <a:latin typeface="Calibri"/>
              </a:defRPr>
            </a:pPr>
            <a:r>
              <a:t>• NPDB - initial + continuous query</a:t>
            </a:r>
          </a:p>
        </p:txBody>
      </p:sp>
      <p:sp>
        <p:nvSpPr>
          <p:cNvPr id="19" name="Rounded Rectangle 18"/>
          <p:cNvSpPr/>
          <p:nvPr/>
        </p:nvSpPr>
        <p:spPr>
          <a:xfrm>
            <a:off x="8229600" y="1920240"/>
            <a:ext cx="3474720" cy="41148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229600" y="1920240"/>
            <a:ext cx="347472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58200" y="2103120"/>
            <a:ext cx="3017520" cy="320040"/>
          </a:xfrm>
          <a:prstGeom prst="rect">
            <a:avLst/>
          </a:prstGeom>
          <a:noFill/>
        </p:spPr>
        <p:txBody>
          <a:bodyPr wrap="square">
            <a:spAutoFit/>
          </a:bodyPr>
          <a:lstStyle/>
          <a:p>
            <a:pPr algn="l">
              <a:defRPr sz="1600" b="1">
                <a:solidFill>
                  <a:srgbClr val="FF6B35"/>
                </a:solidFill>
                <a:latin typeface="Calibri"/>
              </a:defRPr>
            </a:pPr>
            <a:r>
              <a:t>Enrollment Portals</a:t>
            </a:r>
          </a:p>
        </p:txBody>
      </p:sp>
      <p:sp>
        <p:nvSpPr>
          <p:cNvPr id="22" name="TextBox 21"/>
          <p:cNvSpPr txBox="1"/>
          <p:nvPr/>
        </p:nvSpPr>
        <p:spPr>
          <a:xfrm>
            <a:off x="8458200" y="2560320"/>
            <a:ext cx="3017520" cy="365760"/>
          </a:xfrm>
          <a:prstGeom prst="rect">
            <a:avLst/>
          </a:prstGeom>
          <a:noFill/>
        </p:spPr>
        <p:txBody>
          <a:bodyPr wrap="square">
            <a:spAutoFit/>
          </a:bodyPr>
          <a:lstStyle/>
          <a:p>
            <a:pPr algn="l">
              <a:defRPr sz="1100" b="0">
                <a:solidFill>
                  <a:srgbClr val="555577"/>
                </a:solidFill>
                <a:latin typeface="Calibri"/>
              </a:defRPr>
            </a:pPr>
            <a:r>
              <a:t>• My Practice Profile - UHC / UBH Optum</a:t>
            </a:r>
          </a:p>
        </p:txBody>
      </p:sp>
      <p:sp>
        <p:nvSpPr>
          <p:cNvPr id="23" name="TextBox 22"/>
          <p:cNvSpPr txBox="1"/>
          <p:nvPr/>
        </p:nvSpPr>
        <p:spPr>
          <a:xfrm>
            <a:off x="8458200" y="2999232"/>
            <a:ext cx="3017520" cy="365760"/>
          </a:xfrm>
          <a:prstGeom prst="rect">
            <a:avLst/>
          </a:prstGeom>
          <a:noFill/>
        </p:spPr>
        <p:txBody>
          <a:bodyPr wrap="square">
            <a:spAutoFit/>
          </a:bodyPr>
          <a:lstStyle/>
          <a:p>
            <a:pPr algn="l">
              <a:defRPr sz="1100" b="0">
                <a:solidFill>
                  <a:srgbClr val="555577"/>
                </a:solidFill>
                <a:latin typeface="Calibri"/>
              </a:defRPr>
            </a:pPr>
            <a:r>
              <a:t>• Availity - Anthem / Carelon</a:t>
            </a:r>
          </a:p>
        </p:txBody>
      </p:sp>
      <p:sp>
        <p:nvSpPr>
          <p:cNvPr id="24" name="TextBox 23"/>
          <p:cNvSpPr txBox="1"/>
          <p:nvPr/>
        </p:nvSpPr>
        <p:spPr>
          <a:xfrm>
            <a:off x="8458200" y="3438144"/>
            <a:ext cx="3017520" cy="365760"/>
          </a:xfrm>
          <a:prstGeom prst="rect">
            <a:avLst/>
          </a:prstGeom>
          <a:noFill/>
        </p:spPr>
        <p:txBody>
          <a:bodyPr wrap="square">
            <a:spAutoFit/>
          </a:bodyPr>
          <a:lstStyle/>
          <a:p>
            <a:pPr algn="l">
              <a:defRPr sz="1100" b="0">
                <a:solidFill>
                  <a:srgbClr val="555577"/>
                </a:solidFill>
                <a:latin typeface="Calibri"/>
              </a:defRPr>
            </a:pPr>
            <a:r>
              <a:t>• Verity - Archcare</a:t>
            </a:r>
          </a:p>
        </p:txBody>
      </p:sp>
      <p:sp>
        <p:nvSpPr>
          <p:cNvPr id="25" name="TextBox 24"/>
          <p:cNvSpPr txBox="1"/>
          <p:nvPr/>
        </p:nvSpPr>
        <p:spPr>
          <a:xfrm>
            <a:off x="8458200" y="3877056"/>
            <a:ext cx="3017520" cy="365760"/>
          </a:xfrm>
          <a:prstGeom prst="rect">
            <a:avLst/>
          </a:prstGeom>
          <a:noFill/>
        </p:spPr>
        <p:txBody>
          <a:bodyPr wrap="square">
            <a:spAutoFit/>
          </a:bodyPr>
          <a:lstStyle/>
          <a:p>
            <a:pPr algn="l">
              <a:defRPr sz="1100" b="0">
                <a:solidFill>
                  <a:srgbClr val="555577"/>
                </a:solidFill>
                <a:latin typeface="Calibri"/>
              </a:defRPr>
            </a:pPr>
            <a:r>
              <a:t>• EyeMed - EyeMed portal</a:t>
            </a:r>
          </a:p>
        </p:txBody>
      </p:sp>
      <p:sp>
        <p:nvSpPr>
          <p:cNvPr id="26" name="TextBox 25"/>
          <p:cNvSpPr txBox="1"/>
          <p:nvPr/>
        </p:nvSpPr>
        <p:spPr>
          <a:xfrm>
            <a:off x="8458200" y="4315968"/>
            <a:ext cx="3017520" cy="365760"/>
          </a:xfrm>
          <a:prstGeom prst="rect">
            <a:avLst/>
          </a:prstGeom>
          <a:noFill/>
        </p:spPr>
        <p:txBody>
          <a:bodyPr wrap="square">
            <a:spAutoFit/>
          </a:bodyPr>
          <a:lstStyle/>
          <a:p>
            <a:pPr algn="l">
              <a:defRPr sz="1100" b="0">
                <a:solidFill>
                  <a:srgbClr val="555577"/>
                </a:solidFill>
                <a:latin typeface="Calibri"/>
              </a:defRPr>
            </a:pPr>
            <a:r>
              <a:t>• eMedNY - NY Medicaid ETIN</a:t>
            </a:r>
          </a:p>
        </p:txBody>
      </p:sp>
      <p:sp>
        <p:nvSpPr>
          <p:cNvPr id="27" name="TextBox 26"/>
          <p:cNvSpPr txBox="1"/>
          <p:nvPr/>
        </p:nvSpPr>
        <p:spPr>
          <a:xfrm>
            <a:off x="8458200" y="4754879"/>
            <a:ext cx="3017520" cy="365760"/>
          </a:xfrm>
          <a:prstGeom prst="rect">
            <a:avLst/>
          </a:prstGeom>
          <a:noFill/>
        </p:spPr>
        <p:txBody>
          <a:bodyPr wrap="square">
            <a:spAutoFit/>
          </a:bodyPr>
          <a:lstStyle/>
          <a:p>
            <a:pPr algn="l">
              <a:defRPr sz="1100" b="0">
                <a:solidFill>
                  <a:srgbClr val="555577"/>
                </a:solidFill>
                <a:latin typeface="Calibri"/>
              </a:defRPr>
            </a:pPr>
            <a:r>
              <a:t>• SFTP - roster uploads to payer FTP</a:t>
            </a:r>
          </a:p>
        </p:txBody>
      </p:sp>
      <p:sp>
        <p:nvSpPr>
          <p:cNvPr id="29" name="TextBox 26"/>
          <p:cNvSpPr txBox="1"/>
          <p:nvPr/>
        </p:nvSpPr>
        <p:spPr>
          <a:xfrm>
            <a:off x="8458200" y="5193790"/>
            <a:ext cx="3017520" cy="365760"/>
          </a:xfrm>
          <a:prstGeom prst="rect">
            <a:avLst/>
          </a:prstGeom>
          <a:noFill/>
        </p:spPr>
        <p:txBody>
          <a:bodyPr wrap="square">
            <a:spAutoFit/>
          </a:bodyPr>
          <a:lstStyle/>
          <a:p>
            <a:pPr algn="l">
              <a:defRPr sz="1100" b="0">
                <a:solidFill>
                  <a:srgbClr val="555577"/>
                </a:solidFill>
                <a:latin typeface="Calibri"/>
              </a:defRPr>
            </a:pPr>
            <a:r>
              <a:t>• PECOS - Medicare enrollment</a:t>
            </a:r>
          </a:p>
        </p:txBody>
      </p:sp>
      <p:sp>
        <p:nvSpPr>
          <p:cNvPr id="28" name="TextBox 27"/>
          <p:cNvSpPr txBox="1"/>
          <p:nvPr/>
        </p:nvSpPr>
        <p:spPr>
          <a:xfrm>
            <a:off x="11155680" y="4754879"/>
            <a:ext cx="914400" cy="365760"/>
          </a:xfrm>
          <a:prstGeom prst="rect">
            <a:avLst/>
          </a:prstGeom>
          <a:noFill/>
        </p:spPr>
        <p:txBody>
          <a:bodyPr wrap="square">
            <a:spAutoFit/>
          </a:bodyPr>
          <a:lstStyle/>
          <a:p>
            <a:pPr algn="r">
              <a:defRPr sz="1100" b="0">
                <a:solidFill>
                  <a:srgbClr val="555577"/>
                </a:solidFill>
                <a:latin typeface="Calibri"/>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5486400" cy="320040"/>
          </a:xfrm>
          <a:prstGeom prst="rect">
            <a:avLst/>
          </a:prstGeom>
          <a:noFill/>
        </p:spPr>
        <p:txBody>
          <a:bodyPr wrap="square">
            <a:spAutoFit/>
          </a:bodyPr>
          <a:lstStyle/>
          <a:p>
            <a:pPr algn="l">
              <a:defRPr sz="1100" b="1">
                <a:solidFill>
                  <a:srgbClr val="00A3E0"/>
                </a:solidFill>
                <a:latin typeface="Calibri"/>
              </a:defRPr>
            </a:pPr>
            <a:r>
              <a:t>RETURN ON INVESTMENT</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4000" b="1">
                <a:solidFill>
                  <a:srgbClr val="1A1A2E"/>
                </a:solidFill>
                <a:latin typeface="Calibri"/>
              </a:defRPr>
            </a:pPr>
            <a:r>
              <a:t>The Business Case</a:t>
            </a:r>
          </a:p>
        </p:txBody>
      </p:sp>
      <p:sp>
        <p:nvSpPr>
          <p:cNvPr id="4" name="TextBox 3"/>
          <p:cNvSpPr txBox="1"/>
          <p:nvPr/>
        </p:nvSpPr>
        <p:spPr>
          <a:xfrm>
            <a:off x="731520" y="1280160"/>
            <a:ext cx="9144000" cy="365760"/>
          </a:xfrm>
          <a:prstGeom prst="rect">
            <a:avLst/>
          </a:prstGeom>
          <a:noFill/>
        </p:spPr>
        <p:txBody>
          <a:bodyPr wrap="square">
            <a:spAutoFit/>
          </a:bodyPr>
          <a:lstStyle/>
          <a:p>
            <a:pPr algn="l">
              <a:defRPr sz="1600" b="0">
                <a:solidFill>
                  <a:srgbClr val="555577"/>
                </a:solidFill>
                <a:latin typeface="Calibri"/>
              </a:defRPr>
            </a:pPr>
            <a:r>
              <a:t>The platform pays for itself through time savings, faster revenue activation (lower TAT for payer participation), end-to-end integration from HRIS through credentialing into the RCM / EHR systems, and compliance risk reduction.</a:t>
            </a:r>
          </a:p>
        </p:txBody>
      </p:sp>
      <p:sp>
        <p:nvSpPr>
          <p:cNvPr id="5" name="Rounded Rectangle 4"/>
          <p:cNvSpPr/>
          <p:nvPr/>
        </p:nvSpPr>
        <p:spPr>
          <a:xfrm>
            <a:off x="731520" y="1920240"/>
            <a:ext cx="3474720" cy="256032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920240"/>
            <a:ext cx="3474720" cy="54864"/>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103120"/>
            <a:ext cx="3474720" cy="731520"/>
          </a:xfrm>
          <a:prstGeom prst="rect">
            <a:avLst/>
          </a:prstGeom>
          <a:noFill/>
        </p:spPr>
        <p:txBody>
          <a:bodyPr wrap="square">
            <a:spAutoFit/>
          </a:bodyPr>
          <a:lstStyle/>
          <a:p>
            <a:pPr algn="ctr">
              <a:defRPr sz="4800" b="1">
                <a:solidFill>
                  <a:srgbClr val="00B67A"/>
                </a:solidFill>
                <a:latin typeface="Calibri"/>
              </a:defRPr>
            </a:pPr>
            <a:r>
              <a:t>60%</a:t>
            </a:r>
          </a:p>
        </p:txBody>
      </p:sp>
      <p:sp>
        <p:nvSpPr>
          <p:cNvPr id="8" name="TextBox 7"/>
          <p:cNvSpPr txBox="1"/>
          <p:nvPr/>
        </p:nvSpPr>
        <p:spPr>
          <a:xfrm>
            <a:off x="731520" y="2834640"/>
            <a:ext cx="3474720" cy="548640"/>
          </a:xfrm>
          <a:prstGeom prst="rect">
            <a:avLst/>
          </a:prstGeom>
          <a:noFill/>
        </p:spPr>
        <p:txBody>
          <a:bodyPr wrap="square">
            <a:spAutoFit/>
          </a:bodyPr>
          <a:lstStyle/>
          <a:p>
            <a:pPr algn="ctr">
              <a:defRPr sz="1200" b="1">
                <a:solidFill>
                  <a:srgbClr val="555577"/>
                </a:solidFill>
                <a:latin typeface="Calibri"/>
              </a:defRPr>
            </a:pPr>
            <a:r>
              <a:t>Reduction in</a:t>
            </a:r>
            <a:br/>
            <a:r>
              <a:t>Onboarding Time</a:t>
            </a:r>
          </a:p>
        </p:txBody>
      </p:sp>
      <p:sp>
        <p:nvSpPr>
          <p:cNvPr id="9" name="TextBox 8"/>
          <p:cNvSpPr txBox="1"/>
          <p:nvPr/>
        </p:nvSpPr>
        <p:spPr>
          <a:xfrm>
            <a:off x="1005840" y="3383280"/>
            <a:ext cx="2926080" cy="822960"/>
          </a:xfrm>
          <a:prstGeom prst="rect">
            <a:avLst/>
          </a:prstGeom>
          <a:noFill/>
        </p:spPr>
        <p:txBody>
          <a:bodyPr wrap="square">
            <a:spAutoFit/>
          </a:bodyPr>
          <a:lstStyle/>
          <a:p>
            <a:pPr algn="ctr">
              <a:defRPr sz="1100" b="0">
                <a:solidFill>
                  <a:srgbClr val="555577"/>
                </a:solidFill>
                <a:latin typeface="Calibri"/>
              </a:defRPr>
            </a:pPr>
            <a:r>
              <a:t>From 45+ days to under 18 days through automation, OCR, and parallel bot verification.</a:t>
            </a:r>
          </a:p>
        </p:txBody>
      </p:sp>
      <p:sp>
        <p:nvSpPr>
          <p:cNvPr id="10" name="Rounded Rectangle 9"/>
          <p:cNvSpPr/>
          <p:nvPr/>
        </p:nvSpPr>
        <p:spPr>
          <a:xfrm>
            <a:off x="4480559" y="1920240"/>
            <a:ext cx="3474720" cy="256032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80559" y="1920240"/>
            <a:ext cx="3474720" cy="54864"/>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80559" y="2103120"/>
            <a:ext cx="3474720" cy="731520"/>
          </a:xfrm>
          <a:prstGeom prst="rect">
            <a:avLst/>
          </a:prstGeom>
          <a:noFill/>
        </p:spPr>
        <p:txBody>
          <a:bodyPr wrap="square">
            <a:spAutoFit/>
          </a:bodyPr>
          <a:lstStyle/>
          <a:p>
            <a:pPr algn="ctr">
              <a:defRPr sz="4800" b="1">
                <a:solidFill>
                  <a:srgbClr val="00A3E0"/>
                </a:solidFill>
                <a:latin typeface="Calibri"/>
              </a:defRPr>
            </a:pPr>
            <a:r>
              <a:t>85%</a:t>
            </a:r>
          </a:p>
        </p:txBody>
      </p:sp>
      <p:sp>
        <p:nvSpPr>
          <p:cNvPr id="13" name="TextBox 12"/>
          <p:cNvSpPr txBox="1"/>
          <p:nvPr/>
        </p:nvSpPr>
        <p:spPr>
          <a:xfrm>
            <a:off x="4480559" y="2834640"/>
            <a:ext cx="3474720" cy="548640"/>
          </a:xfrm>
          <a:prstGeom prst="rect">
            <a:avLst/>
          </a:prstGeom>
          <a:noFill/>
        </p:spPr>
        <p:txBody>
          <a:bodyPr wrap="square">
            <a:spAutoFit/>
          </a:bodyPr>
          <a:lstStyle/>
          <a:p>
            <a:pPr algn="ctr">
              <a:defRPr sz="1200" b="1">
                <a:solidFill>
                  <a:srgbClr val="555577"/>
                </a:solidFill>
                <a:latin typeface="Calibri"/>
              </a:defRPr>
            </a:pPr>
            <a:r>
              <a:t>Reduction in</a:t>
            </a:r>
            <a:br/>
            <a:r>
              <a:t>Manual PSV Work</a:t>
            </a:r>
          </a:p>
        </p:txBody>
      </p:sp>
      <p:sp>
        <p:nvSpPr>
          <p:cNvPr id="14" name="TextBox 13"/>
          <p:cNvSpPr txBox="1"/>
          <p:nvPr/>
        </p:nvSpPr>
        <p:spPr>
          <a:xfrm>
            <a:off x="4754879" y="3383280"/>
            <a:ext cx="2926080" cy="822960"/>
          </a:xfrm>
          <a:prstGeom prst="rect">
            <a:avLst/>
          </a:prstGeom>
          <a:noFill/>
        </p:spPr>
        <p:txBody>
          <a:bodyPr wrap="square">
            <a:spAutoFit/>
          </a:bodyPr>
          <a:lstStyle/>
          <a:p>
            <a:pPr algn="ctr">
              <a:defRPr sz="1100" b="0">
                <a:solidFill>
                  <a:srgbClr val="555577"/>
                </a:solidFill>
                <a:latin typeface="Calibri"/>
              </a:defRPr>
            </a:pPr>
            <a:r>
              <a:t>3-4 hours per provider replaced by bots that run in minutes with zero human involvement.</a:t>
            </a:r>
          </a:p>
        </p:txBody>
      </p:sp>
      <p:sp>
        <p:nvSpPr>
          <p:cNvPr id="15" name="Rounded Rectangle 14"/>
          <p:cNvSpPr/>
          <p:nvPr/>
        </p:nvSpPr>
        <p:spPr>
          <a:xfrm>
            <a:off x="8229600" y="1920240"/>
            <a:ext cx="3474720" cy="256032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29600" y="1920240"/>
            <a:ext cx="347472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0" y="2103120"/>
            <a:ext cx="3474720" cy="731520"/>
          </a:xfrm>
          <a:prstGeom prst="rect">
            <a:avLst/>
          </a:prstGeom>
          <a:noFill/>
        </p:spPr>
        <p:txBody>
          <a:bodyPr wrap="square">
            <a:spAutoFit/>
          </a:bodyPr>
          <a:lstStyle/>
          <a:p>
            <a:pPr algn="ctr">
              <a:defRPr sz="4800" b="1">
                <a:solidFill>
                  <a:srgbClr val="FF6B35"/>
                </a:solidFill>
                <a:latin typeface="Calibri"/>
              </a:defRPr>
            </a:pPr>
            <a:r>
              <a:t>100%</a:t>
            </a:r>
          </a:p>
        </p:txBody>
      </p:sp>
      <p:sp>
        <p:nvSpPr>
          <p:cNvPr id="18" name="TextBox 17"/>
          <p:cNvSpPr txBox="1"/>
          <p:nvPr/>
        </p:nvSpPr>
        <p:spPr>
          <a:xfrm>
            <a:off x="8229600" y="2834640"/>
            <a:ext cx="3474720" cy="548640"/>
          </a:xfrm>
          <a:prstGeom prst="rect">
            <a:avLst/>
          </a:prstGeom>
          <a:noFill/>
        </p:spPr>
        <p:txBody>
          <a:bodyPr wrap="square">
            <a:spAutoFit/>
          </a:bodyPr>
          <a:lstStyle/>
          <a:p>
            <a:pPr algn="ctr">
              <a:defRPr sz="1200" b="1">
                <a:solidFill>
                  <a:srgbClr val="555577"/>
                </a:solidFill>
                <a:latin typeface="Calibri"/>
              </a:defRPr>
            </a:pPr>
            <a:r>
              <a:t>Expirable Compliance</a:t>
            </a:r>
            <a:br/>
            <a:r>
              <a:t>Coverage</a:t>
            </a:r>
          </a:p>
        </p:txBody>
      </p:sp>
      <p:sp>
        <p:nvSpPr>
          <p:cNvPr id="19" name="TextBox 18"/>
          <p:cNvSpPr txBox="1"/>
          <p:nvPr/>
        </p:nvSpPr>
        <p:spPr>
          <a:xfrm>
            <a:off x="8503920" y="3383280"/>
            <a:ext cx="2926080" cy="822960"/>
          </a:xfrm>
          <a:prstGeom prst="rect">
            <a:avLst/>
          </a:prstGeom>
          <a:noFill/>
        </p:spPr>
        <p:txBody>
          <a:bodyPr wrap="square">
            <a:spAutoFit/>
          </a:bodyPr>
          <a:lstStyle/>
          <a:p>
            <a:pPr algn="ctr">
              <a:defRPr sz="1100" b="0">
                <a:solidFill>
                  <a:srgbClr val="555577"/>
                </a:solidFill>
                <a:latin typeface="Calibri"/>
              </a:defRPr>
            </a:pPr>
            <a:r>
              <a:t>Automated monitoring of 20+ credential types. No more expired licenses discovered after the fact.</a:t>
            </a:r>
          </a:p>
        </p:txBody>
      </p:sp>
      <p:sp>
        <p:nvSpPr>
          <p:cNvPr id="20" name="Rounded Rectangle 19"/>
          <p:cNvSpPr/>
          <p:nvPr/>
        </p:nvSpPr>
        <p:spPr>
          <a:xfrm>
            <a:off x="731520" y="4846320"/>
            <a:ext cx="10698480" cy="1280160"/>
          </a:xfrm>
          <a:prstGeom prst="roundRect">
            <a:avLst/>
          </a:prstGeom>
          <a:solidFill>
            <a:srgbClr val="E8FBF2"/>
          </a:solidFill>
          <a:ln w="12700">
            <a:solidFill>
              <a:srgbClr val="B0E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71600" y="4937760"/>
            <a:ext cx="3200400" cy="548640"/>
          </a:xfrm>
          <a:prstGeom prst="rect">
            <a:avLst/>
          </a:prstGeom>
          <a:noFill/>
        </p:spPr>
        <p:txBody>
          <a:bodyPr wrap="square">
            <a:spAutoFit/>
          </a:bodyPr>
          <a:lstStyle/>
          <a:p>
            <a:pPr algn="ctr">
              <a:defRPr sz="3600" b="1">
                <a:solidFill>
                  <a:srgbClr val="00B67A"/>
                </a:solidFill>
                <a:latin typeface="Calibri"/>
              </a:defRPr>
            </a:pPr>
            <a:r>
              <a:t>$0</a:t>
            </a:r>
          </a:p>
        </p:txBody>
      </p:sp>
      <p:sp>
        <p:nvSpPr>
          <p:cNvPr id="22" name="TextBox 21"/>
          <p:cNvSpPr txBox="1"/>
          <p:nvPr/>
        </p:nvSpPr>
        <p:spPr>
          <a:xfrm>
            <a:off x="1371600" y="5486400"/>
            <a:ext cx="3200400" cy="365760"/>
          </a:xfrm>
          <a:prstGeom prst="rect">
            <a:avLst/>
          </a:prstGeom>
          <a:noFill/>
        </p:spPr>
        <p:txBody>
          <a:bodyPr wrap="square">
            <a:spAutoFit/>
          </a:bodyPr>
          <a:lstStyle/>
          <a:p>
            <a:pPr algn="ctr">
              <a:defRPr sz="1100" b="0">
                <a:solidFill>
                  <a:srgbClr val="555577"/>
                </a:solidFill>
                <a:latin typeface="Calibri"/>
              </a:defRPr>
            </a:pPr>
            <a:r>
              <a:t>Additional License Costs</a:t>
            </a:r>
          </a:p>
        </p:txBody>
      </p:sp>
      <p:sp>
        <p:nvSpPr>
          <p:cNvPr id="23" name="TextBox 22"/>
          <p:cNvSpPr txBox="1"/>
          <p:nvPr/>
        </p:nvSpPr>
        <p:spPr>
          <a:xfrm>
            <a:off x="5029200" y="4937760"/>
            <a:ext cx="3200400" cy="548640"/>
          </a:xfrm>
          <a:prstGeom prst="rect">
            <a:avLst/>
          </a:prstGeom>
          <a:noFill/>
        </p:spPr>
        <p:txBody>
          <a:bodyPr wrap="square">
            <a:spAutoFit/>
          </a:bodyPr>
          <a:lstStyle/>
          <a:p>
            <a:pPr algn="ctr">
              <a:defRPr sz="3600" b="1">
                <a:solidFill>
                  <a:srgbClr val="00B67A"/>
                </a:solidFill>
                <a:latin typeface="Calibri"/>
              </a:defRPr>
            </a:pPr>
            <a:r>
              <a:t>1</a:t>
            </a:r>
          </a:p>
        </p:txBody>
      </p:sp>
      <p:sp>
        <p:nvSpPr>
          <p:cNvPr id="24" name="TextBox 23"/>
          <p:cNvSpPr txBox="1"/>
          <p:nvPr/>
        </p:nvSpPr>
        <p:spPr>
          <a:xfrm>
            <a:off x="5029200" y="5486400"/>
            <a:ext cx="3200400" cy="365760"/>
          </a:xfrm>
          <a:prstGeom prst="rect">
            <a:avLst/>
          </a:prstGeom>
          <a:noFill/>
        </p:spPr>
        <p:txBody>
          <a:bodyPr wrap="square">
            <a:spAutoFit/>
          </a:bodyPr>
          <a:lstStyle/>
          <a:p>
            <a:pPr algn="ctr">
              <a:defRPr sz="1100" b="0">
                <a:solidFill>
                  <a:srgbClr val="555577"/>
                </a:solidFill>
                <a:latin typeface="Calibri"/>
              </a:defRPr>
            </a:pPr>
            <a:r>
              <a:t>Team, One Language (TypeScript)</a:t>
            </a:r>
          </a:p>
        </p:txBody>
      </p:sp>
      <p:sp>
        <p:nvSpPr>
          <p:cNvPr id="25" name="TextBox 24"/>
          <p:cNvSpPr txBox="1"/>
          <p:nvPr/>
        </p:nvSpPr>
        <p:spPr>
          <a:xfrm>
            <a:off x="8686800" y="4937760"/>
            <a:ext cx="3200400" cy="548640"/>
          </a:xfrm>
          <a:prstGeom prst="rect">
            <a:avLst/>
          </a:prstGeom>
          <a:noFill/>
        </p:spPr>
        <p:txBody>
          <a:bodyPr wrap="square">
            <a:spAutoFit/>
          </a:bodyPr>
          <a:lstStyle/>
          <a:p>
            <a:pPr algn="ctr">
              <a:defRPr sz="3600" b="1">
                <a:solidFill>
                  <a:srgbClr val="00B67A"/>
                </a:solidFill>
                <a:latin typeface="Calibri"/>
              </a:defRPr>
            </a:pPr>
            <a:r>
              <a:t>10yr</a:t>
            </a:r>
          </a:p>
        </p:txBody>
      </p:sp>
      <p:sp>
        <p:nvSpPr>
          <p:cNvPr id="26" name="TextBox 25"/>
          <p:cNvSpPr txBox="1"/>
          <p:nvPr/>
        </p:nvSpPr>
        <p:spPr>
          <a:xfrm>
            <a:off x="8686800" y="5486400"/>
            <a:ext cx="3200400" cy="365760"/>
          </a:xfrm>
          <a:prstGeom prst="rect">
            <a:avLst/>
          </a:prstGeom>
          <a:noFill/>
        </p:spPr>
        <p:txBody>
          <a:bodyPr wrap="square">
            <a:spAutoFit/>
          </a:bodyPr>
          <a:lstStyle/>
          <a:p>
            <a:pPr algn="ctr">
              <a:defRPr sz="1100" b="0">
                <a:solidFill>
                  <a:srgbClr val="555577"/>
                </a:solidFill>
                <a:latin typeface="Calibri"/>
              </a:defRPr>
            </a:pPr>
            <a:r>
              <a:t>Audit Retention Built In</a:t>
            </a:r>
          </a:p>
        </p:txBody>
      </p:sp>
      <p:sp>
        <p:nvSpPr>
          <p:cNvPr id="27" name="TextBox 26"/>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61E4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5486400" cy="320040"/>
          </a:xfrm>
          <a:prstGeom prst="rect">
            <a:avLst/>
          </a:prstGeom>
          <a:noFill/>
        </p:spPr>
        <p:txBody>
          <a:bodyPr wrap="square">
            <a:spAutoFit/>
          </a:bodyPr>
          <a:lstStyle/>
          <a:p>
            <a:pPr algn="l">
              <a:defRPr sz="1100" b="1">
                <a:solidFill>
                  <a:srgbClr val="CCCCDD"/>
                </a:solidFill>
                <a:latin typeface="Calibri"/>
              </a:defRPr>
            </a:pPr>
            <a:r>
              <a:t>USER EXPERIENCE</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4000" b="1">
                <a:solidFill>
                  <a:srgbClr val="FFFFFF"/>
                </a:solidFill>
                <a:latin typeface="Calibri"/>
              </a:defRPr>
            </a:pPr>
            <a:r>
              <a:t>Designed for Every User</a:t>
            </a:r>
          </a:p>
        </p:txBody>
      </p:sp>
      <p:sp>
        <p:nvSpPr>
          <p:cNvPr id="4" name="TextBox 3"/>
          <p:cNvSpPr txBox="1"/>
          <p:nvPr/>
        </p:nvSpPr>
        <p:spPr>
          <a:xfrm>
            <a:off x="731520" y="1280160"/>
            <a:ext cx="9144000" cy="365760"/>
          </a:xfrm>
          <a:prstGeom prst="rect">
            <a:avLst/>
          </a:prstGeom>
          <a:noFill/>
        </p:spPr>
        <p:txBody>
          <a:bodyPr wrap="square">
            <a:spAutoFit/>
          </a:bodyPr>
          <a:lstStyle/>
          <a:p>
            <a:pPr algn="l">
              <a:defRPr sz="1600" b="0">
                <a:solidFill>
                  <a:srgbClr val="CCCCDD"/>
                </a:solidFill>
                <a:latin typeface="Calibri"/>
              </a:defRPr>
            </a:pPr>
            <a:r>
              <a:t>Role-specific interfaces - for credentialing specialists, managers, committee members, providers, and (with scoped permissions) operations and RCM / billing teams - surfacing exactly what each user needs, nothing more.</a:t>
            </a:r>
          </a:p>
        </p:txBody>
      </p:sp>
      <p:sp>
        <p:nvSpPr>
          <p:cNvPr id="5" name="Rounded Rectangle 4"/>
          <p:cNvSpPr/>
          <p:nvPr/>
        </p:nvSpPr>
        <p:spPr>
          <a:xfrm>
            <a:off x="731520" y="2011680"/>
            <a:ext cx="4937760" cy="16459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2011680"/>
            <a:ext cx="54864" cy="16459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194560"/>
            <a:ext cx="4389120" cy="320040"/>
          </a:xfrm>
          <a:prstGeom prst="rect">
            <a:avLst/>
          </a:prstGeom>
          <a:noFill/>
        </p:spPr>
        <p:txBody>
          <a:bodyPr wrap="square">
            <a:spAutoFit/>
          </a:bodyPr>
          <a:lstStyle/>
          <a:p>
            <a:pPr algn="l">
              <a:defRPr sz="1600" b="1">
                <a:solidFill>
                  <a:srgbClr val="FFFFFF"/>
                </a:solidFill>
                <a:latin typeface="Calibri"/>
              </a:defRPr>
            </a:pPr>
            <a:r>
              <a:t>Credentialing Specialists</a:t>
            </a:r>
          </a:p>
        </p:txBody>
      </p:sp>
      <p:sp>
        <p:nvSpPr>
          <p:cNvPr id="8" name="TextBox 7"/>
          <p:cNvSpPr txBox="1"/>
          <p:nvPr/>
        </p:nvSpPr>
        <p:spPr>
          <a:xfrm>
            <a:off x="1005840" y="2606040"/>
            <a:ext cx="4389120" cy="914400"/>
          </a:xfrm>
          <a:prstGeom prst="rect">
            <a:avLst/>
          </a:prstGeom>
          <a:noFill/>
        </p:spPr>
        <p:txBody>
          <a:bodyPr wrap="square">
            <a:spAutoFit/>
          </a:bodyPr>
          <a:lstStyle/>
          <a:p>
            <a:pPr algn="l">
              <a:defRPr sz="1200" b="0">
                <a:solidFill>
                  <a:srgbClr val="CCCCDD"/>
                </a:solidFill>
                <a:latin typeface="Calibri"/>
              </a:defRPr>
            </a:pPr>
            <a:r>
              <a:t>Pipeline view of all assigned providers. One-click bot triggers. Task management. Communication log. Follow-up reminders. Real-time verification status.</a:t>
            </a:r>
          </a:p>
        </p:txBody>
      </p:sp>
      <p:sp>
        <p:nvSpPr>
          <p:cNvPr id="9" name="Rounded Rectangle 8"/>
          <p:cNvSpPr/>
          <p:nvPr/>
        </p:nvSpPr>
        <p:spPr>
          <a:xfrm>
            <a:off x="6035040" y="2011680"/>
            <a:ext cx="4937760" cy="16459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35040" y="2011680"/>
            <a:ext cx="54864" cy="164592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59" y="2194560"/>
            <a:ext cx="4389120" cy="320040"/>
          </a:xfrm>
          <a:prstGeom prst="rect">
            <a:avLst/>
          </a:prstGeom>
          <a:noFill/>
        </p:spPr>
        <p:txBody>
          <a:bodyPr wrap="square">
            <a:spAutoFit/>
          </a:bodyPr>
          <a:lstStyle/>
          <a:p>
            <a:pPr algn="l">
              <a:defRPr sz="1600" b="1">
                <a:solidFill>
                  <a:srgbClr val="FFFFFF"/>
                </a:solidFill>
                <a:latin typeface="Calibri"/>
              </a:defRPr>
            </a:pPr>
            <a:r>
              <a:t>Credentialing Managers</a:t>
            </a:r>
          </a:p>
        </p:txBody>
      </p:sp>
      <p:sp>
        <p:nvSpPr>
          <p:cNvPr id="12" name="TextBox 11"/>
          <p:cNvSpPr txBox="1"/>
          <p:nvPr/>
        </p:nvSpPr>
        <p:spPr>
          <a:xfrm>
            <a:off x="6309359" y="2606040"/>
            <a:ext cx="4389120" cy="914400"/>
          </a:xfrm>
          <a:prstGeom prst="rect">
            <a:avLst/>
          </a:prstGeom>
          <a:noFill/>
        </p:spPr>
        <p:txBody>
          <a:bodyPr wrap="square">
            <a:spAutoFit/>
          </a:bodyPr>
          <a:lstStyle/>
          <a:p>
            <a:pPr algn="l">
              <a:defRPr sz="1200" b="0">
                <a:solidFill>
                  <a:srgbClr val="CCCCDD"/>
                </a:solidFill>
                <a:latin typeface="Calibri"/>
              </a:defRPr>
            </a:pPr>
            <a:r>
              <a:t>Full pipeline visibility. Committee session management. Auto-generated agendas. One-click approvals. Team oversight. Reporting and data export.</a:t>
            </a:r>
          </a:p>
        </p:txBody>
      </p:sp>
      <p:sp>
        <p:nvSpPr>
          <p:cNvPr id="13" name="Rounded Rectangle 12"/>
          <p:cNvSpPr/>
          <p:nvPr/>
        </p:nvSpPr>
        <p:spPr>
          <a:xfrm>
            <a:off x="731520" y="4023360"/>
            <a:ext cx="4937760" cy="16459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4023360"/>
            <a:ext cx="54864" cy="1645920"/>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4206240"/>
            <a:ext cx="4389120" cy="320040"/>
          </a:xfrm>
          <a:prstGeom prst="rect">
            <a:avLst/>
          </a:prstGeom>
          <a:noFill/>
        </p:spPr>
        <p:txBody>
          <a:bodyPr wrap="square">
            <a:spAutoFit/>
          </a:bodyPr>
          <a:lstStyle/>
          <a:p>
            <a:pPr algn="l">
              <a:defRPr sz="1600" b="1">
                <a:solidFill>
                  <a:srgbClr val="FFFFFF"/>
                </a:solidFill>
                <a:latin typeface="Calibri"/>
              </a:defRPr>
            </a:pPr>
            <a:r>
              <a:t>Committee Members</a:t>
            </a:r>
          </a:p>
        </p:txBody>
      </p:sp>
      <p:sp>
        <p:nvSpPr>
          <p:cNvPr id="16" name="TextBox 15"/>
          <p:cNvSpPr txBox="1"/>
          <p:nvPr/>
        </p:nvSpPr>
        <p:spPr>
          <a:xfrm>
            <a:off x="1005840" y="4617720"/>
            <a:ext cx="4389120" cy="914400"/>
          </a:xfrm>
          <a:prstGeom prst="rect">
            <a:avLst/>
          </a:prstGeom>
          <a:noFill/>
        </p:spPr>
        <p:txBody>
          <a:bodyPr wrap="square">
            <a:spAutoFit/>
          </a:bodyPr>
          <a:lstStyle/>
          <a:p>
            <a:pPr algn="l">
              <a:defRPr sz="1200" b="0">
                <a:solidFill>
                  <a:srgbClr val="CCCCDD"/>
                </a:solidFill>
                <a:latin typeface="Calibri"/>
              </a:defRPr>
            </a:pPr>
            <a:r>
              <a:t>Read-only access to committee sessions. Provider summary sheets at a glance. Approval voting with comments. Clean, focused interface.</a:t>
            </a:r>
          </a:p>
        </p:txBody>
      </p:sp>
      <p:sp>
        <p:nvSpPr>
          <p:cNvPr id="17" name="Rounded Rectangle 16"/>
          <p:cNvSpPr/>
          <p:nvPr/>
        </p:nvSpPr>
        <p:spPr>
          <a:xfrm>
            <a:off x="6035040" y="4023360"/>
            <a:ext cx="4937760" cy="16459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35040" y="4023360"/>
            <a:ext cx="54864" cy="16459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9359" y="4206240"/>
            <a:ext cx="4389120" cy="320040"/>
          </a:xfrm>
          <a:prstGeom prst="rect">
            <a:avLst/>
          </a:prstGeom>
          <a:noFill/>
        </p:spPr>
        <p:txBody>
          <a:bodyPr wrap="square">
            <a:spAutoFit/>
          </a:bodyPr>
          <a:lstStyle/>
          <a:p>
            <a:pPr algn="l">
              <a:defRPr sz="1600" b="1">
                <a:solidFill>
                  <a:srgbClr val="FFFFFF"/>
                </a:solidFill>
                <a:latin typeface="Calibri"/>
              </a:defRPr>
            </a:pPr>
            <a:r>
              <a:t>Providers (External)</a:t>
            </a:r>
          </a:p>
        </p:txBody>
      </p:sp>
      <p:sp>
        <p:nvSpPr>
          <p:cNvPr id="20" name="TextBox 19"/>
          <p:cNvSpPr txBox="1"/>
          <p:nvPr/>
        </p:nvSpPr>
        <p:spPr>
          <a:xfrm>
            <a:off x="6309359" y="4617720"/>
            <a:ext cx="4389120" cy="914400"/>
          </a:xfrm>
          <a:prstGeom prst="rect">
            <a:avLst/>
          </a:prstGeom>
          <a:noFill/>
        </p:spPr>
        <p:txBody>
          <a:bodyPr wrap="square">
            <a:spAutoFit/>
          </a:bodyPr>
          <a:lstStyle/>
          <a:p>
            <a:pPr algn="l">
              <a:defRPr sz="1200" b="0">
                <a:solidFill>
                  <a:srgbClr val="CCCCDD"/>
                </a:solidFill>
                <a:latin typeface="Calibri"/>
              </a:defRPr>
            </a:pPr>
            <a:r>
              <a:t>Self-service application portal. Drag-and-drop document upload with OCR auto-fill. Real-time checklist. Progress tracking. Electronic signature.</a:t>
            </a:r>
          </a:p>
        </p:txBody>
      </p:sp>
      <p:sp>
        <p:nvSpPr>
          <p:cNvPr id="21" name="TextBox 20"/>
          <p:cNvSpPr txBox="1"/>
          <p:nvPr/>
        </p:nvSpPr>
        <p:spPr>
          <a:xfrm>
            <a:off x="11155680" y="6309360"/>
            <a:ext cx="914400" cy="365760"/>
          </a:xfrm>
          <a:prstGeom prst="rect">
            <a:avLst/>
          </a:prstGeom>
          <a:noFill/>
        </p:spPr>
        <p:txBody>
          <a:bodyPr wrap="square">
            <a:spAutoFit/>
          </a:bodyPr>
          <a:lstStyle/>
          <a:p>
            <a:pPr algn="r">
              <a:defRPr sz="1100" b="0">
                <a:solidFill>
                  <a:srgbClr val="CCCCDD"/>
                </a:solidFill>
                <a:latin typeface="Calibri"/>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5486400" cy="320040"/>
          </a:xfrm>
          <a:prstGeom prst="rect">
            <a:avLst/>
          </a:prstGeom>
          <a:noFill/>
        </p:spPr>
        <p:txBody>
          <a:bodyPr wrap="square">
            <a:spAutoFit/>
          </a:bodyPr>
          <a:lstStyle/>
          <a:p>
            <a:pPr algn="l">
              <a:defRPr sz="1100" b="1">
                <a:solidFill>
                  <a:srgbClr val="00A3E0"/>
                </a:solidFill>
                <a:latin typeface="Calibri"/>
              </a:defRPr>
            </a:pPr>
            <a:r>
              <a:t>IMPLEMENTATION</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4000" b="1">
                <a:solidFill>
                  <a:srgbClr val="1A1A2E"/>
                </a:solidFill>
                <a:latin typeface="Calibri"/>
              </a:defRPr>
            </a:pPr>
            <a:r>
              <a:t>Ready Now, Growing Tomorrow</a:t>
            </a:r>
          </a:p>
        </p:txBody>
      </p:sp>
      <p:sp>
        <p:nvSpPr>
          <p:cNvPr id="4" name="TextBox 3"/>
          <p:cNvSpPr txBox="1"/>
          <p:nvPr/>
        </p:nvSpPr>
        <p:spPr>
          <a:xfrm>
            <a:off x="731520" y="1280160"/>
            <a:ext cx="9144000" cy="365760"/>
          </a:xfrm>
          <a:prstGeom prst="rect">
            <a:avLst/>
          </a:prstGeom>
          <a:noFill/>
        </p:spPr>
        <p:txBody>
          <a:bodyPr wrap="square">
            <a:spAutoFit/>
          </a:bodyPr>
          <a:lstStyle/>
          <a:p>
            <a:pPr algn="l">
              <a:defRPr sz="1600" b="0">
                <a:solidFill>
                  <a:srgbClr val="555577"/>
                </a:solidFill>
                <a:latin typeface="Calibri"/>
              </a:defRPr>
            </a:pPr>
            <a:r>
              <a:t>The platform is deployed and production-ready. Here's the roadmap for full organizational rollout.</a:t>
            </a:r>
          </a:p>
        </p:txBody>
      </p:sp>
      <p:sp>
        <p:nvSpPr>
          <p:cNvPr id="5" name="Oval 4"/>
          <p:cNvSpPr/>
          <p:nvPr/>
        </p:nvSpPr>
        <p:spPr>
          <a:xfrm>
            <a:off x="1005840" y="2011680"/>
            <a:ext cx="182880" cy="182880"/>
          </a:xfrm>
          <a:prstGeom prst="ellipse">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88136" y="2194560"/>
            <a:ext cx="18288" cy="914400"/>
          </a:xfrm>
          <a:prstGeom prst="rect">
            <a:avLst/>
          </a:prstGeom>
          <a:solidFill>
            <a:srgbClr val="DD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1874520"/>
            <a:ext cx="1828800" cy="228600"/>
          </a:xfrm>
          <a:prstGeom prst="rect">
            <a:avLst/>
          </a:prstGeom>
          <a:noFill/>
        </p:spPr>
        <p:txBody>
          <a:bodyPr wrap="square">
            <a:spAutoFit/>
          </a:bodyPr>
          <a:lstStyle/>
          <a:p>
            <a:pPr algn="l">
              <a:defRPr sz="1000" b="1">
                <a:solidFill>
                  <a:srgbClr val="00B67A"/>
                </a:solidFill>
                <a:latin typeface="Calibri"/>
              </a:defRPr>
            </a:pPr>
            <a:r>
              <a:t>COMPLETED</a:t>
            </a:r>
          </a:p>
        </p:txBody>
      </p:sp>
      <p:sp>
        <p:nvSpPr>
          <p:cNvPr id="8" name="TextBox 7"/>
          <p:cNvSpPr txBox="1"/>
          <p:nvPr/>
        </p:nvSpPr>
        <p:spPr>
          <a:xfrm>
            <a:off x="1371600" y="2103120"/>
            <a:ext cx="3657600" cy="274320"/>
          </a:xfrm>
          <a:prstGeom prst="rect">
            <a:avLst/>
          </a:prstGeom>
          <a:noFill/>
        </p:spPr>
        <p:txBody>
          <a:bodyPr wrap="square">
            <a:spAutoFit/>
          </a:bodyPr>
          <a:lstStyle/>
          <a:p>
            <a:pPr algn="l">
              <a:defRPr sz="1500" b="1">
                <a:solidFill>
                  <a:srgbClr val="1A1A2E"/>
                </a:solidFill>
                <a:latin typeface="Calibri"/>
              </a:defRPr>
            </a:pPr>
            <a:r>
              <a:t>Core Platform Build</a:t>
            </a:r>
          </a:p>
        </p:txBody>
      </p:sp>
      <p:sp>
        <p:nvSpPr>
          <p:cNvPr id="9" name="TextBox 8"/>
          <p:cNvSpPr txBox="1"/>
          <p:nvPr/>
        </p:nvSpPr>
        <p:spPr>
          <a:xfrm>
            <a:off x="1371600" y="2377440"/>
            <a:ext cx="4114800" cy="457200"/>
          </a:xfrm>
          <a:prstGeom prst="rect">
            <a:avLst/>
          </a:prstGeom>
          <a:noFill/>
        </p:spPr>
        <p:txBody>
          <a:bodyPr wrap="square">
            <a:spAutoFit/>
          </a:bodyPr>
          <a:lstStyle/>
          <a:p>
            <a:pPr algn="l">
              <a:defRPr sz="1100" b="0">
                <a:solidFill>
                  <a:srgbClr val="555577"/>
                </a:solidFill>
                <a:latin typeface="Calibri"/>
              </a:defRPr>
            </a:pPr>
            <a:r>
              <a:t>All 10 modules implemented, tested (234 tests, 100% pass), deployed to production.</a:t>
            </a:r>
          </a:p>
        </p:txBody>
      </p:sp>
      <p:sp>
        <p:nvSpPr>
          <p:cNvPr id="10" name="Oval 9"/>
          <p:cNvSpPr/>
          <p:nvPr/>
        </p:nvSpPr>
        <p:spPr>
          <a:xfrm>
            <a:off x="1005840" y="3108960"/>
            <a:ext cx="182880" cy="182880"/>
          </a:xfrm>
          <a:prstGeom prst="ellipse">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88136" y="3291839"/>
            <a:ext cx="18288" cy="914400"/>
          </a:xfrm>
          <a:prstGeom prst="rect">
            <a:avLst/>
          </a:prstGeom>
          <a:solidFill>
            <a:srgbClr val="DD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71600" y="2971800"/>
            <a:ext cx="1828800" cy="228600"/>
          </a:xfrm>
          <a:prstGeom prst="rect">
            <a:avLst/>
          </a:prstGeom>
          <a:noFill/>
        </p:spPr>
        <p:txBody>
          <a:bodyPr wrap="square">
            <a:spAutoFit/>
          </a:bodyPr>
          <a:lstStyle/>
          <a:p>
            <a:pPr algn="l">
              <a:defRPr sz="1000" b="1">
                <a:solidFill>
                  <a:srgbClr val="00A3E0"/>
                </a:solidFill>
                <a:latin typeface="Calibri"/>
              </a:defRPr>
            </a:pPr>
            <a:r>
              <a:t>Q2 2026</a:t>
            </a:r>
          </a:p>
        </p:txBody>
      </p:sp>
      <p:sp>
        <p:nvSpPr>
          <p:cNvPr id="13" name="TextBox 12"/>
          <p:cNvSpPr txBox="1"/>
          <p:nvPr/>
        </p:nvSpPr>
        <p:spPr>
          <a:xfrm>
            <a:off x="1371600" y="3200400"/>
            <a:ext cx="3657600" cy="274320"/>
          </a:xfrm>
          <a:prstGeom prst="rect">
            <a:avLst/>
          </a:prstGeom>
          <a:noFill/>
        </p:spPr>
        <p:txBody>
          <a:bodyPr wrap="square">
            <a:spAutoFit/>
          </a:bodyPr>
          <a:lstStyle/>
          <a:p>
            <a:pPr algn="l">
              <a:defRPr sz="1500" b="1">
                <a:solidFill>
                  <a:srgbClr val="1A1A2E"/>
                </a:solidFill>
                <a:latin typeface="Calibri"/>
              </a:defRPr>
            </a:pPr>
            <a:r>
              <a:t>Integration Activation</a:t>
            </a:r>
          </a:p>
        </p:txBody>
      </p:sp>
      <p:sp>
        <p:nvSpPr>
          <p:cNvPr id="14" name="TextBox 13"/>
          <p:cNvSpPr txBox="1"/>
          <p:nvPr/>
        </p:nvSpPr>
        <p:spPr>
          <a:xfrm>
            <a:off x="1371600" y="3474720"/>
            <a:ext cx="4114800" cy="457200"/>
          </a:xfrm>
          <a:prstGeom prst="rect">
            <a:avLst/>
          </a:prstGeom>
          <a:noFill/>
        </p:spPr>
        <p:txBody>
          <a:bodyPr wrap="square">
            <a:spAutoFit/>
          </a:bodyPr>
          <a:lstStyle/>
          <a:p>
            <a:pPr algn="l">
              <a:defRPr sz="1100" b="0">
                <a:solidFill>
                  <a:srgbClr val="555577"/>
                </a:solidFill>
                <a:latin typeface="Calibri"/>
              </a:defRPr>
            </a:pPr>
            <a:r>
              <a:t>Connect iCIMS, CAQH, Azure AD production tenant. Configure Key Vault. Activate PSV bots.</a:t>
            </a:r>
          </a:p>
        </p:txBody>
      </p:sp>
      <p:sp>
        <p:nvSpPr>
          <p:cNvPr id="15" name="Oval 14"/>
          <p:cNvSpPr/>
          <p:nvPr/>
        </p:nvSpPr>
        <p:spPr>
          <a:xfrm>
            <a:off x="1005840" y="4206240"/>
            <a:ext cx="182880" cy="182880"/>
          </a:xfrm>
          <a:prstGeom prst="ellipse">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088136" y="4389120"/>
            <a:ext cx="18288" cy="914400"/>
          </a:xfrm>
          <a:prstGeom prst="rect">
            <a:avLst/>
          </a:prstGeom>
          <a:solidFill>
            <a:srgbClr val="DD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71600" y="4069080"/>
            <a:ext cx="1828800" cy="228600"/>
          </a:xfrm>
          <a:prstGeom prst="rect">
            <a:avLst/>
          </a:prstGeom>
          <a:noFill/>
        </p:spPr>
        <p:txBody>
          <a:bodyPr wrap="square">
            <a:spAutoFit/>
          </a:bodyPr>
          <a:lstStyle/>
          <a:p>
            <a:pPr algn="l">
              <a:defRPr sz="1000" b="1">
                <a:solidFill>
                  <a:srgbClr val="00A3E0"/>
                </a:solidFill>
                <a:latin typeface="Calibri"/>
              </a:defRPr>
            </a:pPr>
            <a:r>
              <a:t>Q3 2026</a:t>
            </a:r>
          </a:p>
        </p:txBody>
      </p:sp>
      <p:sp>
        <p:nvSpPr>
          <p:cNvPr id="18" name="TextBox 17"/>
          <p:cNvSpPr txBox="1"/>
          <p:nvPr/>
        </p:nvSpPr>
        <p:spPr>
          <a:xfrm>
            <a:off x="1371600" y="4297680"/>
            <a:ext cx="3657600" cy="274320"/>
          </a:xfrm>
          <a:prstGeom prst="rect">
            <a:avLst/>
          </a:prstGeom>
          <a:noFill/>
        </p:spPr>
        <p:txBody>
          <a:bodyPr wrap="square">
            <a:spAutoFit/>
          </a:bodyPr>
          <a:lstStyle/>
          <a:p>
            <a:pPr algn="l">
              <a:defRPr sz="1500" b="1">
                <a:solidFill>
                  <a:srgbClr val="1A1A2E"/>
                </a:solidFill>
                <a:latin typeface="Calibri"/>
              </a:defRPr>
            </a:pPr>
            <a:r>
              <a:t>Staff Training &amp; Pilot</a:t>
            </a:r>
          </a:p>
        </p:txBody>
      </p:sp>
      <p:sp>
        <p:nvSpPr>
          <p:cNvPr id="19" name="TextBox 18"/>
          <p:cNvSpPr txBox="1"/>
          <p:nvPr/>
        </p:nvSpPr>
        <p:spPr>
          <a:xfrm>
            <a:off x="1371600" y="4572000"/>
            <a:ext cx="4114800" cy="457200"/>
          </a:xfrm>
          <a:prstGeom prst="rect">
            <a:avLst/>
          </a:prstGeom>
          <a:noFill/>
        </p:spPr>
        <p:txBody>
          <a:bodyPr wrap="square">
            <a:spAutoFit/>
          </a:bodyPr>
          <a:lstStyle/>
          <a:p>
            <a:pPr algn="l">
              <a:defRPr sz="1100" b="0">
                <a:solidFill>
                  <a:srgbClr val="555577"/>
                </a:solidFill>
                <a:latin typeface="Calibri"/>
              </a:defRPr>
            </a:pPr>
            <a:r>
              <a:t>Train credentialing team. Pilot with 10-20 providers in parallel with PARCS.</a:t>
            </a:r>
          </a:p>
        </p:txBody>
      </p:sp>
      <p:sp>
        <p:nvSpPr>
          <p:cNvPr id="20" name="Oval 19"/>
          <p:cNvSpPr/>
          <p:nvPr/>
        </p:nvSpPr>
        <p:spPr>
          <a:xfrm>
            <a:off x="1005840" y="5303519"/>
            <a:ext cx="182880" cy="182880"/>
          </a:xfrm>
          <a:prstGeom prst="ellipse">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71600" y="5166359"/>
            <a:ext cx="1828800" cy="228600"/>
          </a:xfrm>
          <a:prstGeom prst="rect">
            <a:avLst/>
          </a:prstGeom>
          <a:noFill/>
        </p:spPr>
        <p:txBody>
          <a:bodyPr wrap="square">
            <a:spAutoFit/>
          </a:bodyPr>
          <a:lstStyle/>
          <a:p>
            <a:pPr algn="l">
              <a:defRPr sz="1000" b="1">
                <a:solidFill>
                  <a:srgbClr val="00A3E0"/>
                </a:solidFill>
                <a:latin typeface="Calibri"/>
              </a:defRPr>
            </a:pPr>
            <a:r>
              <a:t>Q4 2026</a:t>
            </a:r>
          </a:p>
        </p:txBody>
      </p:sp>
      <p:sp>
        <p:nvSpPr>
          <p:cNvPr id="22" name="TextBox 21"/>
          <p:cNvSpPr txBox="1"/>
          <p:nvPr/>
        </p:nvSpPr>
        <p:spPr>
          <a:xfrm>
            <a:off x="1371600" y="5394959"/>
            <a:ext cx="3657600" cy="274320"/>
          </a:xfrm>
          <a:prstGeom prst="rect">
            <a:avLst/>
          </a:prstGeom>
          <a:noFill/>
        </p:spPr>
        <p:txBody>
          <a:bodyPr wrap="square">
            <a:spAutoFit/>
          </a:bodyPr>
          <a:lstStyle/>
          <a:p>
            <a:pPr algn="l">
              <a:defRPr sz="1500" b="1">
                <a:solidFill>
                  <a:srgbClr val="1A1A2E"/>
                </a:solidFill>
                <a:latin typeface="Calibri"/>
              </a:defRPr>
            </a:pPr>
            <a:r>
              <a:t>Full Rollout &amp; PARCS Sunset</a:t>
            </a:r>
          </a:p>
        </p:txBody>
      </p:sp>
      <p:sp>
        <p:nvSpPr>
          <p:cNvPr id="23" name="TextBox 22"/>
          <p:cNvSpPr txBox="1"/>
          <p:nvPr/>
        </p:nvSpPr>
        <p:spPr>
          <a:xfrm>
            <a:off x="1371600" y="5669279"/>
            <a:ext cx="4114800" cy="457200"/>
          </a:xfrm>
          <a:prstGeom prst="rect">
            <a:avLst/>
          </a:prstGeom>
          <a:noFill/>
        </p:spPr>
        <p:txBody>
          <a:bodyPr wrap="square">
            <a:spAutoFit/>
          </a:bodyPr>
          <a:lstStyle/>
          <a:p>
            <a:pPr algn="l">
              <a:defRPr sz="1100" b="0">
                <a:solidFill>
                  <a:srgbClr val="555577"/>
                </a:solidFill>
                <a:latin typeface="Calibri"/>
              </a:defRPr>
            </a:pPr>
            <a:r>
              <a:t>Migrate all active providers. Decommission PARCS. Full production operations.</a:t>
            </a:r>
          </a:p>
        </p:txBody>
      </p:sp>
      <p:sp>
        <p:nvSpPr>
          <p:cNvPr id="24" name="Rounded Rectangle 23"/>
          <p:cNvSpPr/>
          <p:nvPr/>
        </p:nvSpPr>
        <p:spPr>
          <a:xfrm>
            <a:off x="6217920" y="1920240"/>
            <a:ext cx="5303520" cy="4389120"/>
          </a:xfrm>
          <a:prstGeom prst="roundRect">
            <a:avLst/>
          </a:prstGeom>
          <a:solidFill>
            <a:srgbClr val="F8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92240" y="2103120"/>
            <a:ext cx="4572000" cy="320040"/>
          </a:xfrm>
          <a:prstGeom prst="rect">
            <a:avLst/>
          </a:prstGeom>
          <a:noFill/>
        </p:spPr>
        <p:txBody>
          <a:bodyPr wrap="square">
            <a:spAutoFit/>
          </a:bodyPr>
          <a:lstStyle/>
          <a:p>
            <a:pPr algn="l">
              <a:defRPr sz="1600" b="1">
                <a:solidFill>
                  <a:srgbClr val="00B67A"/>
                </a:solidFill>
                <a:latin typeface="Calibri"/>
              </a:defRPr>
            </a:pPr>
            <a:r>
              <a:t>What's Already Done</a:t>
            </a:r>
          </a:p>
        </p:txBody>
      </p:sp>
      <p:sp>
        <p:nvSpPr>
          <p:cNvPr id="26" name="TextBox 25"/>
          <p:cNvSpPr txBox="1"/>
          <p:nvPr/>
        </p:nvSpPr>
        <p:spPr>
          <a:xfrm>
            <a:off x="6492240" y="2560320"/>
            <a:ext cx="4572000" cy="320040"/>
          </a:xfrm>
          <a:prstGeom prst="rect">
            <a:avLst/>
          </a:prstGeom>
          <a:noFill/>
        </p:spPr>
        <p:txBody>
          <a:bodyPr wrap="square">
            <a:spAutoFit/>
          </a:bodyPr>
          <a:lstStyle/>
          <a:p>
            <a:pPr algn="l">
              <a:defRPr sz="1100" b="0">
                <a:solidFill>
                  <a:srgbClr val="1A1A2E"/>
                </a:solidFill>
                <a:latin typeface="Calibri"/>
              </a:defRPr>
            </a:pPr>
            <a:r>
              <a:t>✓ Provider onboarding portal with OCR</a:t>
            </a:r>
          </a:p>
        </p:txBody>
      </p:sp>
      <p:sp>
        <p:nvSpPr>
          <p:cNvPr id="27" name="TextBox 26"/>
          <p:cNvSpPr txBox="1"/>
          <p:nvPr/>
        </p:nvSpPr>
        <p:spPr>
          <a:xfrm>
            <a:off x="6492240" y="2926079"/>
            <a:ext cx="4572000" cy="320040"/>
          </a:xfrm>
          <a:prstGeom prst="rect">
            <a:avLst/>
          </a:prstGeom>
          <a:noFill/>
        </p:spPr>
        <p:txBody>
          <a:bodyPr wrap="square">
            <a:spAutoFit/>
          </a:bodyPr>
          <a:lstStyle/>
          <a:p>
            <a:pPr algn="l">
              <a:defRPr sz="1100" b="0">
                <a:solidFill>
                  <a:srgbClr val="1A1A2E"/>
                </a:solidFill>
                <a:latin typeface="Calibri"/>
              </a:defRPr>
            </a:pPr>
            <a:r>
              <a:t>✓ Staff onboarding dashboard</a:t>
            </a:r>
          </a:p>
        </p:txBody>
      </p:sp>
      <p:sp>
        <p:nvSpPr>
          <p:cNvPr id="28" name="TextBox 27"/>
          <p:cNvSpPr txBox="1"/>
          <p:nvPr/>
        </p:nvSpPr>
        <p:spPr>
          <a:xfrm>
            <a:off x="6492240" y="3291839"/>
            <a:ext cx="4572000" cy="320040"/>
          </a:xfrm>
          <a:prstGeom prst="rect">
            <a:avLst/>
          </a:prstGeom>
          <a:noFill/>
        </p:spPr>
        <p:txBody>
          <a:bodyPr wrap="square">
            <a:spAutoFit/>
          </a:bodyPr>
          <a:lstStyle/>
          <a:p>
            <a:pPr algn="l">
              <a:defRPr sz="1100" b="0">
                <a:solidFill>
                  <a:srgbClr val="1A1A2E"/>
                </a:solidFill>
                <a:latin typeface="Calibri"/>
              </a:defRPr>
            </a:pPr>
            <a:r>
              <a:t>✓ Committee review workflow</a:t>
            </a:r>
          </a:p>
        </p:txBody>
      </p:sp>
      <p:sp>
        <p:nvSpPr>
          <p:cNvPr id="29" name="TextBox 28"/>
          <p:cNvSpPr txBox="1"/>
          <p:nvPr/>
        </p:nvSpPr>
        <p:spPr>
          <a:xfrm>
            <a:off x="6492240" y="3657600"/>
            <a:ext cx="4572000" cy="320040"/>
          </a:xfrm>
          <a:prstGeom prst="rect">
            <a:avLst/>
          </a:prstGeom>
          <a:noFill/>
        </p:spPr>
        <p:txBody>
          <a:bodyPr wrap="square">
            <a:spAutoFit/>
          </a:bodyPr>
          <a:lstStyle/>
          <a:p>
            <a:pPr algn="l">
              <a:defRPr sz="1100" b="0">
                <a:solidFill>
                  <a:srgbClr val="1A1A2E"/>
                </a:solidFill>
                <a:latin typeface="Calibri"/>
              </a:defRPr>
            </a:pPr>
            <a:r>
              <a:t>✓ Enrollment management + follow-up cadence</a:t>
            </a:r>
          </a:p>
        </p:txBody>
      </p:sp>
      <p:sp>
        <p:nvSpPr>
          <p:cNvPr id="30" name="TextBox 29"/>
          <p:cNvSpPr txBox="1"/>
          <p:nvPr/>
        </p:nvSpPr>
        <p:spPr>
          <a:xfrm>
            <a:off x="6492240" y="4023360"/>
            <a:ext cx="4572000" cy="320040"/>
          </a:xfrm>
          <a:prstGeom prst="rect">
            <a:avLst/>
          </a:prstGeom>
          <a:noFill/>
        </p:spPr>
        <p:txBody>
          <a:bodyPr wrap="square">
            <a:spAutoFit/>
          </a:bodyPr>
          <a:lstStyle/>
          <a:p>
            <a:pPr algn="l">
              <a:defRPr sz="1100" b="0">
                <a:solidFill>
                  <a:srgbClr val="1A1A2E"/>
                </a:solidFill>
                <a:latin typeface="Calibri"/>
              </a:defRPr>
            </a:pPr>
            <a:r>
              <a:t>✓ Expirables tracking with alerts</a:t>
            </a:r>
          </a:p>
        </p:txBody>
      </p:sp>
      <p:sp>
        <p:nvSpPr>
          <p:cNvPr id="31" name="TextBox 30"/>
          <p:cNvSpPr txBox="1"/>
          <p:nvPr/>
        </p:nvSpPr>
        <p:spPr>
          <a:xfrm>
            <a:off x="6492240" y="4389120"/>
            <a:ext cx="4572000" cy="320040"/>
          </a:xfrm>
          <a:prstGeom prst="rect">
            <a:avLst/>
          </a:prstGeom>
          <a:noFill/>
        </p:spPr>
        <p:txBody>
          <a:bodyPr wrap="square">
            <a:spAutoFit/>
          </a:bodyPr>
          <a:lstStyle/>
          <a:p>
            <a:pPr algn="l">
              <a:defRPr sz="1100" b="0">
                <a:solidFill>
                  <a:srgbClr val="1A1A2E"/>
                </a:solidFill>
                <a:latin typeface="Calibri"/>
              </a:defRPr>
            </a:pPr>
            <a:r>
              <a:t>✓ PSV bot framework (10+ bot types)</a:t>
            </a:r>
          </a:p>
        </p:txBody>
      </p:sp>
      <p:sp>
        <p:nvSpPr>
          <p:cNvPr id="32" name="TextBox 31"/>
          <p:cNvSpPr txBox="1"/>
          <p:nvPr/>
        </p:nvSpPr>
        <p:spPr>
          <a:xfrm>
            <a:off x="6492240" y="4754880"/>
            <a:ext cx="4572000" cy="320040"/>
          </a:xfrm>
          <a:prstGeom prst="rect">
            <a:avLst/>
          </a:prstGeom>
          <a:noFill/>
        </p:spPr>
        <p:txBody>
          <a:bodyPr wrap="square">
            <a:spAutoFit/>
          </a:bodyPr>
          <a:lstStyle/>
          <a:p>
            <a:pPr algn="l">
              <a:defRPr sz="1100" b="0">
                <a:solidFill>
                  <a:srgbClr val="1A1A2E"/>
                </a:solidFill>
                <a:latin typeface="Calibri"/>
              </a:defRPr>
            </a:pPr>
            <a:r>
              <a:t>✓ Role-based access control (5 roles)</a:t>
            </a:r>
          </a:p>
        </p:txBody>
      </p:sp>
      <p:sp>
        <p:nvSpPr>
          <p:cNvPr id="33" name="TextBox 32"/>
          <p:cNvSpPr txBox="1"/>
          <p:nvPr/>
        </p:nvSpPr>
        <p:spPr>
          <a:xfrm>
            <a:off x="6492240" y="5120640"/>
            <a:ext cx="4572000" cy="320040"/>
          </a:xfrm>
          <a:prstGeom prst="rect">
            <a:avLst/>
          </a:prstGeom>
          <a:noFill/>
        </p:spPr>
        <p:txBody>
          <a:bodyPr wrap="square">
            <a:spAutoFit/>
          </a:bodyPr>
          <a:lstStyle/>
          <a:p>
            <a:pPr algn="l">
              <a:defRPr sz="1100" b="0">
                <a:solidFill>
                  <a:srgbClr val="1A1A2E"/>
                </a:solidFill>
                <a:latin typeface="Calibri"/>
              </a:defRPr>
            </a:pPr>
            <a:r>
              <a:t>✓ Azure Blob document storage</a:t>
            </a:r>
          </a:p>
        </p:txBody>
      </p:sp>
      <p:sp>
        <p:nvSpPr>
          <p:cNvPr id="34" name="TextBox 33"/>
          <p:cNvSpPr txBox="1"/>
          <p:nvPr/>
        </p:nvSpPr>
        <p:spPr>
          <a:xfrm>
            <a:off x="6492240" y="5486400"/>
            <a:ext cx="4572000" cy="320040"/>
          </a:xfrm>
          <a:prstGeom prst="rect">
            <a:avLst/>
          </a:prstGeom>
          <a:noFill/>
        </p:spPr>
        <p:txBody>
          <a:bodyPr wrap="square">
            <a:spAutoFit/>
          </a:bodyPr>
          <a:lstStyle/>
          <a:p>
            <a:pPr algn="l">
              <a:defRPr sz="1100" b="0">
                <a:solidFill>
                  <a:srgbClr val="1A1A2E"/>
                </a:solidFill>
                <a:latin typeface="Calibri"/>
              </a:defRPr>
            </a:pPr>
            <a:r>
              <a:t>✓ Immutable audit trail</a:t>
            </a:r>
          </a:p>
        </p:txBody>
      </p:sp>
      <p:sp>
        <p:nvSpPr>
          <p:cNvPr id="35" name="TextBox 34"/>
          <p:cNvSpPr txBox="1"/>
          <p:nvPr/>
        </p:nvSpPr>
        <p:spPr>
          <a:xfrm>
            <a:off x="6492240" y="5852160"/>
            <a:ext cx="4572000" cy="320040"/>
          </a:xfrm>
          <a:prstGeom prst="rect">
            <a:avLst/>
          </a:prstGeom>
          <a:noFill/>
        </p:spPr>
        <p:txBody>
          <a:bodyPr wrap="square">
            <a:spAutoFit/>
          </a:bodyPr>
          <a:lstStyle/>
          <a:p>
            <a:pPr algn="l">
              <a:defRPr sz="1100" b="0">
                <a:solidFill>
                  <a:srgbClr val="1A1A2E"/>
                </a:solidFill>
                <a:latin typeface="Calibri"/>
              </a:defRPr>
            </a:pPr>
            <a:r>
              <a:t>✓ Production deployment + SSL</a:t>
            </a:r>
          </a:p>
        </p:txBody>
      </p:sp>
      <p:sp>
        <p:nvSpPr>
          <p:cNvPr id="36" name="TextBox 35"/>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61E47"/>
        </a:solidFill>
        <a:effectLst/>
      </p:bgPr>
    </p:bg>
    <p:spTree>
      <p:nvGrpSpPr>
        <p:cNvPr id="1" name=""/>
        <p:cNvGrpSpPr/>
        <p:nvPr/>
      </p:nvGrpSpPr>
      <p:grpSpPr>
        <a:xfrm>
          <a:off x="0" y="0"/>
          <a:ext cx="0" cy="0"/>
          <a:chOff x="0" y="0"/>
          <a:chExt cx="0" cy="0"/>
        </a:xfrm>
      </p:grpSpPr>
      <p:sp>
        <p:nvSpPr>
          <p:cNvPr id="2" name="Rectangle 1"/>
          <p:cNvSpPr/>
          <p:nvPr/>
        </p:nvSpPr>
        <p:spPr>
          <a:xfrm>
            <a:off x="5303520" y="914400"/>
            <a:ext cx="1554480" cy="54864"/>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280160"/>
            <a:ext cx="9418320" cy="914400"/>
          </a:xfrm>
          <a:prstGeom prst="rect">
            <a:avLst/>
          </a:prstGeom>
          <a:noFill/>
        </p:spPr>
        <p:txBody>
          <a:bodyPr wrap="square">
            <a:spAutoFit/>
          </a:bodyPr>
          <a:lstStyle/>
          <a:p>
            <a:pPr algn="ctr">
              <a:defRPr sz="4400" b="1">
                <a:solidFill>
                  <a:srgbClr val="FFFFFF"/>
                </a:solidFill>
                <a:latin typeface="Calibri"/>
              </a:defRPr>
            </a:pPr>
            <a:r>
              <a:t>Ready to Transform</a:t>
            </a:r>
            <a:br/>
            <a:r>
              <a:t>Credentialing at Essen</a:t>
            </a:r>
          </a:p>
        </p:txBody>
      </p:sp>
      <p:sp>
        <p:nvSpPr>
          <p:cNvPr id="4" name="TextBox 3"/>
          <p:cNvSpPr txBox="1"/>
          <p:nvPr/>
        </p:nvSpPr>
        <p:spPr>
          <a:xfrm>
            <a:off x="2286000" y="2377440"/>
            <a:ext cx="7589520" cy="731520"/>
          </a:xfrm>
          <a:prstGeom prst="rect">
            <a:avLst/>
          </a:prstGeom>
          <a:noFill/>
        </p:spPr>
        <p:txBody>
          <a:bodyPr wrap="square">
            <a:spAutoFit/>
          </a:bodyPr>
          <a:lstStyle/>
          <a:p>
            <a:pPr algn="ctr">
              <a:defRPr sz="1500" b="0">
                <a:solidFill>
                  <a:srgbClr val="CCCCDD"/>
                </a:solidFill>
                <a:latin typeface="Calibri"/>
              </a:defRPr>
            </a:pPr>
            <a:r>
              <a:t>The platform is built, tested, and deployed. The next step is activating integrations, training the team, and beginning the pilot. Every day with PARCS is a day of lost efficiency and compliance risk.</a:t>
            </a:r>
          </a:p>
        </p:txBody>
      </p:sp>
      <p:sp>
        <p:nvSpPr>
          <p:cNvPr id="5" name="Rounded Rectangle 4"/>
          <p:cNvSpPr/>
          <p:nvPr/>
        </p:nvSpPr>
        <p:spPr>
          <a:xfrm>
            <a:off x="1645920" y="3474720"/>
            <a:ext cx="2743200" cy="16459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645920" y="3657600"/>
            <a:ext cx="2743200" cy="457200"/>
          </a:xfrm>
          <a:prstGeom prst="rect">
            <a:avLst/>
          </a:prstGeom>
          <a:noFill/>
        </p:spPr>
        <p:txBody>
          <a:bodyPr wrap="square">
            <a:spAutoFit/>
          </a:bodyPr>
          <a:lstStyle/>
          <a:p>
            <a:pPr algn="ctr">
              <a:defRPr sz="2800" b="1">
                <a:solidFill>
                  <a:srgbClr val="00A3E0"/>
                </a:solidFill>
                <a:latin typeface="Calibri"/>
              </a:defRPr>
            </a:pPr>
            <a:r>
              <a:t>Step 1</a:t>
            </a:r>
          </a:p>
        </p:txBody>
      </p:sp>
      <p:sp>
        <p:nvSpPr>
          <p:cNvPr id="7" name="TextBox 6"/>
          <p:cNvSpPr txBox="1"/>
          <p:nvPr/>
        </p:nvSpPr>
        <p:spPr>
          <a:xfrm>
            <a:off x="1645920" y="4206240"/>
            <a:ext cx="2743200" cy="640080"/>
          </a:xfrm>
          <a:prstGeom prst="rect">
            <a:avLst/>
          </a:prstGeom>
          <a:noFill/>
        </p:spPr>
        <p:txBody>
          <a:bodyPr wrap="square">
            <a:spAutoFit/>
          </a:bodyPr>
          <a:lstStyle/>
          <a:p>
            <a:pPr algn="ctr">
              <a:defRPr sz="1300" b="0">
                <a:solidFill>
                  <a:srgbClr val="CCCCDD"/>
                </a:solidFill>
                <a:latin typeface="Calibri"/>
              </a:defRPr>
            </a:pPr>
            <a:r>
              <a:t>Approve &amp; Fund</a:t>
            </a:r>
            <a:br/>
            <a:r>
              <a:t>Integration Phase</a:t>
            </a:r>
          </a:p>
        </p:txBody>
      </p:sp>
      <p:sp>
        <p:nvSpPr>
          <p:cNvPr id="8" name="Rounded Rectangle 7"/>
          <p:cNvSpPr/>
          <p:nvPr/>
        </p:nvSpPr>
        <p:spPr>
          <a:xfrm>
            <a:off x="4937760" y="3474720"/>
            <a:ext cx="2743200" cy="16459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37760" y="3657600"/>
            <a:ext cx="2743200" cy="457200"/>
          </a:xfrm>
          <a:prstGeom prst="rect">
            <a:avLst/>
          </a:prstGeom>
          <a:noFill/>
        </p:spPr>
        <p:txBody>
          <a:bodyPr wrap="square">
            <a:spAutoFit/>
          </a:bodyPr>
          <a:lstStyle/>
          <a:p>
            <a:pPr algn="ctr">
              <a:defRPr sz="2800" b="1">
                <a:solidFill>
                  <a:srgbClr val="00B67A"/>
                </a:solidFill>
                <a:latin typeface="Calibri"/>
              </a:defRPr>
            </a:pPr>
            <a:r>
              <a:t>Step 2</a:t>
            </a:r>
          </a:p>
        </p:txBody>
      </p:sp>
      <p:sp>
        <p:nvSpPr>
          <p:cNvPr id="10" name="TextBox 9"/>
          <p:cNvSpPr txBox="1"/>
          <p:nvPr/>
        </p:nvSpPr>
        <p:spPr>
          <a:xfrm>
            <a:off x="4937760" y="4206240"/>
            <a:ext cx="2743200" cy="640080"/>
          </a:xfrm>
          <a:prstGeom prst="rect">
            <a:avLst/>
          </a:prstGeom>
          <a:noFill/>
        </p:spPr>
        <p:txBody>
          <a:bodyPr wrap="square">
            <a:spAutoFit/>
          </a:bodyPr>
          <a:lstStyle/>
          <a:p>
            <a:pPr algn="ctr">
              <a:defRPr sz="1300" b="0">
                <a:solidFill>
                  <a:srgbClr val="CCCCDD"/>
                </a:solidFill>
                <a:latin typeface="Calibri"/>
              </a:defRPr>
            </a:pPr>
            <a:r>
              <a:t>Train Team</a:t>
            </a:r>
            <a:br/>
            <a:r>
              <a:t>&amp; Pilot</a:t>
            </a:r>
          </a:p>
        </p:txBody>
      </p:sp>
      <p:sp>
        <p:nvSpPr>
          <p:cNvPr id="11" name="Rounded Rectangle 10"/>
          <p:cNvSpPr/>
          <p:nvPr/>
        </p:nvSpPr>
        <p:spPr>
          <a:xfrm>
            <a:off x="8229600" y="3474720"/>
            <a:ext cx="2743200" cy="16459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0" y="3657600"/>
            <a:ext cx="2743200" cy="457200"/>
          </a:xfrm>
          <a:prstGeom prst="rect">
            <a:avLst/>
          </a:prstGeom>
          <a:noFill/>
        </p:spPr>
        <p:txBody>
          <a:bodyPr wrap="square">
            <a:spAutoFit/>
          </a:bodyPr>
          <a:lstStyle/>
          <a:p>
            <a:pPr algn="ctr">
              <a:defRPr sz="2800" b="1">
                <a:solidFill>
                  <a:srgbClr val="F4A261"/>
                </a:solidFill>
                <a:latin typeface="Calibri"/>
              </a:defRPr>
            </a:pPr>
            <a:r>
              <a:t>Step 3</a:t>
            </a:r>
          </a:p>
        </p:txBody>
      </p:sp>
      <p:sp>
        <p:nvSpPr>
          <p:cNvPr id="13" name="TextBox 12"/>
          <p:cNvSpPr txBox="1"/>
          <p:nvPr/>
        </p:nvSpPr>
        <p:spPr>
          <a:xfrm>
            <a:off x="8229600" y="4206240"/>
            <a:ext cx="2743200" cy="640080"/>
          </a:xfrm>
          <a:prstGeom prst="rect">
            <a:avLst/>
          </a:prstGeom>
          <a:noFill/>
        </p:spPr>
        <p:txBody>
          <a:bodyPr wrap="square">
            <a:spAutoFit/>
          </a:bodyPr>
          <a:lstStyle/>
          <a:p>
            <a:pPr algn="ctr">
              <a:defRPr sz="1300" b="0">
                <a:solidFill>
                  <a:srgbClr val="CCCCDD"/>
                </a:solidFill>
                <a:latin typeface="Calibri"/>
              </a:defRPr>
            </a:pPr>
            <a:r>
              <a:t>Full Rollout</a:t>
            </a:r>
            <a:br/>
            <a:r>
              <a:t>&amp; PARCS Sunset</a:t>
            </a:r>
          </a:p>
        </p:txBody>
      </p:sp>
      <p:sp>
        <p:nvSpPr>
          <p:cNvPr id="14" name="TextBox 13"/>
          <p:cNvSpPr txBox="1"/>
          <p:nvPr/>
        </p:nvSpPr>
        <p:spPr>
          <a:xfrm>
            <a:off x="1371600" y="5943600"/>
            <a:ext cx="9418320" cy="365760"/>
          </a:xfrm>
          <a:prstGeom prst="rect">
            <a:avLst/>
          </a:prstGeom>
          <a:noFill/>
        </p:spPr>
        <p:txBody>
          <a:bodyPr wrap="square">
            <a:spAutoFit/>
          </a:bodyPr>
          <a:lstStyle/>
          <a:p>
            <a:pPr algn="ctr">
              <a:defRPr sz="1200" b="0">
                <a:solidFill>
                  <a:srgbClr val="556688"/>
                </a:solidFill>
                <a:latin typeface="Calibri"/>
              </a:defRPr>
            </a:pPr>
            <a:r>
              <a:t>ESSEN Credentialing Platform • credentialing.hdpulseai.com • Essen Medical Associates • April 2026</a:t>
            </a:r>
          </a:p>
        </p:txBody>
      </p:sp>
      <p:sp>
        <p:nvSpPr>
          <p:cNvPr id="15" name="TextBox 14"/>
          <p:cNvSpPr txBox="1"/>
          <p:nvPr/>
        </p:nvSpPr>
        <p:spPr>
          <a:xfrm>
            <a:off x="11155680" y="6309360"/>
            <a:ext cx="914400" cy="365760"/>
          </a:xfrm>
          <a:prstGeom prst="rect">
            <a:avLst/>
          </a:prstGeom>
          <a:noFill/>
        </p:spPr>
        <p:txBody>
          <a:bodyPr wrap="square">
            <a:spAutoFit/>
          </a:bodyPr>
          <a:lstStyle/>
          <a:p>
            <a:pPr algn="r">
              <a:defRPr sz="1100" b="0">
                <a:solidFill>
                  <a:srgbClr val="CCCCDD"/>
                </a:solidFill>
                <a:latin typeface="Calibri"/>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377440"/>
            <a:ext cx="10698480" cy="365760"/>
          </a:xfrm>
          <a:prstGeom prst="rect">
            <a:avLst/>
          </a:prstGeom>
          <a:noFill/>
        </p:spPr>
        <p:txBody>
          <a:bodyPr wrap="square" lIns="0" tIns="0" rIns="0" bIns="0" anchor="t">
            <a:spAutoFit/>
          </a:bodyPr>
          <a:lstStyle/>
          <a:p>
            <a:pPr algn="l"/>
            <a:r>
              <a:rPr sz="1200" b="1">
                <a:solidFill>
                  <a:srgbClr val="00A3E0"/>
                </a:solidFill>
                <a:latin typeface="Calibri"/>
              </a:rPr>
              <a:t>UPDATE — APRIL 17, 2026</a:t>
            </a:r>
          </a:p>
        </p:txBody>
      </p:sp>
      <p:sp>
        <p:nvSpPr>
          <p:cNvPr id="4" name="TextBox 3"/>
          <p:cNvSpPr txBox="1"/>
          <p:nvPr/>
        </p:nvSpPr>
        <p:spPr>
          <a:xfrm>
            <a:off x="731520" y="2743200"/>
            <a:ext cx="10698480" cy="1371600"/>
          </a:xfrm>
          <a:prstGeom prst="rect">
            <a:avLst/>
          </a:prstGeom>
          <a:noFill/>
        </p:spPr>
        <p:txBody>
          <a:bodyPr wrap="square" lIns="0" tIns="0" rIns="0" bIns="0" anchor="t">
            <a:spAutoFit/>
          </a:bodyPr>
          <a:lstStyle/>
          <a:p>
            <a:pPr algn="l"/>
            <a:r>
              <a:rPr sz="4400" b="1">
                <a:solidFill>
                  <a:srgbClr val="FFFFFF"/>
                </a:solidFill>
                <a:latin typeface="Calibri"/>
              </a:rPr>
              <a:t>Platform Capability Recap</a:t>
            </a:r>
          </a:p>
        </p:txBody>
      </p:sp>
      <p:sp>
        <p:nvSpPr>
          <p:cNvPr id="5" name="TextBox 4"/>
          <p:cNvSpPr txBox="1"/>
          <p:nvPr/>
        </p:nvSpPr>
        <p:spPr>
          <a:xfrm>
            <a:off x="731520" y="4023360"/>
            <a:ext cx="10698480" cy="731520"/>
          </a:xfrm>
          <a:prstGeom prst="rect">
            <a:avLst/>
          </a:prstGeom>
          <a:noFill/>
        </p:spPr>
        <p:txBody>
          <a:bodyPr wrap="square" lIns="0" tIns="0" rIns="0" bIns="0" anchor="t">
            <a:spAutoFit/>
          </a:bodyPr>
          <a:lstStyle/>
          <a:p>
            <a:pPr algn="l"/>
            <a:r>
              <a:rPr sz="1600" b="0">
                <a:solidFill>
                  <a:srgbClr val="F8F9FC"/>
                </a:solidFill>
                <a:latin typeface="Calibri"/>
              </a:rPr>
              <a:t>From PARCS-replacement to competitive credentialing platform. 24 features shipped • NCQA CVO-ready (11/11) • NPG 12 • CMS-0057-F • HITRUST/SOC 2 readiness.</a:t>
            </a:r>
          </a:p>
        </p:txBody>
      </p:sp>
      <p:sp>
        <p:nvSpPr>
          <p:cNvPr id="6" name="TextBox 5"/>
          <p:cNvSpPr txBox="1"/>
          <p:nvPr/>
        </p:nvSpPr>
        <p:spPr>
          <a:xfrm>
            <a:off x="731520" y="6446520"/>
            <a:ext cx="5486400" cy="274320"/>
          </a:xfrm>
          <a:prstGeom prst="rect">
            <a:avLst/>
          </a:prstGeom>
          <a:noFill/>
        </p:spPr>
        <p:txBody>
          <a:bodyPr wrap="square" lIns="0" tIns="0" rIns="0" bIns="0" anchor="t">
            <a:spAutoFit/>
          </a:bodyPr>
          <a:lstStyle/>
          <a:p>
            <a:pPr algn="l"/>
            <a:r>
              <a:rPr sz="900" b="0">
                <a:solidFill>
                  <a:srgbClr val="F8F9FC"/>
                </a:solidFill>
                <a:latin typeface="Calibri"/>
              </a:rPr>
              <a:t>ESSEN Credentialing Platform</a:t>
            </a:r>
          </a:p>
        </p:txBody>
      </p:sp>
      <p:sp>
        <p:nvSpPr>
          <p:cNvPr id="7" name="TextBox 6"/>
          <p:cNvSpPr txBox="1"/>
          <p:nvPr/>
        </p:nvSpPr>
        <p:spPr>
          <a:xfrm>
            <a:off x="10058400" y="6446520"/>
            <a:ext cx="1554480" cy="274320"/>
          </a:xfrm>
          <a:prstGeom prst="rect">
            <a:avLst/>
          </a:prstGeom>
          <a:noFill/>
        </p:spPr>
        <p:txBody>
          <a:bodyPr wrap="square" lIns="0" tIns="0" rIns="0" bIns="0" anchor="t">
            <a:spAutoFit/>
          </a:bodyPr>
          <a:lstStyle/>
          <a:p>
            <a:pPr algn="r"/>
            <a:r>
              <a:rPr sz="900" b="1">
                <a:solidFill>
                  <a:srgbClr val="00A3E0"/>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430000" cy="274320"/>
          </a:xfrm>
          <a:prstGeom prst="rect">
            <a:avLst/>
          </a:prstGeom>
          <a:noFill/>
        </p:spPr>
        <p:txBody>
          <a:bodyPr wrap="square" lIns="0" tIns="0" rIns="0" bIns="0" anchor="t">
            <a:spAutoFit/>
          </a:bodyPr>
          <a:lstStyle/>
          <a:p>
            <a:pPr algn="l"/>
            <a:r>
              <a:rPr sz="1100" b="1">
                <a:solidFill>
                  <a:srgbClr val="00A3E0"/>
                </a:solidFill>
                <a:latin typeface="Calibri"/>
              </a:rPr>
              <a:t>CAPABILITIES RECAP</a:t>
            </a:r>
          </a:p>
        </p:txBody>
      </p:sp>
      <p:sp>
        <p:nvSpPr>
          <p:cNvPr id="3" name="TextBox 2"/>
          <p:cNvSpPr txBox="1"/>
          <p:nvPr/>
        </p:nvSpPr>
        <p:spPr>
          <a:xfrm>
            <a:off x="457200" y="594360"/>
            <a:ext cx="11430000" cy="594360"/>
          </a:xfrm>
          <a:prstGeom prst="rect">
            <a:avLst/>
          </a:prstGeom>
          <a:noFill/>
        </p:spPr>
        <p:txBody>
          <a:bodyPr wrap="square" lIns="0" tIns="0" rIns="0" bIns="0" anchor="t">
            <a:spAutoFit/>
          </a:bodyPr>
          <a:lstStyle/>
          <a:p>
            <a:pPr algn="l"/>
            <a:r>
              <a:rPr sz="2800" b="1">
                <a:solidFill>
                  <a:srgbClr val="0F172A"/>
                </a:solidFill>
                <a:latin typeface="Calibri"/>
              </a:rPr>
              <a:t>Eight Core Capability Areas</a:t>
            </a:r>
          </a:p>
        </p:txBody>
      </p:sp>
      <p:sp>
        <p:nvSpPr>
          <p:cNvPr id="4" name="TextBox 3"/>
          <p:cNvSpPr txBox="1"/>
          <p:nvPr/>
        </p:nvSpPr>
        <p:spPr>
          <a:xfrm>
            <a:off x="457200" y="1188720"/>
            <a:ext cx="11430000" cy="411480"/>
          </a:xfrm>
          <a:prstGeom prst="rect">
            <a:avLst/>
          </a:prstGeom>
          <a:noFill/>
        </p:spPr>
        <p:txBody>
          <a:bodyPr wrap="square" lIns="0" tIns="0" rIns="0" bIns="0" anchor="t">
            <a:spAutoFit/>
          </a:bodyPr>
          <a:lstStyle/>
          <a:p>
            <a:pPr algn="l"/>
            <a:r>
              <a:rPr sz="1400" b="0">
                <a:solidFill>
                  <a:srgbClr val="475569"/>
                </a:solidFill>
                <a:latin typeface="Calibri"/>
              </a:rPr>
              <a:t>Each cluster represents 2–4 shipped features that close a specific competitive or regulatory gap.</a:t>
            </a:r>
          </a:p>
        </p:txBody>
      </p:sp>
      <p:sp>
        <p:nvSpPr>
          <p:cNvPr id="5" name="Rounded Rectangle 4"/>
          <p:cNvSpPr/>
          <p:nvPr/>
        </p:nvSpPr>
        <p:spPr>
          <a:xfrm>
            <a:off x="457200" y="1783080"/>
            <a:ext cx="2788920" cy="201168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783080"/>
            <a:ext cx="2788920"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965960"/>
            <a:ext cx="2331720" cy="411480"/>
          </a:xfrm>
          <a:prstGeom prst="rect">
            <a:avLst/>
          </a:prstGeom>
          <a:noFill/>
        </p:spPr>
        <p:txBody>
          <a:bodyPr wrap="square" lIns="0" tIns="0" rIns="0" bIns="0" anchor="t">
            <a:spAutoFit/>
          </a:bodyPr>
          <a:lstStyle/>
          <a:p>
            <a:pPr algn="l"/>
            <a:r>
              <a:rPr sz="1200" b="1">
                <a:solidFill>
                  <a:srgbClr val="0F172A"/>
                </a:solidFill>
                <a:latin typeface="Calibri"/>
              </a:rPr>
              <a:t>NCQA CVO completeness</a:t>
            </a:r>
          </a:p>
        </p:txBody>
      </p:sp>
      <p:sp>
        <p:nvSpPr>
          <p:cNvPr id="8" name="TextBox 7"/>
          <p:cNvSpPr txBox="1"/>
          <p:nvPr/>
        </p:nvSpPr>
        <p:spPr>
          <a:xfrm>
            <a:off x="685800" y="2468880"/>
            <a:ext cx="2331720" cy="1143000"/>
          </a:xfrm>
          <a:prstGeom prst="rect">
            <a:avLst/>
          </a:prstGeom>
          <a:noFill/>
        </p:spPr>
        <p:txBody>
          <a:bodyPr wrap="square" lIns="0" tIns="0" rIns="0" bIns="0" anchor="t">
            <a:spAutoFit/>
          </a:bodyPr>
          <a:lstStyle/>
          <a:p>
            <a:pPr algn="l"/>
            <a:r>
              <a:rPr sz="900" b="0">
                <a:solidFill>
                  <a:srgbClr val="475569"/>
                </a:solidFill>
                <a:latin typeface="Calibri"/>
              </a:rPr>
              <a:t>Education PSV (AMA, ECFMG, ACGME) closes the last 3 of 11 NCQA CVO-certifiable products. Essen now matches the full CVO scope.</a:t>
            </a:r>
          </a:p>
        </p:txBody>
      </p:sp>
      <p:sp>
        <p:nvSpPr>
          <p:cNvPr id="9" name="Rounded Rectangle 8"/>
          <p:cNvSpPr/>
          <p:nvPr/>
        </p:nvSpPr>
        <p:spPr>
          <a:xfrm>
            <a:off x="3310127" y="1783080"/>
            <a:ext cx="2788920" cy="201168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310127" y="1783080"/>
            <a:ext cx="2788920"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38727" y="1965960"/>
            <a:ext cx="2331720" cy="411480"/>
          </a:xfrm>
          <a:prstGeom prst="rect">
            <a:avLst/>
          </a:prstGeom>
          <a:noFill/>
        </p:spPr>
        <p:txBody>
          <a:bodyPr wrap="square" lIns="0" tIns="0" rIns="0" bIns="0" anchor="t">
            <a:spAutoFit/>
          </a:bodyPr>
          <a:lstStyle/>
          <a:p>
            <a:pPr algn="l"/>
            <a:r>
              <a:rPr sz="1200" b="1">
                <a:solidFill>
                  <a:srgbClr val="0F172A"/>
                </a:solidFill>
                <a:latin typeface="Calibri"/>
              </a:rPr>
              <a:t>Continuous monitoring</a:t>
            </a:r>
          </a:p>
        </p:txBody>
      </p:sp>
      <p:sp>
        <p:nvSpPr>
          <p:cNvPr id="12" name="TextBox 11"/>
          <p:cNvSpPr txBox="1"/>
          <p:nvPr/>
        </p:nvSpPr>
        <p:spPr>
          <a:xfrm>
            <a:off x="3538727" y="2468880"/>
            <a:ext cx="2331720" cy="1143000"/>
          </a:xfrm>
          <a:prstGeom prst="rect">
            <a:avLst/>
          </a:prstGeom>
          <a:noFill/>
        </p:spPr>
        <p:txBody>
          <a:bodyPr wrap="square" lIns="0" tIns="0" rIns="0" bIns="0" anchor="t">
            <a:spAutoFit/>
          </a:bodyPr>
          <a:lstStyle/>
          <a:p>
            <a:pPr algn="l"/>
            <a:r>
              <a:rPr sz="900" b="0">
                <a:solidFill>
                  <a:srgbClr val="475569"/>
                </a:solidFill>
                <a:latin typeface="Calibri"/>
              </a:rPr>
              <a:t>Sanctions every 30 days × every license state, SAM.gov webhook, FSMB PDC, NY OMIG, NPDB Continuous Query, nightly license diffs.</a:t>
            </a:r>
          </a:p>
        </p:txBody>
      </p:sp>
      <p:sp>
        <p:nvSpPr>
          <p:cNvPr id="13" name="Rounded Rectangle 12"/>
          <p:cNvSpPr/>
          <p:nvPr/>
        </p:nvSpPr>
        <p:spPr>
          <a:xfrm>
            <a:off x="6163055" y="1783080"/>
            <a:ext cx="2788920" cy="201168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63055" y="1783080"/>
            <a:ext cx="2788920" cy="914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91655" y="1965960"/>
            <a:ext cx="2331720" cy="411480"/>
          </a:xfrm>
          <a:prstGeom prst="rect">
            <a:avLst/>
          </a:prstGeom>
          <a:noFill/>
        </p:spPr>
        <p:txBody>
          <a:bodyPr wrap="square" lIns="0" tIns="0" rIns="0" bIns="0" anchor="t">
            <a:spAutoFit/>
          </a:bodyPr>
          <a:lstStyle/>
          <a:p>
            <a:pPr algn="l"/>
            <a:r>
              <a:rPr sz="1200" b="1">
                <a:solidFill>
                  <a:srgbClr val="0F172A"/>
                </a:solidFill>
                <a:latin typeface="Calibri"/>
              </a:rPr>
              <a:t>AI: documents + agents</a:t>
            </a:r>
          </a:p>
        </p:txBody>
      </p:sp>
      <p:sp>
        <p:nvSpPr>
          <p:cNvPr id="16" name="TextBox 15"/>
          <p:cNvSpPr txBox="1"/>
          <p:nvPr/>
        </p:nvSpPr>
        <p:spPr>
          <a:xfrm>
            <a:off x="6391655" y="2468880"/>
            <a:ext cx="2331720" cy="1143000"/>
          </a:xfrm>
          <a:prstGeom prst="rect">
            <a:avLst/>
          </a:prstGeom>
          <a:noFill/>
        </p:spPr>
        <p:txBody>
          <a:bodyPr wrap="square" lIns="0" tIns="0" rIns="0" bIns="0" anchor="t">
            <a:spAutoFit/>
          </a:bodyPr>
          <a:lstStyle/>
          <a:p>
            <a:pPr algn="l"/>
            <a:r>
              <a:rPr sz="900" b="0">
                <a:solidFill>
                  <a:srgbClr val="475569"/>
                </a:solidFill>
                <a:latin typeface="Calibri"/>
              </a:rPr>
              <a:t>Five AI capabilities + AI governance shipped in production - see slides 6 and 7 for the dedicated AI section.</a:t>
            </a:r>
          </a:p>
        </p:txBody>
      </p:sp>
      <p:sp>
        <p:nvSpPr>
          <p:cNvPr id="17" name="Rounded Rectangle 16"/>
          <p:cNvSpPr/>
          <p:nvPr/>
        </p:nvSpPr>
        <p:spPr>
          <a:xfrm>
            <a:off x="9015984" y="1783080"/>
            <a:ext cx="2788920" cy="201168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15984" y="1783080"/>
            <a:ext cx="2788920" cy="914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44584" y="1965960"/>
            <a:ext cx="2331720" cy="411480"/>
          </a:xfrm>
          <a:prstGeom prst="rect">
            <a:avLst/>
          </a:prstGeom>
          <a:noFill/>
        </p:spPr>
        <p:txBody>
          <a:bodyPr wrap="square" lIns="0" tIns="0" rIns="0" bIns="0" anchor="t">
            <a:spAutoFit/>
          </a:bodyPr>
          <a:lstStyle/>
          <a:p>
            <a:pPr algn="l"/>
            <a:r>
              <a:rPr sz="1200" b="1">
                <a:solidFill>
                  <a:srgbClr val="0F172A"/>
                </a:solidFill>
                <a:latin typeface="Calibri"/>
              </a:rPr>
              <a:t>Quality (JC NPG 12)</a:t>
            </a:r>
          </a:p>
        </p:txBody>
      </p:sp>
      <p:sp>
        <p:nvSpPr>
          <p:cNvPr id="20" name="TextBox 19"/>
          <p:cNvSpPr txBox="1"/>
          <p:nvPr/>
        </p:nvSpPr>
        <p:spPr>
          <a:xfrm>
            <a:off x="9244584" y="2468880"/>
            <a:ext cx="2331720" cy="1143000"/>
          </a:xfrm>
          <a:prstGeom prst="rect">
            <a:avLst/>
          </a:prstGeom>
          <a:noFill/>
        </p:spPr>
        <p:txBody>
          <a:bodyPr wrap="square" lIns="0" tIns="0" rIns="0" bIns="0" anchor="t">
            <a:spAutoFit/>
          </a:bodyPr>
          <a:lstStyle/>
          <a:p>
            <a:pPr algn="l"/>
            <a:r>
              <a:rPr sz="900" b="0">
                <a:solidFill>
                  <a:srgbClr val="475569"/>
                </a:solidFill>
                <a:latin typeface="Calibri"/>
              </a:rPr>
              <a:t>Auto-FPPE on privilege grant, semi-annual OPPE auto-scheduling, structured peer-review minutes — restricted to Manager/Quality.</a:t>
            </a:r>
          </a:p>
        </p:txBody>
      </p:sp>
      <p:sp>
        <p:nvSpPr>
          <p:cNvPr id="21" name="Rounded Rectangle 20"/>
          <p:cNvSpPr/>
          <p:nvPr/>
        </p:nvSpPr>
        <p:spPr>
          <a:xfrm>
            <a:off x="457200" y="3977640"/>
            <a:ext cx="2788920" cy="201168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3977640"/>
            <a:ext cx="2788920"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4160520"/>
            <a:ext cx="2331720" cy="411480"/>
          </a:xfrm>
          <a:prstGeom prst="rect">
            <a:avLst/>
          </a:prstGeom>
          <a:noFill/>
        </p:spPr>
        <p:txBody>
          <a:bodyPr wrap="square" lIns="0" tIns="0" rIns="0" bIns="0" anchor="t">
            <a:spAutoFit/>
          </a:bodyPr>
          <a:lstStyle/>
          <a:p>
            <a:pPr algn="l"/>
            <a:r>
              <a:rPr sz="1200" b="1">
                <a:solidFill>
                  <a:srgbClr val="0F172A"/>
                </a:solidFill>
                <a:latin typeface="Calibri"/>
              </a:rPr>
              <a:t>Standards &amp; interop</a:t>
            </a:r>
          </a:p>
        </p:txBody>
      </p:sp>
      <p:sp>
        <p:nvSpPr>
          <p:cNvPr id="24" name="TextBox 23"/>
          <p:cNvSpPr txBox="1"/>
          <p:nvPr/>
        </p:nvSpPr>
        <p:spPr>
          <a:xfrm>
            <a:off x="685800" y="4663440"/>
            <a:ext cx="2331720" cy="1143000"/>
          </a:xfrm>
          <a:prstGeom prst="rect">
            <a:avLst/>
          </a:prstGeom>
          <a:noFill/>
        </p:spPr>
        <p:txBody>
          <a:bodyPr wrap="square" lIns="0" tIns="0" rIns="0" bIns="0" anchor="t">
            <a:spAutoFit/>
          </a:bodyPr>
          <a:lstStyle/>
          <a:p>
            <a:pPr algn="l"/>
            <a:r>
              <a:rPr sz="900" b="0">
                <a:solidFill>
                  <a:srgbClr val="475569"/>
                </a:solidFill>
                <a:latin typeface="Calibri"/>
              </a:rPr>
              <a:t>FHIR R4 Provider Directory (CMS-0057-F): Practitioner, PractitionerRole, Organization, Location, Endpoint, CapabilityStatement. Public REST API with token + scope auth.</a:t>
            </a:r>
          </a:p>
        </p:txBody>
      </p:sp>
      <p:sp>
        <p:nvSpPr>
          <p:cNvPr id="25" name="Rounded Rectangle 24"/>
          <p:cNvSpPr/>
          <p:nvPr/>
        </p:nvSpPr>
        <p:spPr>
          <a:xfrm>
            <a:off x="3310127" y="3977640"/>
            <a:ext cx="2788920" cy="201168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310127" y="3977640"/>
            <a:ext cx="2788920" cy="914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538727" y="4160520"/>
            <a:ext cx="2331720" cy="411480"/>
          </a:xfrm>
          <a:prstGeom prst="rect">
            <a:avLst/>
          </a:prstGeom>
          <a:noFill/>
        </p:spPr>
        <p:txBody>
          <a:bodyPr wrap="square" lIns="0" tIns="0" rIns="0" bIns="0" anchor="t">
            <a:spAutoFit/>
          </a:bodyPr>
          <a:lstStyle/>
          <a:p>
            <a:pPr algn="l"/>
            <a:r>
              <a:rPr sz="1200" b="1">
                <a:solidFill>
                  <a:srgbClr val="0F172A"/>
                </a:solidFill>
                <a:latin typeface="Calibri"/>
              </a:rPr>
              <a:t>Behavioral health &amp; DEI</a:t>
            </a:r>
          </a:p>
        </p:txBody>
      </p:sp>
      <p:sp>
        <p:nvSpPr>
          <p:cNvPr id="28" name="TextBox 27"/>
          <p:cNvSpPr txBox="1"/>
          <p:nvPr/>
        </p:nvSpPr>
        <p:spPr>
          <a:xfrm>
            <a:off x="3538727" y="4663440"/>
            <a:ext cx="2331720" cy="1143000"/>
          </a:xfrm>
          <a:prstGeom prst="rect">
            <a:avLst/>
          </a:prstGeom>
          <a:noFill/>
        </p:spPr>
        <p:txBody>
          <a:bodyPr wrap="square" lIns="0" tIns="0" rIns="0" bIns="0" anchor="t">
            <a:spAutoFit/>
          </a:bodyPr>
          <a:lstStyle/>
          <a:p>
            <a:pPr algn="l"/>
            <a:r>
              <a:rPr sz="900" b="0">
                <a:solidFill>
                  <a:srgbClr val="475569"/>
                </a:solidFill>
                <a:latin typeface="Calibri"/>
              </a:rPr>
              <a:t>NUCC taxonomy at intake, supervision attestations for provisional licensees, BCBS fast-track, REL fields, non-discrimination disclosure.</a:t>
            </a:r>
          </a:p>
        </p:txBody>
      </p:sp>
      <p:sp>
        <p:nvSpPr>
          <p:cNvPr id="29" name="Rounded Rectangle 28"/>
          <p:cNvSpPr/>
          <p:nvPr/>
        </p:nvSpPr>
        <p:spPr>
          <a:xfrm>
            <a:off x="6163055" y="3977640"/>
            <a:ext cx="2788920" cy="201168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163055" y="3977640"/>
            <a:ext cx="2788920" cy="914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91655" y="4160520"/>
            <a:ext cx="2331720" cy="411480"/>
          </a:xfrm>
          <a:prstGeom prst="rect">
            <a:avLst/>
          </a:prstGeom>
          <a:noFill/>
        </p:spPr>
        <p:txBody>
          <a:bodyPr wrap="square" lIns="0" tIns="0" rIns="0" bIns="0" anchor="t">
            <a:spAutoFit/>
          </a:bodyPr>
          <a:lstStyle/>
          <a:p>
            <a:pPr algn="l"/>
            <a:r>
              <a:rPr sz="1200" b="1">
                <a:solidFill>
                  <a:srgbClr val="0F172A"/>
                </a:solidFill>
                <a:latin typeface="Calibri"/>
              </a:rPr>
              <a:t>Audit &amp; deliverability</a:t>
            </a:r>
          </a:p>
        </p:txBody>
      </p:sp>
      <p:sp>
        <p:nvSpPr>
          <p:cNvPr id="32" name="TextBox 31"/>
          <p:cNvSpPr txBox="1"/>
          <p:nvPr/>
        </p:nvSpPr>
        <p:spPr>
          <a:xfrm>
            <a:off x="6391655" y="4663440"/>
            <a:ext cx="2331720" cy="1143000"/>
          </a:xfrm>
          <a:prstGeom prst="rect">
            <a:avLst/>
          </a:prstGeom>
          <a:noFill/>
        </p:spPr>
        <p:txBody>
          <a:bodyPr wrap="square" lIns="0" tIns="0" rIns="0" bIns="0" anchor="t">
            <a:spAutoFit/>
          </a:bodyPr>
          <a:lstStyle/>
          <a:p>
            <a:pPr algn="l"/>
            <a:r>
              <a:rPr sz="900" b="0">
                <a:solidFill>
                  <a:srgbClr val="475569"/>
                </a:solidFill>
                <a:latin typeface="Calibri"/>
              </a:rPr>
              <a:t>One-click Audit-Ready Packet ZIP per provider, tamper-evident audit log (hash-chained), 90/120-day NCQA SLA timers + breach metrics.</a:t>
            </a:r>
          </a:p>
        </p:txBody>
      </p:sp>
      <p:sp>
        <p:nvSpPr>
          <p:cNvPr id="33" name="Rounded Rectangle 32"/>
          <p:cNvSpPr/>
          <p:nvPr/>
        </p:nvSpPr>
        <p:spPr>
          <a:xfrm>
            <a:off x="9015984" y="3977640"/>
            <a:ext cx="2788920" cy="201168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015984" y="3977640"/>
            <a:ext cx="278892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244584" y="4160520"/>
            <a:ext cx="2331720" cy="411480"/>
          </a:xfrm>
          <a:prstGeom prst="rect">
            <a:avLst/>
          </a:prstGeom>
          <a:noFill/>
        </p:spPr>
        <p:txBody>
          <a:bodyPr wrap="square" lIns="0" tIns="0" rIns="0" bIns="0" anchor="t">
            <a:spAutoFit/>
          </a:bodyPr>
          <a:lstStyle/>
          <a:p>
            <a:pPr algn="l"/>
            <a:r>
              <a:rPr sz="1200" b="1">
                <a:solidFill>
                  <a:srgbClr val="0F172A"/>
                </a:solidFill>
                <a:latin typeface="Calibri"/>
              </a:rPr>
              <a:t>Security &amp; ops</a:t>
            </a:r>
          </a:p>
        </p:txBody>
      </p:sp>
      <p:sp>
        <p:nvSpPr>
          <p:cNvPr id="36" name="TextBox 35"/>
          <p:cNvSpPr txBox="1"/>
          <p:nvPr/>
        </p:nvSpPr>
        <p:spPr>
          <a:xfrm>
            <a:off x="9244584" y="4663440"/>
            <a:ext cx="2331720" cy="1143000"/>
          </a:xfrm>
          <a:prstGeom prst="rect">
            <a:avLst/>
          </a:prstGeom>
          <a:noFill/>
        </p:spPr>
        <p:txBody>
          <a:bodyPr wrap="square" lIns="0" tIns="0" rIns="0" bIns="0" anchor="t">
            <a:spAutoFit/>
          </a:bodyPr>
          <a:lstStyle/>
          <a:p>
            <a:pPr algn="l"/>
            <a:r>
              <a:rPr sz="900" b="0">
                <a:solidFill>
                  <a:srgbClr val="475569"/>
                </a:solidFill>
                <a:latin typeface="Calibri"/>
              </a:rPr>
              <a:t>HITRUST CSF v11 r2 + SOC 2 Type II readiness tracker, AI governance with model cards, /api/metrics Prometheus endpoint, structured JSON access logs.</a:t>
            </a:r>
          </a:p>
        </p:txBody>
      </p:sp>
      <p:sp>
        <p:nvSpPr>
          <p:cNvPr id="37" name="TextBox 36"/>
          <p:cNvSpPr txBox="1"/>
          <p:nvPr/>
        </p:nvSpPr>
        <p:spPr>
          <a:xfrm>
            <a:off x="457200" y="5989320"/>
            <a:ext cx="11247120" cy="411480"/>
          </a:xfrm>
          <a:prstGeom prst="rect">
            <a:avLst/>
          </a:prstGeom>
          <a:noFill/>
        </p:spPr>
        <p:txBody>
          <a:bodyPr wrap="square" lIns="0" tIns="0" rIns="0" bIns="0" anchor="t">
            <a:spAutoFit/>
          </a:bodyPr>
          <a:lstStyle/>
          <a:p>
            <a:pPr algn="l"/>
            <a:r>
              <a:rPr sz="1000" b="0">
                <a:solidFill>
                  <a:srgbClr val="475569"/>
                </a:solidFill>
                <a:latin typeface="Calibri"/>
              </a:rPr>
              <a:t>Detail: see commit c835aa2 'Credentialing Gap Analysis 2026 — P0 through P3'. 21 Prisma migrations, 11 new tRPC routers, 9 new BullMQ jobs, 2 new webhook receivers.</a:t>
            </a:r>
          </a:p>
        </p:txBody>
      </p:sp>
      <p:sp>
        <p:nvSpPr>
          <p:cNvPr id="38" name="TextBox 37"/>
          <p:cNvSpPr txBox="1"/>
          <p:nvPr/>
        </p:nvSpPr>
        <p:spPr>
          <a:xfrm>
            <a:off x="457200" y="6446520"/>
            <a:ext cx="5486400" cy="274320"/>
          </a:xfrm>
          <a:prstGeom prst="rect">
            <a:avLst/>
          </a:prstGeom>
          <a:noFill/>
        </p:spPr>
        <p:txBody>
          <a:bodyPr wrap="square" lIns="0" tIns="0" rIns="0" bIns="0" anchor="t">
            <a:spAutoFit/>
          </a:bodyPr>
          <a:lstStyle/>
          <a:p>
            <a:pPr algn="l"/>
            <a:r>
              <a:rPr sz="900" b="0">
                <a:solidFill>
                  <a:srgbClr val="475569"/>
                </a:solidFill>
                <a:latin typeface="Calibri"/>
              </a:rPr>
              <a:t>ESSEN Credentialing Platform</a:t>
            </a:r>
          </a:p>
        </p:txBody>
      </p:sp>
      <p:sp>
        <p:nvSpPr>
          <p:cNvPr id="39" name="TextBox 38"/>
          <p:cNvSpPr txBox="1"/>
          <p:nvPr/>
        </p:nvSpPr>
        <p:spPr>
          <a:xfrm>
            <a:off x="10058400" y="6446520"/>
            <a:ext cx="1554480" cy="274320"/>
          </a:xfrm>
          <a:prstGeom prst="rect">
            <a:avLst/>
          </a:prstGeom>
          <a:noFill/>
        </p:spPr>
        <p:txBody>
          <a:bodyPr wrap="square" lIns="0" tIns="0" rIns="0" bIns="0" anchor="t">
            <a:spAutoFit/>
          </a:bodyPr>
          <a:lstStyle/>
          <a:p>
            <a:pPr algn="r"/>
            <a:r>
              <a:rPr sz="900" b="1">
                <a:solidFill>
                  <a:srgbClr val="00A3E0"/>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430000" cy="274320"/>
          </a:xfrm>
          <a:prstGeom prst="rect">
            <a:avLst/>
          </a:prstGeom>
          <a:noFill/>
        </p:spPr>
        <p:txBody>
          <a:bodyPr wrap="square" lIns="0" tIns="0" rIns="0" bIns="0" anchor="t">
            <a:spAutoFit/>
          </a:bodyPr>
          <a:lstStyle/>
          <a:p>
            <a:pPr algn="l"/>
            <a:r>
              <a:rPr sz="1100" b="1">
                <a:solidFill>
                  <a:srgbClr val="00A3E0"/>
                </a:solidFill>
                <a:latin typeface="Calibri"/>
              </a:rPr>
              <a:t>MARKET LANDSCAPE</a:t>
            </a:r>
          </a:p>
        </p:txBody>
      </p:sp>
      <p:sp>
        <p:nvSpPr>
          <p:cNvPr id="3" name="TextBox 2"/>
          <p:cNvSpPr txBox="1"/>
          <p:nvPr/>
        </p:nvSpPr>
        <p:spPr>
          <a:xfrm>
            <a:off x="457200" y="594360"/>
            <a:ext cx="11430000" cy="594360"/>
          </a:xfrm>
          <a:prstGeom prst="rect">
            <a:avLst/>
          </a:prstGeom>
          <a:noFill/>
        </p:spPr>
        <p:txBody>
          <a:bodyPr wrap="square" lIns="0" tIns="0" rIns="0" bIns="0" anchor="t">
            <a:spAutoFit/>
          </a:bodyPr>
          <a:lstStyle/>
          <a:p>
            <a:pPr algn="l"/>
            <a:r>
              <a:rPr sz="2800" b="1">
                <a:solidFill>
                  <a:srgbClr val="0F172A"/>
                </a:solidFill>
                <a:latin typeface="Calibri"/>
              </a:rPr>
              <a:t>Who Else Is in This Market</a:t>
            </a:r>
          </a:p>
        </p:txBody>
      </p:sp>
      <p:sp>
        <p:nvSpPr>
          <p:cNvPr id="4" name="TextBox 3"/>
          <p:cNvSpPr txBox="1"/>
          <p:nvPr/>
        </p:nvSpPr>
        <p:spPr>
          <a:xfrm>
            <a:off x="457200" y="1188720"/>
            <a:ext cx="11430000" cy="411480"/>
          </a:xfrm>
          <a:prstGeom prst="rect">
            <a:avLst/>
          </a:prstGeom>
          <a:noFill/>
        </p:spPr>
        <p:txBody>
          <a:bodyPr wrap="square" lIns="0" tIns="0" rIns="0" bIns="0" anchor="t">
            <a:spAutoFit/>
          </a:bodyPr>
          <a:lstStyle/>
          <a:p>
            <a:pPr algn="l"/>
            <a:r>
              <a:rPr sz="1400" b="0">
                <a:solidFill>
                  <a:srgbClr val="475569"/>
                </a:solidFill>
                <a:latin typeface="Calibri"/>
              </a:rPr>
              <a:t>These are the vendors Essen leadership would realistically consider — split into three buckets by go-to-market style.</a:t>
            </a:r>
          </a:p>
        </p:txBody>
      </p:sp>
      <p:sp>
        <p:nvSpPr>
          <p:cNvPr id="5" name="Rounded Rectangle 4"/>
          <p:cNvSpPr/>
          <p:nvPr/>
        </p:nvSpPr>
        <p:spPr>
          <a:xfrm>
            <a:off x="457200" y="1828800"/>
            <a:ext cx="3749039" cy="397763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828800"/>
            <a:ext cx="3749039"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011680"/>
            <a:ext cx="3291839" cy="411480"/>
          </a:xfrm>
          <a:prstGeom prst="rect">
            <a:avLst/>
          </a:prstGeom>
          <a:noFill/>
        </p:spPr>
        <p:txBody>
          <a:bodyPr wrap="square" lIns="0" tIns="0" rIns="0" bIns="0" anchor="t">
            <a:spAutoFit/>
          </a:bodyPr>
          <a:lstStyle/>
          <a:p>
            <a:pPr algn="l"/>
            <a:r>
              <a:rPr sz="1400" b="1">
                <a:solidFill>
                  <a:srgbClr val="0F172A"/>
                </a:solidFill>
                <a:latin typeface="Calibri"/>
              </a:rPr>
              <a:t>Modern SaaS / API</a:t>
            </a:r>
          </a:p>
        </p:txBody>
      </p:sp>
      <p:sp>
        <p:nvSpPr>
          <p:cNvPr id="8" name="TextBox 7"/>
          <p:cNvSpPr txBox="1"/>
          <p:nvPr/>
        </p:nvSpPr>
        <p:spPr>
          <a:xfrm>
            <a:off x="685800" y="2514600"/>
            <a:ext cx="3291839" cy="777240"/>
          </a:xfrm>
          <a:prstGeom prst="rect">
            <a:avLst/>
          </a:prstGeom>
          <a:noFill/>
        </p:spPr>
        <p:txBody>
          <a:bodyPr wrap="square" lIns="0" tIns="0" rIns="0" bIns="0" anchor="t">
            <a:spAutoFit/>
          </a:bodyPr>
          <a:lstStyle/>
          <a:p>
            <a:pPr algn="l"/>
            <a:r>
              <a:rPr sz="1000" b="0">
                <a:solidFill>
                  <a:srgbClr val="475569"/>
                </a:solidFill>
                <a:latin typeface="Calibri"/>
              </a:rPr>
              <a:t>Built recently. Strong UX, strong API, often started as CVO + grew.</a:t>
            </a:r>
          </a:p>
        </p:txBody>
      </p:sp>
      <p:sp>
        <p:nvSpPr>
          <p:cNvPr id="9" name="TextBox 8"/>
          <p:cNvSpPr txBox="1"/>
          <p:nvPr/>
        </p:nvSpPr>
        <p:spPr>
          <a:xfrm>
            <a:off x="685800" y="3383280"/>
            <a:ext cx="274320" cy="365760"/>
          </a:xfrm>
          <a:prstGeom prst="rect">
            <a:avLst/>
          </a:prstGeom>
          <a:noFill/>
        </p:spPr>
        <p:txBody>
          <a:bodyPr wrap="square" lIns="0" tIns="0" rIns="0" bIns="0" anchor="t">
            <a:spAutoFit/>
          </a:bodyPr>
          <a:lstStyle/>
          <a:p>
            <a:pPr algn="l"/>
            <a:r>
              <a:rPr sz="1400" b="1">
                <a:solidFill>
                  <a:srgbClr val="00A3E0"/>
                </a:solidFill>
                <a:latin typeface="Calibri"/>
              </a:rPr>
              <a:t>•</a:t>
            </a:r>
          </a:p>
        </p:txBody>
      </p:sp>
      <p:sp>
        <p:nvSpPr>
          <p:cNvPr id="10" name="TextBox 9"/>
          <p:cNvSpPr txBox="1"/>
          <p:nvPr/>
        </p:nvSpPr>
        <p:spPr>
          <a:xfrm>
            <a:off x="960120" y="3383280"/>
            <a:ext cx="3017520" cy="777240"/>
          </a:xfrm>
          <a:prstGeom prst="rect">
            <a:avLst/>
          </a:prstGeom>
          <a:noFill/>
        </p:spPr>
        <p:txBody>
          <a:bodyPr wrap="square" lIns="0" tIns="0" rIns="0" bIns="0" anchor="t">
            <a:spAutoFit/>
          </a:bodyPr>
          <a:lstStyle/>
          <a:p>
            <a:pPr algn="l"/>
            <a:r>
              <a:rPr sz="1000" b="0">
                <a:solidFill>
                  <a:srgbClr val="0F172A"/>
                </a:solidFill>
                <a:latin typeface="Calibri"/>
              </a:rPr>
              <a:t>Medallion — full-service CVO + platform (YC-backed, ~2020)</a:t>
            </a:r>
          </a:p>
        </p:txBody>
      </p:sp>
      <p:sp>
        <p:nvSpPr>
          <p:cNvPr id="11" name="TextBox 10"/>
          <p:cNvSpPr txBox="1"/>
          <p:nvPr/>
        </p:nvSpPr>
        <p:spPr>
          <a:xfrm>
            <a:off x="685800" y="4160520"/>
            <a:ext cx="274320" cy="365760"/>
          </a:xfrm>
          <a:prstGeom prst="rect">
            <a:avLst/>
          </a:prstGeom>
          <a:noFill/>
        </p:spPr>
        <p:txBody>
          <a:bodyPr wrap="square" lIns="0" tIns="0" rIns="0" bIns="0" anchor="t">
            <a:spAutoFit/>
          </a:bodyPr>
          <a:lstStyle/>
          <a:p>
            <a:pPr algn="l"/>
            <a:r>
              <a:rPr sz="1400" b="1">
                <a:solidFill>
                  <a:srgbClr val="00A3E0"/>
                </a:solidFill>
                <a:latin typeface="Calibri"/>
              </a:rPr>
              <a:t>•</a:t>
            </a:r>
          </a:p>
        </p:txBody>
      </p:sp>
      <p:sp>
        <p:nvSpPr>
          <p:cNvPr id="12" name="TextBox 11"/>
          <p:cNvSpPr txBox="1"/>
          <p:nvPr/>
        </p:nvSpPr>
        <p:spPr>
          <a:xfrm>
            <a:off x="960120" y="4160520"/>
            <a:ext cx="3017520" cy="777240"/>
          </a:xfrm>
          <a:prstGeom prst="rect">
            <a:avLst/>
          </a:prstGeom>
          <a:noFill/>
        </p:spPr>
        <p:txBody>
          <a:bodyPr wrap="square" lIns="0" tIns="0" rIns="0" bIns="0" anchor="t">
            <a:spAutoFit/>
          </a:bodyPr>
          <a:lstStyle/>
          <a:p>
            <a:pPr algn="l"/>
            <a:r>
              <a:rPr sz="1000" b="0">
                <a:solidFill>
                  <a:srgbClr val="0F172A"/>
                </a:solidFill>
                <a:latin typeface="Calibri"/>
              </a:rPr>
              <a:t>Verifiable — verification API + light platform</a:t>
            </a:r>
          </a:p>
        </p:txBody>
      </p:sp>
      <p:sp>
        <p:nvSpPr>
          <p:cNvPr id="13" name="TextBox 12"/>
          <p:cNvSpPr txBox="1"/>
          <p:nvPr/>
        </p:nvSpPr>
        <p:spPr>
          <a:xfrm>
            <a:off x="685800" y="4937759"/>
            <a:ext cx="274320" cy="365760"/>
          </a:xfrm>
          <a:prstGeom prst="rect">
            <a:avLst/>
          </a:prstGeom>
          <a:noFill/>
        </p:spPr>
        <p:txBody>
          <a:bodyPr wrap="square" lIns="0" tIns="0" rIns="0" bIns="0" anchor="t">
            <a:spAutoFit/>
          </a:bodyPr>
          <a:lstStyle/>
          <a:p>
            <a:pPr algn="l"/>
            <a:r>
              <a:rPr sz="1400" b="1">
                <a:solidFill>
                  <a:srgbClr val="00A3E0"/>
                </a:solidFill>
                <a:latin typeface="Calibri"/>
              </a:rPr>
              <a:t>•</a:t>
            </a:r>
          </a:p>
        </p:txBody>
      </p:sp>
      <p:sp>
        <p:nvSpPr>
          <p:cNvPr id="14" name="TextBox 13"/>
          <p:cNvSpPr txBox="1"/>
          <p:nvPr/>
        </p:nvSpPr>
        <p:spPr>
          <a:xfrm>
            <a:off x="960120" y="4937759"/>
            <a:ext cx="3017520" cy="777240"/>
          </a:xfrm>
          <a:prstGeom prst="rect">
            <a:avLst/>
          </a:prstGeom>
          <a:noFill/>
        </p:spPr>
        <p:txBody>
          <a:bodyPr wrap="square" lIns="0" tIns="0" rIns="0" bIns="0" anchor="t">
            <a:spAutoFit/>
          </a:bodyPr>
          <a:lstStyle/>
          <a:p>
            <a:pPr algn="l"/>
            <a:r>
              <a:rPr sz="1000" b="0">
                <a:solidFill>
                  <a:srgbClr val="0F172A"/>
                </a:solidFill>
                <a:latin typeface="Calibri"/>
              </a:rPr>
              <a:t>Modio Health (OneView) — popular MSO/medical group SaaS</a:t>
            </a:r>
          </a:p>
        </p:txBody>
      </p:sp>
      <p:sp>
        <p:nvSpPr>
          <p:cNvPr id="15" name="Rounded Rectangle 14"/>
          <p:cNvSpPr/>
          <p:nvPr/>
        </p:nvSpPr>
        <p:spPr>
          <a:xfrm>
            <a:off x="4297679" y="1828800"/>
            <a:ext cx="3749039" cy="397763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297679" y="1828800"/>
            <a:ext cx="3749039"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26279" y="2011680"/>
            <a:ext cx="3291839" cy="411480"/>
          </a:xfrm>
          <a:prstGeom prst="rect">
            <a:avLst/>
          </a:prstGeom>
          <a:noFill/>
        </p:spPr>
        <p:txBody>
          <a:bodyPr wrap="square" lIns="0" tIns="0" rIns="0" bIns="0" anchor="t">
            <a:spAutoFit/>
          </a:bodyPr>
          <a:lstStyle/>
          <a:p>
            <a:pPr algn="l"/>
            <a:r>
              <a:rPr sz="1400" b="1">
                <a:solidFill>
                  <a:srgbClr val="0F172A"/>
                </a:solidFill>
                <a:latin typeface="Calibri"/>
              </a:rPr>
              <a:t>Enterprise incumbents</a:t>
            </a:r>
          </a:p>
        </p:txBody>
      </p:sp>
      <p:sp>
        <p:nvSpPr>
          <p:cNvPr id="18" name="TextBox 17"/>
          <p:cNvSpPr txBox="1"/>
          <p:nvPr/>
        </p:nvSpPr>
        <p:spPr>
          <a:xfrm>
            <a:off x="4526279" y="2514600"/>
            <a:ext cx="3291839" cy="777240"/>
          </a:xfrm>
          <a:prstGeom prst="rect">
            <a:avLst/>
          </a:prstGeom>
          <a:noFill/>
        </p:spPr>
        <p:txBody>
          <a:bodyPr wrap="square" lIns="0" tIns="0" rIns="0" bIns="0" anchor="t">
            <a:spAutoFit/>
          </a:bodyPr>
          <a:lstStyle/>
          <a:p>
            <a:pPr algn="l"/>
            <a:r>
              <a:rPr sz="1000" b="0">
                <a:solidFill>
                  <a:srgbClr val="475569"/>
                </a:solidFill>
                <a:latin typeface="Calibri"/>
              </a:rPr>
              <a:t>Long-standing market share at large hospitals and health systems.</a:t>
            </a:r>
          </a:p>
        </p:txBody>
      </p:sp>
      <p:sp>
        <p:nvSpPr>
          <p:cNvPr id="19" name="TextBox 18"/>
          <p:cNvSpPr txBox="1"/>
          <p:nvPr/>
        </p:nvSpPr>
        <p:spPr>
          <a:xfrm>
            <a:off x="4526279" y="3383280"/>
            <a:ext cx="274320" cy="365760"/>
          </a:xfrm>
          <a:prstGeom prst="rect">
            <a:avLst/>
          </a:prstGeom>
          <a:noFill/>
        </p:spPr>
        <p:txBody>
          <a:bodyPr wrap="square" lIns="0" tIns="0" rIns="0" bIns="0" anchor="t">
            <a:spAutoFit/>
          </a:bodyPr>
          <a:lstStyle/>
          <a:p>
            <a:pPr algn="l"/>
            <a:r>
              <a:rPr sz="1400" b="1">
                <a:solidFill>
                  <a:srgbClr val="D97706"/>
                </a:solidFill>
                <a:latin typeface="Calibri"/>
              </a:rPr>
              <a:t>•</a:t>
            </a:r>
          </a:p>
        </p:txBody>
      </p:sp>
      <p:sp>
        <p:nvSpPr>
          <p:cNvPr id="20" name="TextBox 19"/>
          <p:cNvSpPr txBox="1"/>
          <p:nvPr/>
        </p:nvSpPr>
        <p:spPr>
          <a:xfrm>
            <a:off x="4800599" y="3383280"/>
            <a:ext cx="3017520" cy="777240"/>
          </a:xfrm>
          <a:prstGeom prst="rect">
            <a:avLst/>
          </a:prstGeom>
          <a:noFill/>
        </p:spPr>
        <p:txBody>
          <a:bodyPr wrap="square" lIns="0" tIns="0" rIns="0" bIns="0" anchor="t">
            <a:spAutoFit/>
          </a:bodyPr>
          <a:lstStyle/>
          <a:p>
            <a:pPr algn="l"/>
            <a:r>
              <a:rPr sz="1000" b="0">
                <a:solidFill>
                  <a:srgbClr val="0F172A"/>
                </a:solidFill>
                <a:latin typeface="Calibri"/>
              </a:rPr>
              <a:t>symplr Cred / CredentialStream — enterprise leader, broad scope</a:t>
            </a:r>
          </a:p>
        </p:txBody>
      </p:sp>
      <p:sp>
        <p:nvSpPr>
          <p:cNvPr id="21" name="TextBox 20"/>
          <p:cNvSpPr txBox="1"/>
          <p:nvPr/>
        </p:nvSpPr>
        <p:spPr>
          <a:xfrm>
            <a:off x="4526279" y="4160520"/>
            <a:ext cx="274320" cy="365760"/>
          </a:xfrm>
          <a:prstGeom prst="rect">
            <a:avLst/>
          </a:prstGeom>
          <a:noFill/>
        </p:spPr>
        <p:txBody>
          <a:bodyPr wrap="square" lIns="0" tIns="0" rIns="0" bIns="0" anchor="t">
            <a:spAutoFit/>
          </a:bodyPr>
          <a:lstStyle/>
          <a:p>
            <a:pPr algn="l"/>
            <a:r>
              <a:rPr sz="1400" b="1">
                <a:solidFill>
                  <a:srgbClr val="D97706"/>
                </a:solidFill>
                <a:latin typeface="Calibri"/>
              </a:rPr>
              <a:t>•</a:t>
            </a:r>
          </a:p>
        </p:txBody>
      </p:sp>
      <p:sp>
        <p:nvSpPr>
          <p:cNvPr id="22" name="TextBox 21"/>
          <p:cNvSpPr txBox="1"/>
          <p:nvPr/>
        </p:nvSpPr>
        <p:spPr>
          <a:xfrm>
            <a:off x="4800599" y="4160520"/>
            <a:ext cx="3017520" cy="777240"/>
          </a:xfrm>
          <a:prstGeom prst="rect">
            <a:avLst/>
          </a:prstGeom>
          <a:noFill/>
        </p:spPr>
        <p:txBody>
          <a:bodyPr wrap="square" lIns="0" tIns="0" rIns="0" bIns="0" anchor="t">
            <a:spAutoFit/>
          </a:bodyPr>
          <a:lstStyle/>
          <a:p>
            <a:pPr algn="l"/>
            <a:r>
              <a:rPr sz="1000" b="0">
                <a:solidFill>
                  <a:srgbClr val="0F172A"/>
                </a:solidFill>
                <a:latin typeface="Calibri"/>
              </a:rPr>
              <a:t>VerityStream (HealthStream Cactus) — enterprise CVO + platform</a:t>
            </a:r>
          </a:p>
        </p:txBody>
      </p:sp>
      <p:sp>
        <p:nvSpPr>
          <p:cNvPr id="23" name="TextBox 22"/>
          <p:cNvSpPr txBox="1"/>
          <p:nvPr/>
        </p:nvSpPr>
        <p:spPr>
          <a:xfrm>
            <a:off x="4526279" y="4937759"/>
            <a:ext cx="274320" cy="365760"/>
          </a:xfrm>
          <a:prstGeom prst="rect">
            <a:avLst/>
          </a:prstGeom>
          <a:noFill/>
        </p:spPr>
        <p:txBody>
          <a:bodyPr wrap="square" lIns="0" tIns="0" rIns="0" bIns="0" anchor="t">
            <a:spAutoFit/>
          </a:bodyPr>
          <a:lstStyle/>
          <a:p>
            <a:pPr algn="l"/>
            <a:r>
              <a:rPr sz="1400" b="1">
                <a:solidFill>
                  <a:srgbClr val="D97706"/>
                </a:solidFill>
                <a:latin typeface="Calibri"/>
              </a:rPr>
              <a:t>•</a:t>
            </a:r>
          </a:p>
        </p:txBody>
      </p:sp>
      <p:sp>
        <p:nvSpPr>
          <p:cNvPr id="24" name="TextBox 23"/>
          <p:cNvSpPr txBox="1"/>
          <p:nvPr/>
        </p:nvSpPr>
        <p:spPr>
          <a:xfrm>
            <a:off x="4800599" y="4937759"/>
            <a:ext cx="3017520" cy="777240"/>
          </a:xfrm>
          <a:prstGeom prst="rect">
            <a:avLst/>
          </a:prstGeom>
          <a:noFill/>
        </p:spPr>
        <p:txBody>
          <a:bodyPr wrap="square" lIns="0" tIns="0" rIns="0" bIns="0" anchor="t">
            <a:spAutoFit/>
          </a:bodyPr>
          <a:lstStyle/>
          <a:p>
            <a:pPr algn="l"/>
            <a:r>
              <a:rPr sz="1000" b="0">
                <a:solidFill>
                  <a:srgbClr val="0F172A"/>
                </a:solidFill>
                <a:latin typeface="Calibri"/>
              </a:rPr>
              <a:t>MD-Staff (ASM) — established medical-staff office software</a:t>
            </a:r>
          </a:p>
        </p:txBody>
      </p:sp>
      <p:sp>
        <p:nvSpPr>
          <p:cNvPr id="25" name="Rounded Rectangle 24"/>
          <p:cNvSpPr/>
          <p:nvPr/>
        </p:nvSpPr>
        <p:spPr>
          <a:xfrm>
            <a:off x="8138159" y="1828800"/>
            <a:ext cx="3749039" cy="3977639"/>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138159" y="1828800"/>
            <a:ext cx="3749039"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66759" y="2011680"/>
            <a:ext cx="3291839" cy="411480"/>
          </a:xfrm>
          <a:prstGeom prst="rect">
            <a:avLst/>
          </a:prstGeom>
          <a:noFill/>
        </p:spPr>
        <p:txBody>
          <a:bodyPr wrap="square" lIns="0" tIns="0" rIns="0" bIns="0" anchor="t">
            <a:spAutoFit/>
          </a:bodyPr>
          <a:lstStyle/>
          <a:p>
            <a:pPr algn="l"/>
            <a:r>
              <a:rPr sz="1400" b="1">
                <a:solidFill>
                  <a:srgbClr val="0F172A"/>
                </a:solidFill>
                <a:latin typeface="Calibri"/>
              </a:rPr>
              <a:t>Adjacent / partial</a:t>
            </a:r>
          </a:p>
        </p:txBody>
      </p:sp>
      <p:sp>
        <p:nvSpPr>
          <p:cNvPr id="28" name="TextBox 27"/>
          <p:cNvSpPr txBox="1"/>
          <p:nvPr/>
        </p:nvSpPr>
        <p:spPr>
          <a:xfrm>
            <a:off x="8366759" y="2514600"/>
            <a:ext cx="3291839" cy="777240"/>
          </a:xfrm>
          <a:prstGeom prst="rect">
            <a:avLst/>
          </a:prstGeom>
          <a:noFill/>
        </p:spPr>
        <p:txBody>
          <a:bodyPr wrap="square" lIns="0" tIns="0" rIns="0" bIns="0" anchor="t">
            <a:spAutoFit/>
          </a:bodyPr>
          <a:lstStyle/>
          <a:p>
            <a:pPr algn="l"/>
            <a:r>
              <a:rPr sz="1000" b="0">
                <a:solidFill>
                  <a:srgbClr val="475569"/>
                </a:solidFill>
                <a:latin typeface="Calibri"/>
              </a:rPr>
              <a:t>Solve part of the problem; can't replace a full credentialing system.</a:t>
            </a:r>
          </a:p>
        </p:txBody>
      </p:sp>
      <p:sp>
        <p:nvSpPr>
          <p:cNvPr id="29" name="TextBox 28"/>
          <p:cNvSpPr txBox="1"/>
          <p:nvPr/>
        </p:nvSpPr>
        <p:spPr>
          <a:xfrm>
            <a:off x="8366759" y="3383280"/>
            <a:ext cx="274320" cy="365760"/>
          </a:xfrm>
          <a:prstGeom prst="rect">
            <a:avLst/>
          </a:prstGeom>
          <a:noFill/>
        </p:spPr>
        <p:txBody>
          <a:bodyPr wrap="square" lIns="0" tIns="0" rIns="0" bIns="0" anchor="t">
            <a:spAutoFit/>
          </a:bodyPr>
          <a:lstStyle/>
          <a:p>
            <a:pPr algn="l"/>
            <a:r>
              <a:rPr sz="1400" b="1">
                <a:solidFill>
                  <a:srgbClr val="DC2626"/>
                </a:solidFill>
                <a:latin typeface="Calibri"/>
              </a:rPr>
              <a:t>•</a:t>
            </a:r>
          </a:p>
        </p:txBody>
      </p:sp>
      <p:sp>
        <p:nvSpPr>
          <p:cNvPr id="30" name="TextBox 29"/>
          <p:cNvSpPr txBox="1"/>
          <p:nvPr/>
        </p:nvSpPr>
        <p:spPr>
          <a:xfrm>
            <a:off x="8641080" y="3383280"/>
            <a:ext cx="3017520" cy="777240"/>
          </a:xfrm>
          <a:prstGeom prst="rect">
            <a:avLst/>
          </a:prstGeom>
          <a:noFill/>
        </p:spPr>
        <p:txBody>
          <a:bodyPr wrap="square" lIns="0" tIns="0" rIns="0" bIns="0" anchor="t">
            <a:spAutoFit/>
          </a:bodyPr>
          <a:lstStyle/>
          <a:p>
            <a:pPr algn="l"/>
            <a:r>
              <a:rPr sz="1000" b="0">
                <a:solidFill>
                  <a:srgbClr val="0F172A"/>
                </a:solidFill>
                <a:latin typeface="Calibri"/>
              </a:rPr>
              <a:t>CAQH ProView — provider data utility (input, not workflow)</a:t>
            </a:r>
          </a:p>
        </p:txBody>
      </p:sp>
      <p:sp>
        <p:nvSpPr>
          <p:cNvPr id="31" name="TextBox 30"/>
          <p:cNvSpPr txBox="1"/>
          <p:nvPr/>
        </p:nvSpPr>
        <p:spPr>
          <a:xfrm>
            <a:off x="8366759" y="4160520"/>
            <a:ext cx="274320" cy="365760"/>
          </a:xfrm>
          <a:prstGeom prst="rect">
            <a:avLst/>
          </a:prstGeom>
          <a:noFill/>
        </p:spPr>
        <p:txBody>
          <a:bodyPr wrap="square" lIns="0" tIns="0" rIns="0" bIns="0" anchor="t">
            <a:spAutoFit/>
          </a:bodyPr>
          <a:lstStyle/>
          <a:p>
            <a:pPr algn="l"/>
            <a:r>
              <a:rPr sz="1400" b="1">
                <a:solidFill>
                  <a:srgbClr val="DC2626"/>
                </a:solidFill>
                <a:latin typeface="Calibri"/>
              </a:rPr>
              <a:t>•</a:t>
            </a:r>
          </a:p>
        </p:txBody>
      </p:sp>
      <p:sp>
        <p:nvSpPr>
          <p:cNvPr id="32" name="TextBox 31"/>
          <p:cNvSpPr txBox="1"/>
          <p:nvPr/>
        </p:nvSpPr>
        <p:spPr>
          <a:xfrm>
            <a:off x="8641080" y="4160520"/>
            <a:ext cx="3017520" cy="777240"/>
          </a:xfrm>
          <a:prstGeom prst="rect">
            <a:avLst/>
          </a:prstGeom>
          <a:noFill/>
        </p:spPr>
        <p:txBody>
          <a:bodyPr wrap="square" lIns="0" tIns="0" rIns="0" bIns="0" anchor="t">
            <a:spAutoFit/>
          </a:bodyPr>
          <a:lstStyle/>
          <a:p>
            <a:pPr algn="l"/>
            <a:r>
              <a:rPr sz="1000" b="0">
                <a:solidFill>
                  <a:srgbClr val="0F172A"/>
                </a:solidFill>
                <a:latin typeface="Calibri"/>
              </a:rPr>
              <a:t>Salesforce Health Cloud + custom — flexible but heavy lift</a:t>
            </a:r>
          </a:p>
        </p:txBody>
      </p:sp>
      <p:sp>
        <p:nvSpPr>
          <p:cNvPr id="33" name="TextBox 32"/>
          <p:cNvSpPr txBox="1"/>
          <p:nvPr/>
        </p:nvSpPr>
        <p:spPr>
          <a:xfrm>
            <a:off x="8366759" y="4937759"/>
            <a:ext cx="274320" cy="365760"/>
          </a:xfrm>
          <a:prstGeom prst="rect">
            <a:avLst/>
          </a:prstGeom>
          <a:noFill/>
        </p:spPr>
        <p:txBody>
          <a:bodyPr wrap="square" lIns="0" tIns="0" rIns="0" bIns="0" anchor="t">
            <a:spAutoFit/>
          </a:bodyPr>
          <a:lstStyle/>
          <a:p>
            <a:pPr algn="l"/>
            <a:r>
              <a:rPr sz="1400" b="1">
                <a:solidFill>
                  <a:srgbClr val="DC2626"/>
                </a:solidFill>
                <a:latin typeface="Calibri"/>
              </a:rPr>
              <a:t>•</a:t>
            </a:r>
          </a:p>
        </p:txBody>
      </p:sp>
      <p:sp>
        <p:nvSpPr>
          <p:cNvPr id="34" name="TextBox 33"/>
          <p:cNvSpPr txBox="1"/>
          <p:nvPr/>
        </p:nvSpPr>
        <p:spPr>
          <a:xfrm>
            <a:off x="8641080" y="4937759"/>
            <a:ext cx="3017520" cy="777240"/>
          </a:xfrm>
          <a:prstGeom prst="rect">
            <a:avLst/>
          </a:prstGeom>
          <a:noFill/>
        </p:spPr>
        <p:txBody>
          <a:bodyPr wrap="square" lIns="0" tIns="0" rIns="0" bIns="0" anchor="t">
            <a:spAutoFit/>
          </a:bodyPr>
          <a:lstStyle/>
          <a:p>
            <a:pPr algn="l"/>
            <a:r>
              <a:rPr sz="1000" b="0">
                <a:solidFill>
                  <a:srgbClr val="0F172A"/>
                </a:solidFill>
                <a:latin typeface="Calibri"/>
              </a:rPr>
              <a:t>PARCS — Essen's legacy system (the baseline)</a:t>
            </a:r>
          </a:p>
        </p:txBody>
      </p:sp>
      <p:sp>
        <p:nvSpPr>
          <p:cNvPr id="35" name="TextBox 34"/>
          <p:cNvSpPr txBox="1"/>
          <p:nvPr/>
        </p:nvSpPr>
        <p:spPr>
          <a:xfrm>
            <a:off x="457200" y="5989320"/>
            <a:ext cx="11247120" cy="411480"/>
          </a:xfrm>
          <a:prstGeom prst="rect">
            <a:avLst/>
          </a:prstGeom>
          <a:noFill/>
        </p:spPr>
        <p:txBody>
          <a:bodyPr wrap="square" lIns="0" tIns="0" rIns="0" bIns="0" anchor="t">
            <a:spAutoFit/>
          </a:bodyPr>
          <a:lstStyle/>
          <a:p>
            <a:pPr algn="l"/>
            <a:r>
              <a:rPr sz="1000" b="0">
                <a:solidFill>
                  <a:srgbClr val="475569"/>
                </a:solidFill>
                <a:latin typeface="Calibri"/>
              </a:rPr>
              <a:t>Note: scope below compares ESSEN platform feature-for-feature against the leading vendor in each bucket.</a:t>
            </a:r>
          </a:p>
        </p:txBody>
      </p:sp>
      <p:sp>
        <p:nvSpPr>
          <p:cNvPr id="36" name="TextBox 35"/>
          <p:cNvSpPr txBox="1"/>
          <p:nvPr/>
        </p:nvSpPr>
        <p:spPr>
          <a:xfrm>
            <a:off x="457200" y="6446520"/>
            <a:ext cx="5486400" cy="274320"/>
          </a:xfrm>
          <a:prstGeom prst="rect">
            <a:avLst/>
          </a:prstGeom>
          <a:noFill/>
        </p:spPr>
        <p:txBody>
          <a:bodyPr wrap="square" lIns="0" tIns="0" rIns="0" bIns="0" anchor="t">
            <a:spAutoFit/>
          </a:bodyPr>
          <a:lstStyle/>
          <a:p>
            <a:pPr algn="l"/>
            <a:r>
              <a:rPr sz="900" b="0">
                <a:solidFill>
                  <a:srgbClr val="475569"/>
                </a:solidFill>
                <a:latin typeface="Calibri"/>
              </a:rPr>
              <a:t>ESSEN Credentialing Platform</a:t>
            </a:r>
          </a:p>
        </p:txBody>
      </p:sp>
      <p:sp>
        <p:nvSpPr>
          <p:cNvPr id="37" name="TextBox 36"/>
          <p:cNvSpPr txBox="1"/>
          <p:nvPr/>
        </p:nvSpPr>
        <p:spPr>
          <a:xfrm>
            <a:off x="10058400" y="6446520"/>
            <a:ext cx="1554480" cy="274320"/>
          </a:xfrm>
          <a:prstGeom prst="rect">
            <a:avLst/>
          </a:prstGeom>
          <a:noFill/>
        </p:spPr>
        <p:txBody>
          <a:bodyPr wrap="square" lIns="0" tIns="0" rIns="0" bIns="0" anchor="t">
            <a:spAutoFit/>
          </a:bodyPr>
          <a:lstStyle/>
          <a:p>
            <a:pPr algn="r"/>
            <a:r>
              <a:rPr sz="900" b="1">
                <a:solidFill>
                  <a:srgbClr val="00A3E0"/>
                </a:solidFill>
                <a:latin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430000" cy="274320"/>
          </a:xfrm>
          <a:prstGeom prst="rect">
            <a:avLst/>
          </a:prstGeom>
          <a:noFill/>
        </p:spPr>
        <p:txBody>
          <a:bodyPr wrap="square" lIns="0" tIns="0" rIns="0" bIns="0" anchor="t">
            <a:spAutoFit/>
          </a:bodyPr>
          <a:lstStyle/>
          <a:p>
            <a:pPr algn="l"/>
            <a:r>
              <a:rPr sz="1100" b="1">
                <a:solidFill>
                  <a:srgbClr val="00A3E0"/>
                </a:solidFill>
                <a:latin typeface="Calibri"/>
              </a:rPr>
              <a:t>FEATURE COMPARISON — 1 OF 2</a:t>
            </a:r>
          </a:p>
        </p:txBody>
      </p:sp>
      <p:sp>
        <p:nvSpPr>
          <p:cNvPr id="3" name="TextBox 2"/>
          <p:cNvSpPr txBox="1"/>
          <p:nvPr/>
        </p:nvSpPr>
        <p:spPr>
          <a:xfrm>
            <a:off x="457200" y="594360"/>
            <a:ext cx="11430000" cy="594360"/>
          </a:xfrm>
          <a:prstGeom prst="rect">
            <a:avLst/>
          </a:prstGeom>
          <a:noFill/>
        </p:spPr>
        <p:txBody>
          <a:bodyPr wrap="square" lIns="0" tIns="0" rIns="0" bIns="0" anchor="t">
            <a:spAutoFit/>
          </a:bodyPr>
          <a:lstStyle/>
          <a:p>
            <a:pPr algn="l"/>
            <a:r>
              <a:rPr sz="2800" b="1">
                <a:solidFill>
                  <a:srgbClr val="0F172A"/>
                </a:solidFill>
                <a:latin typeface="Calibri"/>
              </a:rPr>
              <a:t>Capability Grid: ESSEN vs. Leading Alternatives</a:t>
            </a:r>
          </a:p>
        </p:txBody>
      </p:sp>
      <p:sp>
        <p:nvSpPr>
          <p:cNvPr id="4" name="TextBox 3"/>
          <p:cNvSpPr txBox="1"/>
          <p:nvPr/>
        </p:nvSpPr>
        <p:spPr>
          <a:xfrm>
            <a:off x="457200" y="1188720"/>
            <a:ext cx="11430000" cy="411480"/>
          </a:xfrm>
          <a:prstGeom prst="rect">
            <a:avLst/>
          </a:prstGeom>
          <a:noFill/>
        </p:spPr>
        <p:txBody>
          <a:bodyPr wrap="square" lIns="0" tIns="0" rIns="0" bIns="0" anchor="t">
            <a:spAutoFit/>
          </a:bodyPr>
          <a:lstStyle/>
          <a:p>
            <a:pPr algn="l"/>
            <a:r>
              <a:rPr sz="1400" b="0">
                <a:solidFill>
                  <a:srgbClr val="475569"/>
                </a:solidFill>
                <a:latin typeface="Calibri"/>
              </a:rPr>
              <a:t>✓ = native, in production. ◐ = partial / add-on / professional services. ✗ = not available. Sources: vendor public docs, KLAS reviews 2025–26, customer references.</a:t>
            </a:r>
          </a:p>
        </p:txBody>
      </p:sp>
      <p:sp>
        <p:nvSpPr>
          <p:cNvPr id="5" name="Rectangle 4"/>
          <p:cNvSpPr/>
          <p:nvPr/>
        </p:nvSpPr>
        <p:spPr>
          <a:xfrm>
            <a:off x="365760" y="1828800"/>
            <a:ext cx="329184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920240"/>
            <a:ext cx="3108960" cy="320040"/>
          </a:xfrm>
          <a:prstGeom prst="rect">
            <a:avLst/>
          </a:prstGeom>
          <a:noFill/>
        </p:spPr>
        <p:txBody>
          <a:bodyPr wrap="square" lIns="0" tIns="0" rIns="0" bIns="0" anchor="ctr">
            <a:spAutoFit/>
          </a:bodyPr>
          <a:lstStyle/>
          <a:p>
            <a:pPr algn="l"/>
            <a:r>
              <a:rPr sz="1000" b="1">
                <a:solidFill>
                  <a:srgbClr val="FFFFFF"/>
                </a:solidFill>
                <a:latin typeface="Calibri"/>
              </a:rPr>
              <a:t>Capability</a:t>
            </a:r>
          </a:p>
        </p:txBody>
      </p:sp>
      <p:sp>
        <p:nvSpPr>
          <p:cNvPr id="7" name="Rectangle 6"/>
          <p:cNvSpPr/>
          <p:nvPr/>
        </p:nvSpPr>
        <p:spPr>
          <a:xfrm>
            <a:off x="3657600" y="1828800"/>
            <a:ext cx="86868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749039" y="1920240"/>
            <a:ext cx="685800" cy="320040"/>
          </a:xfrm>
          <a:prstGeom prst="rect">
            <a:avLst/>
          </a:prstGeom>
          <a:noFill/>
        </p:spPr>
        <p:txBody>
          <a:bodyPr wrap="square" lIns="0" tIns="0" rIns="0" bIns="0" anchor="ctr">
            <a:spAutoFit/>
          </a:bodyPr>
          <a:lstStyle/>
          <a:p>
            <a:pPr algn="l"/>
            <a:r>
              <a:rPr sz="1000" b="1">
                <a:solidFill>
                  <a:srgbClr val="FFFFFF"/>
                </a:solidFill>
                <a:latin typeface="Calibri"/>
              </a:rPr>
              <a:t>ESSEN</a:t>
            </a:r>
          </a:p>
        </p:txBody>
      </p:sp>
      <p:sp>
        <p:nvSpPr>
          <p:cNvPr id="9" name="Rectangle 8"/>
          <p:cNvSpPr/>
          <p:nvPr/>
        </p:nvSpPr>
        <p:spPr>
          <a:xfrm>
            <a:off x="4526280" y="1828800"/>
            <a:ext cx="109728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17720" y="1920240"/>
            <a:ext cx="914400" cy="320040"/>
          </a:xfrm>
          <a:prstGeom prst="rect">
            <a:avLst/>
          </a:prstGeom>
          <a:noFill/>
        </p:spPr>
        <p:txBody>
          <a:bodyPr wrap="square" lIns="0" tIns="0" rIns="0" bIns="0" anchor="ctr">
            <a:spAutoFit/>
          </a:bodyPr>
          <a:lstStyle/>
          <a:p>
            <a:pPr algn="l"/>
            <a:r>
              <a:rPr sz="1000" b="1">
                <a:solidFill>
                  <a:srgbClr val="FFFFFF"/>
                </a:solidFill>
                <a:latin typeface="Calibri"/>
              </a:rPr>
              <a:t>Medallion</a:t>
            </a:r>
          </a:p>
        </p:txBody>
      </p:sp>
      <p:sp>
        <p:nvSpPr>
          <p:cNvPr id="11" name="Rectangle 10"/>
          <p:cNvSpPr/>
          <p:nvPr/>
        </p:nvSpPr>
        <p:spPr>
          <a:xfrm>
            <a:off x="5623560" y="1828800"/>
            <a:ext cx="118872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15000" y="1920240"/>
            <a:ext cx="1005840" cy="320040"/>
          </a:xfrm>
          <a:prstGeom prst="rect">
            <a:avLst/>
          </a:prstGeom>
          <a:noFill/>
        </p:spPr>
        <p:txBody>
          <a:bodyPr wrap="square" lIns="0" tIns="0" rIns="0" bIns="0" anchor="ctr">
            <a:spAutoFit/>
          </a:bodyPr>
          <a:lstStyle/>
          <a:p>
            <a:pPr algn="l"/>
            <a:r>
              <a:rPr sz="1000" b="1">
                <a:solidFill>
                  <a:srgbClr val="FFFFFF"/>
                </a:solidFill>
                <a:latin typeface="Calibri"/>
              </a:rPr>
              <a:t>symplr Cred</a:t>
            </a:r>
          </a:p>
        </p:txBody>
      </p:sp>
      <p:sp>
        <p:nvSpPr>
          <p:cNvPr id="13" name="Rectangle 12"/>
          <p:cNvSpPr/>
          <p:nvPr/>
        </p:nvSpPr>
        <p:spPr>
          <a:xfrm>
            <a:off x="6812280" y="1828800"/>
            <a:ext cx="132588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03720" y="1920240"/>
            <a:ext cx="1143000" cy="320040"/>
          </a:xfrm>
          <a:prstGeom prst="rect">
            <a:avLst/>
          </a:prstGeom>
          <a:noFill/>
        </p:spPr>
        <p:txBody>
          <a:bodyPr wrap="square" lIns="0" tIns="0" rIns="0" bIns="0" anchor="ctr">
            <a:spAutoFit/>
          </a:bodyPr>
          <a:lstStyle/>
          <a:p>
            <a:pPr algn="l"/>
            <a:r>
              <a:rPr sz="1000" b="1">
                <a:solidFill>
                  <a:srgbClr val="FFFFFF"/>
                </a:solidFill>
                <a:latin typeface="Calibri"/>
              </a:rPr>
              <a:t>VerityStream</a:t>
            </a:r>
          </a:p>
        </p:txBody>
      </p:sp>
      <p:sp>
        <p:nvSpPr>
          <p:cNvPr id="15" name="Rectangle 14"/>
          <p:cNvSpPr/>
          <p:nvPr/>
        </p:nvSpPr>
        <p:spPr>
          <a:xfrm>
            <a:off x="8138160" y="1828800"/>
            <a:ext cx="96012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0" y="1920240"/>
            <a:ext cx="777240" cy="320040"/>
          </a:xfrm>
          <a:prstGeom prst="rect">
            <a:avLst/>
          </a:prstGeom>
          <a:noFill/>
        </p:spPr>
        <p:txBody>
          <a:bodyPr wrap="square" lIns="0" tIns="0" rIns="0" bIns="0" anchor="ctr">
            <a:spAutoFit/>
          </a:bodyPr>
          <a:lstStyle/>
          <a:p>
            <a:pPr algn="l"/>
            <a:r>
              <a:rPr sz="1000" b="1">
                <a:solidFill>
                  <a:srgbClr val="FFFFFF"/>
                </a:solidFill>
                <a:latin typeface="Calibri"/>
              </a:rPr>
              <a:t>Modio</a:t>
            </a:r>
          </a:p>
        </p:txBody>
      </p:sp>
      <p:sp>
        <p:nvSpPr>
          <p:cNvPr id="17" name="Rectangle 16"/>
          <p:cNvSpPr/>
          <p:nvPr/>
        </p:nvSpPr>
        <p:spPr>
          <a:xfrm>
            <a:off x="9098280" y="1828800"/>
            <a:ext cx="118872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89720" y="1920240"/>
            <a:ext cx="1005840" cy="320040"/>
          </a:xfrm>
          <a:prstGeom prst="rect">
            <a:avLst/>
          </a:prstGeom>
          <a:noFill/>
        </p:spPr>
        <p:txBody>
          <a:bodyPr wrap="square" lIns="0" tIns="0" rIns="0" bIns="0" anchor="ctr">
            <a:spAutoFit/>
          </a:bodyPr>
          <a:lstStyle/>
          <a:p>
            <a:pPr algn="l"/>
            <a:r>
              <a:rPr sz="1000" b="1">
                <a:solidFill>
                  <a:srgbClr val="FFFFFF"/>
                </a:solidFill>
                <a:latin typeface="Calibri"/>
              </a:rPr>
              <a:t>Verifiable</a:t>
            </a:r>
          </a:p>
        </p:txBody>
      </p:sp>
      <p:sp>
        <p:nvSpPr>
          <p:cNvPr id="19" name="Rectangle 18"/>
          <p:cNvSpPr/>
          <p:nvPr/>
        </p:nvSpPr>
        <p:spPr>
          <a:xfrm>
            <a:off x="10287000" y="1828800"/>
            <a:ext cx="150876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378440" y="1920240"/>
            <a:ext cx="1325880" cy="320040"/>
          </a:xfrm>
          <a:prstGeom prst="rect">
            <a:avLst/>
          </a:prstGeom>
          <a:noFill/>
        </p:spPr>
        <p:txBody>
          <a:bodyPr wrap="square" lIns="0" tIns="0" rIns="0" bIns="0" anchor="ctr">
            <a:spAutoFit/>
          </a:bodyPr>
          <a:lstStyle/>
          <a:p>
            <a:pPr algn="l"/>
            <a:r>
              <a:rPr sz="1000" b="1">
                <a:solidFill>
                  <a:srgbClr val="FFFFFF"/>
                </a:solidFill>
                <a:latin typeface="Calibri"/>
              </a:rPr>
              <a:t>PARCS</a:t>
            </a:r>
          </a:p>
        </p:txBody>
      </p:sp>
      <p:sp>
        <p:nvSpPr>
          <p:cNvPr id="21" name="Rectangle 20"/>
          <p:cNvSpPr/>
          <p:nvPr/>
        </p:nvSpPr>
        <p:spPr>
          <a:xfrm>
            <a:off x="365760" y="2331720"/>
            <a:ext cx="329184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2377439"/>
            <a:ext cx="3108960" cy="219456"/>
          </a:xfrm>
          <a:prstGeom prst="rect">
            <a:avLst/>
          </a:prstGeom>
          <a:noFill/>
        </p:spPr>
        <p:txBody>
          <a:bodyPr wrap="square" lIns="0" tIns="0" rIns="0" bIns="0" anchor="ctr">
            <a:spAutoFit/>
          </a:bodyPr>
          <a:lstStyle/>
          <a:p>
            <a:pPr algn="l"/>
            <a:r>
              <a:rPr sz="900" b="1">
                <a:solidFill>
                  <a:srgbClr val="0F172A"/>
                </a:solidFill>
                <a:latin typeface="Calibri"/>
              </a:rPr>
              <a:t>Online provider self-service portal</a:t>
            </a:r>
          </a:p>
        </p:txBody>
      </p:sp>
      <p:sp>
        <p:nvSpPr>
          <p:cNvPr id="23" name="Rectangle 22"/>
          <p:cNvSpPr/>
          <p:nvPr/>
        </p:nvSpPr>
        <p:spPr>
          <a:xfrm>
            <a:off x="3657600" y="2331720"/>
            <a:ext cx="86868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749039" y="2377439"/>
            <a:ext cx="6858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25" name="Rectangle 24"/>
          <p:cNvSpPr/>
          <p:nvPr/>
        </p:nvSpPr>
        <p:spPr>
          <a:xfrm>
            <a:off x="4526280" y="2331720"/>
            <a:ext cx="109728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17720" y="2377439"/>
            <a:ext cx="9144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27" name="Rectangle 26"/>
          <p:cNvSpPr/>
          <p:nvPr/>
        </p:nvSpPr>
        <p:spPr>
          <a:xfrm>
            <a:off x="5623560" y="2331720"/>
            <a:ext cx="118872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715000" y="2377439"/>
            <a:ext cx="100584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29" name="Rectangle 28"/>
          <p:cNvSpPr/>
          <p:nvPr/>
        </p:nvSpPr>
        <p:spPr>
          <a:xfrm>
            <a:off x="6812280" y="2331720"/>
            <a:ext cx="132588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03720" y="2377439"/>
            <a:ext cx="11430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31" name="Rectangle 30"/>
          <p:cNvSpPr/>
          <p:nvPr/>
        </p:nvSpPr>
        <p:spPr>
          <a:xfrm>
            <a:off x="8138160" y="2331720"/>
            <a:ext cx="96012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29600" y="2377439"/>
            <a:ext cx="77724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33" name="Rectangle 32"/>
          <p:cNvSpPr/>
          <p:nvPr/>
        </p:nvSpPr>
        <p:spPr>
          <a:xfrm>
            <a:off x="9098280" y="2331720"/>
            <a:ext cx="118872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189720" y="2377439"/>
            <a:ext cx="100584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35" name="Rectangle 34"/>
          <p:cNvSpPr/>
          <p:nvPr/>
        </p:nvSpPr>
        <p:spPr>
          <a:xfrm>
            <a:off x="10287000" y="2331720"/>
            <a:ext cx="150876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378440" y="2377439"/>
            <a:ext cx="132588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37" name="Rectangle 36"/>
          <p:cNvSpPr/>
          <p:nvPr/>
        </p:nvSpPr>
        <p:spPr>
          <a:xfrm>
            <a:off x="365760" y="2642615"/>
            <a:ext cx="329184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57200" y="2688335"/>
            <a:ext cx="3108960" cy="219456"/>
          </a:xfrm>
          <a:prstGeom prst="rect">
            <a:avLst/>
          </a:prstGeom>
          <a:noFill/>
        </p:spPr>
        <p:txBody>
          <a:bodyPr wrap="square" lIns="0" tIns="0" rIns="0" bIns="0" anchor="ctr">
            <a:spAutoFit/>
          </a:bodyPr>
          <a:lstStyle/>
          <a:p>
            <a:pPr algn="l"/>
            <a:r>
              <a:rPr sz="900" b="1">
                <a:solidFill>
                  <a:srgbClr val="0F172A"/>
                </a:solidFill>
                <a:latin typeface="Calibri"/>
              </a:rPr>
              <a:t>Document OCR auto-classification (AI)</a:t>
            </a:r>
          </a:p>
        </p:txBody>
      </p:sp>
      <p:sp>
        <p:nvSpPr>
          <p:cNvPr id="39" name="Rectangle 38"/>
          <p:cNvSpPr/>
          <p:nvPr/>
        </p:nvSpPr>
        <p:spPr>
          <a:xfrm>
            <a:off x="3657600" y="2642615"/>
            <a:ext cx="86868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749039" y="2688335"/>
            <a:ext cx="6858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41" name="Rectangle 40"/>
          <p:cNvSpPr/>
          <p:nvPr/>
        </p:nvSpPr>
        <p:spPr>
          <a:xfrm>
            <a:off x="4526280" y="2642615"/>
            <a:ext cx="109728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17720" y="2688335"/>
            <a:ext cx="91440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43" name="Rectangle 42"/>
          <p:cNvSpPr/>
          <p:nvPr/>
        </p:nvSpPr>
        <p:spPr>
          <a:xfrm>
            <a:off x="5623560" y="2642615"/>
            <a:ext cx="118872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715000" y="2688335"/>
            <a:ext cx="100584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45" name="Rectangle 44"/>
          <p:cNvSpPr/>
          <p:nvPr/>
        </p:nvSpPr>
        <p:spPr>
          <a:xfrm>
            <a:off x="6812280" y="2642615"/>
            <a:ext cx="132588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903720" y="2688335"/>
            <a:ext cx="114300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47" name="Rectangle 46"/>
          <p:cNvSpPr/>
          <p:nvPr/>
        </p:nvSpPr>
        <p:spPr>
          <a:xfrm>
            <a:off x="8138160" y="2642615"/>
            <a:ext cx="96012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29600" y="2688335"/>
            <a:ext cx="77724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49" name="Rectangle 48"/>
          <p:cNvSpPr/>
          <p:nvPr/>
        </p:nvSpPr>
        <p:spPr>
          <a:xfrm>
            <a:off x="9098280" y="2642615"/>
            <a:ext cx="118872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189720" y="2688335"/>
            <a:ext cx="100584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51" name="Rectangle 50"/>
          <p:cNvSpPr/>
          <p:nvPr/>
        </p:nvSpPr>
        <p:spPr>
          <a:xfrm>
            <a:off x="10287000" y="2642615"/>
            <a:ext cx="150876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378440" y="2688335"/>
            <a:ext cx="132588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53" name="Rectangle 52"/>
          <p:cNvSpPr/>
          <p:nvPr/>
        </p:nvSpPr>
        <p:spPr>
          <a:xfrm>
            <a:off x="365760" y="2953512"/>
            <a:ext cx="329184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57200" y="2999232"/>
            <a:ext cx="3108960" cy="219456"/>
          </a:xfrm>
          <a:prstGeom prst="rect">
            <a:avLst/>
          </a:prstGeom>
          <a:noFill/>
        </p:spPr>
        <p:txBody>
          <a:bodyPr wrap="square" lIns="0" tIns="0" rIns="0" bIns="0" anchor="ctr">
            <a:spAutoFit/>
          </a:bodyPr>
          <a:lstStyle/>
          <a:p>
            <a:pPr algn="l"/>
            <a:r>
              <a:rPr sz="900" b="1">
                <a:solidFill>
                  <a:srgbClr val="0F172A"/>
                </a:solidFill>
                <a:latin typeface="Calibri"/>
              </a:rPr>
              <a:t>PSV bots — license + DEA (all 50)</a:t>
            </a:r>
          </a:p>
        </p:txBody>
      </p:sp>
      <p:sp>
        <p:nvSpPr>
          <p:cNvPr id="55" name="Rectangle 54"/>
          <p:cNvSpPr/>
          <p:nvPr/>
        </p:nvSpPr>
        <p:spPr>
          <a:xfrm>
            <a:off x="3657600" y="2953512"/>
            <a:ext cx="86868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749039" y="2999232"/>
            <a:ext cx="6858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57" name="Rectangle 56"/>
          <p:cNvSpPr/>
          <p:nvPr/>
        </p:nvSpPr>
        <p:spPr>
          <a:xfrm>
            <a:off x="4526280" y="2953512"/>
            <a:ext cx="109728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617720" y="2999232"/>
            <a:ext cx="9144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59" name="Rectangle 58"/>
          <p:cNvSpPr/>
          <p:nvPr/>
        </p:nvSpPr>
        <p:spPr>
          <a:xfrm>
            <a:off x="5623560" y="2953512"/>
            <a:ext cx="118872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715000" y="2999232"/>
            <a:ext cx="100584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61" name="Rectangle 60"/>
          <p:cNvSpPr/>
          <p:nvPr/>
        </p:nvSpPr>
        <p:spPr>
          <a:xfrm>
            <a:off x="6812280" y="2953512"/>
            <a:ext cx="132588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903720" y="2999232"/>
            <a:ext cx="11430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63" name="Rectangle 62"/>
          <p:cNvSpPr/>
          <p:nvPr/>
        </p:nvSpPr>
        <p:spPr>
          <a:xfrm>
            <a:off x="8138160" y="2953512"/>
            <a:ext cx="96012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229600" y="2999232"/>
            <a:ext cx="77724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65" name="Rectangle 64"/>
          <p:cNvSpPr/>
          <p:nvPr/>
        </p:nvSpPr>
        <p:spPr>
          <a:xfrm>
            <a:off x="9098280" y="2953512"/>
            <a:ext cx="118872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189720" y="2999232"/>
            <a:ext cx="100584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67" name="Rectangle 66"/>
          <p:cNvSpPr/>
          <p:nvPr/>
        </p:nvSpPr>
        <p:spPr>
          <a:xfrm>
            <a:off x="10287000" y="2953512"/>
            <a:ext cx="150876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0378440" y="2999232"/>
            <a:ext cx="132588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69" name="Rectangle 68"/>
          <p:cNvSpPr/>
          <p:nvPr/>
        </p:nvSpPr>
        <p:spPr>
          <a:xfrm>
            <a:off x="365760" y="3264408"/>
            <a:ext cx="329184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57200" y="3310127"/>
            <a:ext cx="3108960" cy="219456"/>
          </a:xfrm>
          <a:prstGeom prst="rect">
            <a:avLst/>
          </a:prstGeom>
          <a:noFill/>
        </p:spPr>
        <p:txBody>
          <a:bodyPr wrap="square" lIns="0" tIns="0" rIns="0" bIns="0" anchor="ctr">
            <a:spAutoFit/>
          </a:bodyPr>
          <a:lstStyle/>
          <a:p>
            <a:pPr algn="l"/>
            <a:r>
              <a:rPr sz="900" b="1">
                <a:solidFill>
                  <a:srgbClr val="0F172A"/>
                </a:solidFill>
                <a:latin typeface="Calibri"/>
              </a:rPr>
              <a:t>PSV bots — board (NCCPA, ABIM, ABFM)</a:t>
            </a:r>
          </a:p>
        </p:txBody>
      </p:sp>
      <p:sp>
        <p:nvSpPr>
          <p:cNvPr id="71" name="Rectangle 70"/>
          <p:cNvSpPr/>
          <p:nvPr/>
        </p:nvSpPr>
        <p:spPr>
          <a:xfrm>
            <a:off x="3657600" y="3264408"/>
            <a:ext cx="86868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3749039" y="3310127"/>
            <a:ext cx="6858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73" name="Rectangle 72"/>
          <p:cNvSpPr/>
          <p:nvPr/>
        </p:nvSpPr>
        <p:spPr>
          <a:xfrm>
            <a:off x="4526280" y="3264408"/>
            <a:ext cx="109728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4617720" y="3310127"/>
            <a:ext cx="9144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75" name="Rectangle 74"/>
          <p:cNvSpPr/>
          <p:nvPr/>
        </p:nvSpPr>
        <p:spPr>
          <a:xfrm>
            <a:off x="5623560" y="3264408"/>
            <a:ext cx="118872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5715000" y="3310127"/>
            <a:ext cx="100584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77" name="Rectangle 76"/>
          <p:cNvSpPr/>
          <p:nvPr/>
        </p:nvSpPr>
        <p:spPr>
          <a:xfrm>
            <a:off x="6812280" y="3264408"/>
            <a:ext cx="132588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903720" y="3310127"/>
            <a:ext cx="11430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79" name="Rectangle 78"/>
          <p:cNvSpPr/>
          <p:nvPr/>
        </p:nvSpPr>
        <p:spPr>
          <a:xfrm>
            <a:off x="8138160" y="3264408"/>
            <a:ext cx="96012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229600" y="3310127"/>
            <a:ext cx="77724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81" name="Rectangle 80"/>
          <p:cNvSpPr/>
          <p:nvPr/>
        </p:nvSpPr>
        <p:spPr>
          <a:xfrm>
            <a:off x="9098280" y="3264408"/>
            <a:ext cx="118872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9189720" y="3310127"/>
            <a:ext cx="100584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83" name="Rectangle 82"/>
          <p:cNvSpPr/>
          <p:nvPr/>
        </p:nvSpPr>
        <p:spPr>
          <a:xfrm>
            <a:off x="10287000" y="3264408"/>
            <a:ext cx="150876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10378440" y="3310127"/>
            <a:ext cx="132588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85" name="Rectangle 84"/>
          <p:cNvSpPr/>
          <p:nvPr/>
        </p:nvSpPr>
        <p:spPr>
          <a:xfrm>
            <a:off x="365760" y="3575304"/>
            <a:ext cx="329184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457200" y="3621024"/>
            <a:ext cx="3108960" cy="219456"/>
          </a:xfrm>
          <a:prstGeom prst="rect">
            <a:avLst/>
          </a:prstGeom>
          <a:noFill/>
        </p:spPr>
        <p:txBody>
          <a:bodyPr wrap="square" lIns="0" tIns="0" rIns="0" bIns="0" anchor="ctr">
            <a:spAutoFit/>
          </a:bodyPr>
          <a:lstStyle/>
          <a:p>
            <a:pPr algn="l"/>
            <a:r>
              <a:rPr sz="900" b="1">
                <a:solidFill>
                  <a:srgbClr val="0F172A"/>
                </a:solidFill>
                <a:latin typeface="Calibri"/>
              </a:rPr>
              <a:t>Education PSV (AMA, ECFMG, ACGME)</a:t>
            </a:r>
          </a:p>
        </p:txBody>
      </p:sp>
      <p:sp>
        <p:nvSpPr>
          <p:cNvPr id="87" name="Rectangle 86"/>
          <p:cNvSpPr/>
          <p:nvPr/>
        </p:nvSpPr>
        <p:spPr>
          <a:xfrm>
            <a:off x="3657600" y="3575304"/>
            <a:ext cx="86868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3749039" y="3621024"/>
            <a:ext cx="6858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89" name="Rectangle 88"/>
          <p:cNvSpPr/>
          <p:nvPr/>
        </p:nvSpPr>
        <p:spPr>
          <a:xfrm>
            <a:off x="4526280" y="3575304"/>
            <a:ext cx="109728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4617720" y="3621024"/>
            <a:ext cx="9144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91" name="Rectangle 90"/>
          <p:cNvSpPr/>
          <p:nvPr/>
        </p:nvSpPr>
        <p:spPr>
          <a:xfrm>
            <a:off x="5623560" y="3575304"/>
            <a:ext cx="118872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5715000" y="3621024"/>
            <a:ext cx="100584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93" name="Rectangle 92"/>
          <p:cNvSpPr/>
          <p:nvPr/>
        </p:nvSpPr>
        <p:spPr>
          <a:xfrm>
            <a:off x="6812280" y="3575304"/>
            <a:ext cx="132588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6903720" y="3621024"/>
            <a:ext cx="114300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95" name="Rectangle 94"/>
          <p:cNvSpPr/>
          <p:nvPr/>
        </p:nvSpPr>
        <p:spPr>
          <a:xfrm>
            <a:off x="8138160" y="3575304"/>
            <a:ext cx="96012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8229600" y="3621024"/>
            <a:ext cx="77724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97" name="Rectangle 96"/>
          <p:cNvSpPr/>
          <p:nvPr/>
        </p:nvSpPr>
        <p:spPr>
          <a:xfrm>
            <a:off x="9098280" y="3575304"/>
            <a:ext cx="118872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9189720" y="3621024"/>
            <a:ext cx="100584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99" name="Rectangle 98"/>
          <p:cNvSpPr/>
          <p:nvPr/>
        </p:nvSpPr>
        <p:spPr>
          <a:xfrm>
            <a:off x="10287000" y="3575304"/>
            <a:ext cx="150876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10378440" y="3621024"/>
            <a:ext cx="132588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01" name="Rectangle 100"/>
          <p:cNvSpPr/>
          <p:nvPr/>
        </p:nvSpPr>
        <p:spPr>
          <a:xfrm>
            <a:off x="365760" y="3886200"/>
            <a:ext cx="329184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457200" y="3931920"/>
            <a:ext cx="3108960" cy="219456"/>
          </a:xfrm>
          <a:prstGeom prst="rect">
            <a:avLst/>
          </a:prstGeom>
          <a:noFill/>
        </p:spPr>
        <p:txBody>
          <a:bodyPr wrap="square" lIns="0" tIns="0" rIns="0" bIns="0" anchor="ctr">
            <a:spAutoFit/>
          </a:bodyPr>
          <a:lstStyle/>
          <a:p>
            <a:pPr algn="l"/>
            <a:r>
              <a:rPr sz="900" b="1">
                <a:solidFill>
                  <a:srgbClr val="0F172A"/>
                </a:solidFill>
                <a:latin typeface="Calibri"/>
              </a:rPr>
              <a:t>Sanctions — OIG + SAM continuous (≤30d)</a:t>
            </a:r>
          </a:p>
        </p:txBody>
      </p:sp>
      <p:sp>
        <p:nvSpPr>
          <p:cNvPr id="103" name="Rectangle 102"/>
          <p:cNvSpPr/>
          <p:nvPr/>
        </p:nvSpPr>
        <p:spPr>
          <a:xfrm>
            <a:off x="3657600" y="3886200"/>
            <a:ext cx="86868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3749039" y="3931920"/>
            <a:ext cx="6858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05" name="Rectangle 104"/>
          <p:cNvSpPr/>
          <p:nvPr/>
        </p:nvSpPr>
        <p:spPr>
          <a:xfrm>
            <a:off x="4526280" y="3886200"/>
            <a:ext cx="109728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4617720" y="3931920"/>
            <a:ext cx="9144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07" name="Rectangle 106"/>
          <p:cNvSpPr/>
          <p:nvPr/>
        </p:nvSpPr>
        <p:spPr>
          <a:xfrm>
            <a:off x="5623560" y="3886200"/>
            <a:ext cx="118872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5715000" y="3931920"/>
            <a:ext cx="100584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09" name="Rectangle 108"/>
          <p:cNvSpPr/>
          <p:nvPr/>
        </p:nvSpPr>
        <p:spPr>
          <a:xfrm>
            <a:off x="6812280" y="3886200"/>
            <a:ext cx="132588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6903720" y="3931920"/>
            <a:ext cx="11430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11" name="Rectangle 110"/>
          <p:cNvSpPr/>
          <p:nvPr/>
        </p:nvSpPr>
        <p:spPr>
          <a:xfrm>
            <a:off x="8138160" y="3886200"/>
            <a:ext cx="96012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8229600" y="3931920"/>
            <a:ext cx="77724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13" name="Rectangle 112"/>
          <p:cNvSpPr/>
          <p:nvPr/>
        </p:nvSpPr>
        <p:spPr>
          <a:xfrm>
            <a:off x="9098280" y="3886200"/>
            <a:ext cx="118872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9189720" y="3931920"/>
            <a:ext cx="100584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15" name="Rectangle 114"/>
          <p:cNvSpPr/>
          <p:nvPr/>
        </p:nvSpPr>
        <p:spPr>
          <a:xfrm>
            <a:off x="10287000" y="3886200"/>
            <a:ext cx="150876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10378440" y="3931920"/>
            <a:ext cx="132588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17" name="Rectangle 116"/>
          <p:cNvSpPr/>
          <p:nvPr/>
        </p:nvSpPr>
        <p:spPr>
          <a:xfrm>
            <a:off x="365760" y="4197096"/>
            <a:ext cx="329184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457200" y="4242816"/>
            <a:ext cx="3108960" cy="219456"/>
          </a:xfrm>
          <a:prstGeom prst="rect">
            <a:avLst/>
          </a:prstGeom>
          <a:noFill/>
        </p:spPr>
        <p:txBody>
          <a:bodyPr wrap="square" lIns="0" tIns="0" rIns="0" bIns="0" anchor="ctr">
            <a:spAutoFit/>
          </a:bodyPr>
          <a:lstStyle/>
          <a:p>
            <a:pPr algn="l"/>
            <a:r>
              <a:rPr sz="900" b="1">
                <a:solidFill>
                  <a:srgbClr val="0F172A"/>
                </a:solidFill>
                <a:latin typeface="Calibri"/>
              </a:rPr>
              <a:t>State Medicaid sanctions (e.g. NY OMIG)</a:t>
            </a:r>
          </a:p>
        </p:txBody>
      </p:sp>
      <p:sp>
        <p:nvSpPr>
          <p:cNvPr id="119" name="Rectangle 118"/>
          <p:cNvSpPr/>
          <p:nvPr/>
        </p:nvSpPr>
        <p:spPr>
          <a:xfrm>
            <a:off x="3657600" y="4197096"/>
            <a:ext cx="86868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3749039" y="4242816"/>
            <a:ext cx="6858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21" name="Rectangle 120"/>
          <p:cNvSpPr/>
          <p:nvPr/>
        </p:nvSpPr>
        <p:spPr>
          <a:xfrm>
            <a:off x="4526280" y="4197096"/>
            <a:ext cx="109728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4617720" y="4242816"/>
            <a:ext cx="91440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123" name="Rectangle 122"/>
          <p:cNvSpPr/>
          <p:nvPr/>
        </p:nvSpPr>
        <p:spPr>
          <a:xfrm>
            <a:off x="5623560" y="4197096"/>
            <a:ext cx="118872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5715000" y="4242816"/>
            <a:ext cx="100584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125" name="Rectangle 124"/>
          <p:cNvSpPr/>
          <p:nvPr/>
        </p:nvSpPr>
        <p:spPr>
          <a:xfrm>
            <a:off x="6812280" y="4197096"/>
            <a:ext cx="132588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6903720" y="4242816"/>
            <a:ext cx="114300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127" name="Rectangle 126"/>
          <p:cNvSpPr/>
          <p:nvPr/>
        </p:nvSpPr>
        <p:spPr>
          <a:xfrm>
            <a:off x="8138160" y="4197096"/>
            <a:ext cx="96012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8229600" y="4242816"/>
            <a:ext cx="77724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29" name="Rectangle 128"/>
          <p:cNvSpPr/>
          <p:nvPr/>
        </p:nvSpPr>
        <p:spPr>
          <a:xfrm>
            <a:off x="9098280" y="4197096"/>
            <a:ext cx="118872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9189720" y="4242816"/>
            <a:ext cx="100584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31" name="Rectangle 130"/>
          <p:cNvSpPr/>
          <p:nvPr/>
        </p:nvSpPr>
        <p:spPr>
          <a:xfrm>
            <a:off x="10287000" y="4197096"/>
            <a:ext cx="150876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10378440" y="4242816"/>
            <a:ext cx="132588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33" name="Rectangle 132"/>
          <p:cNvSpPr/>
          <p:nvPr/>
        </p:nvSpPr>
        <p:spPr>
          <a:xfrm>
            <a:off x="365760" y="4507992"/>
            <a:ext cx="329184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457200" y="4553712"/>
            <a:ext cx="3108960" cy="219456"/>
          </a:xfrm>
          <a:prstGeom prst="rect">
            <a:avLst/>
          </a:prstGeom>
          <a:noFill/>
        </p:spPr>
        <p:txBody>
          <a:bodyPr wrap="square" lIns="0" tIns="0" rIns="0" bIns="0" anchor="ctr">
            <a:spAutoFit/>
          </a:bodyPr>
          <a:lstStyle/>
          <a:p>
            <a:pPr algn="l"/>
            <a:r>
              <a:rPr sz="900" b="1">
                <a:solidFill>
                  <a:srgbClr val="0F172A"/>
                </a:solidFill>
                <a:latin typeface="Calibri"/>
              </a:rPr>
              <a:t>NPDB Continuous Query (24h push)</a:t>
            </a:r>
          </a:p>
        </p:txBody>
      </p:sp>
      <p:sp>
        <p:nvSpPr>
          <p:cNvPr id="135" name="Rectangle 134"/>
          <p:cNvSpPr/>
          <p:nvPr/>
        </p:nvSpPr>
        <p:spPr>
          <a:xfrm>
            <a:off x="3657600" y="4507992"/>
            <a:ext cx="86868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3749039" y="4553712"/>
            <a:ext cx="6858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37" name="Rectangle 136"/>
          <p:cNvSpPr/>
          <p:nvPr/>
        </p:nvSpPr>
        <p:spPr>
          <a:xfrm>
            <a:off x="4526280" y="4507992"/>
            <a:ext cx="109728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4617720" y="4553712"/>
            <a:ext cx="9144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39" name="Rectangle 138"/>
          <p:cNvSpPr/>
          <p:nvPr/>
        </p:nvSpPr>
        <p:spPr>
          <a:xfrm>
            <a:off x="5623560" y="4507992"/>
            <a:ext cx="118872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5715000" y="4553712"/>
            <a:ext cx="100584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41" name="Rectangle 140"/>
          <p:cNvSpPr/>
          <p:nvPr/>
        </p:nvSpPr>
        <p:spPr>
          <a:xfrm>
            <a:off x="6812280" y="4507992"/>
            <a:ext cx="132588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6903720" y="4553712"/>
            <a:ext cx="11430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43" name="Rectangle 142"/>
          <p:cNvSpPr/>
          <p:nvPr/>
        </p:nvSpPr>
        <p:spPr>
          <a:xfrm>
            <a:off x="8138160" y="4507992"/>
            <a:ext cx="96012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8229600" y="4553712"/>
            <a:ext cx="77724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145" name="Rectangle 144"/>
          <p:cNvSpPr/>
          <p:nvPr/>
        </p:nvSpPr>
        <p:spPr>
          <a:xfrm>
            <a:off x="9098280" y="4507992"/>
            <a:ext cx="118872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9189720" y="4553712"/>
            <a:ext cx="100584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47" name="Rectangle 146"/>
          <p:cNvSpPr/>
          <p:nvPr/>
        </p:nvSpPr>
        <p:spPr>
          <a:xfrm>
            <a:off x="10287000" y="4507992"/>
            <a:ext cx="150876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10378440" y="4553712"/>
            <a:ext cx="132588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49" name="Rectangle 148"/>
          <p:cNvSpPr/>
          <p:nvPr/>
        </p:nvSpPr>
        <p:spPr>
          <a:xfrm>
            <a:off x="365760" y="4818888"/>
            <a:ext cx="329184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457200" y="4864607"/>
            <a:ext cx="3108960" cy="219456"/>
          </a:xfrm>
          <a:prstGeom prst="rect">
            <a:avLst/>
          </a:prstGeom>
          <a:noFill/>
        </p:spPr>
        <p:txBody>
          <a:bodyPr wrap="square" lIns="0" tIns="0" rIns="0" bIns="0" anchor="ctr">
            <a:spAutoFit/>
          </a:bodyPr>
          <a:lstStyle/>
          <a:p>
            <a:pPr algn="l"/>
            <a:r>
              <a:rPr sz="900" b="1">
                <a:solidFill>
                  <a:srgbClr val="0F172A"/>
                </a:solidFill>
                <a:latin typeface="Calibri"/>
              </a:rPr>
              <a:t>FSMB PDC continuous monitoring</a:t>
            </a:r>
          </a:p>
        </p:txBody>
      </p:sp>
      <p:sp>
        <p:nvSpPr>
          <p:cNvPr id="151" name="Rectangle 150"/>
          <p:cNvSpPr/>
          <p:nvPr/>
        </p:nvSpPr>
        <p:spPr>
          <a:xfrm>
            <a:off x="3657600" y="4818888"/>
            <a:ext cx="86868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3749039" y="4864607"/>
            <a:ext cx="6858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53" name="Rectangle 152"/>
          <p:cNvSpPr/>
          <p:nvPr/>
        </p:nvSpPr>
        <p:spPr>
          <a:xfrm>
            <a:off x="4526280" y="4818888"/>
            <a:ext cx="109728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4617720" y="4864607"/>
            <a:ext cx="91440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155" name="Rectangle 154"/>
          <p:cNvSpPr/>
          <p:nvPr/>
        </p:nvSpPr>
        <p:spPr>
          <a:xfrm>
            <a:off x="5623560" y="4818888"/>
            <a:ext cx="118872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5715000" y="4864607"/>
            <a:ext cx="100584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57" name="Rectangle 156"/>
          <p:cNvSpPr/>
          <p:nvPr/>
        </p:nvSpPr>
        <p:spPr>
          <a:xfrm>
            <a:off x="6812280" y="4818888"/>
            <a:ext cx="132588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6903720" y="4864607"/>
            <a:ext cx="11430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59" name="Rectangle 158"/>
          <p:cNvSpPr/>
          <p:nvPr/>
        </p:nvSpPr>
        <p:spPr>
          <a:xfrm>
            <a:off x="8138160" y="4818888"/>
            <a:ext cx="96012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8229600" y="4864607"/>
            <a:ext cx="77724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161" name="Rectangle 160"/>
          <p:cNvSpPr/>
          <p:nvPr/>
        </p:nvSpPr>
        <p:spPr>
          <a:xfrm>
            <a:off x="9098280" y="4818888"/>
            <a:ext cx="118872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9189720" y="4864607"/>
            <a:ext cx="100584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63" name="Rectangle 162"/>
          <p:cNvSpPr/>
          <p:nvPr/>
        </p:nvSpPr>
        <p:spPr>
          <a:xfrm>
            <a:off x="10287000" y="4818888"/>
            <a:ext cx="150876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10378440" y="4864607"/>
            <a:ext cx="132588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65" name="Rectangle 164"/>
          <p:cNvSpPr/>
          <p:nvPr/>
        </p:nvSpPr>
        <p:spPr>
          <a:xfrm>
            <a:off x="365760" y="5129783"/>
            <a:ext cx="329184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457200" y="5175503"/>
            <a:ext cx="3108960" cy="219456"/>
          </a:xfrm>
          <a:prstGeom prst="rect">
            <a:avLst/>
          </a:prstGeom>
          <a:noFill/>
        </p:spPr>
        <p:txBody>
          <a:bodyPr wrap="square" lIns="0" tIns="0" rIns="0" bIns="0" anchor="ctr">
            <a:spAutoFit/>
          </a:bodyPr>
          <a:lstStyle/>
          <a:p>
            <a:pPr algn="l"/>
            <a:r>
              <a:rPr sz="900" b="1">
                <a:solidFill>
                  <a:srgbClr val="0F172A"/>
                </a:solidFill>
                <a:latin typeface="Calibri"/>
              </a:rPr>
              <a:t>Auto-FPPE / OPPE workflow (JC NPG 12)</a:t>
            </a:r>
          </a:p>
        </p:txBody>
      </p:sp>
      <p:sp>
        <p:nvSpPr>
          <p:cNvPr id="167" name="Rectangle 166"/>
          <p:cNvSpPr/>
          <p:nvPr/>
        </p:nvSpPr>
        <p:spPr>
          <a:xfrm>
            <a:off x="3657600" y="5129783"/>
            <a:ext cx="86868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167"/>
          <p:cNvSpPr txBox="1"/>
          <p:nvPr/>
        </p:nvSpPr>
        <p:spPr>
          <a:xfrm>
            <a:off x="3749039" y="5175503"/>
            <a:ext cx="6858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69" name="Rectangle 168"/>
          <p:cNvSpPr/>
          <p:nvPr/>
        </p:nvSpPr>
        <p:spPr>
          <a:xfrm>
            <a:off x="4526280" y="5129783"/>
            <a:ext cx="109728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4617720" y="5175503"/>
            <a:ext cx="91440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71" name="Rectangle 170"/>
          <p:cNvSpPr/>
          <p:nvPr/>
        </p:nvSpPr>
        <p:spPr>
          <a:xfrm>
            <a:off x="5623560" y="5129783"/>
            <a:ext cx="118872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p:cNvSpPr txBox="1"/>
          <p:nvPr/>
        </p:nvSpPr>
        <p:spPr>
          <a:xfrm>
            <a:off x="5715000" y="5175503"/>
            <a:ext cx="100584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73" name="Rectangle 172"/>
          <p:cNvSpPr/>
          <p:nvPr/>
        </p:nvSpPr>
        <p:spPr>
          <a:xfrm>
            <a:off x="6812280" y="5129783"/>
            <a:ext cx="132588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TextBox 173"/>
          <p:cNvSpPr txBox="1"/>
          <p:nvPr/>
        </p:nvSpPr>
        <p:spPr>
          <a:xfrm>
            <a:off x="6903720" y="5175503"/>
            <a:ext cx="11430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75" name="Rectangle 174"/>
          <p:cNvSpPr/>
          <p:nvPr/>
        </p:nvSpPr>
        <p:spPr>
          <a:xfrm>
            <a:off x="8138160" y="5129783"/>
            <a:ext cx="96012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175"/>
          <p:cNvSpPr txBox="1"/>
          <p:nvPr/>
        </p:nvSpPr>
        <p:spPr>
          <a:xfrm>
            <a:off x="8229600" y="5175503"/>
            <a:ext cx="77724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177" name="Rectangle 176"/>
          <p:cNvSpPr/>
          <p:nvPr/>
        </p:nvSpPr>
        <p:spPr>
          <a:xfrm>
            <a:off x="9098280" y="5129783"/>
            <a:ext cx="118872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TextBox 177"/>
          <p:cNvSpPr txBox="1"/>
          <p:nvPr/>
        </p:nvSpPr>
        <p:spPr>
          <a:xfrm>
            <a:off x="9189720" y="5175503"/>
            <a:ext cx="100584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79" name="Rectangle 178"/>
          <p:cNvSpPr/>
          <p:nvPr/>
        </p:nvSpPr>
        <p:spPr>
          <a:xfrm>
            <a:off x="10287000" y="5129783"/>
            <a:ext cx="150876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179"/>
          <p:cNvSpPr txBox="1"/>
          <p:nvPr/>
        </p:nvSpPr>
        <p:spPr>
          <a:xfrm>
            <a:off x="10378440" y="5175503"/>
            <a:ext cx="132588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81" name="Rectangle 180"/>
          <p:cNvSpPr/>
          <p:nvPr/>
        </p:nvSpPr>
        <p:spPr>
          <a:xfrm>
            <a:off x="365760" y="5440680"/>
            <a:ext cx="329184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457200" y="5486400"/>
            <a:ext cx="3108960" cy="219456"/>
          </a:xfrm>
          <a:prstGeom prst="rect">
            <a:avLst/>
          </a:prstGeom>
          <a:noFill/>
        </p:spPr>
        <p:txBody>
          <a:bodyPr wrap="square" lIns="0" tIns="0" rIns="0" bIns="0" anchor="ctr">
            <a:spAutoFit/>
          </a:bodyPr>
          <a:lstStyle/>
          <a:p>
            <a:pPr algn="l"/>
            <a:r>
              <a:rPr sz="900" b="1">
                <a:solidFill>
                  <a:srgbClr val="0F172A"/>
                </a:solidFill>
                <a:latin typeface="Calibri"/>
              </a:rPr>
              <a:t>Peer-review minutes (confidential)</a:t>
            </a:r>
          </a:p>
        </p:txBody>
      </p:sp>
      <p:sp>
        <p:nvSpPr>
          <p:cNvPr id="183" name="Rectangle 182"/>
          <p:cNvSpPr/>
          <p:nvPr/>
        </p:nvSpPr>
        <p:spPr>
          <a:xfrm>
            <a:off x="3657600" y="5440680"/>
            <a:ext cx="86868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183"/>
          <p:cNvSpPr txBox="1"/>
          <p:nvPr/>
        </p:nvSpPr>
        <p:spPr>
          <a:xfrm>
            <a:off x="3749039" y="5486400"/>
            <a:ext cx="6858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85" name="Rectangle 184"/>
          <p:cNvSpPr/>
          <p:nvPr/>
        </p:nvSpPr>
        <p:spPr>
          <a:xfrm>
            <a:off x="4526280" y="5440680"/>
            <a:ext cx="109728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p:cNvSpPr txBox="1"/>
          <p:nvPr/>
        </p:nvSpPr>
        <p:spPr>
          <a:xfrm>
            <a:off x="4617720" y="5486400"/>
            <a:ext cx="91440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87" name="Rectangle 186"/>
          <p:cNvSpPr/>
          <p:nvPr/>
        </p:nvSpPr>
        <p:spPr>
          <a:xfrm>
            <a:off x="5623560" y="5440680"/>
            <a:ext cx="118872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TextBox 187"/>
          <p:cNvSpPr txBox="1"/>
          <p:nvPr/>
        </p:nvSpPr>
        <p:spPr>
          <a:xfrm>
            <a:off x="5715000" y="5486400"/>
            <a:ext cx="100584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89" name="Rectangle 188"/>
          <p:cNvSpPr/>
          <p:nvPr/>
        </p:nvSpPr>
        <p:spPr>
          <a:xfrm>
            <a:off x="6812280" y="5440680"/>
            <a:ext cx="132588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6903720" y="5486400"/>
            <a:ext cx="11430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91" name="Rectangle 190"/>
          <p:cNvSpPr/>
          <p:nvPr/>
        </p:nvSpPr>
        <p:spPr>
          <a:xfrm>
            <a:off x="8138160" y="5440680"/>
            <a:ext cx="96012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191"/>
          <p:cNvSpPr txBox="1"/>
          <p:nvPr/>
        </p:nvSpPr>
        <p:spPr>
          <a:xfrm>
            <a:off x="8229600" y="5486400"/>
            <a:ext cx="77724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193" name="Rectangle 192"/>
          <p:cNvSpPr/>
          <p:nvPr/>
        </p:nvSpPr>
        <p:spPr>
          <a:xfrm>
            <a:off x="9098280" y="5440680"/>
            <a:ext cx="118872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p:cNvSpPr txBox="1"/>
          <p:nvPr/>
        </p:nvSpPr>
        <p:spPr>
          <a:xfrm>
            <a:off x="9189720" y="5486400"/>
            <a:ext cx="100584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95" name="Rectangle 194"/>
          <p:cNvSpPr/>
          <p:nvPr/>
        </p:nvSpPr>
        <p:spPr>
          <a:xfrm>
            <a:off x="10287000" y="5440680"/>
            <a:ext cx="1508760" cy="3108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TextBox 195"/>
          <p:cNvSpPr txBox="1"/>
          <p:nvPr/>
        </p:nvSpPr>
        <p:spPr>
          <a:xfrm>
            <a:off x="10378440" y="5486400"/>
            <a:ext cx="132588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97" name="Rectangle 196"/>
          <p:cNvSpPr/>
          <p:nvPr/>
        </p:nvSpPr>
        <p:spPr>
          <a:xfrm>
            <a:off x="365760" y="5751576"/>
            <a:ext cx="329184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197"/>
          <p:cNvSpPr txBox="1"/>
          <p:nvPr/>
        </p:nvSpPr>
        <p:spPr>
          <a:xfrm>
            <a:off x="457200" y="5797296"/>
            <a:ext cx="3108960" cy="219456"/>
          </a:xfrm>
          <a:prstGeom prst="rect">
            <a:avLst/>
          </a:prstGeom>
          <a:noFill/>
        </p:spPr>
        <p:txBody>
          <a:bodyPr wrap="square" lIns="0" tIns="0" rIns="0" bIns="0" anchor="ctr">
            <a:spAutoFit/>
          </a:bodyPr>
          <a:lstStyle/>
          <a:p>
            <a:pPr algn="l"/>
            <a:r>
              <a:rPr sz="900" b="1">
                <a:solidFill>
                  <a:srgbClr val="0F172A"/>
                </a:solidFill>
                <a:latin typeface="Calibri"/>
              </a:rPr>
              <a:t>Committee session + auto agendas</a:t>
            </a:r>
          </a:p>
        </p:txBody>
      </p:sp>
      <p:sp>
        <p:nvSpPr>
          <p:cNvPr id="199" name="Rectangle 198"/>
          <p:cNvSpPr/>
          <p:nvPr/>
        </p:nvSpPr>
        <p:spPr>
          <a:xfrm>
            <a:off x="3657600" y="5751576"/>
            <a:ext cx="86868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TextBox 199"/>
          <p:cNvSpPr txBox="1"/>
          <p:nvPr/>
        </p:nvSpPr>
        <p:spPr>
          <a:xfrm>
            <a:off x="3749039" y="5797296"/>
            <a:ext cx="6858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201" name="Rectangle 200"/>
          <p:cNvSpPr/>
          <p:nvPr/>
        </p:nvSpPr>
        <p:spPr>
          <a:xfrm>
            <a:off x="4526280" y="5751576"/>
            <a:ext cx="109728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TextBox 201"/>
          <p:cNvSpPr txBox="1"/>
          <p:nvPr/>
        </p:nvSpPr>
        <p:spPr>
          <a:xfrm>
            <a:off x="4617720" y="5797296"/>
            <a:ext cx="9144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203" name="Rectangle 202"/>
          <p:cNvSpPr/>
          <p:nvPr/>
        </p:nvSpPr>
        <p:spPr>
          <a:xfrm>
            <a:off x="5623560" y="5751576"/>
            <a:ext cx="118872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TextBox 203"/>
          <p:cNvSpPr txBox="1"/>
          <p:nvPr/>
        </p:nvSpPr>
        <p:spPr>
          <a:xfrm>
            <a:off x="5715000" y="5797296"/>
            <a:ext cx="100584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205" name="Rectangle 204"/>
          <p:cNvSpPr/>
          <p:nvPr/>
        </p:nvSpPr>
        <p:spPr>
          <a:xfrm>
            <a:off x="6812280" y="5751576"/>
            <a:ext cx="132588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TextBox 205"/>
          <p:cNvSpPr txBox="1"/>
          <p:nvPr/>
        </p:nvSpPr>
        <p:spPr>
          <a:xfrm>
            <a:off x="6903720" y="5797296"/>
            <a:ext cx="114300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207" name="Rectangle 206"/>
          <p:cNvSpPr/>
          <p:nvPr/>
        </p:nvSpPr>
        <p:spPr>
          <a:xfrm>
            <a:off x="8138160" y="5751576"/>
            <a:ext cx="96012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207"/>
          <p:cNvSpPr txBox="1"/>
          <p:nvPr/>
        </p:nvSpPr>
        <p:spPr>
          <a:xfrm>
            <a:off x="8229600" y="5797296"/>
            <a:ext cx="777240" cy="219456"/>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209" name="Rectangle 208"/>
          <p:cNvSpPr/>
          <p:nvPr/>
        </p:nvSpPr>
        <p:spPr>
          <a:xfrm>
            <a:off x="9098280" y="5751576"/>
            <a:ext cx="118872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TextBox 209"/>
          <p:cNvSpPr txBox="1"/>
          <p:nvPr/>
        </p:nvSpPr>
        <p:spPr>
          <a:xfrm>
            <a:off x="9189720" y="5797296"/>
            <a:ext cx="1005840" cy="219456"/>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211" name="Rectangle 210"/>
          <p:cNvSpPr/>
          <p:nvPr/>
        </p:nvSpPr>
        <p:spPr>
          <a:xfrm>
            <a:off x="10287000" y="5751576"/>
            <a:ext cx="1508760" cy="310896"/>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TextBox 211"/>
          <p:cNvSpPr txBox="1"/>
          <p:nvPr/>
        </p:nvSpPr>
        <p:spPr>
          <a:xfrm>
            <a:off x="10378440" y="5797296"/>
            <a:ext cx="1325880" cy="219456"/>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213" name="TextBox 212"/>
          <p:cNvSpPr txBox="1"/>
          <p:nvPr/>
        </p:nvSpPr>
        <p:spPr>
          <a:xfrm>
            <a:off x="457200" y="6446520"/>
            <a:ext cx="5486400" cy="274320"/>
          </a:xfrm>
          <a:prstGeom prst="rect">
            <a:avLst/>
          </a:prstGeom>
          <a:noFill/>
        </p:spPr>
        <p:txBody>
          <a:bodyPr wrap="square" lIns="0" tIns="0" rIns="0" bIns="0" anchor="t">
            <a:spAutoFit/>
          </a:bodyPr>
          <a:lstStyle/>
          <a:p>
            <a:pPr algn="l"/>
            <a:r>
              <a:rPr sz="900" b="0">
                <a:solidFill>
                  <a:srgbClr val="475569"/>
                </a:solidFill>
                <a:latin typeface="Calibri"/>
              </a:rPr>
              <a:t>ESSEN Credentialing Platform</a:t>
            </a:r>
          </a:p>
        </p:txBody>
      </p:sp>
      <p:sp>
        <p:nvSpPr>
          <p:cNvPr id="214" name="TextBox 213"/>
          <p:cNvSpPr txBox="1"/>
          <p:nvPr/>
        </p:nvSpPr>
        <p:spPr>
          <a:xfrm>
            <a:off x="10058400" y="6446520"/>
            <a:ext cx="1554480" cy="274320"/>
          </a:xfrm>
          <a:prstGeom prst="rect">
            <a:avLst/>
          </a:prstGeom>
          <a:noFill/>
        </p:spPr>
        <p:txBody>
          <a:bodyPr wrap="square" lIns="0" tIns="0" rIns="0" bIns="0" anchor="t">
            <a:spAutoFit/>
          </a:bodyPr>
          <a:lstStyle/>
          <a:p>
            <a:pPr algn="r"/>
            <a:r>
              <a:rPr sz="900" b="1">
                <a:solidFill>
                  <a:srgbClr val="00A3E0"/>
                </a:solidFill>
                <a:latin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430000" cy="274320"/>
          </a:xfrm>
          <a:prstGeom prst="rect">
            <a:avLst/>
          </a:prstGeom>
          <a:noFill/>
        </p:spPr>
        <p:txBody>
          <a:bodyPr wrap="square" lIns="0" tIns="0" rIns="0" bIns="0" anchor="t">
            <a:spAutoFit/>
          </a:bodyPr>
          <a:lstStyle/>
          <a:p>
            <a:pPr algn="l"/>
            <a:r>
              <a:rPr sz="1100" b="1">
                <a:solidFill>
                  <a:srgbClr val="00A3E0"/>
                </a:solidFill>
                <a:latin typeface="Calibri"/>
              </a:rPr>
              <a:t>FEATURE COMPARISON — 2 OF 2</a:t>
            </a:r>
          </a:p>
        </p:txBody>
      </p:sp>
      <p:sp>
        <p:nvSpPr>
          <p:cNvPr id="3" name="TextBox 2"/>
          <p:cNvSpPr txBox="1"/>
          <p:nvPr/>
        </p:nvSpPr>
        <p:spPr>
          <a:xfrm>
            <a:off x="457200" y="594360"/>
            <a:ext cx="11430000" cy="594360"/>
          </a:xfrm>
          <a:prstGeom prst="rect">
            <a:avLst/>
          </a:prstGeom>
          <a:noFill/>
        </p:spPr>
        <p:txBody>
          <a:bodyPr wrap="square" lIns="0" tIns="0" rIns="0" bIns="0" anchor="t">
            <a:spAutoFit/>
          </a:bodyPr>
          <a:lstStyle/>
          <a:p>
            <a:pPr algn="l"/>
            <a:r>
              <a:rPr sz="2800" b="1">
                <a:solidFill>
                  <a:srgbClr val="0F172A"/>
                </a:solidFill>
                <a:latin typeface="Calibri"/>
              </a:rPr>
              <a:t>Capability Grid (cont.) + Commercial</a:t>
            </a:r>
          </a:p>
        </p:txBody>
      </p:sp>
      <p:sp>
        <p:nvSpPr>
          <p:cNvPr id="4" name="TextBox 3"/>
          <p:cNvSpPr txBox="1"/>
          <p:nvPr/>
        </p:nvSpPr>
        <p:spPr>
          <a:xfrm>
            <a:off x="457200" y="1188720"/>
            <a:ext cx="11430000" cy="411480"/>
          </a:xfrm>
          <a:prstGeom prst="rect">
            <a:avLst/>
          </a:prstGeom>
          <a:noFill/>
        </p:spPr>
        <p:txBody>
          <a:bodyPr wrap="square" lIns="0" tIns="0" rIns="0" bIns="0" anchor="t">
            <a:spAutoFit/>
          </a:bodyPr>
          <a:lstStyle/>
          <a:p>
            <a:pPr algn="l"/>
            <a:r>
              <a:rPr sz="1400" b="0">
                <a:solidFill>
                  <a:srgbClr val="475569"/>
                </a:solidFill>
                <a:latin typeface="Calibri"/>
              </a:rPr>
              <a:t>Continued from previous slide. Same legend.</a:t>
            </a:r>
          </a:p>
        </p:txBody>
      </p:sp>
      <p:sp>
        <p:nvSpPr>
          <p:cNvPr id="5" name="Rectangle 4"/>
          <p:cNvSpPr/>
          <p:nvPr/>
        </p:nvSpPr>
        <p:spPr>
          <a:xfrm>
            <a:off x="365760" y="1828800"/>
            <a:ext cx="329184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920240"/>
            <a:ext cx="3108960" cy="320040"/>
          </a:xfrm>
          <a:prstGeom prst="rect">
            <a:avLst/>
          </a:prstGeom>
          <a:noFill/>
        </p:spPr>
        <p:txBody>
          <a:bodyPr wrap="square" lIns="0" tIns="0" rIns="0" bIns="0" anchor="ctr">
            <a:spAutoFit/>
          </a:bodyPr>
          <a:lstStyle/>
          <a:p>
            <a:pPr algn="l"/>
            <a:r>
              <a:rPr sz="1000" b="1">
                <a:solidFill>
                  <a:srgbClr val="FFFFFF"/>
                </a:solidFill>
                <a:latin typeface="Calibri"/>
              </a:rPr>
              <a:t>Capability</a:t>
            </a:r>
          </a:p>
        </p:txBody>
      </p:sp>
      <p:sp>
        <p:nvSpPr>
          <p:cNvPr id="7" name="Rectangle 6"/>
          <p:cNvSpPr/>
          <p:nvPr/>
        </p:nvSpPr>
        <p:spPr>
          <a:xfrm>
            <a:off x="3657600" y="1828800"/>
            <a:ext cx="86868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749039" y="1920240"/>
            <a:ext cx="685800" cy="320040"/>
          </a:xfrm>
          <a:prstGeom prst="rect">
            <a:avLst/>
          </a:prstGeom>
          <a:noFill/>
        </p:spPr>
        <p:txBody>
          <a:bodyPr wrap="square" lIns="0" tIns="0" rIns="0" bIns="0" anchor="ctr">
            <a:spAutoFit/>
          </a:bodyPr>
          <a:lstStyle/>
          <a:p>
            <a:pPr algn="l"/>
            <a:r>
              <a:rPr sz="1000" b="1">
                <a:solidFill>
                  <a:srgbClr val="FFFFFF"/>
                </a:solidFill>
                <a:latin typeface="Calibri"/>
              </a:rPr>
              <a:t>ESSEN</a:t>
            </a:r>
          </a:p>
        </p:txBody>
      </p:sp>
      <p:sp>
        <p:nvSpPr>
          <p:cNvPr id="9" name="Rectangle 8"/>
          <p:cNvSpPr/>
          <p:nvPr/>
        </p:nvSpPr>
        <p:spPr>
          <a:xfrm>
            <a:off x="4526280" y="1828800"/>
            <a:ext cx="109728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17720" y="1920240"/>
            <a:ext cx="914400" cy="320040"/>
          </a:xfrm>
          <a:prstGeom prst="rect">
            <a:avLst/>
          </a:prstGeom>
          <a:noFill/>
        </p:spPr>
        <p:txBody>
          <a:bodyPr wrap="square" lIns="0" tIns="0" rIns="0" bIns="0" anchor="ctr">
            <a:spAutoFit/>
          </a:bodyPr>
          <a:lstStyle/>
          <a:p>
            <a:pPr algn="l"/>
            <a:r>
              <a:rPr sz="1000" b="1">
                <a:solidFill>
                  <a:srgbClr val="FFFFFF"/>
                </a:solidFill>
                <a:latin typeface="Calibri"/>
              </a:rPr>
              <a:t>Medallion</a:t>
            </a:r>
          </a:p>
        </p:txBody>
      </p:sp>
      <p:sp>
        <p:nvSpPr>
          <p:cNvPr id="11" name="Rectangle 10"/>
          <p:cNvSpPr/>
          <p:nvPr/>
        </p:nvSpPr>
        <p:spPr>
          <a:xfrm>
            <a:off x="5623560" y="1828800"/>
            <a:ext cx="118872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15000" y="1920240"/>
            <a:ext cx="1005840" cy="320040"/>
          </a:xfrm>
          <a:prstGeom prst="rect">
            <a:avLst/>
          </a:prstGeom>
          <a:noFill/>
        </p:spPr>
        <p:txBody>
          <a:bodyPr wrap="square" lIns="0" tIns="0" rIns="0" bIns="0" anchor="ctr">
            <a:spAutoFit/>
          </a:bodyPr>
          <a:lstStyle/>
          <a:p>
            <a:pPr algn="l"/>
            <a:r>
              <a:rPr sz="1000" b="1">
                <a:solidFill>
                  <a:srgbClr val="FFFFFF"/>
                </a:solidFill>
                <a:latin typeface="Calibri"/>
              </a:rPr>
              <a:t>symplr Cred</a:t>
            </a:r>
          </a:p>
        </p:txBody>
      </p:sp>
      <p:sp>
        <p:nvSpPr>
          <p:cNvPr id="13" name="Rectangle 12"/>
          <p:cNvSpPr/>
          <p:nvPr/>
        </p:nvSpPr>
        <p:spPr>
          <a:xfrm>
            <a:off x="6812280" y="1828800"/>
            <a:ext cx="132588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03720" y="1920240"/>
            <a:ext cx="1143000" cy="320040"/>
          </a:xfrm>
          <a:prstGeom prst="rect">
            <a:avLst/>
          </a:prstGeom>
          <a:noFill/>
        </p:spPr>
        <p:txBody>
          <a:bodyPr wrap="square" lIns="0" tIns="0" rIns="0" bIns="0" anchor="ctr">
            <a:spAutoFit/>
          </a:bodyPr>
          <a:lstStyle/>
          <a:p>
            <a:pPr algn="l"/>
            <a:r>
              <a:rPr sz="1000" b="1">
                <a:solidFill>
                  <a:srgbClr val="FFFFFF"/>
                </a:solidFill>
                <a:latin typeface="Calibri"/>
              </a:rPr>
              <a:t>VerityStream</a:t>
            </a:r>
          </a:p>
        </p:txBody>
      </p:sp>
      <p:sp>
        <p:nvSpPr>
          <p:cNvPr id="15" name="Rectangle 14"/>
          <p:cNvSpPr/>
          <p:nvPr/>
        </p:nvSpPr>
        <p:spPr>
          <a:xfrm>
            <a:off x="8138160" y="1828800"/>
            <a:ext cx="96012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0" y="1920240"/>
            <a:ext cx="777240" cy="320040"/>
          </a:xfrm>
          <a:prstGeom prst="rect">
            <a:avLst/>
          </a:prstGeom>
          <a:noFill/>
        </p:spPr>
        <p:txBody>
          <a:bodyPr wrap="square" lIns="0" tIns="0" rIns="0" bIns="0" anchor="ctr">
            <a:spAutoFit/>
          </a:bodyPr>
          <a:lstStyle/>
          <a:p>
            <a:pPr algn="l"/>
            <a:r>
              <a:rPr sz="1000" b="1">
                <a:solidFill>
                  <a:srgbClr val="FFFFFF"/>
                </a:solidFill>
                <a:latin typeface="Calibri"/>
              </a:rPr>
              <a:t>Modio</a:t>
            </a:r>
          </a:p>
        </p:txBody>
      </p:sp>
      <p:sp>
        <p:nvSpPr>
          <p:cNvPr id="17" name="Rectangle 16"/>
          <p:cNvSpPr/>
          <p:nvPr/>
        </p:nvSpPr>
        <p:spPr>
          <a:xfrm>
            <a:off x="9098280" y="1828800"/>
            <a:ext cx="118872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89720" y="1920240"/>
            <a:ext cx="1005840" cy="320040"/>
          </a:xfrm>
          <a:prstGeom prst="rect">
            <a:avLst/>
          </a:prstGeom>
          <a:noFill/>
        </p:spPr>
        <p:txBody>
          <a:bodyPr wrap="square" lIns="0" tIns="0" rIns="0" bIns="0" anchor="ctr">
            <a:spAutoFit/>
          </a:bodyPr>
          <a:lstStyle/>
          <a:p>
            <a:pPr algn="l"/>
            <a:r>
              <a:rPr sz="1000" b="1">
                <a:solidFill>
                  <a:srgbClr val="FFFFFF"/>
                </a:solidFill>
                <a:latin typeface="Calibri"/>
              </a:rPr>
              <a:t>Verifiable</a:t>
            </a:r>
          </a:p>
        </p:txBody>
      </p:sp>
      <p:sp>
        <p:nvSpPr>
          <p:cNvPr id="19" name="Rectangle 18"/>
          <p:cNvSpPr/>
          <p:nvPr/>
        </p:nvSpPr>
        <p:spPr>
          <a:xfrm>
            <a:off x="10287000" y="1828800"/>
            <a:ext cx="150876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378440" y="1920240"/>
            <a:ext cx="1325880" cy="320040"/>
          </a:xfrm>
          <a:prstGeom prst="rect">
            <a:avLst/>
          </a:prstGeom>
          <a:noFill/>
        </p:spPr>
        <p:txBody>
          <a:bodyPr wrap="square" lIns="0" tIns="0" rIns="0" bIns="0" anchor="ctr">
            <a:spAutoFit/>
          </a:bodyPr>
          <a:lstStyle/>
          <a:p>
            <a:pPr algn="l"/>
            <a:r>
              <a:rPr sz="1000" b="1">
                <a:solidFill>
                  <a:srgbClr val="FFFFFF"/>
                </a:solidFill>
                <a:latin typeface="Calibri"/>
              </a:rPr>
              <a:t>PARCS</a:t>
            </a:r>
          </a:p>
        </p:txBody>
      </p:sp>
      <p:sp>
        <p:nvSpPr>
          <p:cNvPr id="21" name="Rectangle 20"/>
          <p:cNvSpPr/>
          <p:nvPr/>
        </p:nvSpPr>
        <p:spPr>
          <a:xfrm>
            <a:off x="365760" y="2331720"/>
            <a:ext cx="329184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2377439"/>
            <a:ext cx="3108960" cy="201168"/>
          </a:xfrm>
          <a:prstGeom prst="rect">
            <a:avLst/>
          </a:prstGeom>
          <a:noFill/>
        </p:spPr>
        <p:txBody>
          <a:bodyPr wrap="square" lIns="0" tIns="0" rIns="0" bIns="0" anchor="ctr">
            <a:spAutoFit/>
          </a:bodyPr>
          <a:lstStyle/>
          <a:p>
            <a:pPr algn="l"/>
            <a:r>
              <a:rPr sz="900" b="1">
                <a:solidFill>
                  <a:srgbClr val="0F172A"/>
                </a:solidFill>
                <a:latin typeface="Calibri"/>
              </a:rPr>
              <a:t>Payer enrollment workflow</a:t>
            </a:r>
          </a:p>
        </p:txBody>
      </p:sp>
      <p:sp>
        <p:nvSpPr>
          <p:cNvPr id="23" name="Rectangle 22"/>
          <p:cNvSpPr/>
          <p:nvPr/>
        </p:nvSpPr>
        <p:spPr>
          <a:xfrm>
            <a:off x="3657600" y="2331720"/>
            <a:ext cx="8686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749039" y="2377439"/>
            <a:ext cx="6858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25" name="Rectangle 24"/>
          <p:cNvSpPr/>
          <p:nvPr/>
        </p:nvSpPr>
        <p:spPr>
          <a:xfrm>
            <a:off x="4526280" y="2331720"/>
            <a:ext cx="10972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17720" y="2377439"/>
            <a:ext cx="9144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27" name="Rectangle 26"/>
          <p:cNvSpPr/>
          <p:nvPr/>
        </p:nvSpPr>
        <p:spPr>
          <a:xfrm>
            <a:off x="5623560" y="2331720"/>
            <a:ext cx="11887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715000" y="2377439"/>
            <a:ext cx="100584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29" name="Rectangle 28"/>
          <p:cNvSpPr/>
          <p:nvPr/>
        </p:nvSpPr>
        <p:spPr>
          <a:xfrm>
            <a:off x="6812280" y="2331720"/>
            <a:ext cx="13258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03720" y="2377439"/>
            <a:ext cx="11430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31" name="Rectangle 30"/>
          <p:cNvSpPr/>
          <p:nvPr/>
        </p:nvSpPr>
        <p:spPr>
          <a:xfrm>
            <a:off x="8138160" y="2331720"/>
            <a:ext cx="9601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29600" y="2377439"/>
            <a:ext cx="77724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33" name="Rectangle 32"/>
          <p:cNvSpPr/>
          <p:nvPr/>
        </p:nvSpPr>
        <p:spPr>
          <a:xfrm>
            <a:off x="9098280" y="2331720"/>
            <a:ext cx="11887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189720" y="2377439"/>
            <a:ext cx="10058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35" name="Rectangle 34"/>
          <p:cNvSpPr/>
          <p:nvPr/>
        </p:nvSpPr>
        <p:spPr>
          <a:xfrm>
            <a:off x="10287000" y="2331720"/>
            <a:ext cx="150876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378440" y="2377439"/>
            <a:ext cx="132588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37" name="Rectangle 36"/>
          <p:cNvSpPr/>
          <p:nvPr/>
        </p:nvSpPr>
        <p:spPr>
          <a:xfrm>
            <a:off x="365760" y="2624327"/>
            <a:ext cx="329184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57200" y="2670047"/>
            <a:ext cx="3108960" cy="201168"/>
          </a:xfrm>
          <a:prstGeom prst="rect">
            <a:avLst/>
          </a:prstGeom>
          <a:noFill/>
        </p:spPr>
        <p:txBody>
          <a:bodyPr wrap="square" lIns="0" tIns="0" rIns="0" bIns="0" anchor="ctr">
            <a:spAutoFit/>
          </a:bodyPr>
          <a:lstStyle/>
          <a:p>
            <a:pPr algn="l"/>
            <a:r>
              <a:rPr sz="900" b="1">
                <a:solidFill>
                  <a:srgbClr val="0F172A"/>
                </a:solidFill>
                <a:latin typeface="Calibri"/>
              </a:rPr>
              <a:t>Real SFTP roster delivery + ACK polling</a:t>
            </a:r>
          </a:p>
        </p:txBody>
      </p:sp>
      <p:sp>
        <p:nvSpPr>
          <p:cNvPr id="39" name="Rectangle 38"/>
          <p:cNvSpPr/>
          <p:nvPr/>
        </p:nvSpPr>
        <p:spPr>
          <a:xfrm>
            <a:off x="3657600" y="2624327"/>
            <a:ext cx="8686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749039" y="2670047"/>
            <a:ext cx="6858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41" name="Rectangle 40"/>
          <p:cNvSpPr/>
          <p:nvPr/>
        </p:nvSpPr>
        <p:spPr>
          <a:xfrm>
            <a:off x="4526280" y="2624327"/>
            <a:ext cx="10972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17720" y="2670047"/>
            <a:ext cx="9144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43" name="Rectangle 42"/>
          <p:cNvSpPr/>
          <p:nvPr/>
        </p:nvSpPr>
        <p:spPr>
          <a:xfrm>
            <a:off x="5623560" y="2624327"/>
            <a:ext cx="11887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715000" y="2670047"/>
            <a:ext cx="100584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45" name="Rectangle 44"/>
          <p:cNvSpPr/>
          <p:nvPr/>
        </p:nvSpPr>
        <p:spPr>
          <a:xfrm>
            <a:off x="6812280" y="2624327"/>
            <a:ext cx="13258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903720" y="2670047"/>
            <a:ext cx="11430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47" name="Rectangle 46"/>
          <p:cNvSpPr/>
          <p:nvPr/>
        </p:nvSpPr>
        <p:spPr>
          <a:xfrm>
            <a:off x="8138160" y="2624327"/>
            <a:ext cx="9601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29600" y="2670047"/>
            <a:ext cx="77724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49" name="Rectangle 48"/>
          <p:cNvSpPr/>
          <p:nvPr/>
        </p:nvSpPr>
        <p:spPr>
          <a:xfrm>
            <a:off x="9098280" y="2624327"/>
            <a:ext cx="11887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189720" y="2670047"/>
            <a:ext cx="10058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51" name="Rectangle 50"/>
          <p:cNvSpPr/>
          <p:nvPr/>
        </p:nvSpPr>
        <p:spPr>
          <a:xfrm>
            <a:off x="10287000" y="2624327"/>
            <a:ext cx="150876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378440" y="2670047"/>
            <a:ext cx="132588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53" name="Rectangle 52"/>
          <p:cNvSpPr/>
          <p:nvPr/>
        </p:nvSpPr>
        <p:spPr>
          <a:xfrm>
            <a:off x="365760" y="2916936"/>
            <a:ext cx="329184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57200" y="2962656"/>
            <a:ext cx="3108960" cy="201168"/>
          </a:xfrm>
          <a:prstGeom prst="rect">
            <a:avLst/>
          </a:prstGeom>
          <a:noFill/>
        </p:spPr>
        <p:txBody>
          <a:bodyPr wrap="square" lIns="0" tIns="0" rIns="0" bIns="0" anchor="ctr">
            <a:spAutoFit/>
          </a:bodyPr>
          <a:lstStyle/>
          <a:p>
            <a:pPr algn="l"/>
            <a:r>
              <a:rPr sz="900" b="1">
                <a:solidFill>
                  <a:srgbClr val="0F172A"/>
                </a:solidFill>
                <a:latin typeface="Calibri"/>
              </a:rPr>
              <a:t>CAQH ProView 2026 active-site sync</a:t>
            </a:r>
          </a:p>
        </p:txBody>
      </p:sp>
      <p:sp>
        <p:nvSpPr>
          <p:cNvPr id="55" name="Rectangle 54"/>
          <p:cNvSpPr/>
          <p:nvPr/>
        </p:nvSpPr>
        <p:spPr>
          <a:xfrm>
            <a:off x="3657600" y="2916936"/>
            <a:ext cx="8686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749039" y="2962656"/>
            <a:ext cx="6858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57" name="Rectangle 56"/>
          <p:cNvSpPr/>
          <p:nvPr/>
        </p:nvSpPr>
        <p:spPr>
          <a:xfrm>
            <a:off x="4526280" y="2916936"/>
            <a:ext cx="10972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617720" y="2962656"/>
            <a:ext cx="9144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59" name="Rectangle 58"/>
          <p:cNvSpPr/>
          <p:nvPr/>
        </p:nvSpPr>
        <p:spPr>
          <a:xfrm>
            <a:off x="5623560" y="2916936"/>
            <a:ext cx="11887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715000" y="2962656"/>
            <a:ext cx="100584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61" name="Rectangle 60"/>
          <p:cNvSpPr/>
          <p:nvPr/>
        </p:nvSpPr>
        <p:spPr>
          <a:xfrm>
            <a:off x="6812280" y="2916936"/>
            <a:ext cx="13258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903720" y="2962656"/>
            <a:ext cx="11430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63" name="Rectangle 62"/>
          <p:cNvSpPr/>
          <p:nvPr/>
        </p:nvSpPr>
        <p:spPr>
          <a:xfrm>
            <a:off x="8138160" y="2916936"/>
            <a:ext cx="9601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229600" y="2962656"/>
            <a:ext cx="77724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65" name="Rectangle 64"/>
          <p:cNvSpPr/>
          <p:nvPr/>
        </p:nvSpPr>
        <p:spPr>
          <a:xfrm>
            <a:off x="9098280" y="2916936"/>
            <a:ext cx="11887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189720" y="2962656"/>
            <a:ext cx="100584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67" name="Rectangle 66"/>
          <p:cNvSpPr/>
          <p:nvPr/>
        </p:nvSpPr>
        <p:spPr>
          <a:xfrm>
            <a:off x="10287000" y="2916936"/>
            <a:ext cx="150876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0378440" y="2962656"/>
            <a:ext cx="132588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69" name="Rectangle 68"/>
          <p:cNvSpPr/>
          <p:nvPr/>
        </p:nvSpPr>
        <p:spPr>
          <a:xfrm>
            <a:off x="365760" y="3209544"/>
            <a:ext cx="329184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57200" y="3255263"/>
            <a:ext cx="3108960" cy="201168"/>
          </a:xfrm>
          <a:prstGeom prst="rect">
            <a:avLst/>
          </a:prstGeom>
          <a:noFill/>
        </p:spPr>
        <p:txBody>
          <a:bodyPr wrap="square" lIns="0" tIns="0" rIns="0" bIns="0" anchor="ctr">
            <a:spAutoFit/>
          </a:bodyPr>
          <a:lstStyle/>
          <a:p>
            <a:pPr algn="l"/>
            <a:r>
              <a:rPr sz="900" b="1">
                <a:solidFill>
                  <a:srgbClr val="0F172A"/>
                </a:solidFill>
                <a:latin typeface="Calibri"/>
              </a:rPr>
              <a:t>Telehealth IMLC + platform certs</a:t>
            </a:r>
          </a:p>
        </p:txBody>
      </p:sp>
      <p:sp>
        <p:nvSpPr>
          <p:cNvPr id="71" name="Rectangle 70"/>
          <p:cNvSpPr/>
          <p:nvPr/>
        </p:nvSpPr>
        <p:spPr>
          <a:xfrm>
            <a:off x="3657600" y="3209544"/>
            <a:ext cx="8686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3749039" y="3255263"/>
            <a:ext cx="6858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73" name="Rectangle 72"/>
          <p:cNvSpPr/>
          <p:nvPr/>
        </p:nvSpPr>
        <p:spPr>
          <a:xfrm>
            <a:off x="4526280" y="3209544"/>
            <a:ext cx="10972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4617720" y="3255263"/>
            <a:ext cx="91440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75" name="Rectangle 74"/>
          <p:cNvSpPr/>
          <p:nvPr/>
        </p:nvSpPr>
        <p:spPr>
          <a:xfrm>
            <a:off x="5623560" y="3209544"/>
            <a:ext cx="11887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5715000" y="3255263"/>
            <a:ext cx="100584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77" name="Rectangle 76"/>
          <p:cNvSpPr/>
          <p:nvPr/>
        </p:nvSpPr>
        <p:spPr>
          <a:xfrm>
            <a:off x="6812280" y="3209544"/>
            <a:ext cx="13258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903720" y="3255263"/>
            <a:ext cx="114300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79" name="Rectangle 78"/>
          <p:cNvSpPr/>
          <p:nvPr/>
        </p:nvSpPr>
        <p:spPr>
          <a:xfrm>
            <a:off x="8138160" y="3209544"/>
            <a:ext cx="9601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229600" y="3255263"/>
            <a:ext cx="77724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81" name="Rectangle 80"/>
          <p:cNvSpPr/>
          <p:nvPr/>
        </p:nvSpPr>
        <p:spPr>
          <a:xfrm>
            <a:off x="9098280" y="3209544"/>
            <a:ext cx="11887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9189720" y="3255263"/>
            <a:ext cx="10058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83" name="Rectangle 82"/>
          <p:cNvSpPr/>
          <p:nvPr/>
        </p:nvSpPr>
        <p:spPr>
          <a:xfrm>
            <a:off x="10287000" y="3209544"/>
            <a:ext cx="150876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10378440" y="3255263"/>
            <a:ext cx="132588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85" name="Rectangle 84"/>
          <p:cNvSpPr/>
          <p:nvPr/>
        </p:nvSpPr>
        <p:spPr>
          <a:xfrm>
            <a:off x="365760" y="3502152"/>
            <a:ext cx="329184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457200" y="3547872"/>
            <a:ext cx="3108960" cy="201168"/>
          </a:xfrm>
          <a:prstGeom prst="rect">
            <a:avLst/>
          </a:prstGeom>
          <a:noFill/>
        </p:spPr>
        <p:txBody>
          <a:bodyPr wrap="square" lIns="0" tIns="0" rIns="0" bIns="0" anchor="ctr">
            <a:spAutoFit/>
          </a:bodyPr>
          <a:lstStyle/>
          <a:p>
            <a:pPr algn="l"/>
            <a:r>
              <a:rPr sz="900" b="1">
                <a:solidFill>
                  <a:srgbClr val="0F172A"/>
                </a:solidFill>
                <a:latin typeface="Calibri"/>
              </a:rPr>
              <a:t>Behavioral-health specialty path (NUCC)</a:t>
            </a:r>
          </a:p>
        </p:txBody>
      </p:sp>
      <p:sp>
        <p:nvSpPr>
          <p:cNvPr id="87" name="Rectangle 86"/>
          <p:cNvSpPr/>
          <p:nvPr/>
        </p:nvSpPr>
        <p:spPr>
          <a:xfrm>
            <a:off x="3657600" y="3502152"/>
            <a:ext cx="8686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3749039" y="3547872"/>
            <a:ext cx="6858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89" name="Rectangle 88"/>
          <p:cNvSpPr/>
          <p:nvPr/>
        </p:nvSpPr>
        <p:spPr>
          <a:xfrm>
            <a:off x="4526280" y="3502152"/>
            <a:ext cx="10972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4617720" y="3547872"/>
            <a:ext cx="91440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91" name="Rectangle 90"/>
          <p:cNvSpPr/>
          <p:nvPr/>
        </p:nvSpPr>
        <p:spPr>
          <a:xfrm>
            <a:off x="5623560" y="3502152"/>
            <a:ext cx="11887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5715000" y="3547872"/>
            <a:ext cx="100584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93" name="Rectangle 92"/>
          <p:cNvSpPr/>
          <p:nvPr/>
        </p:nvSpPr>
        <p:spPr>
          <a:xfrm>
            <a:off x="6812280" y="3502152"/>
            <a:ext cx="13258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6903720" y="3547872"/>
            <a:ext cx="11430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95" name="Rectangle 94"/>
          <p:cNvSpPr/>
          <p:nvPr/>
        </p:nvSpPr>
        <p:spPr>
          <a:xfrm>
            <a:off x="8138160" y="3502152"/>
            <a:ext cx="9601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8229600" y="3547872"/>
            <a:ext cx="77724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97" name="Rectangle 96"/>
          <p:cNvSpPr/>
          <p:nvPr/>
        </p:nvSpPr>
        <p:spPr>
          <a:xfrm>
            <a:off x="9098280" y="3502152"/>
            <a:ext cx="11887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9189720" y="3547872"/>
            <a:ext cx="10058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99" name="Rectangle 98"/>
          <p:cNvSpPr/>
          <p:nvPr/>
        </p:nvSpPr>
        <p:spPr>
          <a:xfrm>
            <a:off x="10287000" y="3502152"/>
            <a:ext cx="150876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10378440" y="3547872"/>
            <a:ext cx="132588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01" name="Rectangle 100"/>
          <p:cNvSpPr/>
          <p:nvPr/>
        </p:nvSpPr>
        <p:spPr>
          <a:xfrm>
            <a:off x="365760" y="3794760"/>
            <a:ext cx="329184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457200" y="3840480"/>
            <a:ext cx="3108960" cy="201168"/>
          </a:xfrm>
          <a:prstGeom prst="rect">
            <a:avLst/>
          </a:prstGeom>
          <a:noFill/>
        </p:spPr>
        <p:txBody>
          <a:bodyPr wrap="square" lIns="0" tIns="0" rIns="0" bIns="0" anchor="ctr">
            <a:spAutoFit/>
          </a:bodyPr>
          <a:lstStyle/>
          <a:p>
            <a:pPr algn="l"/>
            <a:r>
              <a:rPr sz="900" b="1">
                <a:solidFill>
                  <a:srgbClr val="0F172A"/>
                </a:solidFill>
                <a:latin typeface="Calibri"/>
              </a:rPr>
              <a:t>FHIR R4 Provider Directory (CMS-0057-F)</a:t>
            </a:r>
          </a:p>
        </p:txBody>
      </p:sp>
      <p:sp>
        <p:nvSpPr>
          <p:cNvPr id="103" name="Rectangle 102"/>
          <p:cNvSpPr/>
          <p:nvPr/>
        </p:nvSpPr>
        <p:spPr>
          <a:xfrm>
            <a:off x="3657600" y="3794760"/>
            <a:ext cx="8686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3749039" y="3840480"/>
            <a:ext cx="6858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05" name="Rectangle 104"/>
          <p:cNvSpPr/>
          <p:nvPr/>
        </p:nvSpPr>
        <p:spPr>
          <a:xfrm>
            <a:off x="4526280" y="3794760"/>
            <a:ext cx="10972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4617720" y="3840480"/>
            <a:ext cx="91440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107" name="Rectangle 106"/>
          <p:cNvSpPr/>
          <p:nvPr/>
        </p:nvSpPr>
        <p:spPr>
          <a:xfrm>
            <a:off x="5623560" y="3794760"/>
            <a:ext cx="11887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5715000" y="3840480"/>
            <a:ext cx="100584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109" name="Rectangle 108"/>
          <p:cNvSpPr/>
          <p:nvPr/>
        </p:nvSpPr>
        <p:spPr>
          <a:xfrm>
            <a:off x="6812280" y="3794760"/>
            <a:ext cx="13258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6903720" y="3840480"/>
            <a:ext cx="114300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111" name="Rectangle 110"/>
          <p:cNvSpPr/>
          <p:nvPr/>
        </p:nvSpPr>
        <p:spPr>
          <a:xfrm>
            <a:off x="8138160" y="3794760"/>
            <a:ext cx="9601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8229600" y="3840480"/>
            <a:ext cx="7772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13" name="Rectangle 112"/>
          <p:cNvSpPr/>
          <p:nvPr/>
        </p:nvSpPr>
        <p:spPr>
          <a:xfrm>
            <a:off x="9098280" y="3794760"/>
            <a:ext cx="11887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9189720" y="3840480"/>
            <a:ext cx="10058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15" name="Rectangle 114"/>
          <p:cNvSpPr/>
          <p:nvPr/>
        </p:nvSpPr>
        <p:spPr>
          <a:xfrm>
            <a:off x="10287000" y="3794760"/>
            <a:ext cx="150876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10378440" y="3840480"/>
            <a:ext cx="132588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17" name="Rectangle 116"/>
          <p:cNvSpPr/>
          <p:nvPr/>
        </p:nvSpPr>
        <p:spPr>
          <a:xfrm>
            <a:off x="365760" y="4087368"/>
            <a:ext cx="329184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457200" y="4133087"/>
            <a:ext cx="3108960" cy="201168"/>
          </a:xfrm>
          <a:prstGeom prst="rect">
            <a:avLst/>
          </a:prstGeom>
          <a:noFill/>
        </p:spPr>
        <p:txBody>
          <a:bodyPr wrap="square" lIns="0" tIns="0" rIns="0" bIns="0" anchor="ctr">
            <a:spAutoFit/>
          </a:bodyPr>
          <a:lstStyle/>
          <a:p>
            <a:pPr algn="l"/>
            <a:r>
              <a:rPr sz="900" b="1">
                <a:solidFill>
                  <a:srgbClr val="0F172A"/>
                </a:solidFill>
                <a:latin typeface="Calibri"/>
              </a:rPr>
              <a:t>Public REST API + scoped tokens</a:t>
            </a:r>
          </a:p>
        </p:txBody>
      </p:sp>
      <p:sp>
        <p:nvSpPr>
          <p:cNvPr id="119" name="Rectangle 118"/>
          <p:cNvSpPr/>
          <p:nvPr/>
        </p:nvSpPr>
        <p:spPr>
          <a:xfrm>
            <a:off x="3657600" y="4087368"/>
            <a:ext cx="8686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3749039" y="4133087"/>
            <a:ext cx="6858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21" name="Rectangle 120"/>
          <p:cNvSpPr/>
          <p:nvPr/>
        </p:nvSpPr>
        <p:spPr>
          <a:xfrm>
            <a:off x="4526280" y="4087368"/>
            <a:ext cx="10972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4617720" y="4133087"/>
            <a:ext cx="9144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23" name="Rectangle 122"/>
          <p:cNvSpPr/>
          <p:nvPr/>
        </p:nvSpPr>
        <p:spPr>
          <a:xfrm>
            <a:off x="5623560" y="4087368"/>
            <a:ext cx="11887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5715000" y="4133087"/>
            <a:ext cx="100584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25" name="Rectangle 124"/>
          <p:cNvSpPr/>
          <p:nvPr/>
        </p:nvSpPr>
        <p:spPr>
          <a:xfrm>
            <a:off x="6812280" y="4087368"/>
            <a:ext cx="13258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6903720" y="4133087"/>
            <a:ext cx="11430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27" name="Rectangle 126"/>
          <p:cNvSpPr/>
          <p:nvPr/>
        </p:nvSpPr>
        <p:spPr>
          <a:xfrm>
            <a:off x="8138160" y="4087368"/>
            <a:ext cx="9601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8229600" y="4133087"/>
            <a:ext cx="77724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29" name="Rectangle 128"/>
          <p:cNvSpPr/>
          <p:nvPr/>
        </p:nvSpPr>
        <p:spPr>
          <a:xfrm>
            <a:off x="9098280" y="4087368"/>
            <a:ext cx="11887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9189720" y="4133087"/>
            <a:ext cx="100584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31" name="Rectangle 130"/>
          <p:cNvSpPr/>
          <p:nvPr/>
        </p:nvSpPr>
        <p:spPr>
          <a:xfrm>
            <a:off x="10287000" y="4087368"/>
            <a:ext cx="150876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10378440" y="4133087"/>
            <a:ext cx="132588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33" name="Rectangle 132"/>
          <p:cNvSpPr/>
          <p:nvPr/>
        </p:nvSpPr>
        <p:spPr>
          <a:xfrm>
            <a:off x="365760" y="4379976"/>
            <a:ext cx="329184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457200" y="4425696"/>
            <a:ext cx="3108960" cy="201168"/>
          </a:xfrm>
          <a:prstGeom prst="rect">
            <a:avLst/>
          </a:prstGeom>
          <a:noFill/>
        </p:spPr>
        <p:txBody>
          <a:bodyPr wrap="square" lIns="0" tIns="0" rIns="0" bIns="0" anchor="ctr">
            <a:spAutoFit/>
          </a:bodyPr>
          <a:lstStyle/>
          <a:p>
            <a:pPr algn="l"/>
            <a:r>
              <a:rPr sz="900" b="1">
                <a:solidFill>
                  <a:srgbClr val="0F172A"/>
                </a:solidFill>
                <a:latin typeface="Calibri"/>
              </a:rPr>
              <a:t>Conversational AI — provider self-service</a:t>
            </a:r>
          </a:p>
        </p:txBody>
      </p:sp>
      <p:sp>
        <p:nvSpPr>
          <p:cNvPr id="135" name="Rectangle 134"/>
          <p:cNvSpPr/>
          <p:nvPr/>
        </p:nvSpPr>
        <p:spPr>
          <a:xfrm>
            <a:off x="3657600" y="4379976"/>
            <a:ext cx="8686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3749039" y="4425696"/>
            <a:ext cx="6858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37" name="Rectangle 136"/>
          <p:cNvSpPr/>
          <p:nvPr/>
        </p:nvSpPr>
        <p:spPr>
          <a:xfrm>
            <a:off x="4526280" y="4379976"/>
            <a:ext cx="10972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4617720" y="4425696"/>
            <a:ext cx="91440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139" name="Rectangle 138"/>
          <p:cNvSpPr/>
          <p:nvPr/>
        </p:nvSpPr>
        <p:spPr>
          <a:xfrm>
            <a:off x="5623560" y="4379976"/>
            <a:ext cx="11887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5715000" y="4425696"/>
            <a:ext cx="10058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41" name="Rectangle 140"/>
          <p:cNvSpPr/>
          <p:nvPr/>
        </p:nvSpPr>
        <p:spPr>
          <a:xfrm>
            <a:off x="6812280" y="4379976"/>
            <a:ext cx="13258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6903720" y="4425696"/>
            <a:ext cx="114300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43" name="Rectangle 142"/>
          <p:cNvSpPr/>
          <p:nvPr/>
        </p:nvSpPr>
        <p:spPr>
          <a:xfrm>
            <a:off x="8138160" y="4379976"/>
            <a:ext cx="9601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8229600" y="4425696"/>
            <a:ext cx="7772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45" name="Rectangle 144"/>
          <p:cNvSpPr/>
          <p:nvPr/>
        </p:nvSpPr>
        <p:spPr>
          <a:xfrm>
            <a:off x="9098280" y="4379976"/>
            <a:ext cx="11887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9189720" y="4425696"/>
            <a:ext cx="10058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47" name="Rectangle 146"/>
          <p:cNvSpPr/>
          <p:nvPr/>
        </p:nvSpPr>
        <p:spPr>
          <a:xfrm>
            <a:off x="10287000" y="4379976"/>
            <a:ext cx="150876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10378440" y="4425696"/>
            <a:ext cx="132588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49" name="Rectangle 148"/>
          <p:cNvSpPr/>
          <p:nvPr/>
        </p:nvSpPr>
        <p:spPr>
          <a:xfrm>
            <a:off x="365760" y="4672583"/>
            <a:ext cx="329184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457200" y="4718303"/>
            <a:ext cx="3108960" cy="201168"/>
          </a:xfrm>
          <a:prstGeom prst="rect">
            <a:avLst/>
          </a:prstGeom>
          <a:noFill/>
        </p:spPr>
        <p:txBody>
          <a:bodyPr wrap="square" lIns="0" tIns="0" rIns="0" bIns="0" anchor="ctr">
            <a:spAutoFit/>
          </a:bodyPr>
          <a:lstStyle/>
          <a:p>
            <a:pPr algn="l"/>
            <a:r>
              <a:rPr sz="900" b="1">
                <a:solidFill>
                  <a:srgbClr val="0F172A"/>
                </a:solidFill>
                <a:latin typeface="Calibri"/>
              </a:rPr>
              <a:t>Conversational AI — staff compliance coach</a:t>
            </a:r>
          </a:p>
        </p:txBody>
      </p:sp>
      <p:sp>
        <p:nvSpPr>
          <p:cNvPr id="151" name="Rectangle 150"/>
          <p:cNvSpPr/>
          <p:nvPr/>
        </p:nvSpPr>
        <p:spPr>
          <a:xfrm>
            <a:off x="3657600" y="4672583"/>
            <a:ext cx="8686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3749039" y="4718303"/>
            <a:ext cx="6858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53" name="Rectangle 152"/>
          <p:cNvSpPr/>
          <p:nvPr/>
        </p:nvSpPr>
        <p:spPr>
          <a:xfrm>
            <a:off x="4526280" y="4672583"/>
            <a:ext cx="10972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4617720" y="4718303"/>
            <a:ext cx="91440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55" name="Rectangle 154"/>
          <p:cNvSpPr/>
          <p:nvPr/>
        </p:nvSpPr>
        <p:spPr>
          <a:xfrm>
            <a:off x="5623560" y="4672583"/>
            <a:ext cx="11887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5715000" y="4718303"/>
            <a:ext cx="10058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57" name="Rectangle 156"/>
          <p:cNvSpPr/>
          <p:nvPr/>
        </p:nvSpPr>
        <p:spPr>
          <a:xfrm>
            <a:off x="6812280" y="4672583"/>
            <a:ext cx="13258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6903720" y="4718303"/>
            <a:ext cx="114300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59" name="Rectangle 158"/>
          <p:cNvSpPr/>
          <p:nvPr/>
        </p:nvSpPr>
        <p:spPr>
          <a:xfrm>
            <a:off x="8138160" y="4672583"/>
            <a:ext cx="9601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8229600" y="4718303"/>
            <a:ext cx="7772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61" name="Rectangle 160"/>
          <p:cNvSpPr/>
          <p:nvPr/>
        </p:nvSpPr>
        <p:spPr>
          <a:xfrm>
            <a:off x="9098280" y="4672583"/>
            <a:ext cx="11887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9189720" y="4718303"/>
            <a:ext cx="10058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63" name="Rectangle 162"/>
          <p:cNvSpPr/>
          <p:nvPr/>
        </p:nvSpPr>
        <p:spPr>
          <a:xfrm>
            <a:off x="10287000" y="4672583"/>
            <a:ext cx="150876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10378440" y="4718303"/>
            <a:ext cx="132588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65" name="Rectangle 164"/>
          <p:cNvSpPr/>
          <p:nvPr/>
        </p:nvSpPr>
        <p:spPr>
          <a:xfrm>
            <a:off x="365760" y="4965192"/>
            <a:ext cx="329184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457200" y="5010912"/>
            <a:ext cx="3108960" cy="201168"/>
          </a:xfrm>
          <a:prstGeom prst="rect">
            <a:avLst/>
          </a:prstGeom>
          <a:noFill/>
        </p:spPr>
        <p:txBody>
          <a:bodyPr wrap="square" lIns="0" tIns="0" rIns="0" bIns="0" anchor="ctr">
            <a:spAutoFit/>
          </a:bodyPr>
          <a:lstStyle/>
          <a:p>
            <a:pPr algn="l"/>
            <a:r>
              <a:rPr sz="900" b="1">
                <a:solidFill>
                  <a:srgbClr val="0F172A"/>
                </a:solidFill>
                <a:latin typeface="Calibri"/>
              </a:rPr>
              <a:t>AI governance: model cards + decision log</a:t>
            </a:r>
          </a:p>
        </p:txBody>
      </p:sp>
      <p:sp>
        <p:nvSpPr>
          <p:cNvPr id="167" name="Rectangle 166"/>
          <p:cNvSpPr/>
          <p:nvPr/>
        </p:nvSpPr>
        <p:spPr>
          <a:xfrm>
            <a:off x="3657600" y="4965192"/>
            <a:ext cx="8686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167"/>
          <p:cNvSpPr txBox="1"/>
          <p:nvPr/>
        </p:nvSpPr>
        <p:spPr>
          <a:xfrm>
            <a:off x="3749039" y="5010912"/>
            <a:ext cx="6858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69" name="Rectangle 168"/>
          <p:cNvSpPr/>
          <p:nvPr/>
        </p:nvSpPr>
        <p:spPr>
          <a:xfrm>
            <a:off x="4526280" y="4965192"/>
            <a:ext cx="10972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4617720" y="5010912"/>
            <a:ext cx="91440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71" name="Rectangle 170"/>
          <p:cNvSpPr/>
          <p:nvPr/>
        </p:nvSpPr>
        <p:spPr>
          <a:xfrm>
            <a:off x="5623560" y="4965192"/>
            <a:ext cx="11887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p:cNvSpPr txBox="1"/>
          <p:nvPr/>
        </p:nvSpPr>
        <p:spPr>
          <a:xfrm>
            <a:off x="5715000" y="5010912"/>
            <a:ext cx="10058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73" name="Rectangle 172"/>
          <p:cNvSpPr/>
          <p:nvPr/>
        </p:nvSpPr>
        <p:spPr>
          <a:xfrm>
            <a:off x="6812280" y="4965192"/>
            <a:ext cx="13258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TextBox 173"/>
          <p:cNvSpPr txBox="1"/>
          <p:nvPr/>
        </p:nvSpPr>
        <p:spPr>
          <a:xfrm>
            <a:off x="6903720" y="5010912"/>
            <a:ext cx="114300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75" name="Rectangle 174"/>
          <p:cNvSpPr/>
          <p:nvPr/>
        </p:nvSpPr>
        <p:spPr>
          <a:xfrm>
            <a:off x="8138160" y="4965192"/>
            <a:ext cx="9601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175"/>
          <p:cNvSpPr txBox="1"/>
          <p:nvPr/>
        </p:nvSpPr>
        <p:spPr>
          <a:xfrm>
            <a:off x="8229600" y="5010912"/>
            <a:ext cx="7772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77" name="Rectangle 176"/>
          <p:cNvSpPr/>
          <p:nvPr/>
        </p:nvSpPr>
        <p:spPr>
          <a:xfrm>
            <a:off x="9098280" y="4965192"/>
            <a:ext cx="11887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TextBox 177"/>
          <p:cNvSpPr txBox="1"/>
          <p:nvPr/>
        </p:nvSpPr>
        <p:spPr>
          <a:xfrm>
            <a:off x="9189720" y="5010912"/>
            <a:ext cx="10058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79" name="Rectangle 178"/>
          <p:cNvSpPr/>
          <p:nvPr/>
        </p:nvSpPr>
        <p:spPr>
          <a:xfrm>
            <a:off x="10287000" y="4965192"/>
            <a:ext cx="150876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179"/>
          <p:cNvSpPr txBox="1"/>
          <p:nvPr/>
        </p:nvSpPr>
        <p:spPr>
          <a:xfrm>
            <a:off x="10378440" y="5010912"/>
            <a:ext cx="132588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81" name="Rectangle 180"/>
          <p:cNvSpPr/>
          <p:nvPr/>
        </p:nvSpPr>
        <p:spPr>
          <a:xfrm>
            <a:off x="365760" y="5257800"/>
            <a:ext cx="329184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457200" y="5303520"/>
            <a:ext cx="3108960" cy="201168"/>
          </a:xfrm>
          <a:prstGeom prst="rect">
            <a:avLst/>
          </a:prstGeom>
          <a:noFill/>
        </p:spPr>
        <p:txBody>
          <a:bodyPr wrap="square" lIns="0" tIns="0" rIns="0" bIns="0" anchor="ctr">
            <a:spAutoFit/>
          </a:bodyPr>
          <a:lstStyle/>
          <a:p>
            <a:pPr algn="l"/>
            <a:r>
              <a:rPr sz="900" b="1">
                <a:solidFill>
                  <a:srgbClr val="0F172A"/>
                </a:solidFill>
                <a:latin typeface="Calibri"/>
              </a:rPr>
              <a:t>One-click audit-ready packet ZIP</a:t>
            </a:r>
          </a:p>
        </p:txBody>
      </p:sp>
      <p:sp>
        <p:nvSpPr>
          <p:cNvPr id="183" name="Rectangle 182"/>
          <p:cNvSpPr/>
          <p:nvPr/>
        </p:nvSpPr>
        <p:spPr>
          <a:xfrm>
            <a:off x="3657600" y="5257800"/>
            <a:ext cx="8686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183"/>
          <p:cNvSpPr txBox="1"/>
          <p:nvPr/>
        </p:nvSpPr>
        <p:spPr>
          <a:xfrm>
            <a:off x="3749039" y="5303520"/>
            <a:ext cx="6858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85" name="Rectangle 184"/>
          <p:cNvSpPr/>
          <p:nvPr/>
        </p:nvSpPr>
        <p:spPr>
          <a:xfrm>
            <a:off x="4526280" y="5257800"/>
            <a:ext cx="10972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p:cNvSpPr txBox="1"/>
          <p:nvPr/>
        </p:nvSpPr>
        <p:spPr>
          <a:xfrm>
            <a:off x="4617720" y="5303520"/>
            <a:ext cx="91440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187" name="Rectangle 186"/>
          <p:cNvSpPr/>
          <p:nvPr/>
        </p:nvSpPr>
        <p:spPr>
          <a:xfrm>
            <a:off x="5623560" y="5257800"/>
            <a:ext cx="11887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TextBox 187"/>
          <p:cNvSpPr txBox="1"/>
          <p:nvPr/>
        </p:nvSpPr>
        <p:spPr>
          <a:xfrm>
            <a:off x="5715000" y="5303520"/>
            <a:ext cx="100584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89" name="Rectangle 188"/>
          <p:cNvSpPr/>
          <p:nvPr/>
        </p:nvSpPr>
        <p:spPr>
          <a:xfrm>
            <a:off x="6812280" y="5257800"/>
            <a:ext cx="13258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6903720" y="5303520"/>
            <a:ext cx="11430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191" name="Rectangle 190"/>
          <p:cNvSpPr/>
          <p:nvPr/>
        </p:nvSpPr>
        <p:spPr>
          <a:xfrm>
            <a:off x="8138160" y="5257800"/>
            <a:ext cx="9601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191"/>
          <p:cNvSpPr txBox="1"/>
          <p:nvPr/>
        </p:nvSpPr>
        <p:spPr>
          <a:xfrm>
            <a:off x="8229600" y="5303520"/>
            <a:ext cx="77724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193" name="Rectangle 192"/>
          <p:cNvSpPr/>
          <p:nvPr/>
        </p:nvSpPr>
        <p:spPr>
          <a:xfrm>
            <a:off x="9098280" y="5257800"/>
            <a:ext cx="11887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p:cNvSpPr txBox="1"/>
          <p:nvPr/>
        </p:nvSpPr>
        <p:spPr>
          <a:xfrm>
            <a:off x="9189720" y="5303520"/>
            <a:ext cx="10058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95" name="Rectangle 194"/>
          <p:cNvSpPr/>
          <p:nvPr/>
        </p:nvSpPr>
        <p:spPr>
          <a:xfrm>
            <a:off x="10287000" y="5257800"/>
            <a:ext cx="150876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TextBox 195"/>
          <p:cNvSpPr txBox="1"/>
          <p:nvPr/>
        </p:nvSpPr>
        <p:spPr>
          <a:xfrm>
            <a:off x="10378440" y="5303520"/>
            <a:ext cx="132588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197" name="Rectangle 196"/>
          <p:cNvSpPr/>
          <p:nvPr/>
        </p:nvSpPr>
        <p:spPr>
          <a:xfrm>
            <a:off x="365760" y="5550408"/>
            <a:ext cx="329184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197"/>
          <p:cNvSpPr txBox="1"/>
          <p:nvPr/>
        </p:nvSpPr>
        <p:spPr>
          <a:xfrm>
            <a:off x="457200" y="5596128"/>
            <a:ext cx="3108960" cy="201168"/>
          </a:xfrm>
          <a:prstGeom prst="rect">
            <a:avLst/>
          </a:prstGeom>
          <a:noFill/>
        </p:spPr>
        <p:txBody>
          <a:bodyPr wrap="square" lIns="0" tIns="0" rIns="0" bIns="0" anchor="ctr">
            <a:spAutoFit/>
          </a:bodyPr>
          <a:lstStyle/>
          <a:p>
            <a:pPr algn="l"/>
            <a:r>
              <a:rPr sz="900" b="1">
                <a:solidFill>
                  <a:srgbClr val="0F172A"/>
                </a:solidFill>
                <a:latin typeface="Calibri"/>
              </a:rPr>
              <a:t>Tamper-evident (hash-chained) audit log</a:t>
            </a:r>
          </a:p>
        </p:txBody>
      </p:sp>
      <p:sp>
        <p:nvSpPr>
          <p:cNvPr id="199" name="Rectangle 198"/>
          <p:cNvSpPr/>
          <p:nvPr/>
        </p:nvSpPr>
        <p:spPr>
          <a:xfrm>
            <a:off x="3657600" y="5550408"/>
            <a:ext cx="8686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TextBox 199"/>
          <p:cNvSpPr txBox="1"/>
          <p:nvPr/>
        </p:nvSpPr>
        <p:spPr>
          <a:xfrm>
            <a:off x="3749039" y="5596128"/>
            <a:ext cx="6858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201" name="Rectangle 200"/>
          <p:cNvSpPr/>
          <p:nvPr/>
        </p:nvSpPr>
        <p:spPr>
          <a:xfrm>
            <a:off x="4526280" y="5550408"/>
            <a:ext cx="10972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TextBox 201"/>
          <p:cNvSpPr txBox="1"/>
          <p:nvPr/>
        </p:nvSpPr>
        <p:spPr>
          <a:xfrm>
            <a:off x="4617720" y="5596128"/>
            <a:ext cx="91440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203" name="Rectangle 202"/>
          <p:cNvSpPr/>
          <p:nvPr/>
        </p:nvSpPr>
        <p:spPr>
          <a:xfrm>
            <a:off x="5623560" y="5550408"/>
            <a:ext cx="11887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TextBox 203"/>
          <p:cNvSpPr txBox="1"/>
          <p:nvPr/>
        </p:nvSpPr>
        <p:spPr>
          <a:xfrm>
            <a:off x="5715000" y="5596128"/>
            <a:ext cx="100584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205" name="Rectangle 204"/>
          <p:cNvSpPr/>
          <p:nvPr/>
        </p:nvSpPr>
        <p:spPr>
          <a:xfrm>
            <a:off x="6812280" y="5550408"/>
            <a:ext cx="13258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TextBox 205"/>
          <p:cNvSpPr txBox="1"/>
          <p:nvPr/>
        </p:nvSpPr>
        <p:spPr>
          <a:xfrm>
            <a:off x="6903720" y="5596128"/>
            <a:ext cx="114300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207" name="Rectangle 206"/>
          <p:cNvSpPr/>
          <p:nvPr/>
        </p:nvSpPr>
        <p:spPr>
          <a:xfrm>
            <a:off x="8138160" y="5550408"/>
            <a:ext cx="9601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207"/>
          <p:cNvSpPr txBox="1"/>
          <p:nvPr/>
        </p:nvSpPr>
        <p:spPr>
          <a:xfrm>
            <a:off x="8229600" y="5596128"/>
            <a:ext cx="7772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209" name="Rectangle 208"/>
          <p:cNvSpPr/>
          <p:nvPr/>
        </p:nvSpPr>
        <p:spPr>
          <a:xfrm>
            <a:off x="9098280" y="5550408"/>
            <a:ext cx="11887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TextBox 209"/>
          <p:cNvSpPr txBox="1"/>
          <p:nvPr/>
        </p:nvSpPr>
        <p:spPr>
          <a:xfrm>
            <a:off x="9189720" y="5596128"/>
            <a:ext cx="10058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211" name="Rectangle 210"/>
          <p:cNvSpPr/>
          <p:nvPr/>
        </p:nvSpPr>
        <p:spPr>
          <a:xfrm>
            <a:off x="10287000" y="5550408"/>
            <a:ext cx="150876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TextBox 211"/>
          <p:cNvSpPr txBox="1"/>
          <p:nvPr/>
        </p:nvSpPr>
        <p:spPr>
          <a:xfrm>
            <a:off x="10378440" y="5596128"/>
            <a:ext cx="132588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213" name="Rectangle 212"/>
          <p:cNvSpPr/>
          <p:nvPr/>
        </p:nvSpPr>
        <p:spPr>
          <a:xfrm>
            <a:off x="365760" y="5843016"/>
            <a:ext cx="329184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TextBox 213"/>
          <p:cNvSpPr txBox="1"/>
          <p:nvPr/>
        </p:nvSpPr>
        <p:spPr>
          <a:xfrm>
            <a:off x="457200" y="5888736"/>
            <a:ext cx="3108960" cy="201168"/>
          </a:xfrm>
          <a:prstGeom prst="rect">
            <a:avLst/>
          </a:prstGeom>
          <a:noFill/>
        </p:spPr>
        <p:txBody>
          <a:bodyPr wrap="square" lIns="0" tIns="0" rIns="0" bIns="0" anchor="ctr">
            <a:spAutoFit/>
          </a:bodyPr>
          <a:lstStyle/>
          <a:p>
            <a:pPr algn="l"/>
            <a:r>
              <a:rPr sz="900" b="1">
                <a:solidFill>
                  <a:srgbClr val="0F172A"/>
                </a:solidFill>
                <a:latin typeface="Calibri"/>
              </a:rPr>
              <a:t>Hosting &amp; data residency under Essen control</a:t>
            </a:r>
          </a:p>
        </p:txBody>
      </p:sp>
      <p:sp>
        <p:nvSpPr>
          <p:cNvPr id="215" name="Rectangle 214"/>
          <p:cNvSpPr/>
          <p:nvPr/>
        </p:nvSpPr>
        <p:spPr>
          <a:xfrm>
            <a:off x="3657600" y="5843016"/>
            <a:ext cx="8686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TextBox 215"/>
          <p:cNvSpPr txBox="1"/>
          <p:nvPr/>
        </p:nvSpPr>
        <p:spPr>
          <a:xfrm>
            <a:off x="3749039" y="5888736"/>
            <a:ext cx="685800" cy="201168"/>
          </a:xfrm>
          <a:prstGeom prst="rect">
            <a:avLst/>
          </a:prstGeom>
          <a:noFill/>
        </p:spPr>
        <p:txBody>
          <a:bodyPr wrap="square" lIns="0" tIns="0" rIns="0" bIns="0" anchor="ctr">
            <a:spAutoFit/>
          </a:bodyPr>
          <a:lstStyle/>
          <a:p>
            <a:pPr algn="l"/>
            <a:r>
              <a:rPr sz="900" b="1">
                <a:solidFill>
                  <a:srgbClr val="16A34A"/>
                </a:solidFill>
                <a:latin typeface="Calibri"/>
              </a:rPr>
              <a:t>✓</a:t>
            </a:r>
          </a:p>
        </p:txBody>
      </p:sp>
      <p:sp>
        <p:nvSpPr>
          <p:cNvPr id="217" name="Rectangle 216"/>
          <p:cNvSpPr/>
          <p:nvPr/>
        </p:nvSpPr>
        <p:spPr>
          <a:xfrm>
            <a:off x="4526280" y="5843016"/>
            <a:ext cx="10972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TextBox 217"/>
          <p:cNvSpPr txBox="1"/>
          <p:nvPr/>
        </p:nvSpPr>
        <p:spPr>
          <a:xfrm>
            <a:off x="4617720" y="5888736"/>
            <a:ext cx="91440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219" name="Rectangle 218"/>
          <p:cNvSpPr/>
          <p:nvPr/>
        </p:nvSpPr>
        <p:spPr>
          <a:xfrm>
            <a:off x="5623560" y="5843016"/>
            <a:ext cx="11887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TextBox 219"/>
          <p:cNvSpPr txBox="1"/>
          <p:nvPr/>
        </p:nvSpPr>
        <p:spPr>
          <a:xfrm>
            <a:off x="5715000" y="5888736"/>
            <a:ext cx="100584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221" name="Rectangle 220"/>
          <p:cNvSpPr/>
          <p:nvPr/>
        </p:nvSpPr>
        <p:spPr>
          <a:xfrm>
            <a:off x="6812280" y="5843016"/>
            <a:ext cx="132588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TextBox 221"/>
          <p:cNvSpPr txBox="1"/>
          <p:nvPr/>
        </p:nvSpPr>
        <p:spPr>
          <a:xfrm>
            <a:off x="6903720" y="5888736"/>
            <a:ext cx="114300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223" name="Rectangle 222"/>
          <p:cNvSpPr/>
          <p:nvPr/>
        </p:nvSpPr>
        <p:spPr>
          <a:xfrm>
            <a:off x="8138160" y="5843016"/>
            <a:ext cx="9601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TextBox 223"/>
          <p:cNvSpPr txBox="1"/>
          <p:nvPr/>
        </p:nvSpPr>
        <p:spPr>
          <a:xfrm>
            <a:off x="8229600" y="5888736"/>
            <a:ext cx="7772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225" name="Rectangle 224"/>
          <p:cNvSpPr/>
          <p:nvPr/>
        </p:nvSpPr>
        <p:spPr>
          <a:xfrm>
            <a:off x="9098280" y="5843016"/>
            <a:ext cx="118872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TextBox 225"/>
          <p:cNvSpPr txBox="1"/>
          <p:nvPr/>
        </p:nvSpPr>
        <p:spPr>
          <a:xfrm>
            <a:off x="9189720" y="5888736"/>
            <a:ext cx="1005840" cy="201168"/>
          </a:xfrm>
          <a:prstGeom prst="rect">
            <a:avLst/>
          </a:prstGeom>
          <a:noFill/>
        </p:spPr>
        <p:txBody>
          <a:bodyPr wrap="square" lIns="0" tIns="0" rIns="0" bIns="0" anchor="ctr">
            <a:spAutoFit/>
          </a:bodyPr>
          <a:lstStyle/>
          <a:p>
            <a:pPr algn="l"/>
            <a:r>
              <a:rPr sz="900" b="1">
                <a:solidFill>
                  <a:srgbClr val="DC2626"/>
                </a:solidFill>
                <a:latin typeface="Calibri"/>
              </a:rPr>
              <a:t>✗</a:t>
            </a:r>
          </a:p>
        </p:txBody>
      </p:sp>
      <p:sp>
        <p:nvSpPr>
          <p:cNvPr id="227" name="Rectangle 226"/>
          <p:cNvSpPr/>
          <p:nvPr/>
        </p:nvSpPr>
        <p:spPr>
          <a:xfrm>
            <a:off x="10287000" y="5843016"/>
            <a:ext cx="1508760" cy="29260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TextBox 227"/>
          <p:cNvSpPr txBox="1"/>
          <p:nvPr/>
        </p:nvSpPr>
        <p:spPr>
          <a:xfrm>
            <a:off x="10378440" y="5888736"/>
            <a:ext cx="1325880" cy="201168"/>
          </a:xfrm>
          <a:prstGeom prst="rect">
            <a:avLst/>
          </a:prstGeom>
          <a:noFill/>
        </p:spPr>
        <p:txBody>
          <a:bodyPr wrap="square" lIns="0" tIns="0" rIns="0" bIns="0" anchor="ctr">
            <a:spAutoFit/>
          </a:bodyPr>
          <a:lstStyle/>
          <a:p>
            <a:pPr algn="l"/>
            <a:r>
              <a:rPr sz="900" b="1">
                <a:solidFill>
                  <a:srgbClr val="D97706"/>
                </a:solidFill>
                <a:latin typeface="Calibri"/>
              </a:rPr>
              <a:t>◐</a:t>
            </a:r>
          </a:p>
        </p:txBody>
      </p:sp>
      <p:sp>
        <p:nvSpPr>
          <p:cNvPr id="229" name="Rectangle 228"/>
          <p:cNvSpPr/>
          <p:nvPr/>
        </p:nvSpPr>
        <p:spPr>
          <a:xfrm>
            <a:off x="365760" y="6135624"/>
            <a:ext cx="329184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TextBox 229"/>
          <p:cNvSpPr txBox="1"/>
          <p:nvPr/>
        </p:nvSpPr>
        <p:spPr>
          <a:xfrm>
            <a:off x="457200" y="6181344"/>
            <a:ext cx="3108960" cy="201168"/>
          </a:xfrm>
          <a:prstGeom prst="rect">
            <a:avLst/>
          </a:prstGeom>
          <a:noFill/>
        </p:spPr>
        <p:txBody>
          <a:bodyPr wrap="square" lIns="0" tIns="0" rIns="0" bIns="0" anchor="ctr">
            <a:spAutoFit/>
          </a:bodyPr>
          <a:lstStyle/>
          <a:p>
            <a:pPr algn="l"/>
            <a:r>
              <a:rPr sz="900" b="1">
                <a:solidFill>
                  <a:srgbClr val="0F172A"/>
                </a:solidFill>
                <a:latin typeface="Calibri"/>
              </a:rPr>
              <a:t>Pricing model</a:t>
            </a:r>
          </a:p>
        </p:txBody>
      </p:sp>
      <p:sp>
        <p:nvSpPr>
          <p:cNvPr id="231" name="Rectangle 230"/>
          <p:cNvSpPr/>
          <p:nvPr/>
        </p:nvSpPr>
        <p:spPr>
          <a:xfrm>
            <a:off x="3657600" y="6135624"/>
            <a:ext cx="8686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TextBox 231"/>
          <p:cNvSpPr txBox="1"/>
          <p:nvPr/>
        </p:nvSpPr>
        <p:spPr>
          <a:xfrm>
            <a:off x="3749039" y="6181344"/>
            <a:ext cx="685800" cy="201168"/>
          </a:xfrm>
          <a:prstGeom prst="rect">
            <a:avLst/>
          </a:prstGeom>
          <a:noFill/>
        </p:spPr>
        <p:txBody>
          <a:bodyPr wrap="square" lIns="0" tIns="0" rIns="0" bIns="0" anchor="ctr">
            <a:spAutoFit/>
          </a:bodyPr>
          <a:lstStyle/>
          <a:p>
            <a:pPr algn="l"/>
            <a:r>
              <a:rPr sz="900" b="0">
                <a:solidFill>
                  <a:srgbClr val="0F172A"/>
                </a:solidFill>
                <a:latin typeface="Calibri"/>
              </a:rPr>
              <a:t>Owned</a:t>
            </a:r>
          </a:p>
        </p:txBody>
      </p:sp>
      <p:sp>
        <p:nvSpPr>
          <p:cNvPr id="233" name="Rectangle 232"/>
          <p:cNvSpPr/>
          <p:nvPr/>
        </p:nvSpPr>
        <p:spPr>
          <a:xfrm>
            <a:off x="4526280" y="6135624"/>
            <a:ext cx="10972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TextBox 233"/>
          <p:cNvSpPr txBox="1"/>
          <p:nvPr/>
        </p:nvSpPr>
        <p:spPr>
          <a:xfrm>
            <a:off x="4617720" y="6181344"/>
            <a:ext cx="914400" cy="201168"/>
          </a:xfrm>
          <a:prstGeom prst="rect">
            <a:avLst/>
          </a:prstGeom>
          <a:noFill/>
        </p:spPr>
        <p:txBody>
          <a:bodyPr wrap="square" lIns="0" tIns="0" rIns="0" bIns="0" anchor="ctr">
            <a:spAutoFit/>
          </a:bodyPr>
          <a:lstStyle/>
          <a:p>
            <a:pPr algn="l"/>
            <a:r>
              <a:rPr sz="900" b="0">
                <a:solidFill>
                  <a:srgbClr val="0F172A"/>
                </a:solidFill>
                <a:latin typeface="Calibri"/>
              </a:rPr>
              <a:t>Per-provider SaaS</a:t>
            </a:r>
          </a:p>
        </p:txBody>
      </p:sp>
      <p:sp>
        <p:nvSpPr>
          <p:cNvPr id="235" name="Rectangle 234"/>
          <p:cNvSpPr/>
          <p:nvPr/>
        </p:nvSpPr>
        <p:spPr>
          <a:xfrm>
            <a:off x="5623560" y="6135624"/>
            <a:ext cx="11887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TextBox 235"/>
          <p:cNvSpPr txBox="1"/>
          <p:nvPr/>
        </p:nvSpPr>
        <p:spPr>
          <a:xfrm>
            <a:off x="5715000" y="6181344"/>
            <a:ext cx="1005840" cy="201168"/>
          </a:xfrm>
          <a:prstGeom prst="rect">
            <a:avLst/>
          </a:prstGeom>
          <a:noFill/>
        </p:spPr>
        <p:txBody>
          <a:bodyPr wrap="square" lIns="0" tIns="0" rIns="0" bIns="0" anchor="ctr">
            <a:spAutoFit/>
          </a:bodyPr>
          <a:lstStyle/>
          <a:p>
            <a:pPr algn="l"/>
            <a:r>
              <a:rPr sz="900" b="0">
                <a:solidFill>
                  <a:srgbClr val="0F172A"/>
                </a:solidFill>
                <a:latin typeface="Calibri"/>
              </a:rPr>
              <a:t>Per-provider + impl</a:t>
            </a:r>
          </a:p>
        </p:txBody>
      </p:sp>
      <p:sp>
        <p:nvSpPr>
          <p:cNvPr id="237" name="Rectangle 236"/>
          <p:cNvSpPr/>
          <p:nvPr/>
        </p:nvSpPr>
        <p:spPr>
          <a:xfrm>
            <a:off x="6812280" y="6135624"/>
            <a:ext cx="132588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TextBox 237"/>
          <p:cNvSpPr txBox="1"/>
          <p:nvPr/>
        </p:nvSpPr>
        <p:spPr>
          <a:xfrm>
            <a:off x="6903720" y="6181344"/>
            <a:ext cx="1143000" cy="201168"/>
          </a:xfrm>
          <a:prstGeom prst="rect">
            <a:avLst/>
          </a:prstGeom>
          <a:noFill/>
        </p:spPr>
        <p:txBody>
          <a:bodyPr wrap="square" lIns="0" tIns="0" rIns="0" bIns="0" anchor="ctr">
            <a:spAutoFit/>
          </a:bodyPr>
          <a:lstStyle/>
          <a:p>
            <a:pPr algn="l"/>
            <a:r>
              <a:rPr sz="900" b="0">
                <a:solidFill>
                  <a:srgbClr val="0F172A"/>
                </a:solidFill>
                <a:latin typeface="Calibri"/>
              </a:rPr>
              <a:t>Per-provider + impl</a:t>
            </a:r>
          </a:p>
        </p:txBody>
      </p:sp>
      <p:sp>
        <p:nvSpPr>
          <p:cNvPr id="239" name="Rectangle 238"/>
          <p:cNvSpPr/>
          <p:nvPr/>
        </p:nvSpPr>
        <p:spPr>
          <a:xfrm>
            <a:off x="8138160" y="6135624"/>
            <a:ext cx="9601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TextBox 239"/>
          <p:cNvSpPr txBox="1"/>
          <p:nvPr/>
        </p:nvSpPr>
        <p:spPr>
          <a:xfrm>
            <a:off x="8229600" y="6181344"/>
            <a:ext cx="777240" cy="201168"/>
          </a:xfrm>
          <a:prstGeom prst="rect">
            <a:avLst/>
          </a:prstGeom>
          <a:noFill/>
        </p:spPr>
        <p:txBody>
          <a:bodyPr wrap="square" lIns="0" tIns="0" rIns="0" bIns="0" anchor="ctr">
            <a:spAutoFit/>
          </a:bodyPr>
          <a:lstStyle/>
          <a:p>
            <a:pPr algn="l"/>
            <a:r>
              <a:rPr sz="900" b="0">
                <a:solidFill>
                  <a:srgbClr val="0F172A"/>
                </a:solidFill>
                <a:latin typeface="Calibri"/>
              </a:rPr>
              <a:t>Per-provider SaaS</a:t>
            </a:r>
          </a:p>
        </p:txBody>
      </p:sp>
      <p:sp>
        <p:nvSpPr>
          <p:cNvPr id="241" name="Rectangle 240"/>
          <p:cNvSpPr/>
          <p:nvPr/>
        </p:nvSpPr>
        <p:spPr>
          <a:xfrm>
            <a:off x="9098280" y="6135624"/>
            <a:ext cx="118872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TextBox 241"/>
          <p:cNvSpPr txBox="1"/>
          <p:nvPr/>
        </p:nvSpPr>
        <p:spPr>
          <a:xfrm>
            <a:off x="9189720" y="6181344"/>
            <a:ext cx="1005840" cy="201168"/>
          </a:xfrm>
          <a:prstGeom prst="rect">
            <a:avLst/>
          </a:prstGeom>
          <a:noFill/>
        </p:spPr>
        <p:txBody>
          <a:bodyPr wrap="square" lIns="0" tIns="0" rIns="0" bIns="0" anchor="ctr">
            <a:spAutoFit/>
          </a:bodyPr>
          <a:lstStyle/>
          <a:p>
            <a:pPr algn="l"/>
            <a:r>
              <a:rPr sz="900" b="0">
                <a:solidFill>
                  <a:srgbClr val="0F172A"/>
                </a:solidFill>
                <a:latin typeface="Calibri"/>
              </a:rPr>
              <a:t>Per-API call</a:t>
            </a:r>
          </a:p>
        </p:txBody>
      </p:sp>
      <p:sp>
        <p:nvSpPr>
          <p:cNvPr id="243" name="Rectangle 242"/>
          <p:cNvSpPr/>
          <p:nvPr/>
        </p:nvSpPr>
        <p:spPr>
          <a:xfrm>
            <a:off x="10287000" y="6135624"/>
            <a:ext cx="1508760" cy="292608"/>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TextBox 243"/>
          <p:cNvSpPr txBox="1"/>
          <p:nvPr/>
        </p:nvSpPr>
        <p:spPr>
          <a:xfrm>
            <a:off x="10378440" y="6181344"/>
            <a:ext cx="1325880" cy="201168"/>
          </a:xfrm>
          <a:prstGeom prst="rect">
            <a:avLst/>
          </a:prstGeom>
          <a:noFill/>
        </p:spPr>
        <p:txBody>
          <a:bodyPr wrap="square" lIns="0" tIns="0" rIns="0" bIns="0" anchor="ctr">
            <a:spAutoFit/>
          </a:bodyPr>
          <a:lstStyle/>
          <a:p>
            <a:pPr algn="l"/>
            <a:r>
              <a:rPr sz="900" b="0">
                <a:solidFill>
                  <a:srgbClr val="0F172A"/>
                </a:solidFill>
                <a:latin typeface="Calibri"/>
              </a:rPr>
              <a:t>Internal</a:t>
            </a:r>
          </a:p>
        </p:txBody>
      </p:sp>
      <p:sp>
        <p:nvSpPr>
          <p:cNvPr id="245" name="TextBox 244"/>
          <p:cNvSpPr txBox="1"/>
          <p:nvPr/>
        </p:nvSpPr>
        <p:spPr>
          <a:xfrm>
            <a:off x="457200" y="6446520"/>
            <a:ext cx="5486400" cy="274320"/>
          </a:xfrm>
          <a:prstGeom prst="rect">
            <a:avLst/>
          </a:prstGeom>
          <a:noFill/>
        </p:spPr>
        <p:txBody>
          <a:bodyPr wrap="square" lIns="0" tIns="0" rIns="0" bIns="0" anchor="t">
            <a:spAutoFit/>
          </a:bodyPr>
          <a:lstStyle/>
          <a:p>
            <a:pPr algn="l"/>
            <a:r>
              <a:rPr sz="900" b="0">
                <a:solidFill>
                  <a:srgbClr val="475569"/>
                </a:solidFill>
                <a:latin typeface="Calibri"/>
              </a:rPr>
              <a:t>ESSEN Credentialing Platform</a:t>
            </a:r>
          </a:p>
        </p:txBody>
      </p:sp>
      <p:sp>
        <p:nvSpPr>
          <p:cNvPr id="246" name="TextBox 245"/>
          <p:cNvSpPr txBox="1"/>
          <p:nvPr/>
        </p:nvSpPr>
        <p:spPr>
          <a:xfrm>
            <a:off x="10058400" y="6446520"/>
            <a:ext cx="1554480" cy="274320"/>
          </a:xfrm>
          <a:prstGeom prst="rect">
            <a:avLst/>
          </a:prstGeom>
          <a:noFill/>
        </p:spPr>
        <p:txBody>
          <a:bodyPr wrap="square" lIns="0" tIns="0" rIns="0" bIns="0" anchor="t">
            <a:spAutoFit/>
          </a:bodyPr>
          <a:lstStyle/>
          <a:p>
            <a:pPr algn="r"/>
            <a:r>
              <a:rPr sz="900" b="1">
                <a:solidFill>
                  <a:srgbClr val="00A3E0"/>
                </a:solidFill>
                <a:latin typeface="Calibr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430000" cy="274320"/>
          </a:xfrm>
          <a:prstGeom prst="rect">
            <a:avLst/>
          </a:prstGeom>
          <a:noFill/>
        </p:spPr>
        <p:txBody>
          <a:bodyPr wrap="square" lIns="0" tIns="0" rIns="0" bIns="0" anchor="t">
            <a:spAutoFit/>
          </a:bodyPr>
          <a:lstStyle/>
          <a:p>
            <a:pPr algn="l"/>
            <a:r>
              <a:rPr sz="1100" b="1">
                <a:solidFill>
                  <a:srgbClr val="00A3E0"/>
                </a:solidFill>
                <a:latin typeface="Calibri"/>
              </a:rPr>
              <a:t>WHERE ESSEN WINS</a:t>
            </a:r>
          </a:p>
        </p:txBody>
      </p:sp>
      <p:sp>
        <p:nvSpPr>
          <p:cNvPr id="3" name="TextBox 2"/>
          <p:cNvSpPr txBox="1"/>
          <p:nvPr/>
        </p:nvSpPr>
        <p:spPr>
          <a:xfrm>
            <a:off x="457200" y="594360"/>
            <a:ext cx="11430000" cy="594360"/>
          </a:xfrm>
          <a:prstGeom prst="rect">
            <a:avLst/>
          </a:prstGeom>
          <a:noFill/>
        </p:spPr>
        <p:txBody>
          <a:bodyPr wrap="square" lIns="0" tIns="0" rIns="0" bIns="0" anchor="t">
            <a:spAutoFit/>
          </a:bodyPr>
          <a:lstStyle/>
          <a:p>
            <a:pPr algn="l"/>
            <a:r>
              <a:rPr sz="2800" b="1">
                <a:solidFill>
                  <a:srgbClr val="0F172A"/>
                </a:solidFill>
                <a:latin typeface="Calibri"/>
              </a:rPr>
              <a:t>Three Categories of Competitive Advantage</a:t>
            </a:r>
          </a:p>
        </p:txBody>
      </p:sp>
      <p:sp>
        <p:nvSpPr>
          <p:cNvPr id="4" name="TextBox 3"/>
          <p:cNvSpPr txBox="1"/>
          <p:nvPr/>
        </p:nvSpPr>
        <p:spPr>
          <a:xfrm>
            <a:off x="457200" y="1188720"/>
            <a:ext cx="11430000" cy="411480"/>
          </a:xfrm>
          <a:prstGeom prst="rect">
            <a:avLst/>
          </a:prstGeom>
          <a:noFill/>
        </p:spPr>
        <p:txBody>
          <a:bodyPr wrap="square" lIns="0" tIns="0" rIns="0" bIns="0" anchor="t">
            <a:spAutoFit/>
          </a:bodyPr>
          <a:lstStyle/>
          <a:p>
            <a:pPr algn="l"/>
            <a:r>
              <a:rPr sz="1400" b="0">
                <a:solidFill>
                  <a:srgbClr val="475569"/>
                </a:solidFill>
                <a:latin typeface="Calibri"/>
              </a:rPr>
              <a:t>Aggregating the grid — these are the categories where ESSEN's platform is meaningfully ahead of the alternatives.</a:t>
            </a:r>
          </a:p>
        </p:txBody>
      </p:sp>
      <p:sp>
        <p:nvSpPr>
          <p:cNvPr id="5" name="Rounded Rectangle 4"/>
          <p:cNvSpPr/>
          <p:nvPr/>
        </p:nvSpPr>
        <p:spPr>
          <a:xfrm>
            <a:off x="457200" y="1828800"/>
            <a:ext cx="3749039" cy="192024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828800"/>
            <a:ext cx="3749039" cy="914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011680"/>
            <a:ext cx="3291839" cy="411480"/>
          </a:xfrm>
          <a:prstGeom prst="rect">
            <a:avLst/>
          </a:prstGeom>
          <a:noFill/>
        </p:spPr>
        <p:txBody>
          <a:bodyPr wrap="square" lIns="0" tIns="0" rIns="0" bIns="0" anchor="t">
            <a:spAutoFit/>
          </a:bodyPr>
          <a:lstStyle/>
          <a:p>
            <a:pPr algn="l"/>
            <a:r>
              <a:rPr sz="1200" b="1">
                <a:solidFill>
                  <a:srgbClr val="0F172A"/>
                </a:solidFill>
                <a:latin typeface="Calibri"/>
              </a:rPr>
              <a:t>Conversational AI is unique</a:t>
            </a:r>
          </a:p>
        </p:txBody>
      </p:sp>
      <p:sp>
        <p:nvSpPr>
          <p:cNvPr id="8" name="TextBox 7"/>
          <p:cNvSpPr txBox="1"/>
          <p:nvPr/>
        </p:nvSpPr>
        <p:spPr>
          <a:xfrm>
            <a:off x="685800" y="2514600"/>
            <a:ext cx="3291839" cy="1051560"/>
          </a:xfrm>
          <a:prstGeom prst="rect">
            <a:avLst/>
          </a:prstGeom>
          <a:noFill/>
        </p:spPr>
        <p:txBody>
          <a:bodyPr wrap="square" lIns="0" tIns="0" rIns="0" bIns="0" anchor="t">
            <a:spAutoFit/>
          </a:bodyPr>
          <a:lstStyle/>
          <a:p>
            <a:pPr algn="l"/>
            <a:r>
              <a:rPr sz="1000" b="0">
                <a:solidFill>
                  <a:srgbClr val="475569"/>
                </a:solidFill>
                <a:latin typeface="Calibri"/>
              </a:rPr>
              <a:t>No marketplace credentialing platform ships a built-in provider self-service RAG copilot AND a staff compliance coach (see slide 6). Closest vendor (Medallion) offers limited chat; nothing in the enterprise tier offers either.</a:t>
            </a:r>
          </a:p>
        </p:txBody>
      </p:sp>
      <p:sp>
        <p:nvSpPr>
          <p:cNvPr id="9" name="Rounded Rectangle 8"/>
          <p:cNvSpPr/>
          <p:nvPr/>
        </p:nvSpPr>
        <p:spPr>
          <a:xfrm>
            <a:off x="4297679" y="1828800"/>
            <a:ext cx="3749039" cy="192024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297679" y="1828800"/>
            <a:ext cx="3749039" cy="914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26279" y="2011680"/>
            <a:ext cx="3291839" cy="411480"/>
          </a:xfrm>
          <a:prstGeom prst="rect">
            <a:avLst/>
          </a:prstGeom>
          <a:noFill/>
        </p:spPr>
        <p:txBody>
          <a:bodyPr wrap="square" lIns="0" tIns="0" rIns="0" bIns="0" anchor="t">
            <a:spAutoFit/>
          </a:bodyPr>
          <a:lstStyle/>
          <a:p>
            <a:pPr algn="l"/>
            <a:r>
              <a:rPr sz="1200" b="1">
                <a:solidFill>
                  <a:srgbClr val="0F172A"/>
                </a:solidFill>
                <a:latin typeface="Calibri"/>
              </a:rPr>
              <a:t>AI governance is unique</a:t>
            </a:r>
          </a:p>
        </p:txBody>
      </p:sp>
      <p:sp>
        <p:nvSpPr>
          <p:cNvPr id="12" name="TextBox 11"/>
          <p:cNvSpPr txBox="1"/>
          <p:nvPr/>
        </p:nvSpPr>
        <p:spPr>
          <a:xfrm>
            <a:off x="4526279" y="2514600"/>
            <a:ext cx="3291839" cy="1051560"/>
          </a:xfrm>
          <a:prstGeom prst="rect">
            <a:avLst/>
          </a:prstGeom>
          <a:noFill/>
        </p:spPr>
        <p:txBody>
          <a:bodyPr wrap="square" lIns="0" tIns="0" rIns="0" bIns="0" anchor="t">
            <a:spAutoFit/>
          </a:bodyPr>
          <a:lstStyle/>
          <a:p>
            <a:pPr algn="l"/>
            <a:r>
              <a:rPr sz="1000" b="0">
                <a:solidFill>
                  <a:srgbClr val="475569"/>
                </a:solidFill>
                <a:latin typeface="Calibri"/>
              </a:rPr>
              <a:t>Model cards + tamper-evident decision log + human-in-the-loop guardrails (see slide 7) are HITRUST/SOC 2 differentiators that no marketplace vendor advertises. Required as auditors' AI scrutiny accelerates.</a:t>
            </a:r>
          </a:p>
        </p:txBody>
      </p:sp>
      <p:sp>
        <p:nvSpPr>
          <p:cNvPr id="13" name="Rounded Rectangle 12"/>
          <p:cNvSpPr/>
          <p:nvPr/>
        </p:nvSpPr>
        <p:spPr>
          <a:xfrm>
            <a:off x="8138159" y="1828800"/>
            <a:ext cx="3749039" cy="192024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38159" y="1828800"/>
            <a:ext cx="3749039"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66759" y="2011680"/>
            <a:ext cx="3291839" cy="411480"/>
          </a:xfrm>
          <a:prstGeom prst="rect">
            <a:avLst/>
          </a:prstGeom>
          <a:noFill/>
        </p:spPr>
        <p:txBody>
          <a:bodyPr wrap="square" lIns="0" tIns="0" rIns="0" bIns="0" anchor="t">
            <a:spAutoFit/>
          </a:bodyPr>
          <a:lstStyle/>
          <a:p>
            <a:pPr algn="l"/>
            <a:r>
              <a:rPr sz="1200" b="1">
                <a:solidFill>
                  <a:srgbClr val="0F172A"/>
                </a:solidFill>
                <a:latin typeface="Calibri"/>
              </a:rPr>
              <a:t>Standards interop is ahead</a:t>
            </a:r>
          </a:p>
        </p:txBody>
      </p:sp>
      <p:sp>
        <p:nvSpPr>
          <p:cNvPr id="16" name="TextBox 15"/>
          <p:cNvSpPr txBox="1"/>
          <p:nvPr/>
        </p:nvSpPr>
        <p:spPr>
          <a:xfrm>
            <a:off x="8366759" y="2514600"/>
            <a:ext cx="3291839" cy="1051560"/>
          </a:xfrm>
          <a:prstGeom prst="rect">
            <a:avLst/>
          </a:prstGeom>
          <a:noFill/>
        </p:spPr>
        <p:txBody>
          <a:bodyPr wrap="square" lIns="0" tIns="0" rIns="0" bIns="0" anchor="t">
            <a:spAutoFit/>
          </a:bodyPr>
          <a:lstStyle/>
          <a:p>
            <a:pPr algn="l"/>
            <a:r>
              <a:rPr sz="1000" b="0">
                <a:solidFill>
                  <a:srgbClr val="475569"/>
                </a:solidFill>
                <a:latin typeface="Calibri"/>
              </a:rPr>
              <a:t>FHIR R4 Provider Directory (CMS-0057-F) is rare in this market — most vendors have a roadmap, ESSEN has it shipped. Public REST API + scoped tokens enable partner integrations without sales calls.</a:t>
            </a:r>
          </a:p>
        </p:txBody>
      </p:sp>
      <p:sp>
        <p:nvSpPr>
          <p:cNvPr id="17" name="Rounded Rectangle 16"/>
          <p:cNvSpPr/>
          <p:nvPr/>
        </p:nvSpPr>
        <p:spPr>
          <a:xfrm>
            <a:off x="457200" y="3913632"/>
            <a:ext cx="3749039" cy="192024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3913632"/>
            <a:ext cx="3749039"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4096512"/>
            <a:ext cx="3291839" cy="411480"/>
          </a:xfrm>
          <a:prstGeom prst="rect">
            <a:avLst/>
          </a:prstGeom>
          <a:noFill/>
        </p:spPr>
        <p:txBody>
          <a:bodyPr wrap="square" lIns="0" tIns="0" rIns="0" bIns="0" anchor="t">
            <a:spAutoFit/>
          </a:bodyPr>
          <a:lstStyle/>
          <a:p>
            <a:pPr algn="l"/>
            <a:r>
              <a:rPr sz="1200" b="1">
                <a:solidFill>
                  <a:srgbClr val="0F172A"/>
                </a:solidFill>
                <a:latin typeface="Calibri"/>
              </a:rPr>
              <a:t>Data ownership stays at Essen</a:t>
            </a:r>
          </a:p>
        </p:txBody>
      </p:sp>
      <p:sp>
        <p:nvSpPr>
          <p:cNvPr id="20" name="TextBox 19"/>
          <p:cNvSpPr txBox="1"/>
          <p:nvPr/>
        </p:nvSpPr>
        <p:spPr>
          <a:xfrm>
            <a:off x="685800" y="4599432"/>
            <a:ext cx="3291839" cy="1051560"/>
          </a:xfrm>
          <a:prstGeom prst="rect">
            <a:avLst/>
          </a:prstGeom>
          <a:noFill/>
        </p:spPr>
        <p:txBody>
          <a:bodyPr wrap="square" lIns="0" tIns="0" rIns="0" bIns="0" anchor="t">
            <a:spAutoFit/>
          </a:bodyPr>
          <a:lstStyle/>
          <a:p>
            <a:pPr algn="l"/>
            <a:r>
              <a:rPr sz="1000" b="0">
                <a:solidFill>
                  <a:srgbClr val="475569"/>
                </a:solidFill>
                <a:latin typeface="Calibri"/>
              </a:rPr>
              <a:t>ESSEN is owned, not rented. PHI never leaves Essen's Azure tenant. Marketplace SaaS vendors require BAAs but co-mingle data in multi-tenant infrastructure.</a:t>
            </a:r>
          </a:p>
        </p:txBody>
      </p:sp>
      <p:sp>
        <p:nvSpPr>
          <p:cNvPr id="21" name="Rounded Rectangle 20"/>
          <p:cNvSpPr/>
          <p:nvPr/>
        </p:nvSpPr>
        <p:spPr>
          <a:xfrm>
            <a:off x="4297679" y="3913632"/>
            <a:ext cx="3749039" cy="192024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297679" y="3913632"/>
            <a:ext cx="3749039"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26279" y="4096512"/>
            <a:ext cx="3291839" cy="411480"/>
          </a:xfrm>
          <a:prstGeom prst="rect">
            <a:avLst/>
          </a:prstGeom>
          <a:noFill/>
        </p:spPr>
        <p:txBody>
          <a:bodyPr wrap="square" lIns="0" tIns="0" rIns="0" bIns="0" anchor="t">
            <a:spAutoFit/>
          </a:bodyPr>
          <a:lstStyle/>
          <a:p>
            <a:pPr algn="l"/>
            <a:r>
              <a:rPr sz="1200" b="1">
                <a:solidFill>
                  <a:srgbClr val="0F172A"/>
                </a:solidFill>
                <a:latin typeface="Calibri"/>
              </a:rPr>
              <a:t>All-in cost advantage</a:t>
            </a:r>
          </a:p>
        </p:txBody>
      </p:sp>
      <p:sp>
        <p:nvSpPr>
          <p:cNvPr id="24" name="TextBox 23"/>
          <p:cNvSpPr txBox="1"/>
          <p:nvPr/>
        </p:nvSpPr>
        <p:spPr>
          <a:xfrm>
            <a:off x="4526279" y="4599432"/>
            <a:ext cx="3291839" cy="1051560"/>
          </a:xfrm>
          <a:prstGeom prst="rect">
            <a:avLst/>
          </a:prstGeom>
          <a:noFill/>
        </p:spPr>
        <p:txBody>
          <a:bodyPr wrap="square" lIns="0" tIns="0" rIns="0" bIns="0" anchor="t">
            <a:spAutoFit/>
          </a:bodyPr>
          <a:lstStyle/>
          <a:p>
            <a:pPr algn="l"/>
            <a:r>
              <a:rPr sz="1000" b="0">
                <a:solidFill>
                  <a:srgbClr val="475569"/>
                </a:solidFill>
                <a:latin typeface="Calibri"/>
              </a:rPr>
              <a:t>Marketplace SaaS pricing is $40–$120 per provider per month. ESSEN amortizes a one-time build over the provider population at 10–15× lower TCO at Essen's scale.</a:t>
            </a:r>
          </a:p>
        </p:txBody>
      </p:sp>
      <p:sp>
        <p:nvSpPr>
          <p:cNvPr id="25" name="Rounded Rectangle 24"/>
          <p:cNvSpPr/>
          <p:nvPr/>
        </p:nvSpPr>
        <p:spPr>
          <a:xfrm>
            <a:off x="8138159" y="3913632"/>
            <a:ext cx="3749039" cy="192024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138159" y="3913632"/>
            <a:ext cx="3749039"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66759" y="4096512"/>
            <a:ext cx="3291839" cy="411480"/>
          </a:xfrm>
          <a:prstGeom prst="rect">
            <a:avLst/>
          </a:prstGeom>
          <a:noFill/>
        </p:spPr>
        <p:txBody>
          <a:bodyPr wrap="square" lIns="0" tIns="0" rIns="0" bIns="0" anchor="t">
            <a:spAutoFit/>
          </a:bodyPr>
          <a:lstStyle/>
          <a:p>
            <a:pPr algn="l"/>
            <a:r>
              <a:rPr sz="1200" b="1">
                <a:solidFill>
                  <a:srgbClr val="0F172A"/>
                </a:solidFill>
                <a:latin typeface="Calibri"/>
              </a:rPr>
              <a:t>Behavioral-health specialty fit</a:t>
            </a:r>
          </a:p>
        </p:txBody>
      </p:sp>
      <p:sp>
        <p:nvSpPr>
          <p:cNvPr id="28" name="TextBox 27"/>
          <p:cNvSpPr txBox="1"/>
          <p:nvPr/>
        </p:nvSpPr>
        <p:spPr>
          <a:xfrm>
            <a:off x="8366759" y="4599432"/>
            <a:ext cx="3291839" cy="1051560"/>
          </a:xfrm>
          <a:prstGeom prst="rect">
            <a:avLst/>
          </a:prstGeom>
          <a:noFill/>
        </p:spPr>
        <p:txBody>
          <a:bodyPr wrap="square" lIns="0" tIns="0" rIns="0" bIns="0" anchor="t">
            <a:spAutoFit/>
          </a:bodyPr>
          <a:lstStyle/>
          <a:p>
            <a:pPr algn="l"/>
            <a:r>
              <a:rPr sz="1000" b="0">
                <a:solidFill>
                  <a:srgbClr val="475569"/>
                </a:solidFill>
                <a:latin typeface="Calibri"/>
              </a:rPr>
              <a:t>Most marketplace tools were built around physician credentialing. ESSEN's NUCC taxonomy + supervision attestations + BCBS fast-track match Essen's actual provider mix.</a:t>
            </a:r>
          </a:p>
        </p:txBody>
      </p:sp>
      <p:sp>
        <p:nvSpPr>
          <p:cNvPr id="29" name="TextBox 28"/>
          <p:cNvSpPr txBox="1"/>
          <p:nvPr/>
        </p:nvSpPr>
        <p:spPr>
          <a:xfrm>
            <a:off x="457200" y="6446520"/>
            <a:ext cx="5486400" cy="274320"/>
          </a:xfrm>
          <a:prstGeom prst="rect">
            <a:avLst/>
          </a:prstGeom>
          <a:noFill/>
        </p:spPr>
        <p:txBody>
          <a:bodyPr wrap="square" lIns="0" tIns="0" rIns="0" bIns="0" anchor="t">
            <a:spAutoFit/>
          </a:bodyPr>
          <a:lstStyle/>
          <a:p>
            <a:pPr algn="l"/>
            <a:r>
              <a:rPr sz="900" b="0">
                <a:solidFill>
                  <a:srgbClr val="475569"/>
                </a:solidFill>
                <a:latin typeface="Calibri"/>
              </a:rPr>
              <a:t>ESSEN Credentialing Platform</a:t>
            </a:r>
          </a:p>
        </p:txBody>
      </p:sp>
      <p:sp>
        <p:nvSpPr>
          <p:cNvPr id="30" name="TextBox 29"/>
          <p:cNvSpPr txBox="1"/>
          <p:nvPr/>
        </p:nvSpPr>
        <p:spPr>
          <a:xfrm>
            <a:off x="10058400" y="6446520"/>
            <a:ext cx="1554480" cy="274320"/>
          </a:xfrm>
          <a:prstGeom prst="rect">
            <a:avLst/>
          </a:prstGeom>
          <a:noFill/>
        </p:spPr>
        <p:txBody>
          <a:bodyPr wrap="square" lIns="0" tIns="0" rIns="0" bIns="0" anchor="t">
            <a:spAutoFit/>
          </a:bodyPr>
          <a:lstStyle/>
          <a:p>
            <a:pPr algn="r"/>
            <a:r>
              <a:rPr sz="900" b="1">
                <a:solidFill>
                  <a:srgbClr val="00A3E0"/>
                </a:solidFill>
                <a:latin typeface="Calibr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430000" cy="274320"/>
          </a:xfrm>
          <a:prstGeom prst="rect">
            <a:avLst/>
          </a:prstGeom>
          <a:noFill/>
        </p:spPr>
        <p:txBody>
          <a:bodyPr wrap="square" lIns="0" tIns="0" rIns="0" bIns="0" anchor="t">
            <a:spAutoFit/>
          </a:bodyPr>
          <a:lstStyle/>
          <a:p>
            <a:pPr algn="l"/>
            <a:r>
              <a:rPr sz="1100" b="1">
                <a:solidFill>
                  <a:srgbClr val="00A3E0"/>
                </a:solidFill>
                <a:latin typeface="Calibri"/>
              </a:rPr>
              <a:t>HONEST ASSESSMENT</a:t>
            </a:r>
          </a:p>
        </p:txBody>
      </p:sp>
      <p:sp>
        <p:nvSpPr>
          <p:cNvPr id="3" name="TextBox 2"/>
          <p:cNvSpPr txBox="1"/>
          <p:nvPr/>
        </p:nvSpPr>
        <p:spPr>
          <a:xfrm>
            <a:off x="457200" y="594360"/>
            <a:ext cx="11430000" cy="594360"/>
          </a:xfrm>
          <a:prstGeom prst="rect">
            <a:avLst/>
          </a:prstGeom>
          <a:noFill/>
        </p:spPr>
        <p:txBody>
          <a:bodyPr wrap="square" lIns="0" tIns="0" rIns="0" bIns="0" anchor="t">
            <a:spAutoFit/>
          </a:bodyPr>
          <a:lstStyle/>
          <a:p>
            <a:pPr algn="l"/>
            <a:r>
              <a:rPr sz="2800" b="1">
                <a:solidFill>
                  <a:srgbClr val="0F172A"/>
                </a:solidFill>
                <a:latin typeface="Calibri"/>
              </a:rPr>
              <a:t>Where the Market Has an Edge — and How We Close It</a:t>
            </a:r>
          </a:p>
        </p:txBody>
      </p:sp>
      <p:sp>
        <p:nvSpPr>
          <p:cNvPr id="4" name="TextBox 3"/>
          <p:cNvSpPr txBox="1"/>
          <p:nvPr/>
        </p:nvSpPr>
        <p:spPr>
          <a:xfrm>
            <a:off x="457200" y="1188720"/>
            <a:ext cx="11430000" cy="411480"/>
          </a:xfrm>
          <a:prstGeom prst="rect">
            <a:avLst/>
          </a:prstGeom>
          <a:noFill/>
        </p:spPr>
        <p:txBody>
          <a:bodyPr wrap="square" lIns="0" tIns="0" rIns="0" bIns="0" anchor="t">
            <a:spAutoFit/>
          </a:bodyPr>
          <a:lstStyle/>
          <a:p>
            <a:pPr algn="l"/>
            <a:r>
              <a:rPr sz="1400" b="0">
                <a:solidFill>
                  <a:srgbClr val="475569"/>
                </a:solidFill>
                <a:latin typeface="Calibri"/>
              </a:rPr>
              <a:t>Three areas where well-funded vendors will be ahead of us. Each has a planned response.</a:t>
            </a:r>
          </a:p>
        </p:txBody>
      </p:sp>
      <p:sp>
        <p:nvSpPr>
          <p:cNvPr id="5" name="Rectangle 4"/>
          <p:cNvSpPr/>
          <p:nvPr/>
        </p:nvSpPr>
        <p:spPr>
          <a:xfrm>
            <a:off x="457200" y="1828800"/>
            <a:ext cx="310896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920240"/>
            <a:ext cx="2926079" cy="320040"/>
          </a:xfrm>
          <a:prstGeom prst="rect">
            <a:avLst/>
          </a:prstGeom>
          <a:noFill/>
        </p:spPr>
        <p:txBody>
          <a:bodyPr wrap="square" lIns="0" tIns="0" rIns="0" bIns="0" anchor="ctr">
            <a:spAutoFit/>
          </a:bodyPr>
          <a:lstStyle/>
          <a:p>
            <a:pPr algn="l"/>
            <a:r>
              <a:rPr sz="1100" b="1">
                <a:solidFill>
                  <a:srgbClr val="FFFFFF"/>
                </a:solidFill>
                <a:latin typeface="Calibri"/>
              </a:rPr>
              <a:t>Where they're ahead</a:t>
            </a:r>
          </a:p>
        </p:txBody>
      </p:sp>
      <p:sp>
        <p:nvSpPr>
          <p:cNvPr id="7" name="Rectangle 6"/>
          <p:cNvSpPr/>
          <p:nvPr/>
        </p:nvSpPr>
        <p:spPr>
          <a:xfrm>
            <a:off x="3566160" y="1828800"/>
            <a:ext cx="402336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0" y="1920240"/>
            <a:ext cx="3840480" cy="320040"/>
          </a:xfrm>
          <a:prstGeom prst="rect">
            <a:avLst/>
          </a:prstGeom>
          <a:noFill/>
        </p:spPr>
        <p:txBody>
          <a:bodyPr wrap="square" lIns="0" tIns="0" rIns="0" bIns="0" anchor="ctr">
            <a:spAutoFit/>
          </a:bodyPr>
          <a:lstStyle/>
          <a:p>
            <a:pPr algn="l"/>
            <a:r>
              <a:rPr sz="1100" b="1">
                <a:solidFill>
                  <a:srgbClr val="FFFFFF"/>
                </a:solidFill>
                <a:latin typeface="Calibri"/>
              </a:rPr>
              <a:t>Why it matters</a:t>
            </a:r>
          </a:p>
        </p:txBody>
      </p:sp>
      <p:sp>
        <p:nvSpPr>
          <p:cNvPr id="9" name="Rectangle 8"/>
          <p:cNvSpPr/>
          <p:nvPr/>
        </p:nvSpPr>
        <p:spPr>
          <a:xfrm>
            <a:off x="7589520" y="1828800"/>
            <a:ext cx="411480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80960" y="1920240"/>
            <a:ext cx="3931920" cy="320040"/>
          </a:xfrm>
          <a:prstGeom prst="rect">
            <a:avLst/>
          </a:prstGeom>
          <a:noFill/>
        </p:spPr>
        <p:txBody>
          <a:bodyPr wrap="square" lIns="0" tIns="0" rIns="0" bIns="0" anchor="ctr">
            <a:spAutoFit/>
          </a:bodyPr>
          <a:lstStyle/>
          <a:p>
            <a:pPr algn="l"/>
            <a:r>
              <a:rPr sz="1100" b="1">
                <a:solidFill>
                  <a:srgbClr val="FFFFFF"/>
                </a:solidFill>
                <a:latin typeface="Calibri"/>
              </a:rPr>
              <a:t>How we respond</a:t>
            </a:r>
          </a:p>
        </p:txBody>
      </p:sp>
      <p:sp>
        <p:nvSpPr>
          <p:cNvPr id="11" name="Rectangle 10"/>
          <p:cNvSpPr/>
          <p:nvPr/>
        </p:nvSpPr>
        <p:spPr>
          <a:xfrm>
            <a:off x="457200" y="2331720"/>
            <a:ext cx="3108960" cy="7772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2377439"/>
            <a:ext cx="2926079" cy="685800"/>
          </a:xfrm>
          <a:prstGeom prst="rect">
            <a:avLst/>
          </a:prstGeom>
          <a:noFill/>
        </p:spPr>
        <p:txBody>
          <a:bodyPr wrap="square" lIns="0" tIns="0" rIns="0" bIns="0" anchor="ctr">
            <a:spAutoFit/>
          </a:bodyPr>
          <a:lstStyle/>
          <a:p>
            <a:pPr algn="l"/>
            <a:r>
              <a:rPr sz="1000" b="1">
                <a:solidFill>
                  <a:srgbClr val="0F172A"/>
                </a:solidFill>
                <a:latin typeface="Calibri"/>
              </a:rPr>
              <a:t>Brand &amp; vendor risk reputation</a:t>
            </a:r>
          </a:p>
        </p:txBody>
      </p:sp>
      <p:sp>
        <p:nvSpPr>
          <p:cNvPr id="13" name="Rectangle 12"/>
          <p:cNvSpPr/>
          <p:nvPr/>
        </p:nvSpPr>
        <p:spPr>
          <a:xfrm>
            <a:off x="3566160" y="2331720"/>
            <a:ext cx="4023360" cy="7772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0" y="2377439"/>
            <a:ext cx="3840480" cy="685800"/>
          </a:xfrm>
          <a:prstGeom prst="rect">
            <a:avLst/>
          </a:prstGeom>
          <a:noFill/>
        </p:spPr>
        <p:txBody>
          <a:bodyPr wrap="square" lIns="0" tIns="0" rIns="0" bIns="0" anchor="ctr">
            <a:spAutoFit/>
          </a:bodyPr>
          <a:lstStyle/>
          <a:p>
            <a:pPr algn="l"/>
            <a:r>
              <a:rPr sz="1000" b="0">
                <a:solidFill>
                  <a:srgbClr val="0F172A"/>
                </a:solidFill>
                <a:latin typeface="Calibri"/>
              </a:rPr>
              <a:t>Buy-side prefers a known logo on RFPs. Medallion / symplr have name recognition.</a:t>
            </a:r>
          </a:p>
        </p:txBody>
      </p:sp>
      <p:sp>
        <p:nvSpPr>
          <p:cNvPr id="15" name="Rectangle 14"/>
          <p:cNvSpPr/>
          <p:nvPr/>
        </p:nvSpPr>
        <p:spPr>
          <a:xfrm>
            <a:off x="7589520" y="2331720"/>
            <a:ext cx="4114800" cy="7772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80960" y="2377439"/>
            <a:ext cx="3931920" cy="685800"/>
          </a:xfrm>
          <a:prstGeom prst="rect">
            <a:avLst/>
          </a:prstGeom>
          <a:noFill/>
        </p:spPr>
        <p:txBody>
          <a:bodyPr wrap="square" lIns="0" tIns="0" rIns="0" bIns="0" anchor="ctr">
            <a:spAutoFit/>
          </a:bodyPr>
          <a:lstStyle/>
          <a:p>
            <a:pPr algn="l"/>
            <a:r>
              <a:rPr sz="1000" b="0">
                <a:solidFill>
                  <a:srgbClr val="0F172A"/>
                </a:solidFill>
                <a:latin typeface="Calibri"/>
              </a:rPr>
              <a:t>Position ESSEN as an internal platform, not a vendor. SOC 2 Type II + HITRUST attestation, customer references, KLAS-style independent review.</a:t>
            </a:r>
          </a:p>
        </p:txBody>
      </p:sp>
      <p:sp>
        <p:nvSpPr>
          <p:cNvPr id="17" name="Rectangle 16"/>
          <p:cNvSpPr/>
          <p:nvPr/>
        </p:nvSpPr>
        <p:spPr>
          <a:xfrm>
            <a:off x="457200" y="3108960"/>
            <a:ext cx="3108960" cy="77724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3154679"/>
            <a:ext cx="2926079" cy="685800"/>
          </a:xfrm>
          <a:prstGeom prst="rect">
            <a:avLst/>
          </a:prstGeom>
          <a:noFill/>
        </p:spPr>
        <p:txBody>
          <a:bodyPr wrap="square" lIns="0" tIns="0" rIns="0" bIns="0" anchor="ctr">
            <a:spAutoFit/>
          </a:bodyPr>
          <a:lstStyle/>
          <a:p>
            <a:pPr algn="l"/>
            <a:r>
              <a:rPr sz="1000" b="1">
                <a:solidFill>
                  <a:srgbClr val="0F172A"/>
                </a:solidFill>
                <a:latin typeface="Calibri"/>
              </a:rPr>
              <a:t>Network effect across customers</a:t>
            </a:r>
          </a:p>
        </p:txBody>
      </p:sp>
      <p:sp>
        <p:nvSpPr>
          <p:cNvPr id="19" name="Rectangle 18"/>
          <p:cNvSpPr/>
          <p:nvPr/>
        </p:nvSpPr>
        <p:spPr>
          <a:xfrm>
            <a:off x="3566160" y="3108960"/>
            <a:ext cx="4023360" cy="77724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0" y="3154679"/>
            <a:ext cx="3840480" cy="685800"/>
          </a:xfrm>
          <a:prstGeom prst="rect">
            <a:avLst/>
          </a:prstGeom>
          <a:noFill/>
        </p:spPr>
        <p:txBody>
          <a:bodyPr wrap="square" lIns="0" tIns="0" rIns="0" bIns="0" anchor="ctr">
            <a:spAutoFit/>
          </a:bodyPr>
          <a:lstStyle/>
          <a:p>
            <a:pPr algn="l"/>
            <a:r>
              <a:rPr sz="1000" b="0">
                <a:solidFill>
                  <a:srgbClr val="0F172A"/>
                </a:solidFill>
                <a:latin typeface="Calibri"/>
              </a:rPr>
              <a:t>SaaS vendors learn from the union of their customers' data — fraud patterns, common errors, payer quirks.</a:t>
            </a:r>
          </a:p>
        </p:txBody>
      </p:sp>
      <p:sp>
        <p:nvSpPr>
          <p:cNvPr id="21" name="Rectangle 20"/>
          <p:cNvSpPr/>
          <p:nvPr/>
        </p:nvSpPr>
        <p:spPr>
          <a:xfrm>
            <a:off x="7589520" y="3108960"/>
            <a:ext cx="4114800" cy="77724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0" y="3154679"/>
            <a:ext cx="3931920" cy="685800"/>
          </a:xfrm>
          <a:prstGeom prst="rect">
            <a:avLst/>
          </a:prstGeom>
          <a:noFill/>
        </p:spPr>
        <p:txBody>
          <a:bodyPr wrap="square" lIns="0" tIns="0" rIns="0" bIns="0" anchor="ctr">
            <a:spAutoFit/>
          </a:bodyPr>
          <a:lstStyle/>
          <a:p>
            <a:pPr algn="l"/>
            <a:r>
              <a:rPr sz="1000" b="0">
                <a:solidFill>
                  <a:srgbClr val="0F172A"/>
                </a:solidFill>
                <a:latin typeface="Calibri"/>
              </a:rPr>
              <a:t>Federate de-identified telemetry across HD Pulse AI deployments. Lawful, privacy-preserving aggregation of bot success rates and payer ack patterns.</a:t>
            </a:r>
          </a:p>
        </p:txBody>
      </p:sp>
      <p:sp>
        <p:nvSpPr>
          <p:cNvPr id="23" name="Rectangle 22"/>
          <p:cNvSpPr/>
          <p:nvPr/>
        </p:nvSpPr>
        <p:spPr>
          <a:xfrm>
            <a:off x="457200" y="3886200"/>
            <a:ext cx="3108960" cy="7772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3931920"/>
            <a:ext cx="2926079" cy="685800"/>
          </a:xfrm>
          <a:prstGeom prst="rect">
            <a:avLst/>
          </a:prstGeom>
          <a:noFill/>
        </p:spPr>
        <p:txBody>
          <a:bodyPr wrap="square" lIns="0" tIns="0" rIns="0" bIns="0" anchor="ctr">
            <a:spAutoFit/>
          </a:bodyPr>
          <a:lstStyle/>
          <a:p>
            <a:pPr algn="l"/>
            <a:r>
              <a:rPr sz="1000" b="1">
                <a:solidFill>
                  <a:srgbClr val="0F172A"/>
                </a:solidFill>
                <a:latin typeface="Calibri"/>
              </a:rPr>
              <a:t>24×7 vendor support</a:t>
            </a:r>
          </a:p>
        </p:txBody>
      </p:sp>
      <p:sp>
        <p:nvSpPr>
          <p:cNvPr id="25" name="Rectangle 24"/>
          <p:cNvSpPr/>
          <p:nvPr/>
        </p:nvSpPr>
        <p:spPr>
          <a:xfrm>
            <a:off x="3566160" y="3886200"/>
            <a:ext cx="4023360" cy="7772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0" y="3931920"/>
            <a:ext cx="3840480" cy="685800"/>
          </a:xfrm>
          <a:prstGeom prst="rect">
            <a:avLst/>
          </a:prstGeom>
          <a:noFill/>
        </p:spPr>
        <p:txBody>
          <a:bodyPr wrap="square" lIns="0" tIns="0" rIns="0" bIns="0" anchor="ctr">
            <a:spAutoFit/>
          </a:bodyPr>
          <a:lstStyle/>
          <a:p>
            <a:pPr algn="l"/>
            <a:r>
              <a:rPr sz="1000" b="0">
                <a:solidFill>
                  <a:srgbClr val="0F172A"/>
                </a:solidFill>
                <a:latin typeface="Calibri"/>
              </a:rPr>
              <a:t>Enterprise vendors have follow-the-sun support teams.</a:t>
            </a:r>
          </a:p>
        </p:txBody>
      </p:sp>
      <p:sp>
        <p:nvSpPr>
          <p:cNvPr id="27" name="Rectangle 26"/>
          <p:cNvSpPr/>
          <p:nvPr/>
        </p:nvSpPr>
        <p:spPr>
          <a:xfrm>
            <a:off x="7589520" y="3886200"/>
            <a:ext cx="4114800" cy="7772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80960" y="3931920"/>
            <a:ext cx="3931920" cy="685800"/>
          </a:xfrm>
          <a:prstGeom prst="rect">
            <a:avLst/>
          </a:prstGeom>
          <a:noFill/>
        </p:spPr>
        <p:txBody>
          <a:bodyPr wrap="square" lIns="0" tIns="0" rIns="0" bIns="0" anchor="ctr">
            <a:spAutoFit/>
          </a:bodyPr>
          <a:lstStyle/>
          <a:p>
            <a:pPr algn="l"/>
            <a:r>
              <a:rPr sz="1000" b="0">
                <a:solidFill>
                  <a:srgbClr val="0F172A"/>
                </a:solidFill>
                <a:latin typeface="Calibri"/>
              </a:rPr>
              <a:t>Already addressed: HD Pulse AI dev team owns the platform. Runbooks, alerting, and on-call rotation are in production.</a:t>
            </a:r>
          </a:p>
        </p:txBody>
      </p:sp>
      <p:sp>
        <p:nvSpPr>
          <p:cNvPr id="29" name="Rectangle 28"/>
          <p:cNvSpPr/>
          <p:nvPr/>
        </p:nvSpPr>
        <p:spPr>
          <a:xfrm>
            <a:off x="457200" y="4663440"/>
            <a:ext cx="3108960" cy="77724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8640" y="4709159"/>
            <a:ext cx="2926079" cy="685800"/>
          </a:xfrm>
          <a:prstGeom prst="rect">
            <a:avLst/>
          </a:prstGeom>
          <a:noFill/>
        </p:spPr>
        <p:txBody>
          <a:bodyPr wrap="square" lIns="0" tIns="0" rIns="0" bIns="0" anchor="ctr">
            <a:spAutoFit/>
          </a:bodyPr>
          <a:lstStyle/>
          <a:p>
            <a:pPr algn="l"/>
            <a:r>
              <a:rPr sz="1000" b="1">
                <a:solidFill>
                  <a:srgbClr val="0F172A"/>
                </a:solidFill>
                <a:latin typeface="Calibri"/>
              </a:rPr>
              <a:t>Pre-built payer roster templates</a:t>
            </a:r>
          </a:p>
        </p:txBody>
      </p:sp>
      <p:sp>
        <p:nvSpPr>
          <p:cNvPr id="31" name="Rectangle 30"/>
          <p:cNvSpPr/>
          <p:nvPr/>
        </p:nvSpPr>
        <p:spPr>
          <a:xfrm>
            <a:off x="3566160" y="4663440"/>
            <a:ext cx="4023360" cy="77724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657600" y="4709159"/>
            <a:ext cx="3840480" cy="685800"/>
          </a:xfrm>
          <a:prstGeom prst="rect">
            <a:avLst/>
          </a:prstGeom>
          <a:noFill/>
        </p:spPr>
        <p:txBody>
          <a:bodyPr wrap="square" lIns="0" tIns="0" rIns="0" bIns="0" anchor="ctr">
            <a:spAutoFit/>
          </a:bodyPr>
          <a:lstStyle/>
          <a:p>
            <a:pPr algn="l"/>
            <a:r>
              <a:rPr sz="1000" b="0">
                <a:solidFill>
                  <a:srgbClr val="0F172A"/>
                </a:solidFill>
                <a:latin typeface="Calibri"/>
              </a:rPr>
              <a:t>VerityStream and symplr ship hundreds of payer-specific roster formats.</a:t>
            </a:r>
          </a:p>
        </p:txBody>
      </p:sp>
      <p:sp>
        <p:nvSpPr>
          <p:cNvPr id="33" name="Rectangle 32"/>
          <p:cNvSpPr/>
          <p:nvPr/>
        </p:nvSpPr>
        <p:spPr>
          <a:xfrm>
            <a:off x="7589520" y="4663440"/>
            <a:ext cx="4114800" cy="77724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680960" y="4709159"/>
            <a:ext cx="3931920" cy="685800"/>
          </a:xfrm>
          <a:prstGeom prst="rect">
            <a:avLst/>
          </a:prstGeom>
          <a:noFill/>
        </p:spPr>
        <p:txBody>
          <a:bodyPr wrap="square" lIns="0" tIns="0" rIns="0" bIns="0" anchor="ctr">
            <a:spAutoFit/>
          </a:bodyPr>
          <a:lstStyle/>
          <a:p>
            <a:pPr algn="l"/>
            <a:r>
              <a:rPr sz="1000" b="0">
                <a:solidFill>
                  <a:srgbClr val="0F172A"/>
                </a:solidFill>
                <a:latin typeface="Calibri"/>
              </a:rPr>
              <a:t>Each new payer onboarding adds a roster template. Library doubled in the last 60 days. Generic SFTP + per-payer config covers the long tail.</a:t>
            </a:r>
          </a:p>
        </p:txBody>
      </p:sp>
      <p:sp>
        <p:nvSpPr>
          <p:cNvPr id="35" name="Rectangle 34"/>
          <p:cNvSpPr/>
          <p:nvPr/>
        </p:nvSpPr>
        <p:spPr>
          <a:xfrm>
            <a:off x="457200" y="5440679"/>
            <a:ext cx="3108960" cy="7772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48640" y="5486399"/>
            <a:ext cx="2926079" cy="685800"/>
          </a:xfrm>
          <a:prstGeom prst="rect">
            <a:avLst/>
          </a:prstGeom>
          <a:noFill/>
        </p:spPr>
        <p:txBody>
          <a:bodyPr wrap="square" lIns="0" tIns="0" rIns="0" bIns="0" anchor="ctr">
            <a:spAutoFit/>
          </a:bodyPr>
          <a:lstStyle/>
          <a:p>
            <a:pPr algn="l"/>
            <a:r>
              <a:rPr sz="1000" b="1">
                <a:solidFill>
                  <a:srgbClr val="0F172A"/>
                </a:solidFill>
                <a:latin typeface="Calibri"/>
              </a:rPr>
              <a:t>Mobile native app</a:t>
            </a:r>
          </a:p>
        </p:txBody>
      </p:sp>
      <p:sp>
        <p:nvSpPr>
          <p:cNvPr id="37" name="Rectangle 36"/>
          <p:cNvSpPr/>
          <p:nvPr/>
        </p:nvSpPr>
        <p:spPr>
          <a:xfrm>
            <a:off x="3566160" y="5440679"/>
            <a:ext cx="4023360" cy="7772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0" y="5486399"/>
            <a:ext cx="3840480" cy="685800"/>
          </a:xfrm>
          <a:prstGeom prst="rect">
            <a:avLst/>
          </a:prstGeom>
          <a:noFill/>
        </p:spPr>
        <p:txBody>
          <a:bodyPr wrap="square" lIns="0" tIns="0" rIns="0" bIns="0" anchor="ctr">
            <a:spAutoFit/>
          </a:bodyPr>
          <a:lstStyle/>
          <a:p>
            <a:pPr algn="l"/>
            <a:r>
              <a:rPr sz="1000" b="0">
                <a:solidFill>
                  <a:srgbClr val="0F172A"/>
                </a:solidFill>
                <a:latin typeface="Calibri"/>
              </a:rPr>
              <a:t>Modio has a native iOS app for on-the-go credential checks.</a:t>
            </a:r>
          </a:p>
        </p:txBody>
      </p:sp>
      <p:sp>
        <p:nvSpPr>
          <p:cNvPr id="39" name="Rectangle 38"/>
          <p:cNvSpPr/>
          <p:nvPr/>
        </p:nvSpPr>
        <p:spPr>
          <a:xfrm>
            <a:off x="7589520" y="5440679"/>
            <a:ext cx="4114800" cy="7772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680960" y="5486399"/>
            <a:ext cx="3931920" cy="685800"/>
          </a:xfrm>
          <a:prstGeom prst="rect">
            <a:avLst/>
          </a:prstGeom>
          <a:noFill/>
        </p:spPr>
        <p:txBody>
          <a:bodyPr wrap="square" lIns="0" tIns="0" rIns="0" bIns="0" anchor="ctr">
            <a:spAutoFit/>
          </a:bodyPr>
          <a:lstStyle/>
          <a:p>
            <a:pPr algn="l"/>
            <a:r>
              <a:rPr sz="1000" b="0">
                <a:solidFill>
                  <a:srgbClr val="0F172A"/>
                </a:solidFill>
                <a:latin typeface="Calibri"/>
              </a:rPr>
              <a:t>ESSEN PWA already mobile-installable. Native iOS shell tracked for Q3 2026 if user research justifies it.</a:t>
            </a:r>
          </a:p>
        </p:txBody>
      </p:sp>
      <p:sp>
        <p:nvSpPr>
          <p:cNvPr id="41" name="TextBox 40"/>
          <p:cNvSpPr txBox="1"/>
          <p:nvPr/>
        </p:nvSpPr>
        <p:spPr>
          <a:xfrm>
            <a:off x="457200" y="6446520"/>
            <a:ext cx="5486400" cy="274320"/>
          </a:xfrm>
          <a:prstGeom prst="rect">
            <a:avLst/>
          </a:prstGeom>
          <a:noFill/>
        </p:spPr>
        <p:txBody>
          <a:bodyPr wrap="square" lIns="0" tIns="0" rIns="0" bIns="0" anchor="t">
            <a:spAutoFit/>
          </a:bodyPr>
          <a:lstStyle/>
          <a:p>
            <a:pPr algn="l"/>
            <a:r>
              <a:rPr sz="900" b="0">
                <a:solidFill>
                  <a:srgbClr val="475569"/>
                </a:solidFill>
                <a:latin typeface="Calibri"/>
              </a:rPr>
              <a:t>ESSEN Credentialing Platform</a:t>
            </a:r>
          </a:p>
        </p:txBody>
      </p:sp>
      <p:sp>
        <p:nvSpPr>
          <p:cNvPr id="42" name="TextBox 41"/>
          <p:cNvSpPr txBox="1"/>
          <p:nvPr/>
        </p:nvSpPr>
        <p:spPr>
          <a:xfrm>
            <a:off x="10058400" y="6446520"/>
            <a:ext cx="1554480" cy="274320"/>
          </a:xfrm>
          <a:prstGeom prst="rect">
            <a:avLst/>
          </a:prstGeom>
          <a:noFill/>
        </p:spPr>
        <p:txBody>
          <a:bodyPr wrap="square" lIns="0" tIns="0" rIns="0" bIns="0" anchor="t">
            <a:spAutoFit/>
          </a:bodyPr>
          <a:lstStyle/>
          <a:p>
            <a:pPr algn="r"/>
            <a:r>
              <a:rPr sz="900" b="1">
                <a:solidFill>
                  <a:srgbClr val="00A3E0"/>
                </a:solidFill>
                <a:latin typeface="Calibr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430000" cy="274320"/>
          </a:xfrm>
          <a:prstGeom prst="rect">
            <a:avLst/>
          </a:prstGeom>
          <a:noFill/>
        </p:spPr>
        <p:txBody>
          <a:bodyPr wrap="square" lIns="0" tIns="0" rIns="0" bIns="0" anchor="t">
            <a:spAutoFit/>
          </a:bodyPr>
          <a:lstStyle/>
          <a:p>
            <a:pPr algn="l"/>
            <a:r>
              <a:rPr sz="1100" b="1">
                <a:solidFill>
                  <a:srgbClr val="00A3E0"/>
                </a:solidFill>
                <a:latin typeface="Calibri"/>
              </a:rPr>
              <a:t>UPDATED ROI</a:t>
            </a:r>
          </a:p>
        </p:txBody>
      </p:sp>
      <p:sp>
        <p:nvSpPr>
          <p:cNvPr id="3" name="TextBox 2"/>
          <p:cNvSpPr txBox="1"/>
          <p:nvPr/>
        </p:nvSpPr>
        <p:spPr>
          <a:xfrm>
            <a:off x="457200" y="594360"/>
            <a:ext cx="11430000" cy="594360"/>
          </a:xfrm>
          <a:prstGeom prst="rect">
            <a:avLst/>
          </a:prstGeom>
          <a:noFill/>
        </p:spPr>
        <p:txBody>
          <a:bodyPr wrap="square" lIns="0" tIns="0" rIns="0" bIns="0" anchor="t">
            <a:spAutoFit/>
          </a:bodyPr>
          <a:lstStyle/>
          <a:p>
            <a:pPr algn="l"/>
            <a:r>
              <a:rPr sz="2800" b="1">
                <a:solidFill>
                  <a:srgbClr val="0F172A"/>
                </a:solidFill>
                <a:latin typeface="Calibri"/>
              </a:rPr>
              <a:t>Business Case Refresh</a:t>
            </a:r>
          </a:p>
        </p:txBody>
      </p:sp>
      <p:sp>
        <p:nvSpPr>
          <p:cNvPr id="4" name="TextBox 3"/>
          <p:cNvSpPr txBox="1"/>
          <p:nvPr/>
        </p:nvSpPr>
        <p:spPr>
          <a:xfrm>
            <a:off x="457200" y="1188720"/>
            <a:ext cx="11430000" cy="411480"/>
          </a:xfrm>
          <a:prstGeom prst="rect">
            <a:avLst/>
          </a:prstGeom>
          <a:noFill/>
        </p:spPr>
        <p:txBody>
          <a:bodyPr wrap="square" lIns="0" tIns="0" rIns="0" bIns="0" anchor="t">
            <a:spAutoFit/>
          </a:bodyPr>
          <a:lstStyle/>
          <a:p>
            <a:pPr algn="l"/>
            <a:r>
              <a:rPr sz="1400" b="0">
                <a:solidFill>
                  <a:srgbClr val="475569"/>
                </a:solidFill>
                <a:latin typeface="Calibri"/>
              </a:rPr>
              <a:t>Headline numbers, with the incremental impact of recent capability expansions broken out below.</a:t>
            </a:r>
          </a:p>
        </p:txBody>
      </p:sp>
      <p:sp>
        <p:nvSpPr>
          <p:cNvPr id="5" name="Rounded Rectangle 4"/>
          <p:cNvSpPr/>
          <p:nvPr/>
        </p:nvSpPr>
        <p:spPr>
          <a:xfrm>
            <a:off x="457200" y="1828800"/>
            <a:ext cx="2697480" cy="150876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103120"/>
            <a:ext cx="2331720" cy="1188720"/>
          </a:xfrm>
          <a:prstGeom prst="rect">
            <a:avLst/>
          </a:prstGeom>
          <a:noFill/>
        </p:spPr>
        <p:txBody>
          <a:bodyPr wrap="square" lIns="0" tIns="0" rIns="0" bIns="0" anchor="t">
            <a:spAutoFit/>
          </a:bodyPr>
          <a:lstStyle/>
          <a:p>
            <a:pPr algn="ctr"/>
            <a:r>
              <a:rPr sz="4400" b="1">
                <a:solidFill>
                  <a:srgbClr val="0F766E"/>
                </a:solidFill>
                <a:latin typeface="Calibri"/>
              </a:rPr>
              <a:t>100%</a:t>
            </a:r>
          </a:p>
        </p:txBody>
      </p:sp>
      <p:sp>
        <p:nvSpPr>
          <p:cNvPr id="7" name="TextBox 6"/>
          <p:cNvSpPr txBox="1"/>
          <p:nvPr/>
        </p:nvSpPr>
        <p:spPr>
          <a:xfrm>
            <a:off x="640080" y="2560320"/>
            <a:ext cx="2331720" cy="594360"/>
          </a:xfrm>
          <a:prstGeom prst="rect">
            <a:avLst/>
          </a:prstGeom>
          <a:noFill/>
        </p:spPr>
        <p:txBody>
          <a:bodyPr wrap="square" lIns="0" tIns="0" rIns="0" bIns="0" anchor="t">
            <a:spAutoFit/>
          </a:bodyPr>
          <a:lstStyle/>
          <a:p>
            <a:pPr algn="ctr"/>
            <a:r>
              <a:rPr sz="1100" b="0">
                <a:solidFill>
                  <a:srgbClr val="475569"/>
                </a:solidFill>
                <a:latin typeface="Calibri"/>
              </a:rPr>
              <a:t>NCQA CVO
product coverage</a:t>
            </a:r>
          </a:p>
        </p:txBody>
      </p:sp>
      <p:sp>
        <p:nvSpPr>
          <p:cNvPr id="8" name="Rounded Rectangle 7"/>
          <p:cNvSpPr/>
          <p:nvPr/>
        </p:nvSpPr>
        <p:spPr>
          <a:xfrm>
            <a:off x="3291840" y="1828800"/>
            <a:ext cx="2697480" cy="150876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74720" y="2103120"/>
            <a:ext cx="2331720" cy="1188720"/>
          </a:xfrm>
          <a:prstGeom prst="rect">
            <a:avLst/>
          </a:prstGeom>
          <a:noFill/>
        </p:spPr>
        <p:txBody>
          <a:bodyPr wrap="square" lIns="0" tIns="0" rIns="0" bIns="0" anchor="t">
            <a:spAutoFit/>
          </a:bodyPr>
          <a:lstStyle/>
          <a:p>
            <a:pPr algn="ctr"/>
            <a:r>
              <a:rPr sz="4400" b="1">
                <a:solidFill>
                  <a:srgbClr val="D97706"/>
                </a:solidFill>
                <a:latin typeface="Calibri"/>
              </a:rPr>
              <a:t>≤24h</a:t>
            </a:r>
          </a:p>
        </p:txBody>
      </p:sp>
      <p:sp>
        <p:nvSpPr>
          <p:cNvPr id="10" name="TextBox 9"/>
          <p:cNvSpPr txBox="1"/>
          <p:nvPr/>
        </p:nvSpPr>
        <p:spPr>
          <a:xfrm>
            <a:off x="3474720" y="2560320"/>
            <a:ext cx="2331720" cy="594360"/>
          </a:xfrm>
          <a:prstGeom prst="rect">
            <a:avLst/>
          </a:prstGeom>
          <a:noFill/>
        </p:spPr>
        <p:txBody>
          <a:bodyPr wrap="square" lIns="0" tIns="0" rIns="0" bIns="0" anchor="t">
            <a:spAutoFit/>
          </a:bodyPr>
          <a:lstStyle/>
          <a:p>
            <a:pPr algn="ctr"/>
            <a:r>
              <a:rPr sz="1100" b="0">
                <a:solidFill>
                  <a:srgbClr val="475569"/>
                </a:solidFill>
                <a:latin typeface="Calibri"/>
              </a:rPr>
              <a:t>NPDB adverse-action
detection (was 30+ days)</a:t>
            </a:r>
          </a:p>
        </p:txBody>
      </p:sp>
      <p:sp>
        <p:nvSpPr>
          <p:cNvPr id="11" name="Rounded Rectangle 10"/>
          <p:cNvSpPr/>
          <p:nvPr/>
        </p:nvSpPr>
        <p:spPr>
          <a:xfrm>
            <a:off x="6126480" y="1828800"/>
            <a:ext cx="2697480" cy="150876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0" y="2103120"/>
            <a:ext cx="2331720" cy="1188720"/>
          </a:xfrm>
          <a:prstGeom prst="rect">
            <a:avLst/>
          </a:prstGeom>
          <a:noFill/>
        </p:spPr>
        <p:txBody>
          <a:bodyPr wrap="square" lIns="0" tIns="0" rIns="0" bIns="0" anchor="t">
            <a:spAutoFit/>
          </a:bodyPr>
          <a:lstStyle/>
          <a:p>
            <a:pPr algn="ctr"/>
            <a:r>
              <a:rPr sz="4400" b="1">
                <a:solidFill>
                  <a:srgbClr val="00A3E0"/>
                </a:solidFill>
                <a:latin typeface="Calibri"/>
              </a:rPr>
              <a:t>11/11</a:t>
            </a:r>
          </a:p>
        </p:txBody>
      </p:sp>
      <p:sp>
        <p:nvSpPr>
          <p:cNvPr id="13" name="TextBox 12"/>
          <p:cNvSpPr txBox="1"/>
          <p:nvPr/>
        </p:nvSpPr>
        <p:spPr>
          <a:xfrm>
            <a:off x="6309360" y="2560320"/>
            <a:ext cx="2331720" cy="594360"/>
          </a:xfrm>
          <a:prstGeom prst="rect">
            <a:avLst/>
          </a:prstGeom>
          <a:noFill/>
        </p:spPr>
        <p:txBody>
          <a:bodyPr wrap="square" lIns="0" tIns="0" rIns="0" bIns="0" anchor="t">
            <a:spAutoFit/>
          </a:bodyPr>
          <a:lstStyle/>
          <a:p>
            <a:pPr algn="ctr"/>
            <a:r>
              <a:rPr sz="1100" b="0">
                <a:solidFill>
                  <a:srgbClr val="475569"/>
                </a:solidFill>
                <a:latin typeface="Calibri"/>
              </a:rPr>
              <a:t>Marketplace gaps closed (see grid)</a:t>
            </a:r>
          </a:p>
        </p:txBody>
      </p:sp>
      <p:sp>
        <p:nvSpPr>
          <p:cNvPr id="14" name="Rounded Rectangle 13"/>
          <p:cNvSpPr/>
          <p:nvPr/>
        </p:nvSpPr>
        <p:spPr>
          <a:xfrm>
            <a:off x="8961120" y="1828800"/>
            <a:ext cx="2697480" cy="150876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0" y="2103120"/>
            <a:ext cx="2331720" cy="1188720"/>
          </a:xfrm>
          <a:prstGeom prst="rect">
            <a:avLst/>
          </a:prstGeom>
          <a:noFill/>
        </p:spPr>
        <p:txBody>
          <a:bodyPr wrap="square" lIns="0" tIns="0" rIns="0" bIns="0" anchor="t">
            <a:spAutoFit/>
          </a:bodyPr>
          <a:lstStyle/>
          <a:p>
            <a:pPr algn="ctr"/>
            <a:r>
              <a:rPr sz="4400" b="1">
                <a:solidFill>
                  <a:srgbClr val="16A34A"/>
                </a:solidFill>
                <a:latin typeface="Calibri"/>
              </a:rPr>
              <a:t>0</a:t>
            </a:r>
          </a:p>
        </p:txBody>
      </p:sp>
      <p:sp>
        <p:nvSpPr>
          <p:cNvPr id="16" name="TextBox 15"/>
          <p:cNvSpPr txBox="1"/>
          <p:nvPr/>
        </p:nvSpPr>
        <p:spPr>
          <a:xfrm>
            <a:off x="9144000" y="2560320"/>
            <a:ext cx="2331720" cy="594360"/>
          </a:xfrm>
          <a:prstGeom prst="rect">
            <a:avLst/>
          </a:prstGeom>
          <a:noFill/>
        </p:spPr>
        <p:txBody>
          <a:bodyPr wrap="square" lIns="0" tIns="0" rIns="0" bIns="0" anchor="t">
            <a:spAutoFit/>
          </a:bodyPr>
          <a:lstStyle/>
          <a:p>
            <a:pPr algn="ctr"/>
            <a:r>
              <a:rPr sz="1100" b="0">
                <a:solidFill>
                  <a:srgbClr val="475569"/>
                </a:solidFill>
                <a:latin typeface="Calibri"/>
              </a:rPr>
              <a:t>Vendor seat licenses
required</a:t>
            </a:r>
          </a:p>
        </p:txBody>
      </p:sp>
      <p:sp>
        <p:nvSpPr>
          <p:cNvPr id="17" name="Rectangle 16"/>
          <p:cNvSpPr/>
          <p:nvPr/>
        </p:nvSpPr>
        <p:spPr>
          <a:xfrm>
            <a:off x="457200" y="3520440"/>
            <a:ext cx="329184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3611880"/>
            <a:ext cx="3108960" cy="320040"/>
          </a:xfrm>
          <a:prstGeom prst="rect">
            <a:avLst/>
          </a:prstGeom>
          <a:noFill/>
        </p:spPr>
        <p:txBody>
          <a:bodyPr wrap="square" lIns="0" tIns="0" rIns="0" bIns="0" anchor="ctr">
            <a:spAutoFit/>
          </a:bodyPr>
          <a:lstStyle/>
          <a:p>
            <a:pPr algn="l"/>
            <a:r>
              <a:rPr sz="1100" b="1">
                <a:solidFill>
                  <a:srgbClr val="FFFFFF"/>
                </a:solidFill>
                <a:latin typeface="Calibri"/>
              </a:rPr>
              <a:t>Dimension</a:t>
            </a:r>
          </a:p>
        </p:txBody>
      </p:sp>
      <p:sp>
        <p:nvSpPr>
          <p:cNvPr id="19" name="Rectangle 18"/>
          <p:cNvSpPr/>
          <p:nvPr/>
        </p:nvSpPr>
        <p:spPr>
          <a:xfrm>
            <a:off x="3749039" y="3520440"/>
            <a:ext cx="402336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40479" y="3611880"/>
            <a:ext cx="3840480" cy="320040"/>
          </a:xfrm>
          <a:prstGeom prst="rect">
            <a:avLst/>
          </a:prstGeom>
          <a:noFill/>
        </p:spPr>
        <p:txBody>
          <a:bodyPr wrap="square" lIns="0" tIns="0" rIns="0" bIns="0" anchor="ctr">
            <a:spAutoFit/>
          </a:bodyPr>
          <a:lstStyle/>
          <a:p>
            <a:pPr algn="l"/>
            <a:r>
              <a:rPr sz="1100" b="1">
                <a:solidFill>
                  <a:srgbClr val="FFFFFF"/>
                </a:solidFill>
                <a:latin typeface="Calibri"/>
              </a:rPr>
              <a:t>Baseline</a:t>
            </a:r>
          </a:p>
        </p:txBody>
      </p:sp>
      <p:sp>
        <p:nvSpPr>
          <p:cNvPr id="21" name="Rectangle 20"/>
          <p:cNvSpPr/>
          <p:nvPr/>
        </p:nvSpPr>
        <p:spPr>
          <a:xfrm>
            <a:off x="7772400" y="3520440"/>
            <a:ext cx="393192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863840" y="3611880"/>
            <a:ext cx="3749039" cy="320040"/>
          </a:xfrm>
          <a:prstGeom prst="rect">
            <a:avLst/>
          </a:prstGeom>
          <a:noFill/>
        </p:spPr>
        <p:txBody>
          <a:bodyPr wrap="square" lIns="0" tIns="0" rIns="0" bIns="0" anchor="ctr">
            <a:spAutoFit/>
          </a:bodyPr>
          <a:lstStyle/>
          <a:p>
            <a:pPr algn="l"/>
            <a:r>
              <a:rPr sz="1100" b="1">
                <a:solidFill>
                  <a:srgbClr val="FFFFFF"/>
                </a:solidFill>
                <a:latin typeface="Calibri"/>
              </a:rPr>
              <a:t>Today</a:t>
            </a:r>
          </a:p>
        </p:txBody>
      </p:sp>
      <p:sp>
        <p:nvSpPr>
          <p:cNvPr id="23" name="Rectangle 22"/>
          <p:cNvSpPr/>
          <p:nvPr/>
        </p:nvSpPr>
        <p:spPr>
          <a:xfrm>
            <a:off x="457200" y="4023360"/>
            <a:ext cx="329184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4069080"/>
            <a:ext cx="3108960" cy="365760"/>
          </a:xfrm>
          <a:prstGeom prst="rect">
            <a:avLst/>
          </a:prstGeom>
          <a:noFill/>
        </p:spPr>
        <p:txBody>
          <a:bodyPr wrap="square" lIns="0" tIns="0" rIns="0" bIns="0" anchor="ctr">
            <a:spAutoFit/>
          </a:bodyPr>
          <a:lstStyle/>
          <a:p>
            <a:pPr algn="l"/>
            <a:r>
              <a:rPr sz="1000" b="1">
                <a:solidFill>
                  <a:srgbClr val="0F172A"/>
                </a:solidFill>
                <a:latin typeface="Calibri"/>
              </a:rPr>
              <a:t>NCQA reaccreditation prep cost</a:t>
            </a:r>
          </a:p>
        </p:txBody>
      </p:sp>
      <p:sp>
        <p:nvSpPr>
          <p:cNvPr id="25" name="Rectangle 24"/>
          <p:cNvSpPr/>
          <p:nvPr/>
        </p:nvSpPr>
        <p:spPr>
          <a:xfrm>
            <a:off x="3749039" y="4023360"/>
            <a:ext cx="402336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840479" y="4069080"/>
            <a:ext cx="3840480" cy="365760"/>
          </a:xfrm>
          <a:prstGeom prst="rect">
            <a:avLst/>
          </a:prstGeom>
          <a:noFill/>
        </p:spPr>
        <p:txBody>
          <a:bodyPr wrap="square" lIns="0" tIns="0" rIns="0" bIns="0" anchor="ctr">
            <a:spAutoFit/>
          </a:bodyPr>
          <a:lstStyle/>
          <a:p>
            <a:pPr algn="l"/>
            <a:r>
              <a:rPr sz="1000" b="0">
                <a:solidFill>
                  <a:srgbClr val="0F172A"/>
                </a:solidFill>
                <a:latin typeface="Calibri"/>
              </a:rPr>
              <a:t>Manual chart audits, $$$ consultant time</a:t>
            </a:r>
          </a:p>
        </p:txBody>
      </p:sp>
      <p:sp>
        <p:nvSpPr>
          <p:cNvPr id="27" name="Rectangle 26"/>
          <p:cNvSpPr/>
          <p:nvPr/>
        </p:nvSpPr>
        <p:spPr>
          <a:xfrm>
            <a:off x="7772400" y="4023360"/>
            <a:ext cx="393192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863840" y="4069080"/>
            <a:ext cx="3749039" cy="365760"/>
          </a:xfrm>
          <a:prstGeom prst="rect">
            <a:avLst/>
          </a:prstGeom>
          <a:noFill/>
        </p:spPr>
        <p:txBody>
          <a:bodyPr wrap="square" lIns="0" tIns="0" rIns="0" bIns="0" anchor="ctr">
            <a:spAutoFit/>
          </a:bodyPr>
          <a:lstStyle/>
          <a:p>
            <a:pPr algn="l"/>
            <a:r>
              <a:rPr sz="1000" b="0">
                <a:solidFill>
                  <a:srgbClr val="0F172A"/>
                </a:solidFill>
                <a:latin typeface="Calibri"/>
              </a:rPr>
              <a:t>1-click audit packet, ~$0 marginal cost</a:t>
            </a:r>
          </a:p>
        </p:txBody>
      </p:sp>
      <p:sp>
        <p:nvSpPr>
          <p:cNvPr id="29" name="Rectangle 28"/>
          <p:cNvSpPr/>
          <p:nvPr/>
        </p:nvSpPr>
        <p:spPr>
          <a:xfrm>
            <a:off x="457200" y="4480560"/>
            <a:ext cx="329184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8640" y="4526280"/>
            <a:ext cx="3108960" cy="365760"/>
          </a:xfrm>
          <a:prstGeom prst="rect">
            <a:avLst/>
          </a:prstGeom>
          <a:noFill/>
        </p:spPr>
        <p:txBody>
          <a:bodyPr wrap="square" lIns="0" tIns="0" rIns="0" bIns="0" anchor="ctr">
            <a:spAutoFit/>
          </a:bodyPr>
          <a:lstStyle/>
          <a:p>
            <a:pPr algn="l"/>
            <a:r>
              <a:rPr sz="1000" b="1">
                <a:solidFill>
                  <a:srgbClr val="0F172A"/>
                </a:solidFill>
                <a:latin typeface="Calibri"/>
              </a:rPr>
              <a:t>Time to detect a sanction or NPDB report</a:t>
            </a:r>
          </a:p>
        </p:txBody>
      </p:sp>
      <p:sp>
        <p:nvSpPr>
          <p:cNvPr id="31" name="Rectangle 30"/>
          <p:cNvSpPr/>
          <p:nvPr/>
        </p:nvSpPr>
        <p:spPr>
          <a:xfrm>
            <a:off x="3749039" y="4480560"/>
            <a:ext cx="402336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840479" y="4526280"/>
            <a:ext cx="3840480" cy="365760"/>
          </a:xfrm>
          <a:prstGeom prst="rect">
            <a:avLst/>
          </a:prstGeom>
          <a:noFill/>
        </p:spPr>
        <p:txBody>
          <a:bodyPr wrap="square" lIns="0" tIns="0" rIns="0" bIns="0" anchor="ctr">
            <a:spAutoFit/>
          </a:bodyPr>
          <a:lstStyle/>
          <a:p>
            <a:pPr algn="l"/>
            <a:r>
              <a:rPr sz="1000" b="0">
                <a:solidFill>
                  <a:srgbClr val="0F172A"/>
                </a:solidFill>
                <a:latin typeface="Calibri"/>
              </a:rPr>
              <a:t>Up to 30 days (monthly recheck cycle)</a:t>
            </a:r>
          </a:p>
        </p:txBody>
      </p:sp>
      <p:sp>
        <p:nvSpPr>
          <p:cNvPr id="33" name="Rectangle 32"/>
          <p:cNvSpPr/>
          <p:nvPr/>
        </p:nvSpPr>
        <p:spPr>
          <a:xfrm>
            <a:off x="7772400" y="4480560"/>
            <a:ext cx="393192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863840" y="4526280"/>
            <a:ext cx="3749039" cy="365760"/>
          </a:xfrm>
          <a:prstGeom prst="rect">
            <a:avLst/>
          </a:prstGeom>
          <a:noFill/>
        </p:spPr>
        <p:txBody>
          <a:bodyPr wrap="square" lIns="0" tIns="0" rIns="0" bIns="0" anchor="ctr">
            <a:spAutoFit/>
          </a:bodyPr>
          <a:lstStyle/>
          <a:p>
            <a:pPr algn="l"/>
            <a:r>
              <a:rPr sz="1000" b="0">
                <a:solidFill>
                  <a:srgbClr val="0F172A"/>
                </a:solidFill>
                <a:latin typeface="Calibri"/>
              </a:rPr>
              <a:t>≤24 hours (continuous query + state continuous monitoring)</a:t>
            </a:r>
          </a:p>
        </p:txBody>
      </p:sp>
      <p:sp>
        <p:nvSpPr>
          <p:cNvPr id="35" name="Rectangle 34"/>
          <p:cNvSpPr/>
          <p:nvPr/>
        </p:nvSpPr>
        <p:spPr>
          <a:xfrm>
            <a:off x="457200" y="4937760"/>
            <a:ext cx="329184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48640" y="4983480"/>
            <a:ext cx="3108960" cy="365760"/>
          </a:xfrm>
          <a:prstGeom prst="rect">
            <a:avLst/>
          </a:prstGeom>
          <a:noFill/>
        </p:spPr>
        <p:txBody>
          <a:bodyPr wrap="square" lIns="0" tIns="0" rIns="0" bIns="0" anchor="ctr">
            <a:spAutoFit/>
          </a:bodyPr>
          <a:lstStyle/>
          <a:p>
            <a:pPr algn="l"/>
            <a:r>
              <a:rPr sz="1000" b="1">
                <a:solidFill>
                  <a:srgbClr val="0F172A"/>
                </a:solidFill>
                <a:latin typeface="Calibri"/>
              </a:rPr>
              <a:t>Cost to add a new state Medicaid</a:t>
            </a:r>
          </a:p>
        </p:txBody>
      </p:sp>
      <p:sp>
        <p:nvSpPr>
          <p:cNvPr id="37" name="Rectangle 36"/>
          <p:cNvSpPr/>
          <p:nvPr/>
        </p:nvSpPr>
        <p:spPr>
          <a:xfrm>
            <a:off x="3749039" y="4937760"/>
            <a:ext cx="402336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840479" y="4983480"/>
            <a:ext cx="3840480" cy="365760"/>
          </a:xfrm>
          <a:prstGeom prst="rect">
            <a:avLst/>
          </a:prstGeom>
          <a:noFill/>
        </p:spPr>
        <p:txBody>
          <a:bodyPr wrap="square" lIns="0" tIns="0" rIns="0" bIns="0" anchor="ctr">
            <a:spAutoFit/>
          </a:bodyPr>
          <a:lstStyle/>
          <a:p>
            <a:pPr algn="l"/>
            <a:r>
              <a:rPr sz="1000" b="0">
                <a:solidFill>
                  <a:srgbClr val="0F172A"/>
                </a:solidFill>
                <a:latin typeface="Calibri"/>
              </a:rPr>
              <a:t>New custom integration project</a:t>
            </a:r>
          </a:p>
        </p:txBody>
      </p:sp>
      <p:sp>
        <p:nvSpPr>
          <p:cNvPr id="39" name="Rectangle 38"/>
          <p:cNvSpPr/>
          <p:nvPr/>
        </p:nvSpPr>
        <p:spPr>
          <a:xfrm>
            <a:off x="7772400" y="4937760"/>
            <a:ext cx="393192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863840" y="4983480"/>
            <a:ext cx="3749039" cy="365760"/>
          </a:xfrm>
          <a:prstGeom prst="rect">
            <a:avLst/>
          </a:prstGeom>
          <a:noFill/>
        </p:spPr>
        <p:txBody>
          <a:bodyPr wrap="square" lIns="0" tIns="0" rIns="0" bIns="0" anchor="ctr">
            <a:spAutoFit/>
          </a:bodyPr>
          <a:lstStyle/>
          <a:p>
            <a:pPr algn="l"/>
            <a:r>
              <a:rPr sz="1000" b="0">
                <a:solidFill>
                  <a:srgbClr val="0F172A"/>
                </a:solidFill>
                <a:latin typeface="Calibri"/>
              </a:rPr>
              <a:t>Plug-in framework — content-only addition</a:t>
            </a:r>
          </a:p>
        </p:txBody>
      </p:sp>
      <p:sp>
        <p:nvSpPr>
          <p:cNvPr id="41" name="Rectangle 40"/>
          <p:cNvSpPr/>
          <p:nvPr/>
        </p:nvSpPr>
        <p:spPr>
          <a:xfrm>
            <a:off x="457200" y="5394960"/>
            <a:ext cx="329184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48640" y="5440680"/>
            <a:ext cx="3108960" cy="365760"/>
          </a:xfrm>
          <a:prstGeom prst="rect">
            <a:avLst/>
          </a:prstGeom>
          <a:noFill/>
        </p:spPr>
        <p:txBody>
          <a:bodyPr wrap="square" lIns="0" tIns="0" rIns="0" bIns="0" anchor="ctr">
            <a:spAutoFit/>
          </a:bodyPr>
          <a:lstStyle/>
          <a:p>
            <a:pPr algn="l"/>
            <a:r>
              <a:rPr sz="1000" b="1">
                <a:solidFill>
                  <a:srgbClr val="0F172A"/>
                </a:solidFill>
                <a:latin typeface="Calibri"/>
              </a:rPr>
              <a:t>AI/automation governance evidence</a:t>
            </a:r>
          </a:p>
        </p:txBody>
      </p:sp>
      <p:sp>
        <p:nvSpPr>
          <p:cNvPr id="43" name="Rectangle 42"/>
          <p:cNvSpPr/>
          <p:nvPr/>
        </p:nvSpPr>
        <p:spPr>
          <a:xfrm>
            <a:off x="3749039" y="5394960"/>
            <a:ext cx="402336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840479" y="5440680"/>
            <a:ext cx="3840480" cy="365760"/>
          </a:xfrm>
          <a:prstGeom prst="rect">
            <a:avLst/>
          </a:prstGeom>
          <a:noFill/>
        </p:spPr>
        <p:txBody>
          <a:bodyPr wrap="square" lIns="0" tIns="0" rIns="0" bIns="0" anchor="ctr">
            <a:spAutoFit/>
          </a:bodyPr>
          <a:lstStyle/>
          <a:p>
            <a:pPr algn="l"/>
            <a:r>
              <a:rPr sz="1000" b="0">
                <a:solidFill>
                  <a:srgbClr val="0F172A"/>
                </a:solidFill>
                <a:latin typeface="Calibri"/>
              </a:rPr>
              <a:t>Manual evidence binder, audit-by-audit</a:t>
            </a:r>
          </a:p>
        </p:txBody>
      </p:sp>
      <p:sp>
        <p:nvSpPr>
          <p:cNvPr id="45" name="Rectangle 44"/>
          <p:cNvSpPr/>
          <p:nvPr/>
        </p:nvSpPr>
        <p:spPr>
          <a:xfrm>
            <a:off x="7772400" y="5394960"/>
            <a:ext cx="3931920" cy="45720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863840" y="5440680"/>
            <a:ext cx="3749039" cy="365760"/>
          </a:xfrm>
          <a:prstGeom prst="rect">
            <a:avLst/>
          </a:prstGeom>
          <a:noFill/>
        </p:spPr>
        <p:txBody>
          <a:bodyPr wrap="square" lIns="0" tIns="0" rIns="0" bIns="0" anchor="ctr">
            <a:spAutoFit/>
          </a:bodyPr>
          <a:lstStyle/>
          <a:p>
            <a:pPr algn="l"/>
            <a:r>
              <a:rPr sz="1000" b="0">
                <a:solidFill>
                  <a:srgbClr val="0F172A"/>
                </a:solidFill>
                <a:latin typeface="Calibri"/>
              </a:rPr>
              <a:t>Always-on model cards + decision log + hash-chained audit</a:t>
            </a:r>
          </a:p>
        </p:txBody>
      </p:sp>
      <p:sp>
        <p:nvSpPr>
          <p:cNvPr id="47" name="Rectangle 46"/>
          <p:cNvSpPr/>
          <p:nvPr/>
        </p:nvSpPr>
        <p:spPr>
          <a:xfrm>
            <a:off x="457200" y="5852160"/>
            <a:ext cx="329184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48640" y="5897880"/>
            <a:ext cx="3108960" cy="365760"/>
          </a:xfrm>
          <a:prstGeom prst="rect">
            <a:avLst/>
          </a:prstGeom>
          <a:noFill/>
        </p:spPr>
        <p:txBody>
          <a:bodyPr wrap="square" lIns="0" tIns="0" rIns="0" bIns="0" anchor="ctr">
            <a:spAutoFit/>
          </a:bodyPr>
          <a:lstStyle/>
          <a:p>
            <a:pPr algn="l"/>
            <a:r>
              <a:rPr sz="1000" b="1">
                <a:solidFill>
                  <a:srgbClr val="0F172A"/>
                </a:solidFill>
                <a:latin typeface="Calibri"/>
              </a:rPr>
              <a:t>Cost to onboard a new payer roster format</a:t>
            </a:r>
          </a:p>
        </p:txBody>
      </p:sp>
      <p:sp>
        <p:nvSpPr>
          <p:cNvPr id="49" name="Rectangle 48"/>
          <p:cNvSpPr/>
          <p:nvPr/>
        </p:nvSpPr>
        <p:spPr>
          <a:xfrm>
            <a:off x="3749039" y="5852160"/>
            <a:ext cx="402336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840479" y="5897880"/>
            <a:ext cx="3840480" cy="365760"/>
          </a:xfrm>
          <a:prstGeom prst="rect">
            <a:avLst/>
          </a:prstGeom>
          <a:noFill/>
        </p:spPr>
        <p:txBody>
          <a:bodyPr wrap="square" lIns="0" tIns="0" rIns="0" bIns="0" anchor="ctr">
            <a:spAutoFit/>
          </a:bodyPr>
          <a:lstStyle/>
          <a:p>
            <a:pPr algn="l"/>
            <a:r>
              <a:rPr sz="1000" b="0">
                <a:solidFill>
                  <a:srgbClr val="0F172A"/>
                </a:solidFill>
                <a:latin typeface="Calibri"/>
              </a:rPr>
              <a:t>Per-format engineering, weeks each</a:t>
            </a:r>
          </a:p>
        </p:txBody>
      </p:sp>
      <p:sp>
        <p:nvSpPr>
          <p:cNvPr id="51" name="Rectangle 50"/>
          <p:cNvSpPr/>
          <p:nvPr/>
        </p:nvSpPr>
        <p:spPr>
          <a:xfrm>
            <a:off x="7772400" y="5852160"/>
            <a:ext cx="393192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863840" y="5897880"/>
            <a:ext cx="3749039" cy="365760"/>
          </a:xfrm>
          <a:prstGeom prst="rect">
            <a:avLst/>
          </a:prstGeom>
          <a:noFill/>
        </p:spPr>
        <p:txBody>
          <a:bodyPr wrap="square" lIns="0" tIns="0" rIns="0" bIns="0" anchor="ctr">
            <a:spAutoFit/>
          </a:bodyPr>
          <a:lstStyle/>
          <a:p>
            <a:pPr algn="l"/>
            <a:r>
              <a:rPr sz="1000" b="0">
                <a:solidFill>
                  <a:srgbClr val="0F172A"/>
                </a:solidFill>
                <a:latin typeface="Calibri"/>
              </a:rPr>
              <a:t>Per-payer config in admin — hours, not weeks</a:t>
            </a:r>
          </a:p>
        </p:txBody>
      </p:sp>
      <p:sp>
        <p:nvSpPr>
          <p:cNvPr id="53" name="TextBox 52"/>
          <p:cNvSpPr txBox="1"/>
          <p:nvPr/>
        </p:nvSpPr>
        <p:spPr>
          <a:xfrm>
            <a:off x="457200" y="6446520"/>
            <a:ext cx="5486400" cy="274320"/>
          </a:xfrm>
          <a:prstGeom prst="rect">
            <a:avLst/>
          </a:prstGeom>
          <a:noFill/>
        </p:spPr>
        <p:txBody>
          <a:bodyPr wrap="square" lIns="0" tIns="0" rIns="0" bIns="0" anchor="t">
            <a:spAutoFit/>
          </a:bodyPr>
          <a:lstStyle/>
          <a:p>
            <a:pPr algn="l"/>
            <a:r>
              <a:rPr sz="900" b="0">
                <a:solidFill>
                  <a:srgbClr val="475569"/>
                </a:solidFill>
                <a:latin typeface="Calibri"/>
              </a:rPr>
              <a:t>ESSEN Credentialing Platform</a:t>
            </a:r>
          </a:p>
        </p:txBody>
      </p:sp>
      <p:sp>
        <p:nvSpPr>
          <p:cNvPr id="54" name="TextBox 53"/>
          <p:cNvSpPr txBox="1"/>
          <p:nvPr/>
        </p:nvSpPr>
        <p:spPr>
          <a:xfrm>
            <a:off x="10058400" y="6446520"/>
            <a:ext cx="1554480" cy="274320"/>
          </a:xfrm>
          <a:prstGeom prst="rect">
            <a:avLst/>
          </a:prstGeom>
          <a:noFill/>
        </p:spPr>
        <p:txBody>
          <a:bodyPr wrap="square" lIns="0" tIns="0" rIns="0" bIns="0" anchor="t">
            <a:spAutoFit/>
          </a:bodyPr>
          <a:lstStyle/>
          <a:p>
            <a:pPr algn="r"/>
            <a:r>
              <a:rPr sz="900" b="1">
                <a:solidFill>
                  <a:srgbClr val="00A3E0"/>
                </a:solidFill>
                <a:latin typeface="Calibri"/>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40080"/>
            <a:ext cx="10698480" cy="365760"/>
          </a:xfrm>
          <a:prstGeom prst="rect">
            <a:avLst/>
          </a:prstGeom>
          <a:noFill/>
        </p:spPr>
        <p:txBody>
          <a:bodyPr wrap="square" lIns="0" tIns="0" rIns="0" bIns="0" anchor="t">
            <a:spAutoFit/>
          </a:bodyPr>
          <a:lstStyle/>
          <a:p>
            <a:pPr algn="l"/>
            <a:r>
              <a:rPr sz="1200" b="1">
                <a:solidFill>
                  <a:srgbClr val="00A3E0"/>
                </a:solidFill>
                <a:latin typeface="Calibri"/>
              </a:rPr>
              <a:t>DECISION RECAP</a:t>
            </a:r>
          </a:p>
        </p:txBody>
      </p:sp>
      <p:sp>
        <p:nvSpPr>
          <p:cNvPr id="4" name="TextBox 3"/>
          <p:cNvSpPr txBox="1"/>
          <p:nvPr/>
        </p:nvSpPr>
        <p:spPr>
          <a:xfrm>
            <a:off x="731520" y="960120"/>
            <a:ext cx="10698480" cy="914400"/>
          </a:xfrm>
          <a:prstGeom prst="rect">
            <a:avLst/>
          </a:prstGeom>
          <a:noFill/>
        </p:spPr>
        <p:txBody>
          <a:bodyPr wrap="square" lIns="0" tIns="0" rIns="0" bIns="0" anchor="t">
            <a:spAutoFit/>
          </a:bodyPr>
          <a:lstStyle/>
          <a:p>
            <a:pPr algn="l"/>
            <a:r>
              <a:rPr sz="3600" b="1">
                <a:solidFill>
                  <a:srgbClr val="FFFFFF"/>
                </a:solidFill>
                <a:latin typeface="Calibri"/>
              </a:rPr>
              <a:t>Build vs. Buy — Where We Land</a:t>
            </a:r>
          </a:p>
        </p:txBody>
      </p:sp>
      <p:sp>
        <p:nvSpPr>
          <p:cNvPr id="5" name="TextBox 4"/>
          <p:cNvSpPr txBox="1"/>
          <p:nvPr/>
        </p:nvSpPr>
        <p:spPr>
          <a:xfrm>
            <a:off x="731520" y="1920240"/>
            <a:ext cx="10698480" cy="457200"/>
          </a:xfrm>
          <a:prstGeom prst="rect">
            <a:avLst/>
          </a:prstGeom>
          <a:noFill/>
        </p:spPr>
        <p:txBody>
          <a:bodyPr wrap="square" lIns="0" tIns="0" rIns="0" bIns="0" anchor="t">
            <a:spAutoFit/>
          </a:bodyPr>
          <a:lstStyle/>
          <a:p>
            <a:pPr algn="l"/>
            <a:r>
              <a:rPr sz="1400" b="0">
                <a:solidFill>
                  <a:srgbClr val="F8F9FC"/>
                </a:solidFill>
                <a:latin typeface="Calibri"/>
              </a:rPr>
              <a:t>After 24 P0–P3 features and a fair feature-grid comparison, the verdict for Essen's scale and provider mix is clear.</a:t>
            </a:r>
          </a:p>
        </p:txBody>
      </p:sp>
      <p:sp>
        <p:nvSpPr>
          <p:cNvPr id="6" name="Rounded Rectangle 5"/>
          <p:cNvSpPr/>
          <p:nvPr/>
        </p:nvSpPr>
        <p:spPr>
          <a:xfrm>
            <a:off x="731520" y="2606040"/>
            <a:ext cx="5349240" cy="338328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2606040"/>
            <a:ext cx="5349240" cy="914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788920"/>
            <a:ext cx="4800600" cy="457200"/>
          </a:xfrm>
          <a:prstGeom prst="rect">
            <a:avLst/>
          </a:prstGeom>
          <a:noFill/>
        </p:spPr>
        <p:txBody>
          <a:bodyPr wrap="square" lIns="0" tIns="0" rIns="0" bIns="0" anchor="t">
            <a:spAutoFit/>
          </a:bodyPr>
          <a:lstStyle/>
          <a:p>
            <a:pPr algn="l"/>
            <a:r>
              <a:rPr sz="1800" b="1">
                <a:solidFill>
                  <a:srgbClr val="0F172A"/>
                </a:solidFill>
                <a:latin typeface="Calibri"/>
              </a:rPr>
              <a:t>Build / continue ESSEN</a:t>
            </a:r>
          </a:p>
        </p:txBody>
      </p:sp>
      <p:sp>
        <p:nvSpPr>
          <p:cNvPr id="9" name="TextBox 8"/>
          <p:cNvSpPr txBox="1"/>
          <p:nvPr/>
        </p:nvSpPr>
        <p:spPr>
          <a:xfrm>
            <a:off x="1005840" y="3337560"/>
            <a:ext cx="4800600" cy="2606040"/>
          </a:xfrm>
          <a:prstGeom prst="rect">
            <a:avLst/>
          </a:prstGeom>
          <a:noFill/>
        </p:spPr>
        <p:txBody>
          <a:bodyPr wrap="square" lIns="0" tIns="0" rIns="0" bIns="0" anchor="t">
            <a:spAutoFit/>
          </a:bodyPr>
          <a:lstStyle/>
          <a:p>
            <a:pPr algn="l"/>
            <a:r>
              <a:rPr sz="1200" b="0">
                <a:solidFill>
                  <a:srgbClr val="475569"/>
                </a:solidFill>
                <a:latin typeface="Calibri"/>
              </a:rPr>
              <a:t>✓ Already shipped
 ✓ Owned IP — no per-provider rent
 ✓ Conversational AI + AI governance:
 unique in market
 ✓ Behavioral-health-aware specialty path
 ✓ Data stays in Essen's Azure tenant
 ✓ HITRUST/SOC 2 readiness on our timeline</a:t>
            </a:r>
          </a:p>
        </p:txBody>
      </p:sp>
      <p:sp>
        <p:nvSpPr>
          <p:cNvPr id="10" name="Rounded Rectangle 9"/>
          <p:cNvSpPr/>
          <p:nvPr/>
        </p:nvSpPr>
        <p:spPr>
          <a:xfrm>
            <a:off x="6355079" y="2606040"/>
            <a:ext cx="5349240" cy="3383280"/>
          </a:xfrm>
          <a:prstGeom prst="roundRect">
            <a:avLst>
              <a:gd name="adj" fmla="val 1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55079" y="2606040"/>
            <a:ext cx="5349240" cy="91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29399" y="2788920"/>
            <a:ext cx="4800600" cy="457200"/>
          </a:xfrm>
          <a:prstGeom prst="rect">
            <a:avLst/>
          </a:prstGeom>
          <a:noFill/>
        </p:spPr>
        <p:txBody>
          <a:bodyPr wrap="square" lIns="0" tIns="0" rIns="0" bIns="0" anchor="t">
            <a:spAutoFit/>
          </a:bodyPr>
          <a:lstStyle/>
          <a:p>
            <a:pPr algn="l"/>
            <a:r>
              <a:rPr sz="1800" b="1">
                <a:solidFill>
                  <a:srgbClr val="0F172A"/>
                </a:solidFill>
                <a:latin typeface="Calibri"/>
              </a:rPr>
              <a:t>Buy a marketplace tool</a:t>
            </a:r>
          </a:p>
        </p:txBody>
      </p:sp>
      <p:sp>
        <p:nvSpPr>
          <p:cNvPr id="13" name="TextBox 12"/>
          <p:cNvSpPr txBox="1"/>
          <p:nvPr/>
        </p:nvSpPr>
        <p:spPr>
          <a:xfrm>
            <a:off x="6629399" y="3337560"/>
            <a:ext cx="4800600" cy="2606040"/>
          </a:xfrm>
          <a:prstGeom prst="rect">
            <a:avLst/>
          </a:prstGeom>
          <a:noFill/>
        </p:spPr>
        <p:txBody>
          <a:bodyPr wrap="square" lIns="0" tIns="0" rIns="0" bIns="0" anchor="t">
            <a:spAutoFit/>
          </a:bodyPr>
          <a:lstStyle/>
          <a:p>
            <a:pPr algn="l"/>
            <a:r>
              <a:rPr sz="1200" b="0">
                <a:solidFill>
                  <a:srgbClr val="475569"/>
                </a:solidFill>
                <a:latin typeface="Calibri"/>
              </a:rPr>
              <a:t>◐ Faster brand-recognized RFP answer
 ◐ Pre-built payer roster library
 ✗ $40–$120 per provider per month
 ✗ PHI co-mingled in multi-tenant SaaS
 ✗ Roadmap dependence for AI features
 ✗ Loses Essen-specific BTC / OMIG / etc.</a:t>
            </a:r>
          </a:p>
        </p:txBody>
      </p:sp>
      <p:sp>
        <p:nvSpPr>
          <p:cNvPr id="14" name="TextBox 13"/>
          <p:cNvSpPr txBox="1"/>
          <p:nvPr/>
        </p:nvSpPr>
        <p:spPr>
          <a:xfrm>
            <a:off x="731520" y="6263640"/>
            <a:ext cx="10698480" cy="365760"/>
          </a:xfrm>
          <a:prstGeom prst="rect">
            <a:avLst/>
          </a:prstGeom>
          <a:noFill/>
        </p:spPr>
        <p:txBody>
          <a:bodyPr wrap="square" lIns="0" tIns="0" rIns="0" bIns="0" anchor="t">
            <a:spAutoFit/>
          </a:bodyPr>
          <a:lstStyle/>
          <a:p>
            <a:pPr algn="l"/>
            <a:r>
              <a:rPr sz="1100" b="1">
                <a:solidFill>
                  <a:srgbClr val="FFFFFF"/>
                </a:solidFill>
                <a:latin typeface="Calibri"/>
              </a:rPr>
              <a:t>Recommendation: stay the course on ESSEN. Use the budget that would have gone to vendor licenses to staff training, partner API onboarding, and SOC 2 Type II audit prep.</a:t>
            </a:r>
          </a:p>
        </p:txBody>
      </p:sp>
      <p:sp>
        <p:nvSpPr>
          <p:cNvPr id="15" name="TextBox 14"/>
          <p:cNvSpPr txBox="1"/>
          <p:nvPr/>
        </p:nvSpPr>
        <p:spPr>
          <a:xfrm>
            <a:off x="731520" y="6583680"/>
            <a:ext cx="5486400" cy="274320"/>
          </a:xfrm>
          <a:prstGeom prst="rect">
            <a:avLst/>
          </a:prstGeom>
          <a:noFill/>
        </p:spPr>
        <p:txBody>
          <a:bodyPr wrap="square" lIns="0" tIns="0" rIns="0" bIns="0" anchor="t">
            <a:spAutoFit/>
          </a:bodyPr>
          <a:lstStyle/>
          <a:p>
            <a:pPr algn="l"/>
            <a:r>
              <a:rPr sz="900" b="0">
                <a:solidFill>
                  <a:srgbClr val="F8F9FC"/>
                </a:solidFill>
                <a:latin typeface="Calibri"/>
              </a:rPr>
              <a:t>ESSEN Credentialing Platform</a:t>
            </a:r>
          </a:p>
        </p:txBody>
      </p:sp>
      <p:sp>
        <p:nvSpPr>
          <p:cNvPr id="16" name="TextBox 15"/>
          <p:cNvSpPr txBox="1"/>
          <p:nvPr/>
        </p:nvSpPr>
        <p:spPr>
          <a:xfrm>
            <a:off x="10058400" y="6583680"/>
            <a:ext cx="1554480" cy="274320"/>
          </a:xfrm>
          <a:prstGeom prst="rect">
            <a:avLst/>
          </a:prstGeom>
          <a:noFill/>
        </p:spPr>
        <p:txBody>
          <a:bodyPr wrap="square" lIns="0" tIns="0" rIns="0" bIns="0" anchor="t">
            <a:spAutoFit/>
          </a:bodyPr>
          <a:lstStyle/>
          <a:p>
            <a:pPr algn="ctr"/>
            <a:r>
              <a:rPr sz="900" b="1">
                <a:solidFill>
                  <a:srgbClr val="00A3E0"/>
                </a:solidFill>
                <a:latin typeface="Calibri"/>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430000" cy="274320"/>
          </a:xfrm>
          <a:prstGeom prst="rect">
            <a:avLst/>
          </a:prstGeom>
          <a:noFill/>
        </p:spPr>
        <p:txBody>
          <a:bodyPr wrap="square" lIns="0" tIns="0" rIns="0" bIns="0" anchor="t">
            <a:spAutoFit/>
          </a:bodyPr>
          <a:lstStyle/>
          <a:p>
            <a:pPr algn="l"/>
            <a:r>
              <a:rPr sz="1100" b="1">
                <a:solidFill>
                  <a:srgbClr val="00A3E0"/>
                </a:solidFill>
                <a:latin typeface="Calibri"/>
              </a:rPr>
              <a:t>NEXT 90 DAYS</a:t>
            </a:r>
          </a:p>
        </p:txBody>
      </p:sp>
      <p:sp>
        <p:nvSpPr>
          <p:cNvPr id="3" name="TextBox 2"/>
          <p:cNvSpPr txBox="1"/>
          <p:nvPr/>
        </p:nvSpPr>
        <p:spPr>
          <a:xfrm>
            <a:off x="457200" y="594360"/>
            <a:ext cx="11430000" cy="594360"/>
          </a:xfrm>
          <a:prstGeom prst="rect">
            <a:avLst/>
          </a:prstGeom>
          <a:noFill/>
        </p:spPr>
        <p:txBody>
          <a:bodyPr wrap="square" lIns="0" tIns="0" rIns="0" bIns="0" anchor="t">
            <a:spAutoFit/>
          </a:bodyPr>
          <a:lstStyle/>
          <a:p>
            <a:pPr algn="l"/>
            <a:r>
              <a:rPr sz="2800" b="1">
                <a:solidFill>
                  <a:srgbClr val="0F172A"/>
                </a:solidFill>
                <a:latin typeface="Calibri"/>
              </a:rPr>
              <a:t>Where We Take ESSEN From Here</a:t>
            </a:r>
          </a:p>
        </p:txBody>
      </p:sp>
      <p:sp>
        <p:nvSpPr>
          <p:cNvPr id="4" name="TextBox 3"/>
          <p:cNvSpPr txBox="1"/>
          <p:nvPr/>
        </p:nvSpPr>
        <p:spPr>
          <a:xfrm>
            <a:off x="457200" y="1188720"/>
            <a:ext cx="11430000" cy="411480"/>
          </a:xfrm>
          <a:prstGeom prst="rect">
            <a:avLst/>
          </a:prstGeom>
          <a:noFill/>
        </p:spPr>
        <p:txBody>
          <a:bodyPr wrap="square" lIns="0" tIns="0" rIns="0" bIns="0" anchor="t">
            <a:spAutoFit/>
          </a:bodyPr>
          <a:lstStyle/>
          <a:p>
            <a:pPr algn="l"/>
            <a:r>
              <a:rPr sz="1400" b="0">
                <a:solidFill>
                  <a:srgbClr val="475569"/>
                </a:solidFill>
                <a:latin typeface="Calibri"/>
              </a:rPr>
              <a:t>The build is in production. The next phase is adoption + external positioning + audit readiness.</a:t>
            </a:r>
          </a:p>
        </p:txBody>
      </p:sp>
      <p:sp>
        <p:nvSpPr>
          <p:cNvPr id="5" name="Rectangle 4"/>
          <p:cNvSpPr/>
          <p:nvPr/>
        </p:nvSpPr>
        <p:spPr>
          <a:xfrm>
            <a:off x="457200" y="1828800"/>
            <a:ext cx="182880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920240"/>
            <a:ext cx="1645920" cy="320040"/>
          </a:xfrm>
          <a:prstGeom prst="rect">
            <a:avLst/>
          </a:prstGeom>
          <a:noFill/>
        </p:spPr>
        <p:txBody>
          <a:bodyPr wrap="square" lIns="0" tIns="0" rIns="0" bIns="0" anchor="ctr">
            <a:spAutoFit/>
          </a:bodyPr>
          <a:lstStyle/>
          <a:p>
            <a:pPr algn="l"/>
            <a:r>
              <a:rPr sz="1200" b="1">
                <a:solidFill>
                  <a:srgbClr val="FFFFFF"/>
                </a:solidFill>
                <a:latin typeface="Calibri"/>
              </a:rPr>
              <a:t>Window</a:t>
            </a:r>
          </a:p>
        </p:txBody>
      </p:sp>
      <p:sp>
        <p:nvSpPr>
          <p:cNvPr id="7" name="Rectangle 6"/>
          <p:cNvSpPr/>
          <p:nvPr/>
        </p:nvSpPr>
        <p:spPr>
          <a:xfrm>
            <a:off x="2286000" y="1828800"/>
            <a:ext cx="228600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77440" y="1920240"/>
            <a:ext cx="2103120" cy="320040"/>
          </a:xfrm>
          <a:prstGeom prst="rect">
            <a:avLst/>
          </a:prstGeom>
          <a:noFill/>
        </p:spPr>
        <p:txBody>
          <a:bodyPr wrap="square" lIns="0" tIns="0" rIns="0" bIns="0" anchor="ctr">
            <a:spAutoFit/>
          </a:bodyPr>
          <a:lstStyle/>
          <a:p>
            <a:pPr algn="l"/>
            <a:r>
              <a:rPr sz="1200" b="1">
                <a:solidFill>
                  <a:srgbClr val="FFFFFF"/>
                </a:solidFill>
                <a:latin typeface="Calibri"/>
              </a:rPr>
              <a:t>Theme</a:t>
            </a:r>
          </a:p>
        </p:txBody>
      </p:sp>
      <p:sp>
        <p:nvSpPr>
          <p:cNvPr id="9" name="Rectangle 8"/>
          <p:cNvSpPr/>
          <p:nvPr/>
        </p:nvSpPr>
        <p:spPr>
          <a:xfrm>
            <a:off x="4572000" y="1828800"/>
            <a:ext cx="7132320" cy="502920"/>
          </a:xfrm>
          <a:prstGeom prst="rect">
            <a:avLst/>
          </a:prstGeom>
          <a:solidFill>
            <a:srgbClr val="061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63440" y="1920240"/>
            <a:ext cx="6949440" cy="320040"/>
          </a:xfrm>
          <a:prstGeom prst="rect">
            <a:avLst/>
          </a:prstGeom>
          <a:noFill/>
        </p:spPr>
        <p:txBody>
          <a:bodyPr wrap="square" lIns="0" tIns="0" rIns="0" bIns="0" anchor="ctr">
            <a:spAutoFit/>
          </a:bodyPr>
          <a:lstStyle/>
          <a:p>
            <a:pPr algn="l"/>
            <a:r>
              <a:rPr sz="1200" b="1">
                <a:solidFill>
                  <a:srgbClr val="FFFFFF"/>
                </a:solidFill>
                <a:latin typeface="Calibri"/>
              </a:rPr>
              <a:t>Specifics</a:t>
            </a:r>
          </a:p>
        </p:txBody>
      </p:sp>
      <p:sp>
        <p:nvSpPr>
          <p:cNvPr id="11" name="Rectangle 10"/>
          <p:cNvSpPr/>
          <p:nvPr/>
        </p:nvSpPr>
        <p:spPr>
          <a:xfrm>
            <a:off x="457200" y="2331720"/>
            <a:ext cx="1828800" cy="10058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2377439"/>
            <a:ext cx="1645920" cy="914400"/>
          </a:xfrm>
          <a:prstGeom prst="rect">
            <a:avLst/>
          </a:prstGeom>
          <a:noFill/>
        </p:spPr>
        <p:txBody>
          <a:bodyPr wrap="square" lIns="0" tIns="0" rIns="0" bIns="0" anchor="ctr">
            <a:spAutoFit/>
          </a:bodyPr>
          <a:lstStyle/>
          <a:p>
            <a:pPr algn="l"/>
            <a:r>
              <a:rPr sz="1100" b="1">
                <a:solidFill>
                  <a:srgbClr val="0F172A"/>
                </a:solidFill>
                <a:latin typeface="Calibri"/>
              </a:rPr>
              <a:t>Now → 30 days</a:t>
            </a:r>
          </a:p>
        </p:txBody>
      </p:sp>
      <p:sp>
        <p:nvSpPr>
          <p:cNvPr id="13" name="Rectangle 12"/>
          <p:cNvSpPr/>
          <p:nvPr/>
        </p:nvSpPr>
        <p:spPr>
          <a:xfrm>
            <a:off x="2286000" y="2331720"/>
            <a:ext cx="2286000" cy="10058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377440" y="2377439"/>
            <a:ext cx="2103120" cy="914400"/>
          </a:xfrm>
          <a:prstGeom prst="rect">
            <a:avLst/>
          </a:prstGeom>
          <a:noFill/>
        </p:spPr>
        <p:txBody>
          <a:bodyPr wrap="square" lIns="0" tIns="0" rIns="0" bIns="0" anchor="ctr">
            <a:spAutoFit/>
          </a:bodyPr>
          <a:lstStyle/>
          <a:p>
            <a:pPr algn="l"/>
            <a:r>
              <a:rPr sz="1100" b="0">
                <a:solidFill>
                  <a:srgbClr val="0F172A"/>
                </a:solidFill>
                <a:latin typeface="Calibri"/>
              </a:rPr>
              <a:t>Activate + train</a:t>
            </a:r>
          </a:p>
        </p:txBody>
      </p:sp>
      <p:sp>
        <p:nvSpPr>
          <p:cNvPr id="15" name="Rectangle 14"/>
          <p:cNvSpPr/>
          <p:nvPr/>
        </p:nvSpPr>
        <p:spPr>
          <a:xfrm>
            <a:off x="4572000" y="2331720"/>
            <a:ext cx="7132320" cy="10058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63440" y="2377439"/>
            <a:ext cx="6949440" cy="914400"/>
          </a:xfrm>
          <a:prstGeom prst="rect">
            <a:avLst/>
          </a:prstGeom>
          <a:noFill/>
        </p:spPr>
        <p:txBody>
          <a:bodyPr wrap="square" lIns="0" tIns="0" rIns="0" bIns="0" anchor="ctr">
            <a:spAutoFit/>
          </a:bodyPr>
          <a:lstStyle/>
          <a:p>
            <a:pPr algn="l"/>
            <a:r>
              <a:rPr sz="1100" b="0">
                <a:solidFill>
                  <a:srgbClr val="0F172A"/>
                </a:solidFill>
                <a:latin typeface="Calibri"/>
              </a:rPr>
              <a:t>Complete production rollout, train credentialing team on the platform, wire prod SENDGRID_WEBHOOK_PUBLIC_KEY + METRICS_BEARER_TOKEN, onboard first FHIR partner.</a:t>
            </a:r>
          </a:p>
        </p:txBody>
      </p:sp>
      <p:sp>
        <p:nvSpPr>
          <p:cNvPr id="17" name="Rectangle 16"/>
          <p:cNvSpPr/>
          <p:nvPr/>
        </p:nvSpPr>
        <p:spPr>
          <a:xfrm>
            <a:off x="457200" y="3337560"/>
            <a:ext cx="1828800" cy="100584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3383279"/>
            <a:ext cx="1645920" cy="914400"/>
          </a:xfrm>
          <a:prstGeom prst="rect">
            <a:avLst/>
          </a:prstGeom>
          <a:noFill/>
        </p:spPr>
        <p:txBody>
          <a:bodyPr wrap="square" lIns="0" tIns="0" rIns="0" bIns="0" anchor="ctr">
            <a:spAutoFit/>
          </a:bodyPr>
          <a:lstStyle/>
          <a:p>
            <a:pPr algn="l"/>
            <a:r>
              <a:rPr sz="1100" b="1">
                <a:solidFill>
                  <a:srgbClr val="0F172A"/>
                </a:solidFill>
                <a:latin typeface="Calibri"/>
              </a:rPr>
              <a:t>30 → 60 days</a:t>
            </a:r>
          </a:p>
        </p:txBody>
      </p:sp>
      <p:sp>
        <p:nvSpPr>
          <p:cNvPr id="19" name="Rectangle 18"/>
          <p:cNvSpPr/>
          <p:nvPr/>
        </p:nvSpPr>
        <p:spPr>
          <a:xfrm>
            <a:off x="2286000" y="3337560"/>
            <a:ext cx="2286000" cy="100584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377440" y="3383279"/>
            <a:ext cx="2103120" cy="914400"/>
          </a:xfrm>
          <a:prstGeom prst="rect">
            <a:avLst/>
          </a:prstGeom>
          <a:noFill/>
        </p:spPr>
        <p:txBody>
          <a:bodyPr wrap="square" lIns="0" tIns="0" rIns="0" bIns="0" anchor="ctr">
            <a:spAutoFit/>
          </a:bodyPr>
          <a:lstStyle/>
          <a:p>
            <a:pPr algn="l"/>
            <a:r>
              <a:rPr sz="1100" b="0">
                <a:solidFill>
                  <a:srgbClr val="0F172A"/>
                </a:solidFill>
                <a:latin typeface="Calibri"/>
              </a:rPr>
              <a:t>Audit readiness</a:t>
            </a:r>
          </a:p>
        </p:txBody>
      </p:sp>
      <p:sp>
        <p:nvSpPr>
          <p:cNvPr id="21" name="Rectangle 20"/>
          <p:cNvSpPr/>
          <p:nvPr/>
        </p:nvSpPr>
        <p:spPr>
          <a:xfrm>
            <a:off x="4572000" y="3337560"/>
            <a:ext cx="7132320" cy="1005840"/>
          </a:xfrm>
          <a:prstGeom prst="rect">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63440" y="3383279"/>
            <a:ext cx="6949440" cy="914400"/>
          </a:xfrm>
          <a:prstGeom prst="rect">
            <a:avLst/>
          </a:prstGeom>
          <a:noFill/>
        </p:spPr>
        <p:txBody>
          <a:bodyPr wrap="square" lIns="0" tIns="0" rIns="0" bIns="0" anchor="ctr">
            <a:spAutoFit/>
          </a:bodyPr>
          <a:lstStyle/>
          <a:p>
            <a:pPr algn="l"/>
            <a:r>
              <a:rPr sz="1100" b="0">
                <a:solidFill>
                  <a:srgbClr val="0F172A"/>
                </a:solidFill>
                <a:latin typeface="Calibri"/>
              </a:rPr>
              <a:t>Publish SOC 2 Type II audit period start, begin HITRUST CSF v11 r2 control evidence collection, run first NCQA mock audit using the 1-click packet.</a:t>
            </a:r>
          </a:p>
        </p:txBody>
      </p:sp>
      <p:sp>
        <p:nvSpPr>
          <p:cNvPr id="23" name="Rectangle 22"/>
          <p:cNvSpPr/>
          <p:nvPr/>
        </p:nvSpPr>
        <p:spPr>
          <a:xfrm>
            <a:off x="457200" y="4343400"/>
            <a:ext cx="1828800" cy="10058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4389120"/>
            <a:ext cx="1645920" cy="914400"/>
          </a:xfrm>
          <a:prstGeom prst="rect">
            <a:avLst/>
          </a:prstGeom>
          <a:noFill/>
        </p:spPr>
        <p:txBody>
          <a:bodyPr wrap="square" lIns="0" tIns="0" rIns="0" bIns="0" anchor="ctr">
            <a:spAutoFit/>
          </a:bodyPr>
          <a:lstStyle/>
          <a:p>
            <a:pPr algn="l"/>
            <a:r>
              <a:rPr sz="1100" b="1">
                <a:solidFill>
                  <a:srgbClr val="0F172A"/>
                </a:solidFill>
                <a:latin typeface="Calibri"/>
              </a:rPr>
              <a:t>60 → 90 days</a:t>
            </a:r>
          </a:p>
        </p:txBody>
      </p:sp>
      <p:sp>
        <p:nvSpPr>
          <p:cNvPr id="25" name="Rectangle 24"/>
          <p:cNvSpPr/>
          <p:nvPr/>
        </p:nvSpPr>
        <p:spPr>
          <a:xfrm>
            <a:off x="2286000" y="4343400"/>
            <a:ext cx="2286000" cy="10058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377440" y="4389120"/>
            <a:ext cx="2103120" cy="914400"/>
          </a:xfrm>
          <a:prstGeom prst="rect">
            <a:avLst/>
          </a:prstGeom>
          <a:noFill/>
        </p:spPr>
        <p:txBody>
          <a:bodyPr wrap="square" lIns="0" tIns="0" rIns="0" bIns="0" anchor="ctr">
            <a:spAutoFit/>
          </a:bodyPr>
          <a:lstStyle/>
          <a:p>
            <a:pPr algn="l"/>
            <a:r>
              <a:rPr sz="1100" b="0">
                <a:solidFill>
                  <a:srgbClr val="0F172A"/>
                </a:solidFill>
                <a:latin typeface="Calibri"/>
              </a:rPr>
              <a:t>External proof points</a:t>
            </a:r>
          </a:p>
        </p:txBody>
      </p:sp>
      <p:sp>
        <p:nvSpPr>
          <p:cNvPr id="27" name="Rectangle 26"/>
          <p:cNvSpPr/>
          <p:nvPr/>
        </p:nvSpPr>
        <p:spPr>
          <a:xfrm>
            <a:off x="4572000" y="4343400"/>
            <a:ext cx="7132320" cy="10058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663440" y="4389120"/>
            <a:ext cx="6949440" cy="914400"/>
          </a:xfrm>
          <a:prstGeom prst="rect">
            <a:avLst/>
          </a:prstGeom>
          <a:noFill/>
        </p:spPr>
        <p:txBody>
          <a:bodyPr wrap="square" lIns="0" tIns="0" rIns="0" bIns="0" anchor="ctr">
            <a:spAutoFit/>
          </a:bodyPr>
          <a:lstStyle/>
          <a:p>
            <a:pPr algn="l"/>
            <a:r>
              <a:rPr sz="1100" b="0">
                <a:solidFill>
                  <a:srgbClr val="0F172A"/>
                </a:solidFill>
                <a:latin typeface="Calibri"/>
              </a:rPr>
              <a:t>Ship 2–3 customer references / KLAS-style writeups, present at HFMA or NAMSS regional, evaluate offering ESSEN to a partner site as the first external deployment.</a:t>
            </a:r>
          </a:p>
        </p:txBody>
      </p:sp>
      <p:sp>
        <p:nvSpPr>
          <p:cNvPr id="29" name="Rounded Rectangle 28"/>
          <p:cNvSpPr/>
          <p:nvPr/>
        </p:nvSpPr>
        <p:spPr>
          <a:xfrm>
            <a:off x="457200" y="5349240"/>
            <a:ext cx="11247120" cy="914400"/>
          </a:xfrm>
          <a:prstGeom prst="roundRect">
            <a:avLst>
              <a:gd name="adj" fmla="val 10000"/>
            </a:avLst>
          </a:prstGeom>
          <a:solidFill>
            <a:srgbClr val="F8F9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7200" y="5349240"/>
            <a:ext cx="11247120" cy="91440"/>
          </a:xfrm>
          <a:prstGeom prst="rect">
            <a:avLst/>
          </a:prstGeom>
          <a:solidFill>
            <a:srgbClr val="00A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5532120"/>
            <a:ext cx="10789920" cy="411480"/>
          </a:xfrm>
          <a:prstGeom prst="rect">
            <a:avLst/>
          </a:prstGeom>
          <a:noFill/>
        </p:spPr>
        <p:txBody>
          <a:bodyPr wrap="square" lIns="0" tIns="0" rIns="0" bIns="0" anchor="t">
            <a:spAutoFit/>
          </a:bodyPr>
          <a:lstStyle/>
          <a:p>
            <a:pPr algn="l"/>
            <a:r>
              <a:rPr sz="1400" b="1">
                <a:solidFill>
                  <a:srgbClr val="0F172A"/>
                </a:solidFill>
                <a:latin typeface="Calibri"/>
              </a:rPr>
              <a:t>What we need from leadership</a:t>
            </a:r>
          </a:p>
        </p:txBody>
      </p:sp>
      <p:sp>
        <p:nvSpPr>
          <p:cNvPr id="32" name="TextBox 31"/>
          <p:cNvSpPr txBox="1"/>
          <p:nvPr/>
        </p:nvSpPr>
        <p:spPr>
          <a:xfrm>
            <a:off x="685800" y="5897880"/>
            <a:ext cx="10789920" cy="365760"/>
          </a:xfrm>
          <a:prstGeom prst="rect">
            <a:avLst/>
          </a:prstGeom>
          <a:noFill/>
        </p:spPr>
        <p:txBody>
          <a:bodyPr wrap="square" lIns="0" tIns="0" rIns="0" bIns="0" anchor="t">
            <a:spAutoFit/>
          </a:bodyPr>
          <a:lstStyle/>
          <a:p>
            <a:pPr algn="l"/>
            <a:r>
              <a:rPr sz="1100" b="0">
                <a:solidFill>
                  <a:srgbClr val="475569"/>
                </a:solidFill>
                <a:latin typeface="Calibri"/>
              </a:rPr>
              <a:t>1) Sign-off on the build-vs-buy recap 2) Authorization to begin SOC 2 Type II audit period 3) Approval to publish ESSEN externally as a HD Pulse AI offering</a:t>
            </a:r>
          </a:p>
        </p:txBody>
      </p:sp>
      <p:sp>
        <p:nvSpPr>
          <p:cNvPr id="33" name="TextBox 32"/>
          <p:cNvSpPr txBox="1"/>
          <p:nvPr/>
        </p:nvSpPr>
        <p:spPr>
          <a:xfrm>
            <a:off x="457200" y="6446520"/>
            <a:ext cx="5486400" cy="274320"/>
          </a:xfrm>
          <a:prstGeom prst="rect">
            <a:avLst/>
          </a:prstGeom>
          <a:noFill/>
        </p:spPr>
        <p:txBody>
          <a:bodyPr wrap="square" lIns="0" tIns="0" rIns="0" bIns="0" anchor="t">
            <a:spAutoFit/>
          </a:bodyPr>
          <a:lstStyle/>
          <a:p>
            <a:pPr algn="l"/>
            <a:r>
              <a:rPr sz="900" b="0">
                <a:solidFill>
                  <a:srgbClr val="475569"/>
                </a:solidFill>
                <a:latin typeface="Calibri"/>
              </a:rPr>
              <a:t>ESSEN Credentialing Platform</a:t>
            </a:r>
          </a:p>
        </p:txBody>
      </p:sp>
      <p:sp>
        <p:nvSpPr>
          <p:cNvPr id="34" name="TextBox 33"/>
          <p:cNvSpPr txBox="1"/>
          <p:nvPr/>
        </p:nvSpPr>
        <p:spPr>
          <a:xfrm>
            <a:off x="10058400" y="6446520"/>
            <a:ext cx="1554480" cy="274320"/>
          </a:xfrm>
          <a:prstGeom prst="rect">
            <a:avLst/>
          </a:prstGeom>
          <a:noFill/>
        </p:spPr>
        <p:txBody>
          <a:bodyPr wrap="square" lIns="0" tIns="0" rIns="0" bIns="0" anchor="t">
            <a:spAutoFit/>
          </a:bodyPr>
          <a:lstStyle/>
          <a:p>
            <a:pPr algn="r"/>
            <a:r>
              <a:rPr sz="900" b="1">
                <a:solidFill>
                  <a:srgbClr val="00A3E0"/>
                </a:solidFill>
                <a:latin typeface="Calibri"/>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13420</Words>
  <Application>Microsoft Office PowerPoint</Application>
  <PresentationFormat>Widescreen</PresentationFormat>
  <Paragraphs>1161</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admin</cp:lastModifiedBy>
  <cp:revision>2</cp:revision>
  <dcterms:created xsi:type="dcterms:W3CDTF">2013-01-27T09:14:16Z</dcterms:created>
  <dcterms:modified xsi:type="dcterms:W3CDTF">2026-04-17T14:41:02Z</dcterms:modified>
  <cp:category/>
</cp:coreProperties>
</file>